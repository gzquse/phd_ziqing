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3" r:id="rId20"/>
    <p:sldId id="284" r:id="rId21"/>
    <p:sldId id="285" r:id="rId22"/>
    <p:sldId id="324" r:id="rId23"/>
    <p:sldId id="286" r:id="rId24"/>
    <p:sldId id="287" r:id="rId25"/>
    <p:sldId id="288" r:id="rId26"/>
    <p:sldId id="289" r:id="rId27"/>
    <p:sldId id="290" r:id="rId28"/>
    <p:sldId id="291" r:id="rId29"/>
    <p:sldId id="292" r:id="rId30"/>
    <p:sldId id="293" r:id="rId31"/>
    <p:sldId id="294" r:id="rId32"/>
    <p:sldId id="274" r:id="rId33"/>
    <p:sldId id="275" r:id="rId34"/>
    <p:sldId id="276" r:id="rId35"/>
    <p:sldId id="277" r:id="rId36"/>
    <p:sldId id="278" r:id="rId37"/>
    <p:sldId id="279" r:id="rId38"/>
    <p:sldId id="280" r:id="rId39"/>
    <p:sldId id="281" r:id="rId40"/>
    <p:sldId id="282" r:id="rId41"/>
    <p:sldId id="325"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92"/>
    <p:restoredTop sz="94685"/>
  </p:normalViewPr>
  <p:slideViewPr>
    <p:cSldViewPr snapToGrid="0" snapToObjects="1">
      <p:cViewPr>
        <p:scale>
          <a:sx n="119" d="100"/>
          <a:sy n="119" d="100"/>
        </p:scale>
        <p:origin x="960" y="5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1823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and thank you to the committee for being here: Dr. Pan, Dr. Zhan, Dr. Mengel, Dr. Wei, and Dr. Gorden representing the Graduate School. My dissertation argues that useful quantum computation is delivered by a co-designed stack, not by a quantum processor alone. Over the next fifty minutes I will walk through five layers of that stack and the ten papers behind them.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thesis in one sentence, taken verbatim from the dissertation. The word to underline is co-designed: HPC is not a stopgap until hardware improves, it is a permanent part of how quantum programs are developed, run and trusted. Each of the following sections adds one layer to that stack.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five cards are the map for the whole talk. Simulation: GPU-accelerated simulation to develop, verify and calibrate circuits at scales the hardware cannot yet reach. Algorithms: hardware-aware design that replaces black-box variational optimization with structure from the problem and the device. Data encoding: structured, vectorized encodings that make the classical–quantum interface efficient and learnable. Synthesis: AI/HPC-driven synthesis toward fault-tolerant resource budgets. Trust: security-aware error correction and post-quantum cryptography on shared cloud hardware. they will come back as a small rail on every section divider so you always know where we are. Layers one and two are about scale and noise, layer three is the data interface, layer four is synthesis and cost, and layer five is trust. Each layer maps onto exactly one research question.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agenda follows the chapter order of the dissertation. I will spend the most time on Chapters III and V, which carry the largest experimental results, and keep the security chapters compact. Backup slides hold the hardware tables and pseudo-code if the committee wants detail.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Exact state-vector simulation is the reference tool for developing and verifying circuits, but its memory doubles per qubit. At 42 qubits the state alone is about seventy terabytes in double precision, far beyond any single node. The question for RQ1 is how far HPC can push this and whether a Qiskit program can use that capability without being rewritten.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wall is noise. Even on the best Heron processor we used, the median two-qubit error is about one and a half per mille, so a 20-qubit optimization circuit stops improving after roughly forty CZ gates. Black-box variational loops multiply this cost by hundreds of executions. RQ2 asks how to exploit problem and hardware structure instead.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further walls motivate the later chapters. The data interface: loading N values needs Θ(N) CNOTs even with a vectorized QCrank-style loader, and reading n-qubit correlations back by tomography needs O(n²) measurements, so getting data into and out of a QPU dominates the cost of quantum learning. And trust: once error-corrected computation runs on shared cloud hardware, a fixed public encoder gives a co-located fault-injection adversary a reusable target. FIPS 140-3 and SP 800-90A govern classical randomness, but nothing yet audits the randomness inside quantum error correction. These motivate RQ3 and RQ5.</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five research questions, abridged on the slide; verbatim from the dissertation: RQ1 — How far can classical HPC push exact circuit simulation, and how do we make that capability usable without rewriting quantum programs? RQ2 — How can optimization algorithms on NISQ devices exploit problem and hardware structure instead of black-box parameter search? RQ3 — How should classical data enter and leave a quantum processor so that learning models are shot-efficient, hardware-compatible and trainable? RQ4 — Can learned, HPC-scale synthesis produce circuits that respect fault-tolerant resource budgets, and what does honest cost accounting say about end-to-end quantum advantage? RQ5 — How do we make error-corrected computation on shared cloud QPUs auditable and secure, and how does that connect to post-quantum cryptography standards? Each one is answered by one chapter, and I will return to this list at the end with the answers.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Ten papers and preprints plus one software release map onto the five layers. Four are peer-reviewed and published, at ICPP, Quantum Science and Technology, IEEE QCE and the AAAI Symposium Series; six are preprints from 2025 and 2026, one of them under review at npj Quantum Information. Let me now go layer by layer.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Layer one: simulation. Q-GEAR, published at ICPP 2025 with Jan Balewski from NERSC, is the framework that lets a Qiskit circuit run on NVIDIA GPUs at Perlmutter scale without a rewrite. This chapter answers RQ1.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starting point is practical. Our baseline CPU node, two EPYC 7763 processors with half a terabyte of memory, needs a day for a 34-qubit random circuit. GPU simulators are much faster, but each expects a different program. Q-GEAR's goal is to keep the Qiskit program and automate the rest.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transformation starts by flattening the circuit into three aligned tensors: which gate, which qubits, and which angles. The encoding is stored in HDF5, so the same file can drive a CPU run, a single-GPU run, or a thousand-GPU run. From it we generate a CUDA-Q kernel automatically for the gate set shown at the bottom.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to end, the pipeline has six stages, and Q-GEAR automates the four in the middle. The two highlighted stages, encoding and kernel generation, are the contribution; packaging in Podman or Shifter containers is what makes the result reproducible on Perlmutter's Slurm scheduler.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Perlmutter GPU node has four 40-gigabyte A100s connected by NVLink, and CUDA-Q's multi-GPU backend shards the state vector across them. Beyond one node, MPI over the Slingshot interconnect lets us aggregate memory across nodes: 256 nodes give 1,024 GPUs, which is where the 42-qubit runs happened at close to full GPU utilization.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headline scaling result. The 34-qubit random circuit that takes a day on the CPU node runs in about a minute on four A100s within one node. A single A100 is roughly four hundred times faster than the CPU but tops out at 32 qubits because of its 40 gigabytes. The lines between the reported anchor points follow the two-to-the-n scaling law and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Extending the axis shows the reach of each configuration: 32 qubits on one GPU, 34 on one node, and 42 qubits across 1,024 GPUs using CUDA-Q's MPI backend. GPU utilization stayed close to one hundred percent, which is the practical evidence that the containerized pipeline is not leaving the hardware idle.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Across the benchmark suite the GPU path is about two orders of magnitude faster than the CPU node and about an order of magnitude faster than the existing GPU simulators, Aer GPU and Lightning, with essentially no code changes for the user. On QCrank image-encoding circuits, which matter for Chapter V, the speed-up approaches a hundredfold for small images.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Chapter III: the same Qiskit program reaches 42 qubits, and the benchmark table shows the three circuit families we timed. The framework is not a one-off: it validated the DEAL circuits in the next chapter before they went to hardware, and it is the simulator inside RubriQ's reinforcement-learning loop in Chapter VI.</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Layer three is the data interface, and it is the largest chapter: four papers. QPIE is a hybrid network published in Quantum Science and Technology; VQT is a quantum transformer from the AAAI Symposium Series; ShardQ cuts and knits encoding circuits; and NNQA compiles trained polynomial networks into exact quantum arithmetic. All four answer RQ3.</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587931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 interface has three requirements that pull against each other. Readout costs shots: every estimated value carries shot variance p(1−p)/S, and attention over B sequences of length T means B·T² values, which cannot be estimated one by one. Loading costs circuit depth: a vectorized QCrank loader needs Θ(N) CNOTs for N values, and on Heron with ≈1.5×10⁻³ CZ error deep loaders must be cut, compiled and mitigated. And training needs gradients that do not vanish: barren plateaus and black-box ansätze make training fragile, so we want parameters that come from classical training or learnable, well-conditioned heads. The four papers in this chapter each take one corner of that triangle, and they share one building block: the QCrank vectorized encoding, which I will show first.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75899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QCrank, due to Balewski and colleagues at Berkeley Lab, is the encoding this chapter builds on. Address qubits in uniform superposition index the values; each data qubit carries two-to-the-n-a values as rotation angles through a uniformly controlled rotation. The circuit is linear in the number of values and processes all addresses in parallel, which is what makes vectorized arithmetic possible. A thousand-pixel image needs nine address and two data qubits.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107275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QPIE is a hybrid network in which the pretrained classical parameters are fed in parallel into several variational circuit blocks, and information is exchanged between the quantum and classical branches rather than stacked sequentially. The gradient rule switches with the backend: parameter shift on real QPUs, adjoint differentiation on GPU simulators, which was up to thirty times faster. Circuits reached 28 qubits.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244383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four benchmarks QPIE beats the classical transfer-learning baseline: the ranges are over repeated runs. The largest gains are on the harder sets, brain-tumor MRI and MNIST, where the baseline sits at 0.76 and 0.81. On stochastic time series the model converged about 88 percent faster within a hundred steps, and the Fisher-information spectrum is less biased, which is our explanation for the trainability.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909159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VQT replaces classical self-attention with two primitives built on the same vectorized encoding. The vectorized quantum dot product estimates the whole masked attention matrix at once, with a shot cost logarithmic in the batch-times-sequence-squared size instead of linear. The vectorized nonlinear encoder makes the encoding learnable through a tanh projection head and an expressive quantum head. Attention error stays under 1.2 percent with three million shots, and the appendix proves a variance bound.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552706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primitives run on real hardware. The ideal simulator gives an RMSE of 0.017 at batch 32; IBM Kingston reaches 0.059 at the same batch, and IonQ Aria-1 0.155 at batch 8. Circuits used four to nine qubits and up to 320 thousand shots, with CNOT depth from 5 to 129, so the deeper configurations are already probing the depth budget from Chapter IV.</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16261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a language-modelling test on the Brown corpus. In the order the paper lists them: a 125-thousand-parameter nanoGPT is the classical reference at perplexity 92.5, three prior quantum models sit between 117 and 128, and the six-qubit VQT reaches 105.4. Let me sort these.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884865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Sorted, the picture is clear: VQT is the best of the quantum models and the only one within 13 perplexity points of the classical reference. I do not claim quantum advantage here; the claim is that the vectorized primitives make a quantum transformer trainable and hardware-runnable at all.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23104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ShardQ makes the loader hardware-compatible. The deterministic SparseCut algorithm chooses gate cuts using physical qubit distance and calibrated error rates; sub-circuits are compiled with a bounded-bond-dimension MPS compiler; and the outputs are knitted back with a global quasi-probability reconstruction rather than pairwise. On Heron this cuts RMSE by about fifteen percent and lifts image-encoding fidelity from 0.79 to 0.90. The knitting itself is HPC work: two cuts take fifteen seconds on one A100, four cuts a day on four GPU nodes.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293487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NNQA closes the trainability corner by not training on the QPU at all. A polynomial neural network is trained classically on Perlmutter, then compiled exactly into native unitary blocks for weighted sums and products on real-valued encoded states. A degree-6 polynomial needs seven qubits, five CNOTs and depth nineteen, run once, where VQE needs hundreds of executions. On Heron-3, Nighthawk and IonQ Forte-1 it holds above 99.5 percent accuracy up to degree 35, and we prove a universal-approximation theorem for the construction.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127896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the chapter: one encoding, four uses. Vectorized loading is what makes attention shot-efficient, what ShardQ cuts to fit the hardware, and what NNQA compiles into. Together they answer RQ3 on all three counts: shot-efficient, hardware-compatible and trainable.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679399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Layer two: algorithms on noisy hardware. Two papers: DEAL, published at IEEE QCE 2025, replaces black-box QAOA angle search with a direct mapping from the problem; QAWA proposes a data-traceable oracle so that QAOA outputs can be interpreted without tomography. Both answer RQ2.</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Vanilla QAOA searches its angles by repeatedly running the circuit and handing the expectation value to a classical optimizer. Every iteration costs shots times depth, the landscape is flat in places, and none of this uses what we know about the problem coefficients or the device. On Heron the twenty-qubit circuits stop improving after roughly forty CZ gates, so depth is a hard budget.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DEAL has three parts. First, the angles are read directly off the QUBO coefficients, so there is no optimizer loop on hardware. Second, the entangling structure is chosen for the device, using echoed cross-resonance gates. Third, an adaptive digital zero-noise extrapolation cleans up the result. The circuits are twenty qubits and up to ten layers on the Heron processors Torino and Marrakesh.</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Digital ZNE runs the same logical circuit at several noise scales by inserting identity or delay gates, then extrapolates the expectation value back to zero noise. The adaptive part is that the insertion pattern targets crosstalk and coherence, the two dominant error sources on these devices. We quantify the residual with a quantum noise-limited relative error and choose the number of layers by Bayesian optimization.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IBM Torino, a 133-qubit Heron-1, DEAL reaches the ground-state energy 14.8 percentage points more often than vanilla QAOA at ten layers, with lower variance. On the right, the depth trade: DEAL at seven layers matches what QAOA needs nine layers for, which matters because each layer spends part of the forty-CZ budget.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device, the 156-qubit Marrakesh, confirms the direction with a smaller gain of 7.4 points. The gap between the two devices is itself informative: the benefit of the direct mapping shrinks as the device gets closer to the CZ budget, which is why the adaptive layer selection is part of the method.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QAWA attacks interpretability. Reading n-qubit correlations by tomography costs order n-squared measurement settings. The QAWA oracle instead grows linearly in CNOT depth with the qubit count and keeps a classical trace of what it encodes; mid-circuit measurement data are preprocessed classically and fed back into the next shallow circuit. The result is a walk that learns approximate solution patterns whose quality can be verified in polynomial time.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demonstration is a four-asset portfolio: Apple, Microsoft, Johnson and Johnson and Exxon. The distributed walk recovers all six pairwise correlation coefficients, with the KL divergence converging to about one hundredth in seventy-five iterations. On the 156-qubit Pittsburgh processor, with eight thousand shots over twenty runs, the learned portfolio is 5.4 percent better than the baseline and 8.1 percent above the noise floor, without extra optimizer iterations.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takeaway for RQ2 is that structure beats search. Structure from the problem gives the angles and the oracle; structure from the device gives the ansatz and the error mitigation. The measured numbers are modest but real hardware results, and they set up the next layer: if data loading is cheap, these algorithms can consume real data.</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Layer four: synthesis and cost. RubriQ uses a language model fine-tuned by reinforcement learning, with a programmatic rubric as the reward, to synthesize circuits toward fault-tolerant resource budgets. The second paper is the honest-accounting half of RQ4: what nonlinear-wave simulation really costs when every step must read the field.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RubriQ frames fault-tolerant synthesis as code generation. A seven-billion-parameter coder with LoRA adapters proposes circuits; they are parsed, simulated with CUDA-Q on the GPU, scored by a rubric, and the policy is updated with Group Relative Policy Optimization, which compares eight samples against each other instead of learning a value network. Training runs on Perlmutter with DeepSpeed across up to eight A100 nodes at 85 percent strong-scaling efficiency.</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reward is the contribution. Each of the five terms is a program: fidelity from the CUDA-Q simulation carries 40 percent of the weight; Clifford correctness 20; topology compliance and T-gate count 15 each; efficiency 10. Because the rubric is dense and grounded, the policy gets a signal on every sample, which is why it converges two to three times faster than sparse-reward RL with two to three times fewer simulator calls.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1,500 benchmark circuits spanning QFT, phase estimation, Hamiltonian simulation and data encoding, RubriQ compresses T-gate counts by 3.31 times on average against 2.05 for sparse-reward RL, keeps hardware-constraint violations under one percent, and reports 96 percent correctness. The synthesized circuits were validated on Heron-3 and IonQ Forte, so this is not only a simulator result.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paper asks what it costs to simulate the nonlinear Schrödinger and viscous Burgers equations when the nonlinearity needs the field values themselves. Instead of hiding that in a linear embedding, we build a hybrid Strang split-step solver that measures the field, updates it classically with a degree-d polynomial, and reloads it with the vectorized loader at every step. Shots, gates and truncation all live in one cost-and-error model, with a controller that keeps the nonlinear phase per step below one.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conclusion is negative but quantitative. Because every step reads the full field, the quantum cost per step, depth times shots, grows faster than the classical polynomial update as N grows, so the hybrid scheme cannot deliver an end-to-end advantage. What it does deliver is the target: a coherent, measurement-free nonlinear update is what any future advantage claim must beat. This chart is the schematic scaling from the model, not measured wall time.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RQ4 has a two-part answer. Learned synthesis produces budget-respecting circuits when the reward is grounded in simulation and hardware constraints. And honest accounting, charging every measurement and reload, shows where quantum advantage does not exist yet, which is as important to write down as where it does.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Layer five: trust. This chapter, with coauthors from Lightrider and Quantropi, treats the error-correction encoder on a shared cloud QPU as a security surface and asks how randomness should be used and audited. It is the first half of the answer to RQ5.</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setting is a shared cloud processor: your error-corrected job runs next to a co-tenant who can inject a single Pauli fault. If the encoder circuit is fixed and public, the adversary can learn exactly which physical fault produces a harmful logical action that the syndrome check will not catch, and reuse it every run. If the encoder is reseeded per run, the fault has to be chosen before the seed is known. The fault model is deliberately bounded: weight-one Paulis, all three-n locations enumerated.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central definition is accepted logical disturbance. In full: the accepted logical disturbance of an encoder under a fault is the acceptance-weighted measure of the harmful logical action that survives syndrome-based rejection; faults that are rejected do no harm, faults that are accepted and act trivially do no harm, and only accepted faults with non-trivial logical action count. It weights harmful logical action by the probability that the syndrome check accepts the run, so a fault that is caught costs nothing and a fault that slips through with trivial action costs nothing. We derive its exact expectation for Haar-random encoders as the reference, and then audit a cheap, seeded Clifford ensemble against the same measure under the two adversary orders.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Hadamard-structured ensemble is built from a seed: Hadamard, phase, permutation and CNOT layers, repeated to depth d, all Clifford and therefore cheap to sample and simulate. Not every sample is a valid encoder; 18.5 percent of the sampled circuits satisfy the exact error-correction conditions for the code, and those are the ones the audit uses. The seed is the only secret, which is what connects this chapter to the cryptography module in the next.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the five-qubit code and every weight-one fault enumerated, a fixed public encoder lets the adversary pick the fault after learning the circuit, and the mean accepted logical disturbance is 0.150. That is the number to beat.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Reseeding per run brings the same measure down to 0.020, an 86.7 percent reduction, and the reduction is attributable to rejection: with a fresh encoder the pre-chosen fault is caught by the syndrome check most of the time. Gate-level Stim simulations at 17 qubits with realistic depolarizing rates confirm the scaling. Only 18.5 percent of sampled ensemble members are valid encoders, which is a cost the audit makes explicit.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paper closes by placing the audit next to the standards that already govern classical randomness. FIPS 140-3 defines the module boundary and self-tests; SP 800-90A defines approved random-bit generators, which is where the seeds must come from; and the three 2024 post-quantum standards protect the seeds, jobs and results in transit. That mapping is the bridge into Chapter VIII.</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VIII completes layer five with software rather than a paper: the Light Rider QPC SDK, a FIPS 140-3 style post-quantum cryptography module released on Zenodo in August 2026. It supplies the primitives the audit in Chapter VII asks for.</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reasons the quantum stack itself needs post-quantum cryptography. The machines we are scaling toward are the ones that break RSA and elliptic curves: factoring and discrete logarithms fall to a large fault-tolerant machine, and Gidney and Ekerå estimate 2048-bit RSA in about eight hours with twenty million noisy qubits. Cloud quantum jobs are classical network traffic that can be harvested today and decrypted later. And, most directly, the reseeded encoders of Chapter VII are only as trustworthy as the random-bit generator and the module boundary behind them.</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module implements the three 2024 NIST standards, ML-KEM for key encapsulation and ML-DSA and SLH-DSA for signatures, together with an SP 800-90A random-bit generator, self-tests and a module-search feature for discovering and selecting algorithms. Two consumers matter for this dissertation: signed and encapsulated jobs to cloud QPUs, and DRBG seeds for the reseeded encoders of Chapter VII. It is a 1.1-megabyte Linux release archived on Zenodo.</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context, the standards timeline. The random-bit-generator recommendation and the first NIST post-quantum workshops date from 2015; FIPS 140-3 arrived in 2019; and the three post-quantum standards were finalized in August 2024. This dissertation's audit and module sit in 2026, on the migration side of that line. We track changes to the NIST timeline automatically in a small open-source watcher.</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 to the stack, now with the answers. Scale: exact simulation reaches 42 qubits on 1,024 A100s, about 400 times faster than a CPU node, with the Qiskit program unchanged. Noise: angles read from the problem and ansätze shaped by the device beat black-box search, plus an O(n) traceable oracle. Data: vectorized QCrank-style encodings make learning shot-efficient, hardware-compatible and trainable across QPIE, VQT, ShardQ and NNQA. Synthesis: rubric-grounded RL synthesizes budget-respecting circuits, and honest accounting shows where advantage is absent. Trust: reseeded HSE encoders cut accepted logical disturbance by 86.7 percent, and a FIPS 140-3 PQC module supplies the seeds and signatures. Scale: 42 qubits, program unchanged. Noise: structure beats search on real Heron hardware. Data: one vectorized encoding underlies four learning systems. Synthesis: grounded rewards and honest budgets. Trust: reseeded encoders and a validated cryptography module. Together they are the co-designed stack of the thesis statement.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be explicit about limits. The 42-qubit result is simulation: Q-GEAR's scaling is a statement about HPC reach, and the largest hardware runs are 20-qubit optimization circuits and 36-qubit arithmetic stress tests. The hardware gains depend on device and calibration cycle: DEAL gains 14.81 points on Torino but 7.40 on Marrakesh, VQT's RMSE ranges from 0.059 on Kingston to 0.155 on Aria-1, and repeats across calibration cycles are limited. The learning benchmarks are small, Moon, Spiral, MNIST and the Brown corpus, and VQT remains 12.9 perplexity points behind a 125K-parameter nanoGPT. The audit covers the five-qubit code with weight-one faults and Stim at 17 qubits; surface-code distances and correlated faults are future work. And six of the ten papers, ShardQ, QAWA, NNQA, RubriQ, nonlinear waves and the QEC audit, are still preprints. The hardware gains depend on which device and which calibration cycle we hit. The learning benchmarks are small and I claim no advantage there. The security audit is at five-qubit-code scale. And six of the ten papers are still preprints. These are the boundaries within which the answers hold.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Future work follows the same five layers. Broader gate coverage and new backends for the simulator; dynamic circuits for the optimizers; longer contexts and error-corrected loaders for learning; QEC-aware rubrics and the coherent nonlinear update for synthesis; and, for trust, scaling the audit to bivariate-bicycle and surface codes and composing it formally with the cryptography module.</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complete list, in chronological order. Four peer-reviewed publications in 2025, six preprints in 2025 and 2026, and the software release. All code is public on GitHub under gzquse, with archived artifacts on Zenodo for RubriQ, the nonlinear-wave solver and the QPC SDK.</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None of this was solo work. My advisor and chair Dr. Ziwen Pan; my committee, Dr. Zihao Zhan, Dr. Susan Mengel and Dr. Lu Wei, and Dr. Anne Gorden representing the Graduate School; Jan Balewski at NERSC, whose encodings and allocations run through half the chapters; coauthors across seven institutions (UMD QLab / BosonQ Psi, TTU, U. Saskatchewan, RIT, UMD, Lightrider, Quantropi); the DOE Office of Science and NERSC ERCAP awards, the TTU HPC center, UMD QLab and Xanadu's Braket credits; and the hardware providers: IBM Quantum (Torino, Marrakesh, Pittsburgh, Boston, Kingston, Miami), IonQ (Aria-1, Forte-1), Amazon Braket SV1. Thank you.</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I am happy to take questions; backup slides follow with the hardware table, the Q-GEAR gate mapping, the DEAL pseudo-code and the VQT hardware configurations.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hardware table. Ten backends across IBM Heron and Nighthawk processors, IonQ trapped-ion systems, the Braket simulator and Perlmutter. Where the papers state a calibration figure I reproduce it; otherwise the cell is a dash.</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gate mapping. The eight supported Qiskit operations and the CUDA-Q kernel operations they become, plus the tensor row layout and the HDF5 metadata that make a run reproducible at any scale.</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DEAL as pseudo-code. The two things to notice are that the angles come from a direct map of the QUBO matrix with no optimizer loop, and that the zero-noise extrapolation wraps the whole circuit family rather than a single circuit.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VQT hardware configurations. Three backends, the batch size for each, and the RMSE of the attention estimate, with the aggregate shot, depth and qubit ranges below. Per-run configurations are in the figure-reproduction repository.</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where everything lives. Every chapter has a public repository, and three artifacts are archived on Zenodo with DOIs. The QEC audit artifact is containerized and seeded so that the reported numbers are deterministic.</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jp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0.png"/><Relationship Id="rId21" Type="http://schemas.openxmlformats.org/officeDocument/2006/relationships/image" Target="../media/image1.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15.xml"/><Relationship Id="rId16" Type="http://schemas.openxmlformats.org/officeDocument/2006/relationships/image" Target="../media/image33.png"/><Relationship Id="rId20"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7.png"/><Relationship Id="rId18" Type="http://schemas.openxmlformats.org/officeDocument/2006/relationships/image" Target="../media/image51.png"/><Relationship Id="rId3" Type="http://schemas.openxmlformats.org/officeDocument/2006/relationships/image" Target="../media/image38.png"/><Relationship Id="rId21" Type="http://schemas.openxmlformats.org/officeDocument/2006/relationships/image" Target="../media/image1.png"/><Relationship Id="rId7" Type="http://schemas.openxmlformats.org/officeDocument/2006/relationships/image" Target="../media/image42.png"/><Relationship Id="rId12" Type="http://schemas.openxmlformats.org/officeDocument/2006/relationships/image" Target="../media/image46.png"/><Relationship Id="rId17" Type="http://schemas.openxmlformats.org/officeDocument/2006/relationships/image" Target="../media/image50.png"/><Relationship Id="rId2" Type="http://schemas.openxmlformats.org/officeDocument/2006/relationships/notesSlide" Target="../notesSlides/notesSlide16.xml"/><Relationship Id="rId16" Type="http://schemas.openxmlformats.org/officeDocument/2006/relationships/image" Target="../media/image49.png"/><Relationship Id="rId20"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45.png"/><Relationship Id="rId5" Type="http://schemas.openxmlformats.org/officeDocument/2006/relationships/image" Target="../media/image40.png"/><Relationship Id="rId15" Type="http://schemas.openxmlformats.org/officeDocument/2006/relationships/image" Target="../media/image48.png"/><Relationship Id="rId10" Type="http://schemas.openxmlformats.org/officeDocument/2006/relationships/image" Target="../media/image44.png"/><Relationship Id="rId19" Type="http://schemas.openxmlformats.org/officeDocument/2006/relationships/image" Target="../media/image52.png"/><Relationship Id="rId4" Type="http://schemas.openxmlformats.org/officeDocument/2006/relationships/image" Target="../media/image39.png"/><Relationship Id="rId9" Type="http://schemas.openxmlformats.org/officeDocument/2006/relationships/image" Target="../media/image26.png"/><Relationship Id="rId1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1.png"/></Relationships>
</file>

<file path=ppt/slides/_rels/slide2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9.png"/><Relationship Id="rId7" Type="http://schemas.openxmlformats.org/officeDocument/2006/relationships/image" Target="../media/image6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4.png"/><Relationship Id="rId4" Type="http://schemas.openxmlformats.org/officeDocument/2006/relationships/image" Target="../media/image60.png"/><Relationship Id="rId9"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7.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1.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85.png"/></Relationships>
</file>

<file path=ppt/slides/_rels/slide5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85.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s1-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s1-image-01" descr="Texas Tech University Double T"/>
          <p:cNvPicPr>
            <a:picLocks noChangeAspect="1"/>
          </p:cNvPicPr>
          <p:nvPr/>
        </p:nvPicPr>
        <p:blipFill>
          <a:blip r:embed="rId3"/>
          <a:stretch>
            <a:fillRect/>
          </a:stretch>
        </p:blipFill>
        <p:spPr>
          <a:xfrm>
            <a:off x="1060423" y="727057"/>
            <a:ext cx="609585" cy="717532"/>
          </a:xfrm>
          <a:prstGeom prst="rect">
            <a:avLst/>
          </a:prstGeom>
        </p:spPr>
      </p:pic>
      <p:sp>
        <p:nvSpPr>
          <p:cNvPr id="5" name="s1-box-01"/>
          <p:cNvSpPr/>
          <p:nvPr/>
        </p:nvSpPr>
        <p:spPr>
          <a:xfrm>
            <a:off x="2031949" y="855343"/>
            <a:ext cx="12700" cy="460959"/>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1-text-01"/>
          <p:cNvSpPr txBox="1"/>
          <p:nvPr/>
        </p:nvSpPr>
        <p:spPr>
          <a:xfrm>
            <a:off x="2235144" y="855343"/>
            <a:ext cx="2901778" cy="209545"/>
          </a:xfrm>
          <a:prstGeom prst="rect">
            <a:avLst/>
          </a:prstGeom>
          <a:noFill/>
        </p:spPr>
        <p:txBody>
          <a:bodyPr wrap="none" lIns="0" tIns="0" rIns="0" bIns="0" anchor="t">
            <a:noAutofit/>
          </a:bodyPr>
          <a:lstStyle/>
          <a:p>
            <a:pPr algn="l">
              <a:lnSpc>
                <a:spcPts val="1650"/>
              </a:lnSpc>
              <a:spcBef>
                <a:spcPts val="0"/>
              </a:spcBef>
              <a:spcAft>
                <a:spcPts val="0"/>
              </a:spcAft>
            </a:pPr>
            <a:r>
              <a:rPr sz="1500" b="1" i="0" cap="all" spc="180" dirty="0">
                <a:solidFill>
                  <a:srgbClr val="0B0B0F"/>
                </a:solidFill>
                <a:latin typeface="Arial"/>
              </a:rPr>
              <a:t>Texas Tech University</a:t>
            </a:r>
          </a:p>
        </p:txBody>
      </p:sp>
      <p:sp>
        <p:nvSpPr>
          <p:cNvPr id="7" name="s1-text-02"/>
          <p:cNvSpPr txBox="1"/>
          <p:nvPr/>
        </p:nvSpPr>
        <p:spPr>
          <a:xfrm>
            <a:off x="2235144" y="1102987"/>
            <a:ext cx="2901778" cy="213315"/>
          </a:xfrm>
          <a:prstGeom prst="rect">
            <a:avLst/>
          </a:prstGeom>
          <a:noFill/>
        </p:spPr>
        <p:txBody>
          <a:bodyPr wrap="none" lIns="0" tIns="0" rIns="0" bIns="0" anchor="t">
            <a:noAutofit/>
          </a:bodyPr>
          <a:lstStyle/>
          <a:p>
            <a:pPr algn="l">
              <a:lnSpc>
                <a:spcPts val="1680"/>
              </a:lnSpc>
              <a:spcBef>
                <a:spcPts val="0"/>
              </a:spcBef>
              <a:spcAft>
                <a:spcPts val="0"/>
              </a:spcAft>
            </a:pPr>
            <a:r>
              <a:rPr sz="1400" b="1" i="0" spc="14" dirty="0">
                <a:solidFill>
                  <a:srgbClr val="B00000"/>
                </a:solidFill>
                <a:latin typeface="Arial"/>
              </a:rPr>
              <a:t>Department of Computer Science</a:t>
            </a:r>
          </a:p>
        </p:txBody>
      </p:sp>
      <p:sp>
        <p:nvSpPr>
          <p:cNvPr id="9" name="!!title"/>
          <p:cNvSpPr txBox="1"/>
          <p:nvPr/>
        </p:nvSpPr>
        <p:spPr>
          <a:xfrm>
            <a:off x="1583293" y="2216194"/>
            <a:ext cx="9031459" cy="480008"/>
          </a:xfrm>
          <a:prstGeom prst="rect">
            <a:avLst/>
          </a:prstGeom>
          <a:noFill/>
        </p:spPr>
        <p:txBody>
          <a:bodyPr wrap="none" lIns="0" tIns="0" rIns="0" bIns="0" anchor="t">
            <a:noAutofit/>
          </a:bodyPr>
          <a:lstStyle/>
          <a:p>
            <a:pPr algn="ctr">
              <a:lnSpc>
                <a:spcPts val="3779"/>
              </a:lnSpc>
              <a:spcBef>
                <a:spcPts val="0"/>
              </a:spcBef>
              <a:spcAft>
                <a:spcPts val="0"/>
              </a:spcAft>
            </a:pPr>
            <a:r>
              <a:rPr sz="3600" b="1" i="0" spc="-101" dirty="0">
                <a:solidFill>
                  <a:srgbClr val="0B0B0F"/>
                </a:solidFill>
                <a:latin typeface="Arial"/>
              </a:rPr>
              <a:t>Quantum Computing and Circuit Simulation</a:t>
            </a:r>
          </a:p>
        </p:txBody>
      </p:sp>
      <p:sp>
        <p:nvSpPr>
          <p:cNvPr id="11" name="s1-box-02"/>
          <p:cNvSpPr/>
          <p:nvPr/>
        </p:nvSpPr>
        <p:spPr>
          <a:xfrm>
            <a:off x="5587860" y="3394685"/>
            <a:ext cx="1015975"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name"/>
          <p:cNvSpPr txBox="1"/>
          <p:nvPr/>
        </p:nvSpPr>
        <p:spPr>
          <a:xfrm>
            <a:off x="5251319" y="3604229"/>
            <a:ext cx="1695308" cy="380990"/>
          </a:xfrm>
          <a:prstGeom prst="rect">
            <a:avLst/>
          </a:prstGeom>
          <a:noFill/>
        </p:spPr>
        <p:txBody>
          <a:bodyPr wrap="none" lIns="0" tIns="0" rIns="0" bIns="0" anchor="t">
            <a:noAutofit/>
          </a:bodyPr>
          <a:lstStyle/>
          <a:p>
            <a:pPr algn="ctr">
              <a:lnSpc>
                <a:spcPts val="3120"/>
              </a:lnSpc>
              <a:spcBef>
                <a:spcPts val="0"/>
              </a:spcBef>
              <a:spcAft>
                <a:spcPts val="0"/>
              </a:spcAft>
            </a:pPr>
            <a:r>
              <a:rPr sz="2600" b="1" i="0" spc="-52" dirty="0">
                <a:solidFill>
                  <a:srgbClr val="0B0B0F"/>
                </a:solidFill>
                <a:latin typeface="Arial"/>
              </a:rPr>
              <a:t>Ziqing Guo</a:t>
            </a:r>
          </a:p>
        </p:txBody>
      </p:sp>
      <p:sp>
        <p:nvSpPr>
          <p:cNvPr id="13" name="s1-text-07"/>
          <p:cNvSpPr txBox="1"/>
          <p:nvPr/>
        </p:nvSpPr>
        <p:spPr>
          <a:xfrm>
            <a:off x="2845126" y="4086817"/>
            <a:ext cx="6507694" cy="248834"/>
          </a:xfrm>
          <a:prstGeom prst="rect">
            <a:avLst/>
          </a:prstGeom>
          <a:noFill/>
        </p:spPr>
        <p:txBody>
          <a:bodyPr wrap="none" lIns="0" tIns="0" rIns="0" bIns="0" anchor="t">
            <a:noAutofit/>
          </a:bodyPr>
          <a:lstStyle/>
          <a:p>
            <a:pPr algn="ctr">
              <a:lnSpc>
                <a:spcPts val="1960"/>
              </a:lnSpc>
              <a:spcBef>
                <a:spcPts val="0"/>
              </a:spcBef>
              <a:spcAft>
                <a:spcPts val="0"/>
              </a:spcAft>
            </a:pPr>
            <a:r>
              <a:rPr lang="en-US" sz="1400" b="0" i="0" dirty="0">
                <a:solidFill>
                  <a:srgbClr val="50505B"/>
                </a:solidFill>
                <a:latin typeface="Arial"/>
              </a:rPr>
              <a:t>Thesis</a:t>
            </a:r>
            <a:r>
              <a:rPr sz="1400" b="0" i="0" dirty="0">
                <a:solidFill>
                  <a:srgbClr val="50505B"/>
                </a:solidFill>
                <a:latin typeface="Arial"/>
              </a:rPr>
              <a:t> Committee:</a:t>
            </a:r>
            <a:r>
              <a:rPr lang="en-US" sz="1400" b="0" i="0" dirty="0">
                <a:solidFill>
                  <a:srgbClr val="50505B"/>
                </a:solidFill>
                <a:latin typeface="Arial"/>
              </a:rPr>
              <a:t> </a:t>
            </a:r>
            <a:r>
              <a:rPr lang="en-US" sz="1400" dirty="0">
                <a:solidFill>
                  <a:srgbClr val="50505B"/>
                </a:solidFill>
                <a:latin typeface="Arial"/>
              </a:rPr>
              <a:t>Dr. </a:t>
            </a:r>
            <a:r>
              <a:rPr lang="en-US" sz="1400" dirty="0" err="1">
                <a:solidFill>
                  <a:srgbClr val="50505B"/>
                </a:solidFill>
                <a:latin typeface="Arial"/>
              </a:rPr>
              <a:t>Ziwen</a:t>
            </a:r>
            <a:r>
              <a:rPr lang="en-US" sz="1400" dirty="0">
                <a:solidFill>
                  <a:srgbClr val="50505B"/>
                </a:solidFill>
                <a:latin typeface="Arial"/>
              </a:rPr>
              <a:t> Pan (Research Advisor)</a:t>
            </a:r>
          </a:p>
          <a:p>
            <a:pPr algn="ctr">
              <a:lnSpc>
                <a:spcPts val="1960"/>
              </a:lnSpc>
              <a:spcBef>
                <a:spcPts val="0"/>
              </a:spcBef>
              <a:spcAft>
                <a:spcPts val="0"/>
              </a:spcAft>
            </a:pPr>
            <a:r>
              <a:rPr lang="en-US" sz="1400" b="0" i="0" dirty="0">
                <a:solidFill>
                  <a:srgbClr val="50505B"/>
                </a:solidFill>
                <a:latin typeface="Arial"/>
              </a:rPr>
              <a:t>Professor</a:t>
            </a:r>
            <a:r>
              <a:rPr sz="1400" b="0" i="0" dirty="0">
                <a:solidFill>
                  <a:srgbClr val="50505B"/>
                </a:solidFill>
                <a:latin typeface="Arial"/>
              </a:rPr>
              <a:t> Zihao Zhan </a:t>
            </a:r>
            <a:r>
              <a:rPr lang="en-US" sz="1400" b="0" i="0" dirty="0">
                <a:solidFill>
                  <a:srgbClr val="50505B"/>
                </a:solidFill>
                <a:latin typeface="Arial"/>
              </a:rPr>
              <a:t>·</a:t>
            </a:r>
            <a:r>
              <a:rPr sz="1400" b="0" i="0" dirty="0">
                <a:solidFill>
                  <a:srgbClr val="50505B"/>
                </a:solidFill>
                <a:latin typeface="Arial"/>
              </a:rPr>
              <a:t> Dr. Susan Mengel · Dr. Lu Wei</a:t>
            </a:r>
            <a:endParaRPr lang="en-US" sz="1400" b="0" i="0" dirty="0">
              <a:solidFill>
                <a:srgbClr val="50505B"/>
              </a:solidFill>
              <a:latin typeface="Arial"/>
            </a:endParaRPr>
          </a:p>
          <a:p>
            <a:pPr algn="ctr">
              <a:lnSpc>
                <a:spcPts val="1960"/>
              </a:lnSpc>
              <a:spcBef>
                <a:spcPts val="0"/>
              </a:spcBef>
              <a:spcAft>
                <a:spcPts val="0"/>
              </a:spcAft>
            </a:pPr>
            <a:endParaRPr sz="1400" b="0" i="0" dirty="0">
              <a:solidFill>
                <a:srgbClr val="50505B"/>
              </a:solidFill>
              <a:latin typeface="Arial"/>
            </a:endParaRPr>
          </a:p>
        </p:txBody>
      </p:sp>
      <p:sp>
        <p:nvSpPr>
          <p:cNvPr id="14" name="s1-text-08"/>
          <p:cNvSpPr txBox="1"/>
          <p:nvPr/>
        </p:nvSpPr>
        <p:spPr>
          <a:xfrm>
            <a:off x="4525403" y="4791202"/>
            <a:ext cx="3077391" cy="213315"/>
          </a:xfrm>
          <a:prstGeom prst="rect">
            <a:avLst/>
          </a:prstGeom>
          <a:noFill/>
        </p:spPr>
        <p:txBody>
          <a:bodyPr wrap="none" lIns="0" tIns="0" rIns="0" bIns="0" anchor="t">
            <a:noAutofit/>
          </a:bodyPr>
          <a:lstStyle/>
          <a:p>
            <a:pPr algn="ctr">
              <a:lnSpc>
                <a:spcPts val="1680"/>
              </a:lnSpc>
              <a:spcBef>
                <a:spcPts val="0"/>
              </a:spcBef>
              <a:spcAft>
                <a:spcPts val="0"/>
              </a:spcAft>
            </a:pPr>
            <a:r>
              <a:rPr sz="1200" b="0" i="0" dirty="0">
                <a:solidFill>
                  <a:srgbClr val="7B7B86"/>
                </a:solidFill>
                <a:latin typeface="Arial"/>
              </a:rPr>
              <a:t>Dean’s representative: Dr. Anne E. V. Gorden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s2-glow-01"/>
          <p:cNvSpPr/>
          <p:nvPr/>
        </p:nvSpPr>
        <p:spPr>
          <a:xfrm>
            <a:off x="7873803" y="-2412940"/>
            <a:ext cx="6095848" cy="6095848"/>
          </a:xfrm>
          <a:prstGeom prst="ellipse">
            <a:avLst/>
          </a:prstGeom>
          <a:gradFill rotWithShape="1">
            <a:gsLst>
              <a:gs pos="0">
                <a:srgbClr val="CC0000">
                  <a:alpha val="8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s2-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8" name="!!pg"/>
          <p:cNvSpPr txBox="1"/>
          <p:nvPr/>
        </p:nvSpPr>
        <p:spPr>
          <a:xfrm>
            <a:off x="10304800" y="634984"/>
            <a:ext cx="572478"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a:t>
            </a:r>
            <a:r>
              <a:rPr sz="1100" b="0" i="0" spc="66">
                <a:solidFill>
                  <a:srgbClr val="7B7B86"/>
                </a:solidFill>
                <a:latin typeface="Courier New"/>
              </a:rPr>
              <a:t> / 68</a:t>
            </a:r>
          </a:p>
        </p:txBody>
      </p:sp>
      <p:sp>
        <p:nvSpPr>
          <p:cNvPr id="11" name="s3-text-02">
            <a:extLst>
              <a:ext uri="{FF2B5EF4-FFF2-40B4-BE49-F238E27FC236}">
                <a16:creationId xmlns:a16="http://schemas.microsoft.com/office/drawing/2014/main" id="{A1F7A9BE-348C-C365-D01F-EE2C42BAF89F}"/>
              </a:ext>
            </a:extLst>
          </p:cNvPr>
          <p:cNvSpPr txBox="1"/>
          <p:nvPr/>
        </p:nvSpPr>
        <p:spPr>
          <a:xfrm>
            <a:off x="879605" y="957088"/>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lang="en-US" sz="4400" b="1" i="0" spc="-123" dirty="0">
                <a:solidFill>
                  <a:srgbClr val="0B0B0F"/>
                </a:solidFill>
                <a:latin typeface="Arial"/>
              </a:rPr>
              <a:t>Computing in Quantum</a:t>
            </a:r>
            <a:endParaRPr sz="4400" b="1" i="0" spc="-123" dirty="0">
              <a:solidFill>
                <a:srgbClr val="0B0B0F"/>
              </a:solidFill>
              <a:latin typeface="Arial"/>
            </a:endParaRPr>
          </a:p>
        </p:txBody>
      </p:sp>
      <p:pic>
        <p:nvPicPr>
          <p:cNvPr id="16" name="Picture 15">
            <a:extLst>
              <a:ext uri="{FF2B5EF4-FFF2-40B4-BE49-F238E27FC236}">
                <a16:creationId xmlns:a16="http://schemas.microsoft.com/office/drawing/2014/main" id="{C9D6700F-5513-F66F-0DB3-BF8D3098AB3F}"/>
              </a:ext>
            </a:extLst>
          </p:cNvPr>
          <p:cNvPicPr>
            <a:picLocks noChangeAspect="1"/>
          </p:cNvPicPr>
          <p:nvPr/>
        </p:nvPicPr>
        <p:blipFill>
          <a:blip r:embed="rId4"/>
          <a:stretch>
            <a:fillRect/>
          </a:stretch>
        </p:blipFill>
        <p:spPr>
          <a:xfrm>
            <a:off x="365583" y="2453068"/>
            <a:ext cx="3530600" cy="3225800"/>
          </a:xfrm>
          <a:prstGeom prst="rect">
            <a:avLst/>
          </a:prstGeom>
        </p:spPr>
      </p:pic>
      <p:pic>
        <p:nvPicPr>
          <p:cNvPr id="17" name="Picture 16">
            <a:extLst>
              <a:ext uri="{FF2B5EF4-FFF2-40B4-BE49-F238E27FC236}">
                <a16:creationId xmlns:a16="http://schemas.microsoft.com/office/drawing/2014/main" id="{A23C5C0D-3BE8-D243-3F54-BB965E37E06C}"/>
              </a:ext>
            </a:extLst>
          </p:cNvPr>
          <p:cNvPicPr>
            <a:picLocks noChangeAspect="1"/>
          </p:cNvPicPr>
          <p:nvPr/>
        </p:nvPicPr>
        <p:blipFill>
          <a:blip r:embed="rId5"/>
          <a:stretch>
            <a:fillRect/>
          </a:stretch>
        </p:blipFill>
        <p:spPr>
          <a:xfrm>
            <a:off x="4494687" y="2453068"/>
            <a:ext cx="3265955" cy="3225800"/>
          </a:xfrm>
          <a:prstGeom prst="rect">
            <a:avLst/>
          </a:prstGeom>
        </p:spPr>
      </p:pic>
      <p:pic>
        <p:nvPicPr>
          <p:cNvPr id="19" name="Picture 18" descr="Montana Instruments | Quantum Networking">
            <a:extLst>
              <a:ext uri="{FF2B5EF4-FFF2-40B4-BE49-F238E27FC236}">
                <a16:creationId xmlns:a16="http://schemas.microsoft.com/office/drawing/2014/main" id="{2D678876-D428-8F6A-66F9-3F313F0210E6}"/>
              </a:ext>
            </a:extLst>
          </p:cNvPr>
          <p:cNvPicPr>
            <a:picLocks noChangeAspect="1"/>
          </p:cNvPicPr>
          <p:nvPr/>
        </p:nvPicPr>
        <p:blipFill>
          <a:blip r:embed="rId6"/>
          <a:srcRect l="21572" r="20710" b="1470"/>
          <a:stretch>
            <a:fillRect/>
          </a:stretch>
        </p:blipFill>
        <p:spPr>
          <a:xfrm>
            <a:off x="8359146" y="2466019"/>
            <a:ext cx="3347450" cy="3212849"/>
          </a:xfrm>
          <a:prstGeom prst="rect">
            <a:avLst/>
          </a:prstGeom>
        </p:spPr>
      </p:pic>
      <p:grpSp>
        <p:nvGrpSpPr>
          <p:cNvPr id="22" name="Group 21">
            <a:extLst>
              <a:ext uri="{FF2B5EF4-FFF2-40B4-BE49-F238E27FC236}">
                <a16:creationId xmlns:a16="http://schemas.microsoft.com/office/drawing/2014/main" id="{E17EFF85-06EB-C449-7ABE-B643D3A0E796}"/>
              </a:ext>
            </a:extLst>
          </p:cNvPr>
          <p:cNvGrpSpPr/>
          <p:nvPr/>
        </p:nvGrpSpPr>
        <p:grpSpPr>
          <a:xfrm>
            <a:off x="950151" y="1678538"/>
            <a:ext cx="10303008" cy="5261648"/>
            <a:chOff x="237306" y="484351"/>
            <a:chExt cx="11719273" cy="6321051"/>
          </a:xfrm>
        </p:grpSpPr>
        <p:pic>
          <p:nvPicPr>
            <p:cNvPr id="23" name="Picture 22">
              <a:extLst>
                <a:ext uri="{FF2B5EF4-FFF2-40B4-BE49-F238E27FC236}">
                  <a16:creationId xmlns:a16="http://schemas.microsoft.com/office/drawing/2014/main" id="{B8C73440-F06D-A964-9F1A-3B80131F8B6A}"/>
                </a:ext>
              </a:extLst>
            </p:cNvPr>
            <p:cNvPicPr>
              <a:picLocks noChangeAspect="1"/>
            </p:cNvPicPr>
            <p:nvPr/>
          </p:nvPicPr>
          <p:blipFill>
            <a:blip r:embed="rId7"/>
            <a:stretch>
              <a:fillRect/>
            </a:stretch>
          </p:blipFill>
          <p:spPr>
            <a:xfrm>
              <a:off x="237306" y="4125860"/>
              <a:ext cx="4111711" cy="2679542"/>
            </a:xfrm>
            <a:prstGeom prst="rect">
              <a:avLst/>
            </a:prstGeom>
          </p:spPr>
        </p:pic>
        <p:pic>
          <p:nvPicPr>
            <p:cNvPr id="24" name="Picture 23" descr="A Comprehensive Review of Quantum Circuit Optimization: Current Trends and Future Directions">
              <a:extLst>
                <a:ext uri="{FF2B5EF4-FFF2-40B4-BE49-F238E27FC236}">
                  <a16:creationId xmlns:a16="http://schemas.microsoft.com/office/drawing/2014/main" id="{FAF27390-8E30-536D-B492-2C88ABAE9BC6}"/>
                </a:ext>
              </a:extLst>
            </p:cNvPr>
            <p:cNvPicPr>
              <a:picLocks noChangeAspect="1"/>
            </p:cNvPicPr>
            <p:nvPr/>
          </p:nvPicPr>
          <p:blipFill>
            <a:blip r:embed="rId8"/>
            <a:stretch>
              <a:fillRect/>
            </a:stretch>
          </p:blipFill>
          <p:spPr>
            <a:xfrm>
              <a:off x="933777" y="484351"/>
              <a:ext cx="3091779" cy="2679542"/>
            </a:xfrm>
            <a:prstGeom prst="rect">
              <a:avLst/>
            </a:prstGeom>
          </p:spPr>
        </p:pic>
        <p:pic>
          <p:nvPicPr>
            <p:cNvPr id="25" name="Picture 24" descr="Oak Ridge National Laboratory's Frontier Supercomputer | HPE Norway">
              <a:extLst>
                <a:ext uri="{FF2B5EF4-FFF2-40B4-BE49-F238E27FC236}">
                  <a16:creationId xmlns:a16="http://schemas.microsoft.com/office/drawing/2014/main" id="{9CB291D6-1C12-54C3-515F-FD115B0F3E5C}"/>
                </a:ext>
              </a:extLst>
            </p:cNvPr>
            <p:cNvPicPr>
              <a:picLocks noChangeAspect="1"/>
            </p:cNvPicPr>
            <p:nvPr/>
          </p:nvPicPr>
          <p:blipFill>
            <a:blip r:embed="rId9"/>
            <a:stretch>
              <a:fillRect/>
            </a:stretch>
          </p:blipFill>
          <p:spPr>
            <a:xfrm>
              <a:off x="6698120" y="484351"/>
              <a:ext cx="5226783" cy="2939799"/>
            </a:xfrm>
            <a:prstGeom prst="rect">
              <a:avLst/>
            </a:prstGeom>
          </p:spPr>
        </p:pic>
        <p:sp>
          <p:nvSpPr>
            <p:cNvPr id="26" name="Left-Right Arrow 25">
              <a:extLst>
                <a:ext uri="{FF2B5EF4-FFF2-40B4-BE49-F238E27FC236}">
                  <a16:creationId xmlns:a16="http://schemas.microsoft.com/office/drawing/2014/main" id="{FBFA2647-A5CD-63F1-4A02-0038345F7FA4}"/>
                </a:ext>
              </a:extLst>
            </p:cNvPr>
            <p:cNvSpPr/>
            <p:nvPr/>
          </p:nvSpPr>
          <p:spPr>
            <a:xfrm rot="18848855">
              <a:off x="3761266" y="3403801"/>
              <a:ext cx="3012227" cy="449907"/>
            </a:xfrm>
            <a:prstGeom prst="leftRightArrow">
              <a:avLst>
                <a:gd name="adj1" fmla="val 50000"/>
                <a:gd name="adj2" fmla="val 39708"/>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pic>
          <p:nvPicPr>
            <p:cNvPr id="27" name="Picture 26" descr="Experimental authentication of quantum key distribution with post-quantum  cryptography | npj Quantum Information">
              <a:extLst>
                <a:ext uri="{FF2B5EF4-FFF2-40B4-BE49-F238E27FC236}">
                  <a16:creationId xmlns:a16="http://schemas.microsoft.com/office/drawing/2014/main" id="{01247487-3743-F163-52BA-C1B29A67F09B}"/>
                </a:ext>
              </a:extLst>
            </p:cNvPr>
            <p:cNvPicPr>
              <a:picLocks noChangeAspect="1"/>
            </p:cNvPicPr>
            <p:nvPr/>
          </p:nvPicPr>
          <p:blipFill>
            <a:blip r:embed="rId10"/>
            <a:srcRect l="1730" t="50626"/>
            <a:stretch>
              <a:fillRect/>
            </a:stretch>
          </p:blipFill>
          <p:spPr>
            <a:xfrm>
              <a:off x="6606907" y="4372830"/>
              <a:ext cx="5349672" cy="2185602"/>
            </a:xfrm>
            <a:prstGeom prst="rect">
              <a:avLst/>
            </a:prstGeom>
          </p:spPr>
        </p:pic>
        <p:sp>
          <p:nvSpPr>
            <p:cNvPr id="28" name="Left-Right Arrow 27">
              <a:extLst>
                <a:ext uri="{FF2B5EF4-FFF2-40B4-BE49-F238E27FC236}">
                  <a16:creationId xmlns:a16="http://schemas.microsoft.com/office/drawing/2014/main" id="{78E6469A-761E-9F2A-0E3D-B94EA222C67C}"/>
                </a:ext>
              </a:extLst>
            </p:cNvPr>
            <p:cNvSpPr/>
            <p:nvPr/>
          </p:nvSpPr>
          <p:spPr>
            <a:xfrm rot="2483850">
              <a:off x="3789872" y="3423109"/>
              <a:ext cx="3085415" cy="449907"/>
            </a:xfrm>
            <a:prstGeom prst="lef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pic>
          <p:nvPicPr>
            <p:cNvPr id="29" name="Picture 28">
              <a:extLst>
                <a:ext uri="{FF2B5EF4-FFF2-40B4-BE49-F238E27FC236}">
                  <a16:creationId xmlns:a16="http://schemas.microsoft.com/office/drawing/2014/main" id="{82CC0260-10B9-1CF3-248C-F96036F3C402}"/>
                </a:ext>
              </a:extLst>
            </p:cNvPr>
            <p:cNvPicPr>
              <a:picLocks noChangeAspect="1"/>
            </p:cNvPicPr>
            <p:nvPr/>
          </p:nvPicPr>
          <p:blipFill>
            <a:blip r:embed="rId11"/>
            <a:stretch>
              <a:fillRect/>
            </a:stretch>
          </p:blipFill>
          <p:spPr>
            <a:xfrm>
              <a:off x="4408553" y="3186232"/>
              <a:ext cx="1731198" cy="970520"/>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3" name="s3-text-02"/>
          <p:cNvSpPr txBox="1"/>
          <p:nvPr/>
        </p:nvSpPr>
        <p:spPr>
          <a:xfrm>
            <a:off x="888978" y="575058"/>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dirty="0">
                <a:solidFill>
                  <a:srgbClr val="0B0B0F"/>
                </a:solidFill>
                <a:latin typeface="Arial"/>
              </a:rPr>
              <a:t>Five layers around the QPU</a:t>
            </a:r>
          </a:p>
        </p:txBody>
      </p:sp>
      <p:sp>
        <p:nvSpPr>
          <p:cNvPr id="4" name="!!L1-bg"/>
          <p:cNvSpPr/>
          <p:nvPr/>
        </p:nvSpPr>
        <p:spPr>
          <a:xfrm>
            <a:off x="888978" y="1634390"/>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3-text-03"/>
          <p:cNvSpPr txBox="1"/>
          <p:nvPr/>
        </p:nvSpPr>
        <p:spPr>
          <a:xfrm>
            <a:off x="1104872" y="1850284"/>
            <a:ext cx="154807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01 · RQ1 · Scale</a:t>
            </a:r>
          </a:p>
        </p:txBody>
      </p:sp>
      <p:sp>
        <p:nvSpPr>
          <p:cNvPr id="6" name="!!L1-t"/>
          <p:cNvSpPr txBox="1"/>
          <p:nvPr/>
        </p:nvSpPr>
        <p:spPr>
          <a:xfrm>
            <a:off x="1104872" y="2155077"/>
            <a:ext cx="1279295" cy="285743"/>
          </a:xfrm>
          <a:prstGeom prst="rect">
            <a:avLst/>
          </a:prstGeom>
          <a:noFill/>
        </p:spPr>
        <p:txBody>
          <a:bodyPr wrap="none" lIns="0" tIns="0" rIns="0" bIns="0" anchor="t">
            <a:noAutofit/>
          </a:bodyPr>
          <a:lstStyle/>
          <a:p>
            <a:pPr algn="l">
              <a:lnSpc>
                <a:spcPts val="2400"/>
              </a:lnSpc>
              <a:spcBef>
                <a:spcPts val="0"/>
              </a:spcBef>
              <a:spcAft>
                <a:spcPts val="0"/>
              </a:spcAft>
            </a:pPr>
            <a:r>
              <a:rPr sz="2000" b="1" i="0" spc="-30" dirty="0">
                <a:solidFill>
                  <a:srgbClr val="0B0B0F"/>
                </a:solidFill>
                <a:latin typeface="Arial"/>
              </a:rPr>
              <a:t>Simulation</a:t>
            </a:r>
          </a:p>
        </p:txBody>
      </p:sp>
      <p:sp>
        <p:nvSpPr>
          <p:cNvPr id="7" name="s3-text-05"/>
          <p:cNvSpPr txBox="1"/>
          <p:nvPr/>
        </p:nvSpPr>
        <p:spPr>
          <a:xfrm>
            <a:off x="1104872" y="4001789"/>
            <a:ext cx="1541722" cy="693224"/>
          </a:xfrm>
          <a:prstGeom prst="rect">
            <a:avLst/>
          </a:prstGeom>
          <a:noFill/>
        </p:spPr>
        <p:txBody>
          <a:bodyPr wrap="square" lIns="0" tIns="0" rIns="0" bIns="0" anchor="t">
            <a:noAutofit/>
          </a:bodyPr>
          <a:lstStyle/>
          <a:p>
            <a:pPr algn="l">
              <a:lnSpc>
                <a:spcPts val="1820"/>
              </a:lnSpc>
              <a:spcBef>
                <a:spcPts val="0"/>
              </a:spcBef>
              <a:spcAft>
                <a:spcPts val="0"/>
              </a:spcAft>
            </a:pPr>
            <a:r>
              <a:rPr sz="1300" b="0" i="0" dirty="0">
                <a:solidFill>
                  <a:srgbClr val="50505B"/>
                </a:solidFill>
                <a:latin typeface="Arial"/>
              </a:rPr>
              <a:t>GPU simulation beyond hardware reach</a:t>
            </a:r>
          </a:p>
        </p:txBody>
      </p:sp>
      <p:sp>
        <p:nvSpPr>
          <p:cNvPr id="8" name="!!L2-bg"/>
          <p:cNvSpPr/>
          <p:nvPr/>
        </p:nvSpPr>
        <p:spPr>
          <a:xfrm>
            <a:off x="3002185" y="1634390"/>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9" name="s3-text-06"/>
          <p:cNvSpPr txBox="1"/>
          <p:nvPr/>
        </p:nvSpPr>
        <p:spPr>
          <a:xfrm>
            <a:off x="3218080" y="1850284"/>
            <a:ext cx="154807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02 · RQ2 · Noise</a:t>
            </a:r>
          </a:p>
        </p:txBody>
      </p:sp>
      <p:sp>
        <p:nvSpPr>
          <p:cNvPr id="10" name="!!L2-t"/>
          <p:cNvSpPr txBox="1"/>
          <p:nvPr/>
        </p:nvSpPr>
        <p:spPr>
          <a:xfrm>
            <a:off x="3218080" y="2155077"/>
            <a:ext cx="1321561" cy="285743"/>
          </a:xfrm>
          <a:prstGeom prst="rect">
            <a:avLst/>
          </a:prstGeom>
          <a:noFill/>
        </p:spPr>
        <p:txBody>
          <a:bodyPr wrap="none" lIns="0" tIns="0" rIns="0" bIns="0" anchor="t">
            <a:noAutofit/>
          </a:bodyPr>
          <a:lstStyle/>
          <a:p>
            <a:pPr algn="l">
              <a:lnSpc>
                <a:spcPts val="2400"/>
              </a:lnSpc>
              <a:spcBef>
                <a:spcPts val="0"/>
              </a:spcBef>
              <a:spcAft>
                <a:spcPts val="0"/>
              </a:spcAft>
            </a:pPr>
            <a:r>
              <a:rPr sz="2000" b="1" i="0" spc="-30" dirty="0">
                <a:solidFill>
                  <a:srgbClr val="0B0B0F"/>
                </a:solidFill>
                <a:latin typeface="Arial"/>
              </a:rPr>
              <a:t>Algorithms</a:t>
            </a:r>
          </a:p>
        </p:txBody>
      </p:sp>
      <p:sp>
        <p:nvSpPr>
          <p:cNvPr id="11" name="s3-text-08"/>
          <p:cNvSpPr txBox="1"/>
          <p:nvPr/>
        </p:nvSpPr>
        <p:spPr>
          <a:xfrm>
            <a:off x="3218080" y="4001789"/>
            <a:ext cx="1541722" cy="693224"/>
          </a:xfrm>
          <a:prstGeom prst="rect">
            <a:avLst/>
          </a:prstGeom>
          <a:noFill/>
        </p:spPr>
        <p:txBody>
          <a:bodyPr wrap="square" lIns="0" tIns="0" rIns="0" bIns="0" anchor="t">
            <a:noAutofit/>
          </a:bodyPr>
          <a:lstStyle/>
          <a:p>
            <a:pPr algn="l">
              <a:lnSpc>
                <a:spcPts val="1820"/>
              </a:lnSpc>
              <a:spcBef>
                <a:spcPts val="0"/>
              </a:spcBef>
              <a:spcAft>
                <a:spcPts val="0"/>
              </a:spcAft>
            </a:pPr>
            <a:r>
              <a:rPr sz="1300" b="0" i="0" dirty="0">
                <a:solidFill>
                  <a:srgbClr val="50505B"/>
                </a:solidFill>
                <a:latin typeface="Arial"/>
              </a:rPr>
              <a:t>Structure from problem and device, not black-box search</a:t>
            </a:r>
          </a:p>
        </p:txBody>
      </p:sp>
      <p:sp>
        <p:nvSpPr>
          <p:cNvPr id="12" name="!!L3-bg"/>
          <p:cNvSpPr/>
          <p:nvPr/>
        </p:nvSpPr>
        <p:spPr>
          <a:xfrm>
            <a:off x="5115392" y="1634390"/>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3-text-09"/>
          <p:cNvSpPr txBox="1"/>
          <p:nvPr/>
        </p:nvSpPr>
        <p:spPr>
          <a:xfrm>
            <a:off x="5331287" y="1850284"/>
            <a:ext cx="154807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03 · RQ3 · Data</a:t>
            </a:r>
          </a:p>
        </p:txBody>
      </p:sp>
      <p:sp>
        <p:nvSpPr>
          <p:cNvPr id="14" name="!!L3-t"/>
          <p:cNvSpPr txBox="1"/>
          <p:nvPr/>
        </p:nvSpPr>
        <p:spPr>
          <a:xfrm>
            <a:off x="5331287" y="2155077"/>
            <a:ext cx="1541722" cy="571486"/>
          </a:xfrm>
          <a:prstGeom prst="rect">
            <a:avLst/>
          </a:prstGeom>
          <a:noFill/>
        </p:spPr>
        <p:txBody>
          <a:bodyPr wrap="square" lIns="0" tIns="0" rIns="0" bIns="0" anchor="t">
            <a:noAutofit/>
          </a:bodyPr>
          <a:lstStyle/>
          <a:p>
            <a:pPr algn="l">
              <a:lnSpc>
                <a:spcPts val="2400"/>
              </a:lnSpc>
              <a:spcBef>
                <a:spcPts val="0"/>
              </a:spcBef>
              <a:spcAft>
                <a:spcPts val="0"/>
              </a:spcAft>
            </a:pPr>
            <a:r>
              <a:rPr lang="en-US" sz="2000" b="1" i="0" spc="-30" dirty="0">
                <a:solidFill>
                  <a:srgbClr val="0B0B0F"/>
                </a:solidFill>
                <a:latin typeface="Arial"/>
              </a:rPr>
              <a:t>LLMs</a:t>
            </a:r>
            <a:endParaRPr sz="2000" b="1" i="0" spc="-30" dirty="0">
              <a:solidFill>
                <a:srgbClr val="0B0B0F"/>
              </a:solidFill>
              <a:latin typeface="Arial"/>
            </a:endParaRPr>
          </a:p>
        </p:txBody>
      </p:sp>
      <p:sp>
        <p:nvSpPr>
          <p:cNvPr id="15" name="s3-text-11"/>
          <p:cNvSpPr txBox="1"/>
          <p:nvPr/>
        </p:nvSpPr>
        <p:spPr>
          <a:xfrm>
            <a:off x="5331287" y="4001789"/>
            <a:ext cx="1541722" cy="693224"/>
          </a:xfrm>
          <a:prstGeom prst="rect">
            <a:avLst/>
          </a:prstGeom>
          <a:noFill/>
        </p:spPr>
        <p:txBody>
          <a:bodyPr wrap="square" lIns="0" tIns="0" rIns="0" bIns="0" anchor="t">
            <a:noAutofit/>
          </a:bodyPr>
          <a:lstStyle/>
          <a:p>
            <a:pPr algn="l">
              <a:lnSpc>
                <a:spcPts val="1820"/>
              </a:lnSpc>
              <a:spcBef>
                <a:spcPts val="0"/>
              </a:spcBef>
              <a:spcAft>
                <a:spcPts val="0"/>
              </a:spcAft>
            </a:pPr>
            <a:endParaRPr sz="1300" b="0" i="0" dirty="0">
              <a:solidFill>
                <a:srgbClr val="50505B"/>
              </a:solidFill>
              <a:latin typeface="Arial"/>
            </a:endParaRPr>
          </a:p>
        </p:txBody>
      </p:sp>
      <p:sp>
        <p:nvSpPr>
          <p:cNvPr id="16" name="!!L4-bg"/>
          <p:cNvSpPr/>
          <p:nvPr/>
        </p:nvSpPr>
        <p:spPr>
          <a:xfrm>
            <a:off x="7228600" y="1634390"/>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3-text-12"/>
          <p:cNvSpPr txBox="1"/>
          <p:nvPr/>
        </p:nvSpPr>
        <p:spPr>
          <a:xfrm>
            <a:off x="7444494" y="1850284"/>
            <a:ext cx="154807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04 · RQ4 · Synthesis</a:t>
            </a:r>
          </a:p>
        </p:txBody>
      </p:sp>
      <p:sp>
        <p:nvSpPr>
          <p:cNvPr id="18" name="!!L4-t"/>
          <p:cNvSpPr txBox="1"/>
          <p:nvPr/>
        </p:nvSpPr>
        <p:spPr>
          <a:xfrm>
            <a:off x="7444494" y="2155077"/>
            <a:ext cx="1184741" cy="285743"/>
          </a:xfrm>
          <a:prstGeom prst="rect">
            <a:avLst/>
          </a:prstGeom>
          <a:noFill/>
        </p:spPr>
        <p:txBody>
          <a:bodyPr wrap="none" lIns="0" tIns="0" rIns="0" bIns="0" anchor="t">
            <a:noAutofit/>
          </a:bodyPr>
          <a:lstStyle/>
          <a:p>
            <a:pPr algn="l">
              <a:lnSpc>
                <a:spcPts val="2400"/>
              </a:lnSpc>
              <a:spcBef>
                <a:spcPts val="0"/>
              </a:spcBef>
              <a:spcAft>
                <a:spcPts val="0"/>
              </a:spcAft>
            </a:pPr>
            <a:r>
              <a:rPr sz="2000" b="1" i="0" spc="-30" dirty="0">
                <a:solidFill>
                  <a:srgbClr val="0B0B0F"/>
                </a:solidFill>
                <a:latin typeface="Arial"/>
              </a:rPr>
              <a:t>Synthesis</a:t>
            </a:r>
          </a:p>
        </p:txBody>
      </p:sp>
      <p:sp>
        <p:nvSpPr>
          <p:cNvPr id="19" name="s3-text-14"/>
          <p:cNvSpPr txBox="1"/>
          <p:nvPr/>
        </p:nvSpPr>
        <p:spPr>
          <a:xfrm>
            <a:off x="7444494" y="4001789"/>
            <a:ext cx="1541722" cy="693224"/>
          </a:xfrm>
          <a:prstGeom prst="rect">
            <a:avLst/>
          </a:prstGeom>
          <a:noFill/>
        </p:spPr>
        <p:txBody>
          <a:bodyPr wrap="square" lIns="0" tIns="0" rIns="0" bIns="0" anchor="t">
            <a:noAutofit/>
          </a:bodyPr>
          <a:lstStyle/>
          <a:p>
            <a:pPr algn="l">
              <a:lnSpc>
                <a:spcPts val="1820"/>
              </a:lnSpc>
              <a:spcBef>
                <a:spcPts val="0"/>
              </a:spcBef>
              <a:spcAft>
                <a:spcPts val="0"/>
              </a:spcAft>
            </a:pPr>
            <a:r>
              <a:rPr sz="1300" b="0" i="0" dirty="0">
                <a:solidFill>
                  <a:srgbClr val="50505B"/>
                </a:solidFill>
                <a:latin typeface="Arial"/>
              </a:rPr>
              <a:t>AI/HPC synthesis within fault-tolerant budgets</a:t>
            </a:r>
          </a:p>
        </p:txBody>
      </p:sp>
      <p:sp>
        <p:nvSpPr>
          <p:cNvPr id="20" name="!!L5-bg"/>
          <p:cNvSpPr/>
          <p:nvPr/>
        </p:nvSpPr>
        <p:spPr>
          <a:xfrm>
            <a:off x="9360956" y="1634390"/>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3-text-15"/>
          <p:cNvSpPr txBox="1"/>
          <p:nvPr/>
        </p:nvSpPr>
        <p:spPr>
          <a:xfrm>
            <a:off x="9557702" y="1850284"/>
            <a:ext cx="154807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05 · RQ5 · Trust</a:t>
            </a:r>
          </a:p>
        </p:txBody>
      </p:sp>
      <p:sp>
        <p:nvSpPr>
          <p:cNvPr id="22" name="!!L5-t"/>
          <p:cNvSpPr txBox="1"/>
          <p:nvPr/>
        </p:nvSpPr>
        <p:spPr>
          <a:xfrm>
            <a:off x="9557702" y="2155077"/>
            <a:ext cx="620995" cy="285743"/>
          </a:xfrm>
          <a:prstGeom prst="rect">
            <a:avLst/>
          </a:prstGeom>
          <a:noFill/>
        </p:spPr>
        <p:txBody>
          <a:bodyPr wrap="none" lIns="0" tIns="0" rIns="0" bIns="0" anchor="t">
            <a:noAutofit/>
          </a:bodyPr>
          <a:lstStyle/>
          <a:p>
            <a:pPr algn="l">
              <a:lnSpc>
                <a:spcPts val="2400"/>
              </a:lnSpc>
              <a:spcBef>
                <a:spcPts val="0"/>
              </a:spcBef>
              <a:spcAft>
                <a:spcPts val="0"/>
              </a:spcAft>
            </a:pPr>
            <a:r>
              <a:rPr sz="2000" b="1" i="0" spc="-30">
                <a:solidFill>
                  <a:srgbClr val="0B0B0F"/>
                </a:solidFill>
                <a:latin typeface="Arial"/>
              </a:rPr>
              <a:t>Trust</a:t>
            </a:r>
          </a:p>
        </p:txBody>
      </p:sp>
      <p:sp>
        <p:nvSpPr>
          <p:cNvPr id="23" name="s3-text-17"/>
          <p:cNvSpPr txBox="1"/>
          <p:nvPr/>
        </p:nvSpPr>
        <p:spPr>
          <a:xfrm>
            <a:off x="9557702" y="4001789"/>
            <a:ext cx="1541722" cy="693224"/>
          </a:xfrm>
          <a:prstGeom prst="rect">
            <a:avLst/>
          </a:prstGeom>
          <a:noFill/>
        </p:spPr>
        <p:txBody>
          <a:bodyPr wrap="square" lIns="0" tIns="0" rIns="0" bIns="0" anchor="t">
            <a:noAutofit/>
          </a:bodyPr>
          <a:lstStyle/>
          <a:p>
            <a:pPr algn="l">
              <a:lnSpc>
                <a:spcPts val="1820"/>
              </a:lnSpc>
              <a:spcBef>
                <a:spcPts val="0"/>
              </a:spcBef>
              <a:spcAft>
                <a:spcPts val="0"/>
              </a:spcAft>
            </a:pPr>
            <a:r>
              <a:rPr sz="1300" b="0" i="0">
                <a:solidFill>
                  <a:srgbClr val="50505B"/>
                </a:solidFill>
                <a:latin typeface="Arial"/>
              </a:rPr>
              <a:t>Auditable QEC and post-quantum cryptography</a:t>
            </a:r>
          </a:p>
        </p:txBody>
      </p:sp>
      <p:sp>
        <p:nvSpPr>
          <p:cNvPr id="24" name="!!sec"/>
          <p:cNvSpPr txBox="1"/>
          <p:nvPr/>
        </p:nvSpPr>
        <p:spPr>
          <a:xfrm>
            <a:off x="888978" y="6362541"/>
            <a:ext cx="1291201"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Introduction</a:t>
            </a:r>
          </a:p>
        </p:txBody>
      </p:sp>
      <p:pic>
        <p:nvPicPr>
          <p:cNvPr id="25" name="s3-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6" name="!!pg"/>
          <p:cNvSpPr txBox="1"/>
          <p:nvPr/>
        </p:nvSpPr>
        <p:spPr>
          <a:xfrm>
            <a:off x="10304800" y="634984"/>
            <a:ext cx="572478"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a:t>
            </a:r>
            <a:r>
              <a:rPr sz="1100" b="0" i="0" spc="66">
                <a:solidFill>
                  <a:srgbClr val="7B7B86"/>
                </a:solidFill>
                <a:latin typeface="Courier New"/>
              </a:rPr>
              <a:t> / 68</a:t>
            </a:r>
          </a:p>
        </p:txBody>
      </p:sp>
      <p:pic>
        <p:nvPicPr>
          <p:cNvPr id="29" name="Picture 28" descr="IQM Launches HPC Integration Service to Accelerate Hybrid Quantum-HPC Adoption - Quantum Computing Report">
            <a:extLst>
              <a:ext uri="{FF2B5EF4-FFF2-40B4-BE49-F238E27FC236}">
                <a16:creationId xmlns:a16="http://schemas.microsoft.com/office/drawing/2014/main" id="{FFCADD7E-EE14-6430-E29A-EA8671169FEF}"/>
              </a:ext>
            </a:extLst>
          </p:cNvPr>
          <p:cNvPicPr>
            <a:picLocks noChangeAspect="1"/>
          </p:cNvPicPr>
          <p:nvPr/>
        </p:nvPicPr>
        <p:blipFill>
          <a:blip r:embed="rId4"/>
          <a:stretch>
            <a:fillRect/>
          </a:stretch>
        </p:blipFill>
        <p:spPr>
          <a:xfrm>
            <a:off x="1032983" y="2829948"/>
            <a:ext cx="1685499" cy="1103952"/>
          </a:xfrm>
          <a:prstGeom prst="rect">
            <a:avLst/>
          </a:prstGeom>
        </p:spPr>
      </p:pic>
      <p:pic>
        <p:nvPicPr>
          <p:cNvPr id="30" name="Picture 29" descr="Comparing Quantum Encoding Techniques">
            <a:extLst>
              <a:ext uri="{FF2B5EF4-FFF2-40B4-BE49-F238E27FC236}">
                <a16:creationId xmlns:a16="http://schemas.microsoft.com/office/drawing/2014/main" id="{AD0D8EF3-B22C-EAA1-0EAB-233EC1E53C34}"/>
              </a:ext>
            </a:extLst>
          </p:cNvPr>
          <p:cNvPicPr>
            <a:picLocks noChangeAspect="1"/>
          </p:cNvPicPr>
          <p:nvPr/>
        </p:nvPicPr>
        <p:blipFill>
          <a:blip r:embed="rId5"/>
          <a:srcRect r="52657"/>
          <a:stretch>
            <a:fillRect/>
          </a:stretch>
        </p:blipFill>
        <p:spPr>
          <a:xfrm>
            <a:off x="3112113" y="2829948"/>
            <a:ext cx="1726541" cy="1103952"/>
          </a:xfrm>
          <a:prstGeom prst="rect">
            <a:avLst/>
          </a:prstGeom>
        </p:spPr>
      </p:pic>
      <p:pic>
        <p:nvPicPr>
          <p:cNvPr id="32" name="Picture 31" descr="Artificial Neural Networks (ANN) in Health Care Technology">
            <a:extLst>
              <a:ext uri="{FF2B5EF4-FFF2-40B4-BE49-F238E27FC236}">
                <a16:creationId xmlns:a16="http://schemas.microsoft.com/office/drawing/2014/main" id="{47D646B6-DF80-0BDF-0367-72239AFA409F}"/>
              </a:ext>
            </a:extLst>
          </p:cNvPr>
          <p:cNvPicPr>
            <a:picLocks noChangeAspect="1"/>
          </p:cNvPicPr>
          <p:nvPr/>
        </p:nvPicPr>
        <p:blipFill>
          <a:blip r:embed="rId6"/>
          <a:srcRect l="1591" t="12883" r="788" b="15109"/>
          <a:stretch>
            <a:fillRect/>
          </a:stretch>
        </p:blipFill>
        <p:spPr>
          <a:xfrm>
            <a:off x="5159742" y="2829948"/>
            <a:ext cx="1861361" cy="1373012"/>
          </a:xfrm>
          <a:prstGeom prst="rect">
            <a:avLst/>
          </a:prstGeom>
        </p:spPr>
      </p:pic>
      <p:pic>
        <p:nvPicPr>
          <p:cNvPr id="33" name="Picture 32" descr="Triangular color code on a hexagonal lattice with boundaries. a) The... | Download Scientific Diagram">
            <a:extLst>
              <a:ext uri="{FF2B5EF4-FFF2-40B4-BE49-F238E27FC236}">
                <a16:creationId xmlns:a16="http://schemas.microsoft.com/office/drawing/2014/main" id="{899137A4-C9AC-6DCA-8423-070056530EDB}"/>
              </a:ext>
            </a:extLst>
          </p:cNvPr>
          <p:cNvPicPr>
            <a:picLocks noChangeAspect="1"/>
          </p:cNvPicPr>
          <p:nvPr/>
        </p:nvPicPr>
        <p:blipFill>
          <a:blip r:embed="rId7"/>
          <a:stretch>
            <a:fillRect/>
          </a:stretch>
        </p:blipFill>
        <p:spPr>
          <a:xfrm>
            <a:off x="9475253" y="2726445"/>
            <a:ext cx="1732216" cy="131095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873202"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Agenda</a:t>
            </a:r>
          </a:p>
        </p:txBody>
      </p:sp>
      <p:sp>
        <p:nvSpPr>
          <p:cNvPr id="3" name="s4-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Where we are going</a:t>
            </a:r>
          </a:p>
        </p:txBody>
      </p:sp>
      <p:sp>
        <p:nvSpPr>
          <p:cNvPr id="4" name="s4-box-01"/>
          <p:cNvSpPr/>
          <p:nvPr/>
        </p:nvSpPr>
        <p:spPr>
          <a:xfrm>
            <a:off x="888978" y="1596291"/>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4-text-03"/>
          <p:cNvSpPr txBox="1"/>
          <p:nvPr/>
        </p:nvSpPr>
        <p:spPr>
          <a:xfrm>
            <a:off x="1142971" y="1745512"/>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I–II</a:t>
            </a:r>
          </a:p>
        </p:txBody>
      </p:sp>
      <p:sp>
        <p:nvSpPr>
          <p:cNvPr id="6" name="s4-text-04"/>
          <p:cNvSpPr txBox="1"/>
          <p:nvPr/>
        </p:nvSpPr>
        <p:spPr>
          <a:xfrm>
            <a:off x="2285943" y="1691538"/>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Motivation</a:t>
            </a:r>
          </a:p>
        </p:txBody>
      </p:sp>
      <p:sp>
        <p:nvSpPr>
          <p:cNvPr id="7" name="s4-text-05"/>
          <p:cNvSpPr txBox="1"/>
          <p:nvPr/>
        </p:nvSpPr>
        <p:spPr>
          <a:xfrm>
            <a:off x="5079873" y="1700468"/>
            <a:ext cx="2074414"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dirty="0">
                <a:solidFill>
                  <a:srgbClr val="50505B"/>
                </a:solidFill>
                <a:latin typeface="Arial"/>
              </a:rPr>
              <a:t>Four walls · five questions</a:t>
            </a:r>
          </a:p>
        </p:txBody>
      </p:sp>
      <p:sp>
        <p:nvSpPr>
          <p:cNvPr id="8" name="!!L1-bg"/>
          <p:cNvSpPr/>
          <p:nvPr/>
        </p:nvSpPr>
        <p:spPr>
          <a:xfrm>
            <a:off x="888978" y="2116978"/>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4-text-06"/>
          <p:cNvSpPr txBox="1"/>
          <p:nvPr/>
        </p:nvSpPr>
        <p:spPr>
          <a:xfrm>
            <a:off x="1142971" y="2266199"/>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III</a:t>
            </a:r>
          </a:p>
        </p:txBody>
      </p:sp>
      <p:sp>
        <p:nvSpPr>
          <p:cNvPr id="10" name="!!L1-t"/>
          <p:cNvSpPr txBox="1"/>
          <p:nvPr/>
        </p:nvSpPr>
        <p:spPr>
          <a:xfrm>
            <a:off x="2285943" y="2212225"/>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Simulation</a:t>
            </a:r>
          </a:p>
        </p:txBody>
      </p:sp>
      <p:sp>
        <p:nvSpPr>
          <p:cNvPr id="11" name="s4-text-08"/>
          <p:cNvSpPr txBox="1"/>
          <p:nvPr/>
        </p:nvSpPr>
        <p:spPr>
          <a:xfrm>
            <a:off x="5079873" y="2221155"/>
            <a:ext cx="3417405"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dirty="0">
                <a:solidFill>
                  <a:srgbClr val="50505B"/>
                </a:solidFill>
                <a:latin typeface="Arial"/>
              </a:rPr>
              <a:t>Q-GEAR · </a:t>
            </a:r>
            <a:r>
              <a:rPr sz="1400" b="0" i="0" dirty="0" err="1">
                <a:solidFill>
                  <a:srgbClr val="50505B"/>
                </a:solidFill>
                <a:latin typeface="Arial"/>
              </a:rPr>
              <a:t>Qiskit</a:t>
            </a:r>
            <a:r>
              <a:rPr sz="1400" b="0" i="0" dirty="0">
                <a:solidFill>
                  <a:srgbClr val="50505B"/>
                </a:solidFill>
                <a:latin typeface="Arial"/>
              </a:rPr>
              <a:t> → CUDA-Q on Perlmutter</a:t>
            </a:r>
          </a:p>
        </p:txBody>
      </p:sp>
      <p:sp>
        <p:nvSpPr>
          <p:cNvPr id="12" name="!!L2-bg"/>
          <p:cNvSpPr/>
          <p:nvPr/>
        </p:nvSpPr>
        <p:spPr>
          <a:xfrm>
            <a:off x="888978" y="2637665"/>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4-text-09"/>
          <p:cNvSpPr txBox="1"/>
          <p:nvPr/>
        </p:nvSpPr>
        <p:spPr>
          <a:xfrm>
            <a:off x="1142971" y="2786886"/>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IV</a:t>
            </a:r>
          </a:p>
        </p:txBody>
      </p:sp>
      <p:sp>
        <p:nvSpPr>
          <p:cNvPr id="14" name="!!L2-t"/>
          <p:cNvSpPr txBox="1"/>
          <p:nvPr/>
        </p:nvSpPr>
        <p:spPr>
          <a:xfrm>
            <a:off x="2285943" y="2732912"/>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Algorithms</a:t>
            </a:r>
          </a:p>
        </p:txBody>
      </p:sp>
      <p:sp>
        <p:nvSpPr>
          <p:cNvPr id="15" name="s4-text-11"/>
          <p:cNvSpPr txBox="1"/>
          <p:nvPr/>
        </p:nvSpPr>
        <p:spPr>
          <a:xfrm>
            <a:off x="5079873" y="2741842"/>
            <a:ext cx="2301520"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dirty="0">
                <a:solidFill>
                  <a:srgbClr val="50505B"/>
                </a:solidFill>
                <a:latin typeface="Arial"/>
              </a:rPr>
              <a:t>DEAL · QAWA on IBM Heron</a:t>
            </a:r>
          </a:p>
        </p:txBody>
      </p:sp>
      <p:sp>
        <p:nvSpPr>
          <p:cNvPr id="16" name="!!L3-bg"/>
          <p:cNvSpPr/>
          <p:nvPr/>
        </p:nvSpPr>
        <p:spPr>
          <a:xfrm>
            <a:off x="888978" y="3158352"/>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4-text-12"/>
          <p:cNvSpPr txBox="1"/>
          <p:nvPr/>
        </p:nvSpPr>
        <p:spPr>
          <a:xfrm>
            <a:off x="1142971" y="3307573"/>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V</a:t>
            </a:r>
          </a:p>
        </p:txBody>
      </p:sp>
      <p:sp>
        <p:nvSpPr>
          <p:cNvPr id="18" name="!!L3-t"/>
          <p:cNvSpPr txBox="1"/>
          <p:nvPr/>
        </p:nvSpPr>
        <p:spPr>
          <a:xfrm>
            <a:off x="2285943" y="3253599"/>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Data encoding</a:t>
            </a:r>
          </a:p>
        </p:txBody>
      </p:sp>
      <p:sp>
        <p:nvSpPr>
          <p:cNvPr id="19" name="s4-text-14"/>
          <p:cNvSpPr txBox="1"/>
          <p:nvPr/>
        </p:nvSpPr>
        <p:spPr>
          <a:xfrm>
            <a:off x="5079873" y="3262529"/>
            <a:ext cx="2406689"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dirty="0">
                <a:solidFill>
                  <a:srgbClr val="50505B"/>
                </a:solidFill>
                <a:latin typeface="Arial"/>
              </a:rPr>
              <a:t>QPIE · VQT · </a:t>
            </a:r>
            <a:r>
              <a:rPr sz="1400" b="0" i="0" dirty="0" err="1">
                <a:solidFill>
                  <a:srgbClr val="50505B"/>
                </a:solidFill>
                <a:latin typeface="Arial"/>
              </a:rPr>
              <a:t>ShardQ</a:t>
            </a:r>
            <a:r>
              <a:rPr sz="1400" b="0" i="0" dirty="0">
                <a:solidFill>
                  <a:srgbClr val="50505B"/>
                </a:solidFill>
                <a:latin typeface="Arial"/>
              </a:rPr>
              <a:t> · NNQA</a:t>
            </a:r>
          </a:p>
        </p:txBody>
      </p:sp>
      <p:sp>
        <p:nvSpPr>
          <p:cNvPr id="20" name="!!L4-bg"/>
          <p:cNvSpPr/>
          <p:nvPr/>
        </p:nvSpPr>
        <p:spPr>
          <a:xfrm>
            <a:off x="888978" y="3679038"/>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4-text-15"/>
          <p:cNvSpPr txBox="1"/>
          <p:nvPr/>
        </p:nvSpPr>
        <p:spPr>
          <a:xfrm>
            <a:off x="1142971" y="3828260"/>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VI</a:t>
            </a:r>
          </a:p>
        </p:txBody>
      </p:sp>
      <p:sp>
        <p:nvSpPr>
          <p:cNvPr id="22" name="!!L4-t"/>
          <p:cNvSpPr txBox="1"/>
          <p:nvPr/>
        </p:nvSpPr>
        <p:spPr>
          <a:xfrm>
            <a:off x="2285943" y="3774286"/>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Synthesis</a:t>
            </a:r>
          </a:p>
        </p:txBody>
      </p:sp>
      <p:sp>
        <p:nvSpPr>
          <p:cNvPr id="23" name="s4-text-17"/>
          <p:cNvSpPr txBox="1"/>
          <p:nvPr/>
        </p:nvSpPr>
        <p:spPr>
          <a:xfrm>
            <a:off x="5079873" y="3783216"/>
            <a:ext cx="3309954"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dirty="0" err="1">
                <a:solidFill>
                  <a:srgbClr val="50505B"/>
                </a:solidFill>
                <a:latin typeface="Arial"/>
              </a:rPr>
              <a:t>RubriQ</a:t>
            </a:r>
            <a:r>
              <a:rPr sz="1400" b="0" i="0" dirty="0">
                <a:solidFill>
                  <a:srgbClr val="50505B"/>
                </a:solidFill>
                <a:latin typeface="Arial"/>
              </a:rPr>
              <a:t> · measure–reload cost accounting</a:t>
            </a:r>
          </a:p>
        </p:txBody>
      </p:sp>
      <p:sp>
        <p:nvSpPr>
          <p:cNvPr id="24" name="!!L5-bg"/>
          <p:cNvSpPr/>
          <p:nvPr/>
        </p:nvSpPr>
        <p:spPr>
          <a:xfrm>
            <a:off x="888978" y="4199725"/>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4-text-18"/>
          <p:cNvSpPr txBox="1"/>
          <p:nvPr/>
        </p:nvSpPr>
        <p:spPr>
          <a:xfrm>
            <a:off x="1142971" y="4348947"/>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VII–VIII</a:t>
            </a:r>
          </a:p>
        </p:txBody>
      </p:sp>
      <p:sp>
        <p:nvSpPr>
          <p:cNvPr id="26" name="!!L5-t"/>
          <p:cNvSpPr txBox="1"/>
          <p:nvPr/>
        </p:nvSpPr>
        <p:spPr>
          <a:xfrm>
            <a:off x="2285943" y="4294973"/>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Trust</a:t>
            </a:r>
          </a:p>
        </p:txBody>
      </p:sp>
      <p:sp>
        <p:nvSpPr>
          <p:cNvPr id="27" name="s4-text-20"/>
          <p:cNvSpPr txBox="1"/>
          <p:nvPr/>
        </p:nvSpPr>
        <p:spPr>
          <a:xfrm>
            <a:off x="5079873" y="4303903"/>
            <a:ext cx="3042963"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dirty="0">
                <a:solidFill>
                  <a:srgbClr val="50505B"/>
                </a:solidFill>
                <a:latin typeface="Arial"/>
              </a:rPr>
              <a:t>QEC randomness audit · PQC module</a:t>
            </a:r>
          </a:p>
        </p:txBody>
      </p:sp>
      <p:sp>
        <p:nvSpPr>
          <p:cNvPr id="28" name="s4-box-07"/>
          <p:cNvSpPr/>
          <p:nvPr/>
        </p:nvSpPr>
        <p:spPr>
          <a:xfrm>
            <a:off x="888978" y="4720412"/>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4-text-21"/>
          <p:cNvSpPr txBox="1"/>
          <p:nvPr/>
        </p:nvSpPr>
        <p:spPr>
          <a:xfrm>
            <a:off x="1142971" y="4869634"/>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IX</a:t>
            </a:r>
          </a:p>
        </p:txBody>
      </p:sp>
      <p:sp>
        <p:nvSpPr>
          <p:cNvPr id="30" name="s4-text-22"/>
          <p:cNvSpPr txBox="1"/>
          <p:nvPr/>
        </p:nvSpPr>
        <p:spPr>
          <a:xfrm>
            <a:off x="2285943" y="4815660"/>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Closing</a:t>
            </a:r>
          </a:p>
        </p:txBody>
      </p:sp>
      <p:sp>
        <p:nvSpPr>
          <p:cNvPr id="31" name="s4-text-23"/>
          <p:cNvSpPr txBox="1"/>
          <p:nvPr/>
        </p:nvSpPr>
        <p:spPr>
          <a:xfrm>
            <a:off x="5079873" y="4824590"/>
            <a:ext cx="2232168"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a:solidFill>
                  <a:srgbClr val="50505B"/>
                </a:solidFill>
                <a:latin typeface="Arial"/>
              </a:rPr>
              <a:t>Answers · limits · next steps</a:t>
            </a:r>
          </a:p>
        </p:txBody>
      </p:sp>
      <p:sp>
        <p:nvSpPr>
          <p:cNvPr id="32" name="!!sec"/>
          <p:cNvSpPr txBox="1"/>
          <p:nvPr/>
        </p:nvSpPr>
        <p:spPr>
          <a:xfrm>
            <a:off x="888978" y="6362541"/>
            <a:ext cx="1291201"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Introduction</a:t>
            </a:r>
          </a:p>
        </p:txBody>
      </p:sp>
      <p:pic>
        <p:nvPicPr>
          <p:cNvPr id="33" name="s4-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34" name="!!pg"/>
          <p:cNvSpPr txBox="1"/>
          <p:nvPr/>
        </p:nvSpPr>
        <p:spPr>
          <a:xfrm>
            <a:off x="10304800" y="634984"/>
            <a:ext cx="572478"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2153291" cy="196845"/>
          </a:xfrm>
          <a:prstGeom prst="rect">
            <a:avLst/>
          </a:prstGeom>
          <a:noFill/>
        </p:spPr>
        <p:txBody>
          <a:bodyPr wrap="none" lIns="0" tIns="0" rIns="0" bIns="0" anchor="t">
            <a:noAutofit/>
          </a:bodyPr>
          <a:lstStyle/>
          <a:p>
            <a:pPr>
              <a:lnSpc>
                <a:spcPts val="1560"/>
              </a:lnSpc>
            </a:pPr>
            <a:r>
              <a:rPr lang="en-US" sz="1300" b="1" cap="all" spc="182" dirty="0">
                <a:solidFill>
                  <a:srgbClr val="B00000"/>
                </a:solidFill>
                <a:latin typeface="Arial"/>
              </a:rPr>
              <a:t>gate-based quantum computing</a:t>
            </a:r>
          </a:p>
        </p:txBody>
      </p:sp>
      <p:sp>
        <p:nvSpPr>
          <p:cNvPr id="3" name="s5-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lang="en-US" sz="4400" b="1" i="0" spc="-123" dirty="0">
                <a:solidFill>
                  <a:srgbClr val="0B0B0F"/>
                </a:solidFill>
                <a:latin typeface="Arial"/>
              </a:rPr>
              <a:t>Background: classical QC simulation</a:t>
            </a:r>
            <a:endParaRPr sz="4400" b="1" i="0" spc="-123" dirty="0">
              <a:solidFill>
                <a:srgbClr val="0B0B0F"/>
              </a:solidFill>
              <a:latin typeface="Arial"/>
            </a:endParaRPr>
          </a:p>
        </p:txBody>
      </p:sp>
      <p:sp>
        <p:nvSpPr>
          <p:cNvPr id="4" name="s5-box-01"/>
          <p:cNvSpPr/>
          <p:nvPr/>
        </p:nvSpPr>
        <p:spPr>
          <a:xfrm>
            <a:off x="888978" y="1643319"/>
            <a:ext cx="3555911" cy="1724577"/>
          </a:xfrm>
          <a:prstGeom prst="roundRect">
            <a:avLst>
              <a:gd name="adj" fmla="val 88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5-text-03"/>
          <p:cNvSpPr txBox="1"/>
          <p:nvPr/>
        </p:nvSpPr>
        <p:spPr>
          <a:xfrm>
            <a:off x="1142971" y="1871913"/>
            <a:ext cx="3066973" cy="698483"/>
          </a:xfrm>
          <a:prstGeom prst="rect">
            <a:avLst/>
          </a:prstGeom>
          <a:noFill/>
        </p:spPr>
        <p:txBody>
          <a:bodyPr wrap="none" lIns="0" tIns="0" rIns="0" bIns="0" anchor="t">
            <a:noAutofit/>
          </a:bodyPr>
          <a:lstStyle/>
          <a:p>
            <a:pPr algn="l">
              <a:lnSpc>
                <a:spcPts val="5500"/>
              </a:lnSpc>
              <a:spcBef>
                <a:spcPts val="0"/>
              </a:spcBef>
              <a:spcAft>
                <a:spcPts val="0"/>
              </a:spcAft>
            </a:pPr>
            <a:r>
              <a:rPr sz="5500" b="1" i="0" spc="-220" dirty="0">
                <a:solidFill>
                  <a:srgbClr val="CC0000"/>
                </a:solidFill>
                <a:latin typeface="Arial"/>
              </a:rPr>
              <a:t>2</a:t>
            </a:r>
            <a:r>
              <a:rPr sz="3025" b="1" i="0" spc="-220" baseline="30000" dirty="0">
                <a:solidFill>
                  <a:srgbClr val="CC0000"/>
                </a:solidFill>
                <a:latin typeface="Arial"/>
              </a:rPr>
              <a:t>n</a:t>
            </a:r>
            <a:r>
              <a:rPr sz="5500" b="1" i="0" spc="-220" dirty="0">
                <a:solidFill>
                  <a:srgbClr val="CC0000"/>
                </a:solidFill>
                <a:latin typeface="Arial"/>
              </a:rPr>
              <a:t> × 16 B</a:t>
            </a:r>
          </a:p>
        </p:txBody>
      </p:sp>
      <p:sp>
        <p:nvSpPr>
          <p:cNvPr id="6" name="s5-text-04"/>
          <p:cNvSpPr txBox="1"/>
          <p:nvPr/>
        </p:nvSpPr>
        <p:spPr>
          <a:xfrm>
            <a:off x="1142971" y="2659294"/>
            <a:ext cx="3060623" cy="480008"/>
          </a:xfrm>
          <a:prstGeom prst="rect">
            <a:avLst/>
          </a:prstGeom>
          <a:noFill/>
        </p:spPr>
        <p:txBody>
          <a:bodyPr wrap="square" lIns="0" tIns="0" rIns="0" bIns="0" anchor="t">
            <a:noAutofit/>
          </a:bodyPr>
          <a:lstStyle/>
          <a:p>
            <a:pPr algn="l">
              <a:lnSpc>
                <a:spcPts val="1889"/>
              </a:lnSpc>
              <a:spcBef>
                <a:spcPts val="0"/>
              </a:spcBef>
              <a:spcAft>
                <a:spcPts val="0"/>
              </a:spcAft>
            </a:pPr>
            <a:r>
              <a:rPr sz="1400" b="0" i="0" dirty="0">
                <a:solidFill>
                  <a:srgbClr val="50505B"/>
                </a:solidFill>
                <a:latin typeface="Arial"/>
              </a:rPr>
              <a:t>state-vector memory doubles with every qubit</a:t>
            </a:r>
          </a:p>
        </p:txBody>
      </p:sp>
      <p:sp>
        <p:nvSpPr>
          <p:cNvPr id="7" name="s5-box-02"/>
          <p:cNvSpPr/>
          <p:nvPr/>
        </p:nvSpPr>
        <p:spPr>
          <a:xfrm>
            <a:off x="888978" y="3545692"/>
            <a:ext cx="3555911" cy="1534082"/>
          </a:xfrm>
          <a:prstGeom prst="roundRect">
            <a:avLst>
              <a:gd name="adj" fmla="val 9934"/>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5-text-05"/>
          <p:cNvSpPr txBox="1"/>
          <p:nvPr/>
        </p:nvSpPr>
        <p:spPr>
          <a:xfrm>
            <a:off x="1142971" y="3774286"/>
            <a:ext cx="3066973" cy="507987"/>
          </a:xfrm>
          <a:prstGeom prst="rect">
            <a:avLst/>
          </a:prstGeom>
          <a:noFill/>
        </p:spPr>
        <p:txBody>
          <a:bodyPr wrap="none" lIns="0" tIns="0" rIns="0" bIns="0" anchor="t">
            <a:noAutofit/>
          </a:bodyPr>
          <a:lstStyle/>
          <a:p>
            <a:pPr algn="l">
              <a:lnSpc>
                <a:spcPts val="4000"/>
              </a:lnSpc>
              <a:spcBef>
                <a:spcPts val="0"/>
              </a:spcBef>
              <a:spcAft>
                <a:spcPts val="0"/>
              </a:spcAft>
            </a:pPr>
            <a:r>
              <a:rPr sz="4000" b="1" i="0" spc="-160">
                <a:solidFill>
                  <a:srgbClr val="0B0B0F"/>
                </a:solidFill>
                <a:latin typeface="Arial"/>
              </a:rPr>
              <a:t>42 q ≈ 70 TB</a:t>
            </a:r>
          </a:p>
        </p:txBody>
      </p:sp>
      <p:sp>
        <p:nvSpPr>
          <p:cNvPr id="9" name="s5-text-06"/>
          <p:cNvSpPr txBox="1"/>
          <p:nvPr/>
        </p:nvSpPr>
        <p:spPr>
          <a:xfrm>
            <a:off x="1142971" y="4371171"/>
            <a:ext cx="3060623" cy="480008"/>
          </a:xfrm>
          <a:prstGeom prst="rect">
            <a:avLst/>
          </a:prstGeom>
          <a:noFill/>
        </p:spPr>
        <p:txBody>
          <a:bodyPr wrap="square" lIns="0" tIns="0" rIns="0" bIns="0" anchor="t">
            <a:noAutofit/>
          </a:bodyPr>
          <a:lstStyle/>
          <a:p>
            <a:pPr algn="l">
              <a:lnSpc>
                <a:spcPts val="1889"/>
              </a:lnSpc>
              <a:spcBef>
                <a:spcPts val="0"/>
              </a:spcBef>
              <a:spcAft>
                <a:spcPts val="0"/>
              </a:spcAft>
            </a:pPr>
            <a:r>
              <a:rPr sz="1400" b="0" i="0">
                <a:solidFill>
                  <a:srgbClr val="50505B"/>
                </a:solidFill>
                <a:latin typeface="Arial"/>
              </a:rPr>
              <a:t>one 40 GB A100: 32 qubits · one CPU node: 34 qubits in ≈24 h</a:t>
            </a:r>
          </a:p>
        </p:txBody>
      </p:sp>
      <p:pic>
        <p:nvPicPr>
          <p:cNvPr id="10" name="s5-image-01" descr="diagram"/>
          <p:cNvPicPr>
            <a:picLocks noChangeAspect="1"/>
          </p:cNvPicPr>
          <p:nvPr/>
        </p:nvPicPr>
        <p:blipFill>
          <a:blip r:embed="rId3"/>
          <a:stretch>
            <a:fillRect/>
          </a:stretch>
        </p:blipFill>
        <p:spPr>
          <a:xfrm>
            <a:off x="4597285" y="1555711"/>
            <a:ext cx="6406990" cy="3613060"/>
          </a:xfrm>
          <a:prstGeom prst="rect">
            <a:avLst/>
          </a:prstGeom>
        </p:spPr>
      </p:pic>
      <p:sp>
        <p:nvSpPr>
          <p:cNvPr id="11" name="s5-text-07"/>
          <p:cNvSpPr txBox="1"/>
          <p:nvPr/>
        </p:nvSpPr>
        <p:spPr>
          <a:xfrm>
            <a:off x="5028181" y="4491818"/>
            <a:ext cx="3374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 GB</a:t>
            </a:r>
          </a:p>
        </p:txBody>
      </p:sp>
      <p:sp>
        <p:nvSpPr>
          <p:cNvPr id="12" name="s5-text-08"/>
          <p:cNvSpPr txBox="1"/>
          <p:nvPr/>
        </p:nvSpPr>
        <p:spPr>
          <a:xfrm>
            <a:off x="4950495" y="3958432"/>
            <a:ext cx="4151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 GB</a:t>
            </a:r>
          </a:p>
        </p:txBody>
      </p:sp>
      <p:sp>
        <p:nvSpPr>
          <p:cNvPr id="13" name="s5-text-09"/>
          <p:cNvSpPr txBox="1"/>
          <p:nvPr/>
        </p:nvSpPr>
        <p:spPr>
          <a:xfrm>
            <a:off x="4872809" y="3425045"/>
            <a:ext cx="49280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 GB</a:t>
            </a:r>
          </a:p>
        </p:txBody>
      </p:sp>
      <p:sp>
        <p:nvSpPr>
          <p:cNvPr id="14" name="s5-text-10"/>
          <p:cNvSpPr txBox="1"/>
          <p:nvPr/>
        </p:nvSpPr>
        <p:spPr>
          <a:xfrm>
            <a:off x="5054077" y="2891658"/>
            <a:ext cx="31153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 TB</a:t>
            </a:r>
          </a:p>
        </p:txBody>
      </p:sp>
      <p:sp>
        <p:nvSpPr>
          <p:cNvPr id="15" name="s5-text-11"/>
          <p:cNvSpPr txBox="1"/>
          <p:nvPr/>
        </p:nvSpPr>
        <p:spPr>
          <a:xfrm>
            <a:off x="4976291" y="2358272"/>
            <a:ext cx="38932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 TB</a:t>
            </a:r>
          </a:p>
        </p:txBody>
      </p:sp>
      <p:sp>
        <p:nvSpPr>
          <p:cNvPr id="16" name="s5-text-12"/>
          <p:cNvSpPr txBox="1"/>
          <p:nvPr/>
        </p:nvSpPr>
        <p:spPr>
          <a:xfrm>
            <a:off x="4898605" y="1824885"/>
            <a:ext cx="46701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 TB</a:t>
            </a:r>
          </a:p>
        </p:txBody>
      </p:sp>
      <p:sp>
        <p:nvSpPr>
          <p:cNvPr id="17" name="s5-text-13"/>
          <p:cNvSpPr txBox="1"/>
          <p:nvPr/>
        </p:nvSpPr>
        <p:spPr>
          <a:xfrm>
            <a:off x="5524362" y="3523004"/>
            <a:ext cx="86556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A100 · 40 GB</a:t>
            </a:r>
          </a:p>
        </p:txBody>
      </p:sp>
      <p:sp>
        <p:nvSpPr>
          <p:cNvPr id="18" name="s5-text-14"/>
          <p:cNvSpPr txBox="1"/>
          <p:nvPr/>
        </p:nvSpPr>
        <p:spPr>
          <a:xfrm>
            <a:off x="5524362" y="2932431"/>
            <a:ext cx="12615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CPU node · 512 GB</a:t>
            </a:r>
          </a:p>
        </p:txBody>
      </p:sp>
      <p:sp>
        <p:nvSpPr>
          <p:cNvPr id="19" name="s5-text-15"/>
          <p:cNvSpPr txBox="1"/>
          <p:nvPr/>
        </p:nvSpPr>
        <p:spPr>
          <a:xfrm>
            <a:off x="5799312" y="4310238"/>
            <a:ext cx="532990"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0B0B0F"/>
                </a:solidFill>
                <a:latin typeface="Arial"/>
              </a:rPr>
              <a:t>1.1 GB</a:t>
            </a:r>
          </a:p>
        </p:txBody>
      </p:sp>
      <p:sp>
        <p:nvSpPr>
          <p:cNvPr id="20" name="s5-text-16"/>
          <p:cNvSpPr txBox="1"/>
          <p:nvPr/>
        </p:nvSpPr>
        <p:spPr>
          <a:xfrm>
            <a:off x="5964457" y="4644214"/>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26</a:t>
            </a:r>
          </a:p>
        </p:txBody>
      </p:sp>
      <p:sp>
        <p:nvSpPr>
          <p:cNvPr id="21" name="s5-text-17"/>
          <p:cNvSpPr txBox="1"/>
          <p:nvPr/>
        </p:nvSpPr>
        <p:spPr>
          <a:xfrm>
            <a:off x="6835767" y="3667977"/>
            <a:ext cx="487152"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0B0B0F"/>
                </a:solidFill>
                <a:latin typeface="Arial"/>
              </a:rPr>
              <a:t>17 GB</a:t>
            </a:r>
          </a:p>
        </p:txBody>
      </p:sp>
      <p:sp>
        <p:nvSpPr>
          <p:cNvPr id="22" name="s5-text-18"/>
          <p:cNvSpPr txBox="1"/>
          <p:nvPr/>
        </p:nvSpPr>
        <p:spPr>
          <a:xfrm>
            <a:off x="6977993" y="4644214"/>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30</a:t>
            </a:r>
          </a:p>
        </p:txBody>
      </p:sp>
      <p:sp>
        <p:nvSpPr>
          <p:cNvPr id="23" name="s5-text-19"/>
          <p:cNvSpPr txBox="1"/>
          <p:nvPr/>
        </p:nvSpPr>
        <p:spPr>
          <a:xfrm>
            <a:off x="7803409" y="3025716"/>
            <a:ext cx="57892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0B0B0F"/>
                </a:solidFill>
                <a:latin typeface="Arial"/>
              </a:rPr>
              <a:t>275 GB</a:t>
            </a:r>
          </a:p>
        </p:txBody>
      </p:sp>
      <p:sp>
        <p:nvSpPr>
          <p:cNvPr id="24" name="s5-text-20"/>
          <p:cNvSpPr txBox="1"/>
          <p:nvPr/>
        </p:nvSpPr>
        <p:spPr>
          <a:xfrm>
            <a:off x="7991523" y="4644214"/>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34</a:t>
            </a:r>
          </a:p>
        </p:txBody>
      </p:sp>
      <p:sp>
        <p:nvSpPr>
          <p:cNvPr id="25" name="s5-text-21"/>
          <p:cNvSpPr txBox="1"/>
          <p:nvPr/>
        </p:nvSpPr>
        <p:spPr>
          <a:xfrm>
            <a:off x="8855187" y="2383455"/>
            <a:ext cx="502431"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0B0B0F"/>
                </a:solidFill>
                <a:latin typeface="Arial"/>
              </a:rPr>
              <a:t>4.4 TB</a:t>
            </a:r>
          </a:p>
        </p:txBody>
      </p:sp>
      <p:sp>
        <p:nvSpPr>
          <p:cNvPr id="26" name="s5-text-22"/>
          <p:cNvSpPr txBox="1"/>
          <p:nvPr/>
        </p:nvSpPr>
        <p:spPr>
          <a:xfrm>
            <a:off x="9005053" y="4644214"/>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38</a:t>
            </a:r>
          </a:p>
        </p:txBody>
      </p:sp>
      <p:sp>
        <p:nvSpPr>
          <p:cNvPr id="27" name="s5-text-23"/>
          <p:cNvSpPr txBox="1"/>
          <p:nvPr/>
        </p:nvSpPr>
        <p:spPr>
          <a:xfrm>
            <a:off x="9891642" y="1741195"/>
            <a:ext cx="456593"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0B0B0F"/>
                </a:solidFill>
                <a:latin typeface="Arial"/>
              </a:rPr>
              <a:t>70 TB</a:t>
            </a:r>
          </a:p>
        </p:txBody>
      </p:sp>
      <p:sp>
        <p:nvSpPr>
          <p:cNvPr id="28" name="s5-text-24"/>
          <p:cNvSpPr txBox="1"/>
          <p:nvPr/>
        </p:nvSpPr>
        <p:spPr>
          <a:xfrm>
            <a:off x="10018589" y="4644214"/>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42</a:t>
            </a:r>
          </a:p>
        </p:txBody>
      </p:sp>
      <p:sp>
        <p:nvSpPr>
          <p:cNvPr id="29" name="s5-text-25"/>
          <p:cNvSpPr txBox="1"/>
          <p:nvPr/>
        </p:nvSpPr>
        <p:spPr>
          <a:xfrm>
            <a:off x="7838681" y="4936307"/>
            <a:ext cx="50838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qubits n</a:t>
            </a:r>
          </a:p>
        </p:txBody>
      </p:sp>
      <p:sp>
        <p:nvSpPr>
          <p:cNvPr id="30" name="s5-text-26"/>
          <p:cNvSpPr txBox="1"/>
          <p:nvPr/>
        </p:nvSpPr>
        <p:spPr>
          <a:xfrm>
            <a:off x="4876678" y="1596291"/>
            <a:ext cx="262823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state-vector memory (2ⁿ × 16 B, log scale)</a:t>
            </a:r>
          </a:p>
        </p:txBody>
      </p:sp>
      <p:sp>
        <p:nvSpPr>
          <p:cNvPr id="31" name="!!sec"/>
          <p:cNvSpPr txBox="1"/>
          <p:nvPr/>
        </p:nvSpPr>
        <p:spPr>
          <a:xfrm>
            <a:off x="888978" y="6362541"/>
            <a:ext cx="1291201"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Introduction</a:t>
            </a:r>
          </a:p>
        </p:txBody>
      </p:sp>
      <p:pic>
        <p:nvPicPr>
          <p:cNvPr id="32" name="s5-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33" name="!!pg"/>
          <p:cNvSpPr txBox="1"/>
          <p:nvPr/>
        </p:nvSpPr>
        <p:spPr>
          <a:xfrm>
            <a:off x="10304800" y="634984"/>
            <a:ext cx="572478"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a:t>
            </a:r>
            <a:r>
              <a:rPr sz="1100" b="0" i="0" spc="66">
                <a:solidFill>
                  <a:srgbClr val="7B7B86"/>
                </a:solidFill>
                <a:latin typeface="Courier New"/>
              </a:rPr>
              <a:t> / 68</a:t>
            </a:r>
          </a:p>
        </p:txBody>
      </p:sp>
      <p:sp>
        <p:nvSpPr>
          <p:cNvPr id="35" name="TextBox 34">
            <a:extLst>
              <a:ext uri="{FF2B5EF4-FFF2-40B4-BE49-F238E27FC236}">
                <a16:creationId xmlns:a16="http://schemas.microsoft.com/office/drawing/2014/main" id="{F82F91C7-F711-A357-CD7E-6F1AB0B5CAEF}"/>
              </a:ext>
            </a:extLst>
          </p:cNvPr>
          <p:cNvSpPr txBox="1"/>
          <p:nvPr/>
        </p:nvSpPr>
        <p:spPr>
          <a:xfrm>
            <a:off x="879935" y="5300523"/>
            <a:ext cx="6098058" cy="392415"/>
          </a:xfrm>
          <a:prstGeom prst="rect">
            <a:avLst/>
          </a:prstGeom>
          <a:noFill/>
        </p:spPr>
        <p:txBody>
          <a:bodyPr wrap="square">
            <a:spAutoFit/>
          </a:bodyPr>
          <a:lstStyle/>
          <a:p>
            <a:r>
              <a:rPr lang="en-US" sz="1800" b="0" i="0" dirty="0">
                <a:solidFill>
                  <a:schemeClr val="tx1"/>
                </a:solidFill>
                <a:effectLst/>
                <a:latin typeface="+mn-lt"/>
              </a:rPr>
              <a:t>Nielsen, Michael A., and Isaac L. Chuang. </a:t>
            </a:r>
            <a:r>
              <a:rPr lang="en-US" sz="1800" b="0" i="1" dirty="0">
                <a:solidFill>
                  <a:schemeClr val="tx1"/>
                </a:solidFill>
                <a:effectLst/>
                <a:latin typeface="+mn-lt"/>
              </a:rPr>
              <a:t>Quantum computation and quantum information</a:t>
            </a:r>
            <a:r>
              <a:rPr lang="en-US" sz="1800" b="0" i="0" dirty="0">
                <a:solidFill>
                  <a:schemeClr val="tx1"/>
                </a:solidFill>
                <a:effectLst/>
                <a:latin typeface="+mn-lt"/>
              </a:rPr>
              <a:t>. Vol. 1. Cambridge: Cambridge university press, 2000.</a:t>
            </a:r>
            <a:endParaRPr lang="en-US" dirty="0"/>
          </a:p>
        </p:txBody>
      </p:sp>
      <p:pic>
        <p:nvPicPr>
          <p:cNvPr id="36" name="Picture 35" descr="Basic quantum gates and their matrix representations. | Download Scientific  Diagram">
            <a:extLst>
              <a:ext uri="{FF2B5EF4-FFF2-40B4-BE49-F238E27FC236}">
                <a16:creationId xmlns:a16="http://schemas.microsoft.com/office/drawing/2014/main" id="{17F93E89-3C61-6172-D549-3B5EEF057E18}"/>
              </a:ext>
            </a:extLst>
          </p:cNvPr>
          <p:cNvPicPr>
            <a:picLocks noChangeAspect="1"/>
          </p:cNvPicPr>
          <p:nvPr/>
        </p:nvPicPr>
        <p:blipFill>
          <a:blip r:embed="rId5"/>
          <a:stretch>
            <a:fillRect/>
          </a:stretch>
        </p:blipFill>
        <p:spPr>
          <a:xfrm>
            <a:off x="4698882" y="1368483"/>
            <a:ext cx="5389887" cy="4467788"/>
          </a:xfrm>
          <a:prstGeom prst="rect">
            <a:avLst/>
          </a:prstGeom>
        </p:spPr>
      </p:pic>
      <p:pic>
        <p:nvPicPr>
          <p:cNvPr id="37" name="Picture 36" descr="Quantum random circuits - Wikipedia">
            <a:extLst>
              <a:ext uri="{FF2B5EF4-FFF2-40B4-BE49-F238E27FC236}">
                <a16:creationId xmlns:a16="http://schemas.microsoft.com/office/drawing/2014/main" id="{8C9081C8-483C-2F68-F27B-8F4DE18C9AF0}"/>
              </a:ext>
            </a:extLst>
          </p:cNvPr>
          <p:cNvPicPr>
            <a:picLocks noChangeAspect="1"/>
          </p:cNvPicPr>
          <p:nvPr/>
        </p:nvPicPr>
        <p:blipFill>
          <a:blip r:embed="rId6"/>
          <a:stretch>
            <a:fillRect/>
          </a:stretch>
        </p:blipFill>
        <p:spPr>
          <a:xfrm>
            <a:off x="5952445" y="2294277"/>
            <a:ext cx="3175000" cy="2616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2107453"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Motivation · Noise</a:t>
            </a:r>
          </a:p>
        </p:txBody>
      </p:sp>
      <p:sp>
        <p:nvSpPr>
          <p:cNvPr id="3" name="s6-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Noise punishes depth and iteration</a:t>
            </a:r>
          </a:p>
        </p:txBody>
      </p:sp>
      <p:sp>
        <p:nvSpPr>
          <p:cNvPr id="4" name="s6-text-03"/>
          <p:cNvSpPr txBox="1"/>
          <p:nvPr/>
        </p:nvSpPr>
        <p:spPr>
          <a:xfrm>
            <a:off x="888978" y="1659789"/>
            <a:ext cx="9543811" cy="342891"/>
          </a:xfrm>
          <a:prstGeom prst="rect">
            <a:avLst/>
          </a:prstGeom>
          <a:noFill/>
        </p:spPr>
        <p:txBody>
          <a:bodyPr wrap="none" lIns="0" tIns="0" rIns="0" bIns="0" anchor="t">
            <a:noAutofit/>
          </a:bodyPr>
          <a:lstStyle/>
          <a:p>
            <a:pPr algn="l">
              <a:lnSpc>
                <a:spcPts val="2700"/>
              </a:lnSpc>
              <a:spcBef>
                <a:spcPts val="0"/>
              </a:spcBef>
              <a:spcAft>
                <a:spcPts val="0"/>
              </a:spcAft>
            </a:pPr>
            <a:r>
              <a:rPr sz="2000" b="0" i="0">
                <a:solidFill>
                  <a:srgbClr val="50505B"/>
                </a:solidFill>
                <a:latin typeface="Arial"/>
              </a:rPr>
              <a:t>Gates cost fidelity; optimizer steps cost shots.</a:t>
            </a:r>
          </a:p>
        </p:txBody>
      </p:sp>
      <p:sp>
        <p:nvSpPr>
          <p:cNvPr id="5" name="s6-box-01"/>
          <p:cNvSpPr/>
          <p:nvPr/>
        </p:nvSpPr>
        <p:spPr>
          <a:xfrm>
            <a:off x="888978" y="2167776"/>
            <a:ext cx="3352716" cy="1724577"/>
          </a:xfrm>
          <a:prstGeom prst="roundRect">
            <a:avLst>
              <a:gd name="adj" fmla="val 88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6-text-04"/>
          <p:cNvSpPr txBox="1"/>
          <p:nvPr/>
        </p:nvSpPr>
        <p:spPr>
          <a:xfrm>
            <a:off x="1142971" y="2396371"/>
            <a:ext cx="2863778" cy="698483"/>
          </a:xfrm>
          <a:prstGeom prst="rect">
            <a:avLst/>
          </a:prstGeom>
          <a:noFill/>
        </p:spPr>
        <p:txBody>
          <a:bodyPr wrap="none" lIns="0" tIns="0" rIns="0" bIns="0" anchor="t">
            <a:noAutofit/>
          </a:bodyPr>
          <a:lstStyle/>
          <a:p>
            <a:pPr algn="l">
              <a:lnSpc>
                <a:spcPts val="5500"/>
              </a:lnSpc>
              <a:spcBef>
                <a:spcPts val="0"/>
              </a:spcBef>
              <a:spcAft>
                <a:spcPts val="0"/>
              </a:spcAft>
            </a:pPr>
            <a:r>
              <a:rPr sz="5500" b="1" i="0" spc="-220" dirty="0">
                <a:solidFill>
                  <a:srgbClr val="0B0B0F"/>
                </a:solidFill>
                <a:latin typeface="Arial"/>
              </a:rPr>
              <a:t>1.46×10</a:t>
            </a:r>
            <a:r>
              <a:rPr sz="2750" b="1" i="0" spc="-220" baseline="30000" dirty="0">
                <a:solidFill>
                  <a:srgbClr val="0B0B0F"/>
                </a:solidFill>
                <a:latin typeface="Arial"/>
              </a:rPr>
              <a:t>−3</a:t>
            </a:r>
          </a:p>
        </p:txBody>
      </p:sp>
      <p:sp>
        <p:nvSpPr>
          <p:cNvPr id="7" name="s6-text-05"/>
          <p:cNvSpPr txBox="1"/>
          <p:nvPr/>
        </p:nvSpPr>
        <p:spPr>
          <a:xfrm>
            <a:off x="1142971" y="3183751"/>
            <a:ext cx="2857429" cy="480008"/>
          </a:xfrm>
          <a:prstGeom prst="rect">
            <a:avLst/>
          </a:prstGeom>
          <a:noFill/>
        </p:spPr>
        <p:txBody>
          <a:bodyPr wrap="square" lIns="0" tIns="0" rIns="0" bIns="0" anchor="t">
            <a:noAutofit/>
          </a:bodyPr>
          <a:lstStyle/>
          <a:p>
            <a:pPr algn="l">
              <a:lnSpc>
                <a:spcPts val="1889"/>
              </a:lnSpc>
              <a:spcBef>
                <a:spcPts val="0"/>
              </a:spcBef>
              <a:spcAft>
                <a:spcPts val="0"/>
              </a:spcAft>
            </a:pPr>
            <a:r>
              <a:rPr sz="1400" b="0" i="0">
                <a:solidFill>
                  <a:srgbClr val="50505B"/>
                </a:solidFill>
                <a:latin typeface="Arial"/>
              </a:rPr>
              <a:t>median CZ error, IBM Heron-3 (best device used)</a:t>
            </a:r>
          </a:p>
        </p:txBody>
      </p:sp>
      <p:sp>
        <p:nvSpPr>
          <p:cNvPr id="8" name="s6-box-02"/>
          <p:cNvSpPr/>
          <p:nvPr/>
        </p:nvSpPr>
        <p:spPr>
          <a:xfrm>
            <a:off x="4419490" y="2167776"/>
            <a:ext cx="3352716" cy="1724577"/>
          </a:xfrm>
          <a:prstGeom prst="roundRect">
            <a:avLst>
              <a:gd name="adj" fmla="val 88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6-text-06"/>
          <p:cNvSpPr txBox="1"/>
          <p:nvPr/>
        </p:nvSpPr>
        <p:spPr>
          <a:xfrm>
            <a:off x="4673483" y="2396371"/>
            <a:ext cx="2863778" cy="698483"/>
          </a:xfrm>
          <a:prstGeom prst="rect">
            <a:avLst/>
          </a:prstGeom>
          <a:noFill/>
        </p:spPr>
        <p:txBody>
          <a:bodyPr wrap="none" lIns="0" tIns="0" rIns="0" bIns="0" anchor="t">
            <a:noAutofit/>
          </a:bodyPr>
          <a:lstStyle/>
          <a:p>
            <a:pPr algn="l">
              <a:lnSpc>
                <a:spcPts val="5500"/>
              </a:lnSpc>
              <a:spcBef>
                <a:spcPts val="0"/>
              </a:spcBef>
              <a:spcAft>
                <a:spcPts val="0"/>
              </a:spcAft>
            </a:pPr>
            <a:r>
              <a:rPr sz="5500" b="1" i="0" spc="-220" dirty="0">
                <a:solidFill>
                  <a:srgbClr val="0B0B0F"/>
                </a:solidFill>
                <a:latin typeface="Arial"/>
              </a:rPr>
              <a:t>≈41–43</a:t>
            </a:r>
          </a:p>
        </p:txBody>
      </p:sp>
      <p:sp>
        <p:nvSpPr>
          <p:cNvPr id="10" name="s6-text-07"/>
          <p:cNvSpPr txBox="1"/>
          <p:nvPr/>
        </p:nvSpPr>
        <p:spPr>
          <a:xfrm>
            <a:off x="4673483" y="3183751"/>
            <a:ext cx="2857429" cy="480008"/>
          </a:xfrm>
          <a:prstGeom prst="rect">
            <a:avLst/>
          </a:prstGeom>
          <a:noFill/>
        </p:spPr>
        <p:txBody>
          <a:bodyPr wrap="square" lIns="0" tIns="0" rIns="0" bIns="0" anchor="t">
            <a:noAutofit/>
          </a:bodyPr>
          <a:lstStyle/>
          <a:p>
            <a:pPr algn="l">
              <a:lnSpc>
                <a:spcPts val="1889"/>
              </a:lnSpc>
              <a:spcBef>
                <a:spcPts val="0"/>
              </a:spcBef>
              <a:spcAft>
                <a:spcPts val="0"/>
              </a:spcAft>
            </a:pPr>
            <a:r>
              <a:rPr sz="1400" b="0" i="0" dirty="0">
                <a:solidFill>
                  <a:srgbClr val="50505B"/>
                </a:solidFill>
                <a:latin typeface="Arial"/>
              </a:rPr>
              <a:t>CZ gates before 20-qubit circuits degrade on Heron</a:t>
            </a:r>
          </a:p>
        </p:txBody>
      </p:sp>
      <p:sp>
        <p:nvSpPr>
          <p:cNvPr id="11" name="s6-box-03"/>
          <p:cNvSpPr/>
          <p:nvPr/>
        </p:nvSpPr>
        <p:spPr>
          <a:xfrm>
            <a:off x="7950001" y="2167776"/>
            <a:ext cx="3352716" cy="1724577"/>
          </a:xfrm>
          <a:prstGeom prst="roundRect">
            <a:avLst>
              <a:gd name="adj" fmla="val 88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6-text-08"/>
          <p:cNvSpPr txBox="1"/>
          <p:nvPr/>
        </p:nvSpPr>
        <p:spPr>
          <a:xfrm>
            <a:off x="8203995" y="2396371"/>
            <a:ext cx="2863778" cy="698483"/>
          </a:xfrm>
          <a:prstGeom prst="rect">
            <a:avLst/>
          </a:prstGeom>
          <a:noFill/>
        </p:spPr>
        <p:txBody>
          <a:bodyPr wrap="none" lIns="0" tIns="0" rIns="0" bIns="0" anchor="t">
            <a:noAutofit/>
          </a:bodyPr>
          <a:lstStyle/>
          <a:p>
            <a:pPr algn="l">
              <a:lnSpc>
                <a:spcPts val="5500"/>
              </a:lnSpc>
              <a:spcBef>
                <a:spcPts val="0"/>
              </a:spcBef>
              <a:spcAft>
                <a:spcPts val="0"/>
              </a:spcAft>
            </a:pPr>
            <a:r>
              <a:rPr sz="5500" b="1" i="0" spc="-220" dirty="0">
                <a:solidFill>
                  <a:srgbClr val="0B0B0F"/>
                </a:solidFill>
                <a:latin typeface="Arial"/>
              </a:rPr>
              <a:t>10</a:t>
            </a:r>
            <a:r>
              <a:rPr sz="2750" b="1" i="0" spc="-220" baseline="30000" dirty="0">
                <a:solidFill>
                  <a:srgbClr val="0B0B0F"/>
                </a:solidFill>
                <a:latin typeface="Arial"/>
              </a:rPr>
              <a:t>2</a:t>
            </a:r>
            <a:r>
              <a:rPr sz="5500" b="1" i="0" spc="-220" dirty="0">
                <a:solidFill>
                  <a:srgbClr val="0B0B0F"/>
                </a:solidFill>
                <a:latin typeface="Arial"/>
              </a:rPr>
              <a:t>–10</a:t>
            </a:r>
            <a:r>
              <a:rPr sz="2750" b="1" i="0" spc="-220" baseline="30000" dirty="0">
                <a:solidFill>
                  <a:srgbClr val="0B0B0F"/>
                </a:solidFill>
                <a:latin typeface="Arial"/>
              </a:rPr>
              <a:t>3</a:t>
            </a:r>
          </a:p>
        </p:txBody>
      </p:sp>
      <p:sp>
        <p:nvSpPr>
          <p:cNvPr id="13" name="s6-text-09"/>
          <p:cNvSpPr txBox="1"/>
          <p:nvPr/>
        </p:nvSpPr>
        <p:spPr>
          <a:xfrm>
            <a:off x="8203995" y="3183751"/>
            <a:ext cx="2857429" cy="480008"/>
          </a:xfrm>
          <a:prstGeom prst="rect">
            <a:avLst/>
          </a:prstGeom>
          <a:noFill/>
        </p:spPr>
        <p:txBody>
          <a:bodyPr wrap="square" lIns="0" tIns="0" rIns="0" bIns="0" anchor="t">
            <a:noAutofit/>
          </a:bodyPr>
          <a:lstStyle/>
          <a:p>
            <a:pPr algn="l">
              <a:lnSpc>
                <a:spcPts val="1889"/>
              </a:lnSpc>
              <a:spcBef>
                <a:spcPts val="0"/>
              </a:spcBef>
              <a:spcAft>
                <a:spcPts val="0"/>
              </a:spcAft>
            </a:pPr>
            <a:r>
              <a:rPr sz="1400" b="0" i="0">
                <a:solidFill>
                  <a:srgbClr val="50505B"/>
                </a:solidFill>
                <a:latin typeface="Arial"/>
              </a:rPr>
              <a:t>executions per polynomial fit, black-box VQE — vs 1 for NNQA</a:t>
            </a:r>
          </a:p>
        </p:txBody>
      </p:sp>
      <p:sp>
        <p:nvSpPr>
          <p:cNvPr id="14" name="!!sec"/>
          <p:cNvSpPr txBox="1"/>
          <p:nvPr/>
        </p:nvSpPr>
        <p:spPr>
          <a:xfrm>
            <a:off x="888978" y="6362541"/>
            <a:ext cx="1291201"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Introduction</a:t>
            </a:r>
          </a:p>
        </p:txBody>
      </p:sp>
      <p:pic>
        <p:nvPicPr>
          <p:cNvPr id="15" name="s6-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16" name="!!pg"/>
          <p:cNvSpPr txBox="1"/>
          <p:nvPr/>
        </p:nvSpPr>
        <p:spPr>
          <a:xfrm>
            <a:off x="10304800" y="634984"/>
            <a:ext cx="572478"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6</a:t>
            </a:r>
            <a:r>
              <a:rPr sz="1100" b="0" i="0" spc="66">
                <a:solidFill>
                  <a:srgbClr val="7B7B86"/>
                </a:solidFill>
                <a:latin typeface="Courier New"/>
              </a:rPr>
              <a:t> / 68</a:t>
            </a:r>
          </a:p>
        </p:txBody>
      </p:sp>
      <p:sp>
        <p:nvSpPr>
          <p:cNvPr id="17" name="TextBox 16">
            <a:extLst>
              <a:ext uri="{FF2B5EF4-FFF2-40B4-BE49-F238E27FC236}">
                <a16:creationId xmlns:a16="http://schemas.microsoft.com/office/drawing/2014/main" id="{A62AA62C-96DC-2A2A-9C71-9AAE27B809C2}"/>
              </a:ext>
            </a:extLst>
          </p:cNvPr>
          <p:cNvSpPr txBox="1"/>
          <p:nvPr/>
        </p:nvSpPr>
        <p:spPr>
          <a:xfrm>
            <a:off x="1496291" y="4488873"/>
            <a:ext cx="1306512" cy="369332"/>
          </a:xfrm>
          <a:prstGeom prst="rect">
            <a:avLst/>
          </a:prstGeom>
          <a:noFill/>
        </p:spPr>
        <p:txBody>
          <a:bodyPr wrap="none" rtlCol="0">
            <a:spAutoFit/>
          </a:bodyPr>
          <a:lstStyle/>
          <a:p>
            <a:r>
              <a:rPr lang="en-US" dirty="0" err="1"/>
              <a:t>Statevector</a:t>
            </a:r>
            <a:r>
              <a:rPr lang="en-US" dirty="0"/>
              <a:t> </a:t>
            </a:r>
          </a:p>
        </p:txBody>
      </p:sp>
      <p:sp>
        <p:nvSpPr>
          <p:cNvPr id="20" name="TextBox 19">
            <a:extLst>
              <a:ext uri="{FF2B5EF4-FFF2-40B4-BE49-F238E27FC236}">
                <a16:creationId xmlns:a16="http://schemas.microsoft.com/office/drawing/2014/main" id="{459CAACF-D7F7-FFDA-AB2E-396D6BD280AC}"/>
              </a:ext>
            </a:extLst>
          </p:cNvPr>
          <p:cNvSpPr txBox="1"/>
          <p:nvPr/>
        </p:nvSpPr>
        <p:spPr>
          <a:xfrm>
            <a:off x="3269673" y="4590473"/>
            <a:ext cx="1747081" cy="369332"/>
          </a:xfrm>
          <a:prstGeom prst="rect">
            <a:avLst/>
          </a:prstGeom>
          <a:noFill/>
        </p:spPr>
        <p:txBody>
          <a:bodyPr wrap="none" rtlCol="0">
            <a:spAutoFit/>
          </a:bodyPr>
          <a:lstStyle/>
          <a:p>
            <a:r>
              <a:rPr lang="en-US" dirty="0"/>
              <a:t>Density matrices</a:t>
            </a:r>
          </a:p>
        </p:txBody>
      </p:sp>
      <p:sp>
        <p:nvSpPr>
          <p:cNvPr id="23" name="TextBox 22">
            <a:extLst>
              <a:ext uri="{FF2B5EF4-FFF2-40B4-BE49-F238E27FC236}">
                <a16:creationId xmlns:a16="http://schemas.microsoft.com/office/drawing/2014/main" id="{D799377E-487E-9B39-4929-6CFADEE6E309}"/>
              </a:ext>
            </a:extLst>
          </p:cNvPr>
          <p:cNvSpPr txBox="1"/>
          <p:nvPr/>
        </p:nvSpPr>
        <p:spPr>
          <a:xfrm>
            <a:off x="5477164" y="4747491"/>
            <a:ext cx="2343590" cy="369332"/>
          </a:xfrm>
          <a:prstGeom prst="rect">
            <a:avLst/>
          </a:prstGeom>
          <a:noFill/>
        </p:spPr>
        <p:txBody>
          <a:bodyPr wrap="none" rtlCol="0">
            <a:spAutoFit/>
          </a:bodyPr>
          <a:lstStyle/>
          <a:p>
            <a:r>
              <a:rPr lang="en-US" dirty="0"/>
              <a:t>Tensor networks (MPS)</a:t>
            </a:r>
          </a:p>
        </p:txBody>
      </p:sp>
      <p:sp>
        <p:nvSpPr>
          <p:cNvPr id="24" name="TextBox 23">
            <a:extLst>
              <a:ext uri="{FF2B5EF4-FFF2-40B4-BE49-F238E27FC236}">
                <a16:creationId xmlns:a16="http://schemas.microsoft.com/office/drawing/2014/main" id="{D1B95BB2-66C6-17C6-710A-748949AC54FF}"/>
              </a:ext>
            </a:extLst>
          </p:cNvPr>
          <p:cNvSpPr txBox="1"/>
          <p:nvPr/>
        </p:nvSpPr>
        <p:spPr>
          <a:xfrm>
            <a:off x="7781442" y="4801048"/>
            <a:ext cx="4906664" cy="369332"/>
          </a:xfrm>
          <a:prstGeom prst="rect">
            <a:avLst/>
          </a:prstGeom>
          <a:noFill/>
        </p:spPr>
        <p:txBody>
          <a:bodyPr wrap="none" rtlCol="0">
            <a:spAutoFit/>
          </a:bodyPr>
          <a:lstStyle/>
          <a:p>
            <a:r>
              <a:rPr lang="en-US" dirty="0" err="1"/>
              <a:t>Stablizer</a:t>
            </a:r>
            <a:r>
              <a:rPr lang="en-US" dirty="0"/>
              <a:t> </a:t>
            </a:r>
            <a:r>
              <a:rPr lang="en-US" dirty="0" err="1"/>
              <a:t>pauli</a:t>
            </a:r>
            <a:r>
              <a:rPr lang="en-US" dirty="0"/>
              <a:t> frame tracking / extended </a:t>
            </a:r>
            <a:r>
              <a:rPr lang="en-US" dirty="0" err="1"/>
              <a:t>stablizers</a:t>
            </a: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322314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Motivation · Data and trust</a:t>
            </a:r>
          </a:p>
        </p:txBody>
      </p:sp>
      <p:sp>
        <p:nvSpPr>
          <p:cNvPr id="3" name="s7-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dirty="0">
                <a:solidFill>
                  <a:srgbClr val="0B0B0F"/>
                </a:solidFill>
                <a:latin typeface="Arial"/>
              </a:rPr>
              <a:t>Two walls that are easy to forget</a:t>
            </a:r>
          </a:p>
        </p:txBody>
      </p:sp>
      <p:sp>
        <p:nvSpPr>
          <p:cNvPr id="4" name="s7-box-01"/>
          <p:cNvSpPr/>
          <p:nvPr/>
        </p:nvSpPr>
        <p:spPr>
          <a:xfrm>
            <a:off x="888978" y="1634390"/>
            <a:ext cx="5105272" cy="1596191"/>
          </a:xfrm>
          <a:prstGeom prst="roundRect">
            <a:avLst>
              <a:gd name="adj" fmla="val 9547"/>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7-text-03"/>
          <p:cNvSpPr txBox="1"/>
          <p:nvPr/>
        </p:nvSpPr>
        <p:spPr>
          <a:xfrm>
            <a:off x="1142971" y="1862984"/>
            <a:ext cx="4616335"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RQ3 · DATA</a:t>
            </a:r>
          </a:p>
        </p:txBody>
      </p:sp>
      <p:sp>
        <p:nvSpPr>
          <p:cNvPr id="6" name="s7-text-04"/>
          <p:cNvSpPr txBox="1"/>
          <p:nvPr/>
        </p:nvSpPr>
        <p:spPr>
          <a:xfrm>
            <a:off x="1142971" y="2161426"/>
            <a:ext cx="4616335"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The classical–quantum data interface</a:t>
            </a:r>
          </a:p>
        </p:txBody>
      </p:sp>
      <p:sp>
        <p:nvSpPr>
          <p:cNvPr id="7" name="s7-text-05"/>
          <p:cNvSpPr txBox="1"/>
          <p:nvPr/>
        </p:nvSpPr>
        <p:spPr>
          <a:xfrm>
            <a:off x="1142971" y="2504318"/>
            <a:ext cx="4609985"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Load N values: Θ(N) CNOTs · read n-qubit correlations: O(n²) measurements</a:t>
            </a:r>
          </a:p>
        </p:txBody>
      </p:sp>
      <p:sp>
        <p:nvSpPr>
          <p:cNvPr id="8" name="s7-box-02"/>
          <p:cNvSpPr/>
          <p:nvPr/>
        </p:nvSpPr>
        <p:spPr>
          <a:xfrm>
            <a:off x="6197445" y="1634390"/>
            <a:ext cx="5105272" cy="1596191"/>
          </a:xfrm>
          <a:prstGeom prst="roundRect">
            <a:avLst>
              <a:gd name="adj" fmla="val 9547"/>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7-text-06"/>
          <p:cNvSpPr txBox="1"/>
          <p:nvPr/>
        </p:nvSpPr>
        <p:spPr>
          <a:xfrm>
            <a:off x="6451439" y="1862984"/>
            <a:ext cx="4616335"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RQ5 · TRUST</a:t>
            </a:r>
          </a:p>
        </p:txBody>
      </p:sp>
      <p:sp>
        <p:nvSpPr>
          <p:cNvPr id="10" name="s7-text-07"/>
          <p:cNvSpPr txBox="1"/>
          <p:nvPr/>
        </p:nvSpPr>
        <p:spPr>
          <a:xfrm>
            <a:off x="6451439" y="2161426"/>
            <a:ext cx="4616335"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Trust on shared cloud QPUs</a:t>
            </a:r>
          </a:p>
        </p:txBody>
      </p:sp>
      <p:sp>
        <p:nvSpPr>
          <p:cNvPr id="11" name="s7-text-08"/>
          <p:cNvSpPr txBox="1"/>
          <p:nvPr/>
        </p:nvSpPr>
        <p:spPr>
          <a:xfrm>
            <a:off x="6451439" y="2504318"/>
            <a:ext cx="4609985"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A fixed, public QEC encoder is a reusable target · no standard audits QEC randomness</a:t>
            </a:r>
          </a:p>
        </p:txBody>
      </p:sp>
      <p:sp>
        <p:nvSpPr>
          <p:cNvPr id="12" name="!!sec"/>
          <p:cNvSpPr txBox="1"/>
          <p:nvPr/>
        </p:nvSpPr>
        <p:spPr>
          <a:xfrm>
            <a:off x="888978" y="6362541"/>
            <a:ext cx="1291201"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Introduction</a:t>
            </a:r>
          </a:p>
        </p:txBody>
      </p:sp>
      <p:pic>
        <p:nvPicPr>
          <p:cNvPr id="13" name="s7-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14" name="!!pg"/>
          <p:cNvSpPr txBox="1"/>
          <p:nvPr/>
        </p:nvSpPr>
        <p:spPr>
          <a:xfrm>
            <a:off x="10304800" y="634984"/>
            <a:ext cx="572478"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7</a:t>
            </a:r>
            <a:r>
              <a:rPr sz="1100" b="0" i="0" spc="66">
                <a:solidFill>
                  <a:srgbClr val="7B7B86"/>
                </a:solidFill>
                <a:latin typeface="Courier New"/>
              </a:rPr>
              <a:t> / 68</a:t>
            </a:r>
          </a:p>
        </p:txBody>
      </p:sp>
      <p:sp>
        <p:nvSpPr>
          <p:cNvPr id="15" name="TextBox 14">
            <a:extLst>
              <a:ext uri="{FF2B5EF4-FFF2-40B4-BE49-F238E27FC236}">
                <a16:creationId xmlns:a16="http://schemas.microsoft.com/office/drawing/2014/main" id="{2D84F711-B768-3DA6-A741-3B2B88CD7298}"/>
              </a:ext>
            </a:extLst>
          </p:cNvPr>
          <p:cNvSpPr txBox="1"/>
          <p:nvPr/>
        </p:nvSpPr>
        <p:spPr>
          <a:xfrm>
            <a:off x="1738213" y="3753724"/>
            <a:ext cx="8512074" cy="646331"/>
          </a:xfrm>
          <a:prstGeom prst="rect">
            <a:avLst/>
          </a:prstGeom>
          <a:noFill/>
        </p:spPr>
        <p:txBody>
          <a:bodyPr wrap="none" rtlCol="0">
            <a:spAutoFit/>
          </a:bodyPr>
          <a:lstStyle/>
          <a:p>
            <a:r>
              <a:rPr lang="en-US" dirty="0"/>
              <a:t>How to load ”quantum data”; in other way how do we make quantum computing useful?</a:t>
            </a:r>
          </a:p>
          <a:p>
            <a:r>
              <a:rPr lang="en-US" dirty="0"/>
              <a:t>QPU is noisy what are the results looks like?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2908227"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Five research questions</a:t>
            </a:r>
          </a:p>
        </p:txBody>
      </p:sp>
      <p:sp>
        <p:nvSpPr>
          <p:cNvPr id="3" name="s8-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What this dissertation asks</a:t>
            </a:r>
          </a:p>
        </p:txBody>
      </p:sp>
      <p:sp>
        <p:nvSpPr>
          <p:cNvPr id="4" name="!!L1-bg"/>
          <p:cNvSpPr/>
          <p:nvPr/>
        </p:nvSpPr>
        <p:spPr>
          <a:xfrm>
            <a:off x="888978" y="1583591"/>
            <a:ext cx="10413740" cy="688164"/>
          </a:xfrm>
          <a:prstGeom prst="roundRect">
            <a:avLst>
              <a:gd name="adj" fmla="val 22145"/>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8-text-03"/>
          <p:cNvSpPr txBox="1"/>
          <p:nvPr/>
        </p:nvSpPr>
        <p:spPr>
          <a:xfrm>
            <a:off x="1142971" y="1848300"/>
            <a:ext cx="1416015"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RQ1 · Scale</a:t>
            </a:r>
          </a:p>
        </p:txBody>
      </p:sp>
      <p:sp>
        <p:nvSpPr>
          <p:cNvPr id="6" name="!!L1-t"/>
          <p:cNvSpPr txBox="1"/>
          <p:nvPr/>
        </p:nvSpPr>
        <p:spPr>
          <a:xfrm>
            <a:off x="2793930" y="1794326"/>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Simulation</a:t>
            </a:r>
          </a:p>
        </p:txBody>
      </p:sp>
      <p:sp>
        <p:nvSpPr>
          <p:cNvPr id="7" name="s8-text-05"/>
          <p:cNvSpPr txBox="1"/>
          <p:nvPr/>
        </p:nvSpPr>
        <p:spPr>
          <a:xfrm>
            <a:off x="5587860" y="1678838"/>
            <a:ext cx="5473563"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How far can HPC push exact simulation — without rewriting the program?</a:t>
            </a:r>
          </a:p>
        </p:txBody>
      </p:sp>
      <p:sp>
        <p:nvSpPr>
          <p:cNvPr id="8" name="!!L2-bg"/>
          <p:cNvSpPr/>
          <p:nvPr/>
        </p:nvSpPr>
        <p:spPr>
          <a:xfrm>
            <a:off x="888978" y="2335253"/>
            <a:ext cx="10413740" cy="688164"/>
          </a:xfrm>
          <a:prstGeom prst="roundRect">
            <a:avLst>
              <a:gd name="adj" fmla="val 22145"/>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8-text-06"/>
          <p:cNvSpPr txBox="1"/>
          <p:nvPr/>
        </p:nvSpPr>
        <p:spPr>
          <a:xfrm>
            <a:off x="1142971" y="2599962"/>
            <a:ext cx="1416015"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RQ2 · Noise</a:t>
            </a:r>
          </a:p>
        </p:txBody>
      </p:sp>
      <p:sp>
        <p:nvSpPr>
          <p:cNvPr id="10" name="!!L2-t"/>
          <p:cNvSpPr txBox="1"/>
          <p:nvPr/>
        </p:nvSpPr>
        <p:spPr>
          <a:xfrm>
            <a:off x="2793930" y="2545989"/>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Algorithms</a:t>
            </a:r>
          </a:p>
        </p:txBody>
      </p:sp>
      <p:sp>
        <p:nvSpPr>
          <p:cNvPr id="11" name="s8-text-08"/>
          <p:cNvSpPr txBox="1"/>
          <p:nvPr/>
        </p:nvSpPr>
        <p:spPr>
          <a:xfrm>
            <a:off x="5587860" y="2430501"/>
            <a:ext cx="5473563"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Can NISQ optimization use problem and device structure instead of black-box search?</a:t>
            </a:r>
          </a:p>
        </p:txBody>
      </p:sp>
      <p:sp>
        <p:nvSpPr>
          <p:cNvPr id="12" name="!!L3-bg"/>
          <p:cNvSpPr/>
          <p:nvPr/>
        </p:nvSpPr>
        <p:spPr>
          <a:xfrm>
            <a:off x="888978" y="3086916"/>
            <a:ext cx="10413740" cy="688164"/>
          </a:xfrm>
          <a:prstGeom prst="roundRect">
            <a:avLst>
              <a:gd name="adj" fmla="val 22145"/>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8-text-09"/>
          <p:cNvSpPr txBox="1"/>
          <p:nvPr/>
        </p:nvSpPr>
        <p:spPr>
          <a:xfrm>
            <a:off x="1142971" y="3351625"/>
            <a:ext cx="1416015"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RQ3 · Data</a:t>
            </a:r>
          </a:p>
        </p:txBody>
      </p:sp>
      <p:sp>
        <p:nvSpPr>
          <p:cNvPr id="14" name="!!L3-t"/>
          <p:cNvSpPr txBox="1"/>
          <p:nvPr/>
        </p:nvSpPr>
        <p:spPr>
          <a:xfrm>
            <a:off x="2793930" y="3297651"/>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Data encoding</a:t>
            </a:r>
          </a:p>
        </p:txBody>
      </p:sp>
      <p:sp>
        <p:nvSpPr>
          <p:cNvPr id="15" name="s8-text-11"/>
          <p:cNvSpPr txBox="1"/>
          <p:nvPr/>
        </p:nvSpPr>
        <p:spPr>
          <a:xfrm>
            <a:off x="5587860" y="3182163"/>
            <a:ext cx="5473563"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How should data enter and leave a QPU so learning is shot-efficient, hardware-compatible, trainable?</a:t>
            </a:r>
          </a:p>
        </p:txBody>
      </p:sp>
      <p:sp>
        <p:nvSpPr>
          <p:cNvPr id="16" name="!!L4-bg"/>
          <p:cNvSpPr/>
          <p:nvPr/>
        </p:nvSpPr>
        <p:spPr>
          <a:xfrm>
            <a:off x="888978" y="3838578"/>
            <a:ext cx="10413740" cy="688164"/>
          </a:xfrm>
          <a:prstGeom prst="roundRect">
            <a:avLst>
              <a:gd name="adj" fmla="val 22145"/>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8-text-12"/>
          <p:cNvSpPr txBox="1"/>
          <p:nvPr/>
        </p:nvSpPr>
        <p:spPr>
          <a:xfrm>
            <a:off x="1142971" y="4103287"/>
            <a:ext cx="1416015"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RQ4 · Synthesis</a:t>
            </a:r>
          </a:p>
        </p:txBody>
      </p:sp>
      <p:sp>
        <p:nvSpPr>
          <p:cNvPr id="18" name="!!L4-t"/>
          <p:cNvSpPr txBox="1"/>
          <p:nvPr/>
        </p:nvSpPr>
        <p:spPr>
          <a:xfrm>
            <a:off x="2793930" y="4049314"/>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Synthesis</a:t>
            </a:r>
          </a:p>
        </p:txBody>
      </p:sp>
      <p:sp>
        <p:nvSpPr>
          <p:cNvPr id="19" name="s8-text-14"/>
          <p:cNvSpPr txBox="1"/>
          <p:nvPr/>
        </p:nvSpPr>
        <p:spPr>
          <a:xfrm>
            <a:off x="5587860" y="3933826"/>
            <a:ext cx="5473563"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Can learned synthesis meet fault-tolerant budgets — and what does honest accounting say?</a:t>
            </a:r>
          </a:p>
        </p:txBody>
      </p:sp>
      <p:sp>
        <p:nvSpPr>
          <p:cNvPr id="20" name="!!L5-bg"/>
          <p:cNvSpPr/>
          <p:nvPr/>
        </p:nvSpPr>
        <p:spPr>
          <a:xfrm>
            <a:off x="888978" y="4590241"/>
            <a:ext cx="10413740" cy="688164"/>
          </a:xfrm>
          <a:prstGeom prst="roundRect">
            <a:avLst>
              <a:gd name="adj" fmla="val 22145"/>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8-text-15"/>
          <p:cNvSpPr txBox="1"/>
          <p:nvPr/>
        </p:nvSpPr>
        <p:spPr>
          <a:xfrm>
            <a:off x="1142971" y="4854950"/>
            <a:ext cx="1416015"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RQ5 · Trust</a:t>
            </a:r>
          </a:p>
        </p:txBody>
      </p:sp>
      <p:sp>
        <p:nvSpPr>
          <p:cNvPr id="22" name="!!L5-t"/>
          <p:cNvSpPr txBox="1"/>
          <p:nvPr/>
        </p:nvSpPr>
        <p:spPr>
          <a:xfrm>
            <a:off x="2793930" y="4800976"/>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Trust</a:t>
            </a:r>
          </a:p>
        </p:txBody>
      </p:sp>
      <p:sp>
        <p:nvSpPr>
          <p:cNvPr id="23" name="s8-text-17"/>
          <p:cNvSpPr txBox="1"/>
          <p:nvPr/>
        </p:nvSpPr>
        <p:spPr>
          <a:xfrm>
            <a:off x="5587860" y="4685488"/>
            <a:ext cx="5473563"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How do we audit and secure error-corrected computation on shared cloud QPUs?</a:t>
            </a:r>
          </a:p>
        </p:txBody>
      </p:sp>
      <p:sp>
        <p:nvSpPr>
          <p:cNvPr id="24" name="!!sec"/>
          <p:cNvSpPr txBox="1"/>
          <p:nvPr/>
        </p:nvSpPr>
        <p:spPr>
          <a:xfrm>
            <a:off x="888978" y="6362541"/>
            <a:ext cx="1291201"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Introduction</a:t>
            </a:r>
          </a:p>
        </p:txBody>
      </p:sp>
      <p:pic>
        <p:nvPicPr>
          <p:cNvPr id="25" name="s8-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6" name="!!pg"/>
          <p:cNvSpPr txBox="1"/>
          <p:nvPr/>
        </p:nvSpPr>
        <p:spPr>
          <a:xfrm>
            <a:off x="10304800" y="634984"/>
            <a:ext cx="572478"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8</a:t>
            </a:r>
            <a:r>
              <a:rPr sz="1100" b="0" i="0" spc="66">
                <a:solidFill>
                  <a:srgbClr val="7B7B86"/>
                </a:solidFill>
                <a:latin typeface="Courier New"/>
              </a:rPr>
              <a:t> / 68</a:t>
            </a:r>
          </a:p>
        </p:txBody>
      </p:sp>
      <p:sp>
        <p:nvSpPr>
          <p:cNvPr id="27" name="TextBox 26">
            <a:extLst>
              <a:ext uri="{FF2B5EF4-FFF2-40B4-BE49-F238E27FC236}">
                <a16:creationId xmlns:a16="http://schemas.microsoft.com/office/drawing/2014/main" id="{9C439545-9B33-A506-390A-B87A2C613BE3}"/>
              </a:ext>
            </a:extLst>
          </p:cNvPr>
          <p:cNvSpPr txBox="1"/>
          <p:nvPr/>
        </p:nvSpPr>
        <p:spPr>
          <a:xfrm>
            <a:off x="4000500" y="5900738"/>
            <a:ext cx="2613279" cy="369332"/>
          </a:xfrm>
          <a:prstGeom prst="rect">
            <a:avLst/>
          </a:prstGeom>
          <a:noFill/>
        </p:spPr>
        <p:txBody>
          <a:bodyPr wrap="none" rtlCol="0">
            <a:spAutoFit/>
          </a:bodyPr>
          <a:lstStyle/>
          <a:p>
            <a:r>
              <a:rPr lang="en-US" dirty="0"/>
              <a:t>Trace back to my research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3115986"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Contributions at a glance</a:t>
            </a:r>
          </a:p>
        </p:txBody>
      </p:sp>
      <p:sp>
        <p:nvSpPr>
          <p:cNvPr id="3" name="s9-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Ten papers, one software release</a:t>
            </a:r>
          </a:p>
        </p:txBody>
      </p:sp>
      <p:sp>
        <p:nvSpPr>
          <p:cNvPr id="4" name="!!L1-bg"/>
          <p:cNvSpPr/>
          <p:nvPr/>
        </p:nvSpPr>
        <p:spPr>
          <a:xfrm>
            <a:off x="888978" y="1558192"/>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9-text-03"/>
          <p:cNvSpPr txBox="1"/>
          <p:nvPr/>
        </p:nvSpPr>
        <p:spPr>
          <a:xfrm>
            <a:off x="1142971" y="1707413"/>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III</a:t>
            </a:r>
          </a:p>
        </p:txBody>
      </p:sp>
      <p:sp>
        <p:nvSpPr>
          <p:cNvPr id="6" name="!!L1-t"/>
          <p:cNvSpPr txBox="1"/>
          <p:nvPr/>
        </p:nvSpPr>
        <p:spPr>
          <a:xfrm>
            <a:off x="2285943" y="1653439"/>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Simulation</a:t>
            </a:r>
          </a:p>
        </p:txBody>
      </p:sp>
      <p:sp>
        <p:nvSpPr>
          <p:cNvPr id="7" name="s9-text-05"/>
          <p:cNvSpPr txBox="1"/>
          <p:nvPr/>
        </p:nvSpPr>
        <p:spPr>
          <a:xfrm>
            <a:off x="5079873" y="1662369"/>
            <a:ext cx="4203099" cy="248834"/>
          </a:xfrm>
          <a:prstGeom prst="rect">
            <a:avLst/>
          </a:prstGeom>
          <a:noFill/>
        </p:spPr>
        <p:txBody>
          <a:bodyPr wrap="none" lIns="0" tIns="0" rIns="0" bIns="0" anchor="t">
            <a:noAutofit/>
          </a:bodyPr>
          <a:lstStyle/>
          <a:p>
            <a:pPr algn="l">
              <a:lnSpc>
                <a:spcPts val="1960"/>
              </a:lnSpc>
              <a:spcBef>
                <a:spcPts val="0"/>
              </a:spcBef>
              <a:spcAft>
                <a:spcPts val="0"/>
              </a:spcAft>
            </a:pPr>
            <a:r>
              <a:rPr sz="1400" b="1" i="0">
                <a:solidFill>
                  <a:srgbClr val="50505B"/>
                </a:solidFill>
                <a:latin typeface="Arial"/>
              </a:rPr>
              <a:t>Q-GEAR</a:t>
            </a:r>
            <a:r>
              <a:rPr sz="1400" b="0" i="0">
                <a:solidFill>
                  <a:srgbClr val="50505B"/>
                </a:solidFill>
                <a:latin typeface="Arial"/>
              </a:rPr>
              <a:t> · 42 qubits on 1,024 A100s · ≈400× vs CPU</a:t>
            </a:r>
          </a:p>
        </p:txBody>
      </p:sp>
      <p:sp>
        <p:nvSpPr>
          <p:cNvPr id="8" name="!!L2-bg"/>
          <p:cNvSpPr/>
          <p:nvPr/>
        </p:nvSpPr>
        <p:spPr>
          <a:xfrm>
            <a:off x="888978" y="2078878"/>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9-text-06"/>
          <p:cNvSpPr txBox="1"/>
          <p:nvPr/>
        </p:nvSpPr>
        <p:spPr>
          <a:xfrm>
            <a:off x="1142971" y="2228100"/>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IV</a:t>
            </a:r>
          </a:p>
        </p:txBody>
      </p:sp>
      <p:sp>
        <p:nvSpPr>
          <p:cNvPr id="10" name="!!L2-t"/>
          <p:cNvSpPr txBox="1"/>
          <p:nvPr/>
        </p:nvSpPr>
        <p:spPr>
          <a:xfrm>
            <a:off x="2285943" y="2174126"/>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Algorithms</a:t>
            </a:r>
          </a:p>
        </p:txBody>
      </p:sp>
      <p:sp>
        <p:nvSpPr>
          <p:cNvPr id="11" name="s9-text-08"/>
          <p:cNvSpPr txBox="1"/>
          <p:nvPr/>
        </p:nvSpPr>
        <p:spPr>
          <a:xfrm>
            <a:off x="5079873" y="2183056"/>
            <a:ext cx="5315412" cy="248834"/>
          </a:xfrm>
          <a:prstGeom prst="rect">
            <a:avLst/>
          </a:prstGeom>
          <a:noFill/>
        </p:spPr>
        <p:txBody>
          <a:bodyPr wrap="none" lIns="0" tIns="0" rIns="0" bIns="0" anchor="t">
            <a:noAutofit/>
          </a:bodyPr>
          <a:lstStyle/>
          <a:p>
            <a:pPr algn="l">
              <a:lnSpc>
                <a:spcPts val="1960"/>
              </a:lnSpc>
              <a:spcBef>
                <a:spcPts val="0"/>
              </a:spcBef>
              <a:spcAft>
                <a:spcPts val="0"/>
              </a:spcAft>
            </a:pPr>
            <a:r>
              <a:rPr sz="1400" b="1" i="0">
                <a:solidFill>
                  <a:srgbClr val="50505B"/>
                </a:solidFill>
                <a:latin typeface="Arial"/>
              </a:rPr>
              <a:t>DEAL</a:t>
            </a:r>
            <a:r>
              <a:rPr sz="1400" b="0" i="0">
                <a:solidFill>
                  <a:srgbClr val="50505B"/>
                </a:solidFill>
                <a:latin typeface="Arial"/>
              </a:rPr>
              <a:t> · </a:t>
            </a:r>
            <a:r>
              <a:rPr sz="1400" b="1" i="0">
                <a:solidFill>
                  <a:srgbClr val="50505B"/>
                </a:solidFill>
                <a:latin typeface="Arial"/>
              </a:rPr>
              <a:t>QAWA</a:t>
            </a:r>
            <a:r>
              <a:rPr sz="1400" b="0" i="0">
                <a:solidFill>
                  <a:srgbClr val="50505B"/>
                </a:solidFill>
                <a:latin typeface="Arial"/>
              </a:rPr>
              <a:t> · direct angles, adaptive ZNE, O(n) traceable oracle</a:t>
            </a:r>
          </a:p>
        </p:txBody>
      </p:sp>
      <p:sp>
        <p:nvSpPr>
          <p:cNvPr id="12" name="!!L3-bg"/>
          <p:cNvSpPr/>
          <p:nvPr/>
        </p:nvSpPr>
        <p:spPr>
          <a:xfrm>
            <a:off x="888978" y="2599565"/>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9-text-09"/>
          <p:cNvSpPr txBox="1"/>
          <p:nvPr/>
        </p:nvSpPr>
        <p:spPr>
          <a:xfrm>
            <a:off x="1142971" y="2748787"/>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V</a:t>
            </a:r>
          </a:p>
        </p:txBody>
      </p:sp>
      <p:sp>
        <p:nvSpPr>
          <p:cNvPr id="14" name="!!L3-t"/>
          <p:cNvSpPr txBox="1"/>
          <p:nvPr/>
        </p:nvSpPr>
        <p:spPr>
          <a:xfrm>
            <a:off x="2285943" y="2694813"/>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Data encoding</a:t>
            </a:r>
          </a:p>
        </p:txBody>
      </p:sp>
      <p:sp>
        <p:nvSpPr>
          <p:cNvPr id="15" name="s9-text-11"/>
          <p:cNvSpPr txBox="1"/>
          <p:nvPr/>
        </p:nvSpPr>
        <p:spPr>
          <a:xfrm>
            <a:off x="5079873" y="2703743"/>
            <a:ext cx="4277511" cy="248834"/>
          </a:xfrm>
          <a:prstGeom prst="rect">
            <a:avLst/>
          </a:prstGeom>
          <a:noFill/>
        </p:spPr>
        <p:txBody>
          <a:bodyPr wrap="none" lIns="0" tIns="0" rIns="0" bIns="0" anchor="t">
            <a:noAutofit/>
          </a:bodyPr>
          <a:lstStyle/>
          <a:p>
            <a:pPr algn="l">
              <a:lnSpc>
                <a:spcPts val="1960"/>
              </a:lnSpc>
              <a:spcBef>
                <a:spcPts val="0"/>
              </a:spcBef>
              <a:spcAft>
                <a:spcPts val="0"/>
              </a:spcAft>
            </a:pPr>
            <a:r>
              <a:rPr sz="1400" b="1" i="0">
                <a:solidFill>
                  <a:srgbClr val="50505B"/>
                </a:solidFill>
                <a:latin typeface="Arial"/>
              </a:rPr>
              <a:t>QPIE · VQT · ShardQ · NNQA</a:t>
            </a:r>
            <a:r>
              <a:rPr sz="1400" b="0" i="0">
                <a:solidFill>
                  <a:srgbClr val="50505B"/>
                </a:solidFill>
                <a:latin typeface="Arial"/>
              </a:rPr>
              <a:t> · vectorized encodings</a:t>
            </a:r>
          </a:p>
        </p:txBody>
      </p:sp>
      <p:sp>
        <p:nvSpPr>
          <p:cNvPr id="16" name="!!L4-bg"/>
          <p:cNvSpPr/>
          <p:nvPr/>
        </p:nvSpPr>
        <p:spPr>
          <a:xfrm>
            <a:off x="888978" y="3120252"/>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9-text-12"/>
          <p:cNvSpPr txBox="1"/>
          <p:nvPr/>
        </p:nvSpPr>
        <p:spPr>
          <a:xfrm>
            <a:off x="1142971" y="3269474"/>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VI</a:t>
            </a:r>
          </a:p>
        </p:txBody>
      </p:sp>
      <p:sp>
        <p:nvSpPr>
          <p:cNvPr id="18" name="!!L4-t"/>
          <p:cNvSpPr txBox="1"/>
          <p:nvPr/>
        </p:nvSpPr>
        <p:spPr>
          <a:xfrm>
            <a:off x="2285943" y="3215500"/>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Synthesis</a:t>
            </a:r>
          </a:p>
        </p:txBody>
      </p:sp>
      <p:sp>
        <p:nvSpPr>
          <p:cNvPr id="19" name="s9-text-14"/>
          <p:cNvSpPr txBox="1"/>
          <p:nvPr/>
        </p:nvSpPr>
        <p:spPr>
          <a:xfrm>
            <a:off x="5079873" y="3224430"/>
            <a:ext cx="5109936" cy="248834"/>
          </a:xfrm>
          <a:prstGeom prst="rect">
            <a:avLst/>
          </a:prstGeom>
          <a:noFill/>
        </p:spPr>
        <p:txBody>
          <a:bodyPr wrap="none" lIns="0" tIns="0" rIns="0" bIns="0" anchor="t">
            <a:noAutofit/>
          </a:bodyPr>
          <a:lstStyle/>
          <a:p>
            <a:pPr algn="l">
              <a:lnSpc>
                <a:spcPts val="1960"/>
              </a:lnSpc>
              <a:spcBef>
                <a:spcPts val="0"/>
              </a:spcBef>
              <a:spcAft>
                <a:spcPts val="0"/>
              </a:spcAft>
            </a:pPr>
            <a:r>
              <a:rPr sz="1400" b="1" i="0">
                <a:solidFill>
                  <a:srgbClr val="50505B"/>
                </a:solidFill>
                <a:latin typeface="Arial"/>
              </a:rPr>
              <a:t>RubriQ</a:t>
            </a:r>
            <a:r>
              <a:rPr sz="1400" b="0" i="0">
                <a:solidFill>
                  <a:srgbClr val="50505B"/>
                </a:solidFill>
                <a:latin typeface="Arial"/>
              </a:rPr>
              <a:t> · 3.31× T-gate compression · nonlinear-wave cost model</a:t>
            </a:r>
          </a:p>
        </p:txBody>
      </p:sp>
      <p:sp>
        <p:nvSpPr>
          <p:cNvPr id="20" name="!!L5-bg"/>
          <p:cNvSpPr/>
          <p:nvPr/>
        </p:nvSpPr>
        <p:spPr>
          <a:xfrm>
            <a:off x="888978" y="3640939"/>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9-text-15"/>
          <p:cNvSpPr txBox="1"/>
          <p:nvPr/>
        </p:nvSpPr>
        <p:spPr>
          <a:xfrm>
            <a:off x="1142971" y="3790161"/>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VII–VIII</a:t>
            </a:r>
          </a:p>
        </p:txBody>
      </p:sp>
      <p:sp>
        <p:nvSpPr>
          <p:cNvPr id="22" name="!!L5-t"/>
          <p:cNvSpPr txBox="1"/>
          <p:nvPr/>
        </p:nvSpPr>
        <p:spPr>
          <a:xfrm>
            <a:off x="2285943" y="3736187"/>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Trust</a:t>
            </a:r>
          </a:p>
        </p:txBody>
      </p:sp>
      <p:sp>
        <p:nvSpPr>
          <p:cNvPr id="23" name="s9-text-17"/>
          <p:cNvSpPr txBox="1"/>
          <p:nvPr/>
        </p:nvSpPr>
        <p:spPr>
          <a:xfrm>
            <a:off x="5079873" y="3745117"/>
            <a:ext cx="4737577" cy="248834"/>
          </a:xfrm>
          <a:prstGeom prst="rect">
            <a:avLst/>
          </a:prstGeom>
          <a:noFill/>
        </p:spPr>
        <p:txBody>
          <a:bodyPr wrap="none" lIns="0" tIns="0" rIns="0" bIns="0" anchor="t">
            <a:noAutofit/>
          </a:bodyPr>
          <a:lstStyle/>
          <a:p>
            <a:pPr algn="l">
              <a:lnSpc>
                <a:spcPts val="1960"/>
              </a:lnSpc>
              <a:spcBef>
                <a:spcPts val="0"/>
              </a:spcBef>
              <a:spcAft>
                <a:spcPts val="0"/>
              </a:spcAft>
            </a:pPr>
            <a:r>
              <a:rPr sz="1400" b="1" i="0">
                <a:solidFill>
                  <a:srgbClr val="50505B"/>
                </a:solidFill>
                <a:latin typeface="Arial"/>
              </a:rPr>
              <a:t>QEC audit</a:t>
            </a:r>
            <a:r>
              <a:rPr sz="1400" b="0" i="0">
                <a:solidFill>
                  <a:srgbClr val="50505B"/>
                </a:solidFill>
                <a:latin typeface="Arial"/>
              </a:rPr>
              <a:t> · −86.7% disturbance · FIPS 140-3 PQC module</a:t>
            </a:r>
          </a:p>
        </p:txBody>
      </p:sp>
      <p:sp>
        <p:nvSpPr>
          <p:cNvPr id="24" name="s9-box-06"/>
          <p:cNvSpPr/>
          <p:nvPr/>
        </p:nvSpPr>
        <p:spPr>
          <a:xfrm>
            <a:off x="888978" y="4237825"/>
            <a:ext cx="1143864"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9-box-07"/>
          <p:cNvSpPr/>
          <p:nvPr/>
        </p:nvSpPr>
        <p:spPr>
          <a:xfrm>
            <a:off x="1054074" y="4367996"/>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s9-text-18"/>
          <p:cNvSpPr txBox="1"/>
          <p:nvPr/>
        </p:nvSpPr>
        <p:spPr>
          <a:xfrm>
            <a:off x="1219170" y="4314023"/>
            <a:ext cx="667626"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ICPP ’25</a:t>
            </a:r>
          </a:p>
        </p:txBody>
      </p:sp>
      <p:sp>
        <p:nvSpPr>
          <p:cNvPr id="27" name="s9-box-08"/>
          <p:cNvSpPr/>
          <p:nvPr/>
        </p:nvSpPr>
        <p:spPr>
          <a:xfrm>
            <a:off x="2134440" y="4237825"/>
            <a:ext cx="1244867"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9-box-09"/>
          <p:cNvSpPr/>
          <p:nvPr/>
        </p:nvSpPr>
        <p:spPr>
          <a:xfrm>
            <a:off x="2299535" y="4367996"/>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9-text-19"/>
          <p:cNvSpPr txBox="1"/>
          <p:nvPr/>
        </p:nvSpPr>
        <p:spPr>
          <a:xfrm>
            <a:off x="2464631" y="4314023"/>
            <a:ext cx="768628"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QST 2025</a:t>
            </a:r>
          </a:p>
        </p:txBody>
      </p:sp>
      <p:sp>
        <p:nvSpPr>
          <p:cNvPr id="30" name="s9-box-10"/>
          <p:cNvSpPr/>
          <p:nvPr/>
        </p:nvSpPr>
        <p:spPr>
          <a:xfrm>
            <a:off x="3480904" y="4237825"/>
            <a:ext cx="1541325"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9-box-11"/>
          <p:cNvSpPr/>
          <p:nvPr/>
        </p:nvSpPr>
        <p:spPr>
          <a:xfrm>
            <a:off x="3645999" y="4367996"/>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s9-text-20"/>
          <p:cNvSpPr txBox="1"/>
          <p:nvPr/>
        </p:nvSpPr>
        <p:spPr>
          <a:xfrm>
            <a:off x="3811095" y="4314023"/>
            <a:ext cx="1065087"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IEEE QCE ’25</a:t>
            </a:r>
          </a:p>
        </p:txBody>
      </p:sp>
      <p:sp>
        <p:nvSpPr>
          <p:cNvPr id="33" name="s9-box-12"/>
          <p:cNvSpPr/>
          <p:nvPr/>
        </p:nvSpPr>
        <p:spPr>
          <a:xfrm>
            <a:off x="5123826" y="4237825"/>
            <a:ext cx="2046038"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s9-box-13"/>
          <p:cNvSpPr/>
          <p:nvPr/>
        </p:nvSpPr>
        <p:spPr>
          <a:xfrm>
            <a:off x="5288922" y="4367996"/>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9-text-21"/>
          <p:cNvSpPr txBox="1"/>
          <p:nvPr/>
        </p:nvSpPr>
        <p:spPr>
          <a:xfrm>
            <a:off x="5454018" y="4314023"/>
            <a:ext cx="1569800"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AAAI Symposium ’25</a:t>
            </a:r>
          </a:p>
        </p:txBody>
      </p:sp>
      <p:sp>
        <p:nvSpPr>
          <p:cNvPr id="36" name="s9-box-14"/>
          <p:cNvSpPr/>
          <p:nvPr/>
        </p:nvSpPr>
        <p:spPr>
          <a:xfrm>
            <a:off x="7271461" y="4237825"/>
            <a:ext cx="2385953"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9-box-15"/>
          <p:cNvSpPr/>
          <p:nvPr/>
        </p:nvSpPr>
        <p:spPr>
          <a:xfrm>
            <a:off x="7436557" y="4367996"/>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s9-text-22"/>
          <p:cNvSpPr txBox="1"/>
          <p:nvPr/>
        </p:nvSpPr>
        <p:spPr>
          <a:xfrm>
            <a:off x="7601653" y="4314023"/>
            <a:ext cx="1909715"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6 arXiv preprints 2025–26</a:t>
            </a:r>
          </a:p>
        </p:txBody>
      </p:sp>
      <p:sp>
        <p:nvSpPr>
          <p:cNvPr id="39" name="s9-box-16"/>
          <p:cNvSpPr/>
          <p:nvPr/>
        </p:nvSpPr>
        <p:spPr>
          <a:xfrm>
            <a:off x="888978" y="4688663"/>
            <a:ext cx="2725570"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s9-box-17"/>
          <p:cNvSpPr/>
          <p:nvPr/>
        </p:nvSpPr>
        <p:spPr>
          <a:xfrm>
            <a:off x="1054074" y="4818835"/>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9-text-23"/>
          <p:cNvSpPr txBox="1"/>
          <p:nvPr/>
        </p:nvSpPr>
        <p:spPr>
          <a:xfrm>
            <a:off x="1219170" y="4764861"/>
            <a:ext cx="2249332"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Zenodo software release 2026</a:t>
            </a:r>
          </a:p>
        </p:txBody>
      </p:sp>
      <p:sp>
        <p:nvSpPr>
          <p:cNvPr id="42" name="!!sec"/>
          <p:cNvSpPr txBox="1"/>
          <p:nvPr/>
        </p:nvSpPr>
        <p:spPr>
          <a:xfrm>
            <a:off x="888978" y="6362541"/>
            <a:ext cx="1291201"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Introduction</a:t>
            </a:r>
          </a:p>
        </p:txBody>
      </p:sp>
      <p:pic>
        <p:nvPicPr>
          <p:cNvPr id="43" name="s9-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44" name="!!pg"/>
          <p:cNvSpPr txBox="1"/>
          <p:nvPr/>
        </p:nvSpPr>
        <p:spPr>
          <a:xfrm>
            <a:off x="10304800" y="634984"/>
            <a:ext cx="572478"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9</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s10-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s10-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s10-text-01"/>
          <p:cNvSpPr txBox="1"/>
          <p:nvPr/>
        </p:nvSpPr>
        <p:spPr>
          <a:xfrm>
            <a:off x="888978" y="2364721"/>
            <a:ext cx="10432789"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Chapter III · RQ1 Scale</a:t>
            </a:r>
          </a:p>
        </p:txBody>
      </p:sp>
      <p:sp>
        <p:nvSpPr>
          <p:cNvPr id="5" name="s10-text-02"/>
          <p:cNvSpPr txBox="1"/>
          <p:nvPr/>
        </p:nvSpPr>
        <p:spPr>
          <a:xfrm>
            <a:off x="888978" y="2675863"/>
            <a:ext cx="3003276" cy="826670"/>
          </a:xfrm>
          <a:prstGeom prst="rect">
            <a:avLst/>
          </a:prstGeom>
          <a:noFill/>
        </p:spPr>
        <p:txBody>
          <a:bodyPr wrap="none" lIns="0" tIns="0" rIns="0" bIns="0" anchor="t">
            <a:noAutofit/>
          </a:bodyPr>
          <a:lstStyle/>
          <a:p>
            <a:pPr algn="l">
              <a:lnSpc>
                <a:spcPts val="6509"/>
              </a:lnSpc>
              <a:spcBef>
                <a:spcPts val="0"/>
              </a:spcBef>
              <a:spcAft>
                <a:spcPts val="0"/>
              </a:spcAft>
            </a:pPr>
            <a:r>
              <a:rPr sz="6200" b="1" i="0" spc="-217" dirty="0">
                <a:solidFill>
                  <a:srgbClr val="CC0000"/>
                </a:solidFill>
                <a:latin typeface="Arial"/>
              </a:rPr>
              <a:t>Q-GEAR</a:t>
            </a:r>
          </a:p>
        </p:txBody>
      </p:sp>
      <p:sp>
        <p:nvSpPr>
          <p:cNvPr id="6" name="s10-text-03"/>
          <p:cNvSpPr txBox="1"/>
          <p:nvPr/>
        </p:nvSpPr>
        <p:spPr>
          <a:xfrm>
            <a:off x="888978" y="3654929"/>
            <a:ext cx="9537462" cy="685783"/>
          </a:xfrm>
          <a:prstGeom prst="rect">
            <a:avLst/>
          </a:prstGeom>
          <a:noFill/>
        </p:spPr>
        <p:txBody>
          <a:bodyPr wrap="square" lIns="0" tIns="0" rIns="0" bIns="0" anchor="t">
            <a:noAutofit/>
          </a:bodyPr>
          <a:lstStyle/>
          <a:p>
            <a:pPr algn="l">
              <a:lnSpc>
                <a:spcPts val="2700"/>
              </a:lnSpc>
              <a:spcBef>
                <a:spcPts val="0"/>
              </a:spcBef>
              <a:spcAft>
                <a:spcPts val="0"/>
              </a:spcAft>
            </a:pPr>
            <a:r>
              <a:rPr sz="2000" b="0" i="0" dirty="0">
                <a:solidFill>
                  <a:srgbClr val="50505B"/>
                </a:solidFill>
                <a:latin typeface="Arial"/>
              </a:rPr>
              <a:t>GPU-accelerated circuit simulation at HPC scale</a:t>
            </a:r>
          </a:p>
          <a:p>
            <a:pPr algn="l">
              <a:lnSpc>
                <a:spcPts val="2700"/>
              </a:lnSpc>
              <a:spcBef>
                <a:spcPts val="0"/>
              </a:spcBef>
              <a:spcAft>
                <a:spcPts val="0"/>
              </a:spcAft>
            </a:pPr>
            <a:r>
              <a:rPr sz="1200" b="0" i="0" dirty="0">
                <a:solidFill>
                  <a:srgbClr val="7B7B86"/>
                </a:solidFill>
                <a:latin typeface="Arial"/>
              </a:rPr>
              <a:t>Guo, </a:t>
            </a:r>
            <a:r>
              <a:rPr sz="1200" b="0" i="0" dirty="0" err="1">
                <a:solidFill>
                  <a:srgbClr val="7B7B86"/>
                </a:solidFill>
                <a:latin typeface="Arial"/>
              </a:rPr>
              <a:t>Balewski</a:t>
            </a:r>
            <a:r>
              <a:rPr sz="1200" b="0" i="0" dirty="0">
                <a:solidFill>
                  <a:srgbClr val="7B7B86"/>
                </a:solidFill>
                <a:latin typeface="Arial"/>
              </a:rPr>
              <a:t>, Pan · ACM ICPP 2025 · arXiv:2504.03967 · </a:t>
            </a:r>
            <a:r>
              <a:rPr sz="1200" b="0" i="0" dirty="0" err="1">
                <a:solidFill>
                  <a:srgbClr val="7B7B86"/>
                </a:solidFill>
                <a:latin typeface="Arial"/>
              </a:rPr>
              <a:t>github.com</a:t>
            </a:r>
            <a:r>
              <a:rPr sz="1200" b="0" i="0" dirty="0">
                <a:solidFill>
                  <a:srgbClr val="7B7B86"/>
                </a:solidFill>
                <a:latin typeface="Arial"/>
              </a:rPr>
              <a:t>/</a:t>
            </a:r>
            <a:r>
              <a:rPr sz="1200" b="0" i="0" dirty="0" err="1">
                <a:solidFill>
                  <a:srgbClr val="7B7B86"/>
                </a:solidFill>
                <a:latin typeface="Arial"/>
              </a:rPr>
              <a:t>gzquse</a:t>
            </a:r>
            <a:r>
              <a:rPr sz="1200" b="0" i="0" dirty="0">
                <a:solidFill>
                  <a:srgbClr val="7B7B86"/>
                </a:solidFill>
                <a:latin typeface="Arial"/>
              </a:rPr>
              <a:t>/</a:t>
            </a:r>
            <a:r>
              <a:rPr sz="1200" b="0" i="0" dirty="0" err="1">
                <a:solidFill>
                  <a:srgbClr val="7B7B86"/>
                </a:solidFill>
                <a:latin typeface="Arial"/>
              </a:rPr>
              <a:t>qgear</a:t>
            </a:r>
            <a:endParaRPr sz="1200" b="0" i="0" dirty="0">
              <a:solidFill>
                <a:srgbClr val="7B7B86"/>
              </a:solidFill>
              <a:latin typeface="Arial"/>
            </a:endParaRPr>
          </a:p>
        </p:txBody>
      </p:sp>
      <p:sp>
        <p:nvSpPr>
          <p:cNvPr id="7" name="!!L1-bg"/>
          <p:cNvSpPr/>
          <p:nvPr/>
        </p:nvSpPr>
        <p:spPr>
          <a:xfrm>
            <a:off x="5579824" y="6311742"/>
            <a:ext cx="1119656"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10-text-04"/>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01</a:t>
            </a:r>
          </a:p>
        </p:txBody>
      </p:sp>
      <p:sp>
        <p:nvSpPr>
          <p:cNvPr id="9"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10-text-06"/>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2"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10-text-08"/>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15"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10-text-10"/>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18"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10-text-12"/>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1"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2" name="!!sec"/>
          <p:cNvSpPr txBox="1"/>
          <p:nvPr/>
        </p:nvSpPr>
        <p:spPr>
          <a:xfrm>
            <a:off x="888978" y="6362541"/>
            <a:ext cx="101964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III · Q-GEAR</a:t>
            </a:r>
          </a:p>
        </p:txBody>
      </p:sp>
      <p:pic>
        <p:nvPicPr>
          <p:cNvPr id="23" name="s10-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10</a:t>
            </a:r>
            <a:r>
              <a:rPr sz="1100" b="0" i="0" spc="66">
                <a:solidFill>
                  <a:srgbClr val="7B7B86"/>
                </a:solidFill>
                <a:latin typeface="Courier New"/>
              </a:rPr>
              <a:t> / 68</a:t>
            </a:r>
          </a:p>
        </p:txBody>
      </p:sp>
      <p:sp>
        <p:nvSpPr>
          <p:cNvPr id="25" name="TextBox 24">
            <a:extLst>
              <a:ext uri="{FF2B5EF4-FFF2-40B4-BE49-F238E27FC236}">
                <a16:creationId xmlns:a16="http://schemas.microsoft.com/office/drawing/2014/main" id="{E520C2F1-5E61-B7A9-B90D-F7F6D816DDE2}"/>
              </a:ext>
            </a:extLst>
          </p:cNvPr>
          <p:cNvSpPr txBox="1"/>
          <p:nvPr/>
        </p:nvSpPr>
        <p:spPr>
          <a:xfrm>
            <a:off x="5314950" y="1971675"/>
            <a:ext cx="6728573" cy="369332"/>
          </a:xfrm>
          <a:prstGeom prst="rect">
            <a:avLst/>
          </a:prstGeom>
          <a:noFill/>
        </p:spPr>
        <p:txBody>
          <a:bodyPr wrap="none" rtlCol="0">
            <a:spAutoFit/>
          </a:bodyPr>
          <a:lstStyle/>
          <a:p>
            <a:r>
              <a:rPr lang="en-US" dirty="0"/>
              <a:t>HPC previous work about large scale simulation  how do we leverage?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00635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Problem</a:t>
            </a:r>
          </a:p>
        </p:txBody>
      </p:sp>
      <p:sp>
        <p:nvSpPr>
          <p:cNvPr id="3" name="s11-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Same circuit, new hardware, no rewrite</a:t>
            </a:r>
          </a:p>
        </p:txBody>
      </p:sp>
      <p:sp>
        <p:nvSpPr>
          <p:cNvPr id="4" name="s11-text-03"/>
          <p:cNvSpPr txBox="1"/>
          <p:nvPr/>
        </p:nvSpPr>
        <p:spPr>
          <a:xfrm>
            <a:off x="888978" y="1659789"/>
            <a:ext cx="9543811" cy="342891"/>
          </a:xfrm>
          <a:prstGeom prst="rect">
            <a:avLst/>
          </a:prstGeom>
          <a:noFill/>
        </p:spPr>
        <p:txBody>
          <a:bodyPr wrap="none" lIns="0" tIns="0" rIns="0" bIns="0" anchor="t">
            <a:noAutofit/>
          </a:bodyPr>
          <a:lstStyle/>
          <a:p>
            <a:pPr algn="l">
              <a:lnSpc>
                <a:spcPts val="2700"/>
              </a:lnSpc>
              <a:spcBef>
                <a:spcPts val="0"/>
              </a:spcBef>
              <a:spcAft>
                <a:spcPts val="0"/>
              </a:spcAft>
            </a:pPr>
            <a:r>
              <a:rPr sz="2000" b="0" i="0">
                <a:solidFill>
                  <a:srgbClr val="50505B"/>
                </a:solidFill>
                <a:latin typeface="Arial"/>
              </a:rPr>
              <a:t>Researchers write Qiskit. Fast simulators want something else.</a:t>
            </a:r>
          </a:p>
        </p:txBody>
      </p:sp>
      <p:sp>
        <p:nvSpPr>
          <p:cNvPr id="5" name="s11-box-01"/>
          <p:cNvSpPr/>
          <p:nvPr/>
        </p:nvSpPr>
        <p:spPr>
          <a:xfrm>
            <a:off x="888978" y="2167776"/>
            <a:ext cx="3352716" cy="2111719"/>
          </a:xfrm>
          <a:prstGeom prst="roundRect">
            <a:avLst>
              <a:gd name="adj" fmla="val 721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11-text-04"/>
          <p:cNvSpPr txBox="1"/>
          <p:nvPr/>
        </p:nvSpPr>
        <p:spPr>
          <a:xfrm>
            <a:off x="1142971" y="2396371"/>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CPU BASELINE</a:t>
            </a:r>
          </a:p>
        </p:txBody>
      </p:sp>
      <p:sp>
        <p:nvSpPr>
          <p:cNvPr id="7" name="s11-text-05"/>
          <p:cNvSpPr txBox="1"/>
          <p:nvPr/>
        </p:nvSpPr>
        <p:spPr>
          <a:xfrm>
            <a:off x="1142971" y="2694813"/>
            <a:ext cx="2863778"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2× AMD EPYC 7763</a:t>
            </a:r>
          </a:p>
        </p:txBody>
      </p:sp>
      <p:sp>
        <p:nvSpPr>
          <p:cNvPr id="8" name="s11-text-06"/>
          <p:cNvSpPr txBox="1"/>
          <p:nvPr/>
        </p:nvSpPr>
        <p:spPr>
          <a:xfrm>
            <a:off x="1142971" y="3037705"/>
            <a:ext cx="2857429"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128 cores · 512 GB · 34 qubits ≈ </a:t>
            </a:r>
            <a:r>
              <a:rPr sz="1400" b="1" i="0">
                <a:solidFill>
                  <a:srgbClr val="50505B"/>
                </a:solidFill>
                <a:latin typeface="Arial"/>
              </a:rPr>
              <a:t>24 h</a:t>
            </a:r>
          </a:p>
        </p:txBody>
      </p:sp>
      <p:sp>
        <p:nvSpPr>
          <p:cNvPr id="9" name="s11-box-02"/>
          <p:cNvSpPr/>
          <p:nvPr/>
        </p:nvSpPr>
        <p:spPr>
          <a:xfrm>
            <a:off x="4419490" y="2167776"/>
            <a:ext cx="3352716" cy="2111719"/>
          </a:xfrm>
          <a:prstGeom prst="roundRect">
            <a:avLst>
              <a:gd name="adj" fmla="val 721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s11-text-07"/>
          <p:cNvSpPr txBox="1"/>
          <p:nvPr/>
        </p:nvSpPr>
        <p:spPr>
          <a:xfrm>
            <a:off x="4673483" y="2396371"/>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GPU SIMULATORS</a:t>
            </a:r>
          </a:p>
        </p:txBody>
      </p:sp>
      <p:sp>
        <p:nvSpPr>
          <p:cNvPr id="11" name="s11-text-08"/>
          <p:cNvSpPr txBox="1"/>
          <p:nvPr/>
        </p:nvSpPr>
        <p:spPr>
          <a:xfrm>
            <a:off x="4673483" y="2694813"/>
            <a:ext cx="2863778"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Fast, but fragmented</a:t>
            </a:r>
          </a:p>
        </p:txBody>
      </p:sp>
      <p:sp>
        <p:nvSpPr>
          <p:cNvPr id="12" name="s11-text-09"/>
          <p:cNvSpPr txBox="1"/>
          <p:nvPr/>
        </p:nvSpPr>
        <p:spPr>
          <a:xfrm>
            <a:off x="4673483" y="3037705"/>
            <a:ext cx="2857429"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CUDA-Q, Aer GPU, Lightning — each wants its own program</a:t>
            </a:r>
          </a:p>
        </p:txBody>
      </p:sp>
      <p:sp>
        <p:nvSpPr>
          <p:cNvPr id="13" name="s11-box-03"/>
          <p:cNvSpPr/>
          <p:nvPr/>
        </p:nvSpPr>
        <p:spPr>
          <a:xfrm>
            <a:off x="7950001" y="2167776"/>
            <a:ext cx="3352716" cy="2111719"/>
          </a:xfrm>
          <a:prstGeom prst="roundRect">
            <a:avLst>
              <a:gd name="adj" fmla="val 7216"/>
            </a:avLst>
          </a:prstGeom>
          <a:solidFill>
            <a:srgbClr val="000000">
              <a:alpha val="11000"/>
            </a:srgbClr>
          </a:solidFill>
          <a:ln w="6350">
            <a:solidFill>
              <a:srgbClr val="0000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11-text-10"/>
          <p:cNvSpPr txBox="1"/>
          <p:nvPr/>
        </p:nvSpPr>
        <p:spPr>
          <a:xfrm>
            <a:off x="8203995" y="2396371"/>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GOAL</a:t>
            </a:r>
          </a:p>
        </p:txBody>
      </p:sp>
      <p:sp>
        <p:nvSpPr>
          <p:cNvPr id="15" name="s11-text-11"/>
          <p:cNvSpPr txBox="1"/>
          <p:nvPr/>
        </p:nvSpPr>
        <p:spPr>
          <a:xfrm>
            <a:off x="8203995" y="2694813"/>
            <a:ext cx="2857429" cy="533387"/>
          </a:xfrm>
          <a:prstGeom prst="rect">
            <a:avLst/>
          </a:prstGeom>
          <a:noFill/>
        </p:spPr>
        <p:txBody>
          <a:bodyPr wrap="square" lIns="0" tIns="0" rIns="0" bIns="0" anchor="t">
            <a:noAutofit/>
          </a:bodyPr>
          <a:lstStyle/>
          <a:p>
            <a:pPr algn="l">
              <a:lnSpc>
                <a:spcPts val="2160"/>
              </a:lnSpc>
              <a:spcBef>
                <a:spcPts val="0"/>
              </a:spcBef>
              <a:spcAft>
                <a:spcPts val="0"/>
              </a:spcAft>
            </a:pPr>
            <a:r>
              <a:rPr sz="1800" b="1" i="0" spc="-27">
                <a:solidFill>
                  <a:srgbClr val="0B0B0F"/>
                </a:solidFill>
                <a:latin typeface="Arial"/>
              </a:rPr>
              <a:t>Transform, containerize, scale</a:t>
            </a:r>
          </a:p>
        </p:txBody>
      </p:sp>
      <p:sp>
        <p:nvSpPr>
          <p:cNvPr id="16" name="s11-text-12"/>
          <p:cNvSpPr txBox="1"/>
          <p:nvPr/>
        </p:nvSpPr>
        <p:spPr>
          <a:xfrm>
            <a:off x="8203995" y="3304398"/>
            <a:ext cx="2857429" cy="746503"/>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Keep Qiskit · generate CUDA-Q kernels · containers for Slurm on Perlmutter</a:t>
            </a:r>
          </a:p>
        </p:txBody>
      </p:sp>
      <p:sp>
        <p:nvSpPr>
          <p:cNvPr id="17" name="!!sec"/>
          <p:cNvSpPr txBox="1"/>
          <p:nvPr/>
        </p:nvSpPr>
        <p:spPr>
          <a:xfrm>
            <a:off x="888978" y="6362541"/>
            <a:ext cx="101964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III · Q-GEAR</a:t>
            </a:r>
          </a:p>
        </p:txBody>
      </p:sp>
      <p:pic>
        <p:nvPicPr>
          <p:cNvPr id="18" name="s11-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19"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11</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79075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Design</a:t>
            </a:r>
          </a:p>
        </p:txBody>
      </p:sp>
      <p:sp>
        <p:nvSpPr>
          <p:cNvPr id="3" name="s12-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Circuits become three tensors</a:t>
            </a:r>
          </a:p>
        </p:txBody>
      </p:sp>
      <p:pic>
        <p:nvPicPr>
          <p:cNvPr id="4" name="s12-image-01" descr="diagram"/>
          <p:cNvPicPr>
            <a:picLocks noChangeAspect="1"/>
          </p:cNvPicPr>
          <p:nvPr/>
        </p:nvPicPr>
        <p:blipFill>
          <a:blip r:embed="rId3"/>
          <a:stretch>
            <a:fillRect/>
          </a:stretch>
        </p:blipFill>
        <p:spPr>
          <a:xfrm>
            <a:off x="863578" y="1543011"/>
            <a:ext cx="10470888" cy="3232069"/>
          </a:xfrm>
          <a:prstGeom prst="rect">
            <a:avLst/>
          </a:prstGeom>
        </p:spPr>
      </p:pic>
      <p:sp>
        <p:nvSpPr>
          <p:cNvPr id="5" name="s12-text-03"/>
          <p:cNvSpPr txBox="1"/>
          <p:nvPr/>
        </p:nvSpPr>
        <p:spPr>
          <a:xfrm>
            <a:off x="985416" y="207252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q0</a:t>
            </a:r>
          </a:p>
        </p:txBody>
      </p:sp>
      <p:sp>
        <p:nvSpPr>
          <p:cNvPr id="6" name="s12-text-04"/>
          <p:cNvSpPr txBox="1"/>
          <p:nvPr/>
        </p:nvSpPr>
        <p:spPr>
          <a:xfrm>
            <a:off x="985416" y="251701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q1</a:t>
            </a:r>
          </a:p>
        </p:txBody>
      </p:sp>
      <p:sp>
        <p:nvSpPr>
          <p:cNvPr id="7" name="s12-text-05"/>
          <p:cNvSpPr txBox="1"/>
          <p:nvPr/>
        </p:nvSpPr>
        <p:spPr>
          <a:xfrm>
            <a:off x="985416" y="2961506"/>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q2</a:t>
            </a:r>
          </a:p>
        </p:txBody>
      </p:sp>
      <p:sp>
        <p:nvSpPr>
          <p:cNvPr id="8" name="s12-text-06"/>
          <p:cNvSpPr txBox="1"/>
          <p:nvPr/>
        </p:nvSpPr>
        <p:spPr>
          <a:xfrm>
            <a:off x="985416" y="340599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q3</a:t>
            </a:r>
          </a:p>
        </p:txBody>
      </p:sp>
      <p:sp>
        <p:nvSpPr>
          <p:cNvPr id="9" name="s12-text-07"/>
          <p:cNvSpPr txBox="1"/>
          <p:nvPr/>
        </p:nvSpPr>
        <p:spPr>
          <a:xfrm>
            <a:off x="1605220" y="2072529"/>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H</a:t>
            </a:r>
          </a:p>
        </p:txBody>
      </p:sp>
      <p:sp>
        <p:nvSpPr>
          <p:cNvPr id="10" name="s12-text-08"/>
          <p:cNvSpPr txBox="1"/>
          <p:nvPr/>
        </p:nvSpPr>
        <p:spPr>
          <a:xfrm>
            <a:off x="1605220" y="2961506"/>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H</a:t>
            </a:r>
          </a:p>
        </p:txBody>
      </p:sp>
      <p:sp>
        <p:nvSpPr>
          <p:cNvPr id="11" name="s12-text-09"/>
          <p:cNvSpPr txBox="1"/>
          <p:nvPr/>
        </p:nvSpPr>
        <p:spPr>
          <a:xfrm>
            <a:off x="2067469" y="251701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2" name="s12-text-10"/>
          <p:cNvSpPr txBox="1"/>
          <p:nvPr/>
        </p:nvSpPr>
        <p:spPr>
          <a:xfrm>
            <a:off x="3146942" y="340599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RZ</a:t>
            </a:r>
          </a:p>
        </p:txBody>
      </p:sp>
      <p:sp>
        <p:nvSpPr>
          <p:cNvPr id="13" name="s12-text-11"/>
          <p:cNvSpPr txBox="1"/>
          <p:nvPr/>
        </p:nvSpPr>
        <p:spPr>
          <a:xfrm>
            <a:off x="918891" y="3793336"/>
            <a:ext cx="338813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Qiskit circuit (H, RY, RZ, U3, CX, CP, SWAP, measure)</a:t>
            </a:r>
          </a:p>
        </p:txBody>
      </p:sp>
      <p:sp>
        <p:nvSpPr>
          <p:cNvPr id="14" name="s12-text-12"/>
          <p:cNvSpPr txBox="1"/>
          <p:nvPr/>
        </p:nvSpPr>
        <p:spPr>
          <a:xfrm>
            <a:off x="4825879" y="1729637"/>
            <a:ext cx="159976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gate-type tensor</a:t>
            </a:r>
          </a:p>
        </p:txBody>
      </p:sp>
      <p:sp>
        <p:nvSpPr>
          <p:cNvPr id="15" name="s12-text-13"/>
          <p:cNvSpPr txBox="1"/>
          <p:nvPr/>
        </p:nvSpPr>
        <p:spPr>
          <a:xfrm>
            <a:off x="7238819" y="1786786"/>
            <a:ext cx="95862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int · which gate</a:t>
            </a:r>
          </a:p>
        </p:txBody>
      </p:sp>
      <p:sp>
        <p:nvSpPr>
          <p:cNvPr id="16" name="s12-text-14"/>
          <p:cNvSpPr txBox="1"/>
          <p:nvPr/>
        </p:nvSpPr>
        <p:spPr>
          <a:xfrm>
            <a:off x="5059534" y="2104278"/>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H</a:t>
            </a:r>
          </a:p>
        </p:txBody>
      </p:sp>
      <p:sp>
        <p:nvSpPr>
          <p:cNvPr id="17" name="s12-text-15"/>
          <p:cNvSpPr txBox="1"/>
          <p:nvPr/>
        </p:nvSpPr>
        <p:spPr>
          <a:xfrm>
            <a:off x="5623380" y="210427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8" name="s12-text-16"/>
          <p:cNvSpPr txBox="1"/>
          <p:nvPr/>
        </p:nvSpPr>
        <p:spPr>
          <a:xfrm>
            <a:off x="6232964" y="210427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CX</a:t>
            </a:r>
          </a:p>
        </p:txBody>
      </p:sp>
      <p:sp>
        <p:nvSpPr>
          <p:cNvPr id="19" name="s12-text-17"/>
          <p:cNvSpPr txBox="1"/>
          <p:nvPr/>
        </p:nvSpPr>
        <p:spPr>
          <a:xfrm>
            <a:off x="6842549" y="210427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RZ</a:t>
            </a:r>
          </a:p>
        </p:txBody>
      </p:sp>
      <p:sp>
        <p:nvSpPr>
          <p:cNvPr id="20" name="s12-text-18"/>
          <p:cNvSpPr txBox="1"/>
          <p:nvPr/>
        </p:nvSpPr>
        <p:spPr>
          <a:xfrm>
            <a:off x="7452134" y="210427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CX</a:t>
            </a:r>
          </a:p>
        </p:txBody>
      </p:sp>
      <p:sp>
        <p:nvSpPr>
          <p:cNvPr id="21" name="s12-text-19"/>
          <p:cNvSpPr txBox="1"/>
          <p:nvPr/>
        </p:nvSpPr>
        <p:spPr>
          <a:xfrm>
            <a:off x="8000800" y="2078878"/>
            <a:ext cx="18414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a:t>
            </a:r>
          </a:p>
        </p:txBody>
      </p:sp>
      <p:sp>
        <p:nvSpPr>
          <p:cNvPr id="22" name="s12-text-20"/>
          <p:cNvSpPr txBox="1"/>
          <p:nvPr/>
        </p:nvSpPr>
        <p:spPr>
          <a:xfrm>
            <a:off x="4825879" y="2491618"/>
            <a:ext cx="1791350"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qubit-index tensor</a:t>
            </a:r>
          </a:p>
        </p:txBody>
      </p:sp>
      <p:sp>
        <p:nvSpPr>
          <p:cNvPr id="23" name="s12-text-21"/>
          <p:cNvSpPr txBox="1"/>
          <p:nvPr/>
        </p:nvSpPr>
        <p:spPr>
          <a:xfrm>
            <a:off x="7238819" y="2548767"/>
            <a:ext cx="118374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int · control / target</a:t>
            </a:r>
          </a:p>
        </p:txBody>
      </p:sp>
      <p:sp>
        <p:nvSpPr>
          <p:cNvPr id="24" name="s12-text-22"/>
          <p:cNvSpPr txBox="1"/>
          <p:nvPr/>
        </p:nvSpPr>
        <p:spPr>
          <a:xfrm>
            <a:off x="5059534" y="2866259"/>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0</a:t>
            </a:r>
          </a:p>
        </p:txBody>
      </p:sp>
      <p:sp>
        <p:nvSpPr>
          <p:cNvPr id="25" name="s12-text-23"/>
          <p:cNvSpPr txBox="1"/>
          <p:nvPr/>
        </p:nvSpPr>
        <p:spPr>
          <a:xfrm>
            <a:off x="5669118" y="2866259"/>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1</a:t>
            </a:r>
          </a:p>
        </p:txBody>
      </p:sp>
      <p:sp>
        <p:nvSpPr>
          <p:cNvPr id="26" name="s12-text-24"/>
          <p:cNvSpPr txBox="1"/>
          <p:nvPr/>
        </p:nvSpPr>
        <p:spPr>
          <a:xfrm>
            <a:off x="6187226" y="2866259"/>
            <a:ext cx="293482"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0,1</a:t>
            </a:r>
          </a:p>
        </p:txBody>
      </p:sp>
      <p:sp>
        <p:nvSpPr>
          <p:cNvPr id="27" name="s12-text-25"/>
          <p:cNvSpPr txBox="1"/>
          <p:nvPr/>
        </p:nvSpPr>
        <p:spPr>
          <a:xfrm>
            <a:off x="6888288" y="2866259"/>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3</a:t>
            </a:r>
          </a:p>
        </p:txBody>
      </p:sp>
      <p:sp>
        <p:nvSpPr>
          <p:cNvPr id="28" name="s12-text-26"/>
          <p:cNvSpPr txBox="1"/>
          <p:nvPr/>
        </p:nvSpPr>
        <p:spPr>
          <a:xfrm>
            <a:off x="7406395" y="2866259"/>
            <a:ext cx="293482"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2,3</a:t>
            </a:r>
          </a:p>
        </p:txBody>
      </p:sp>
      <p:sp>
        <p:nvSpPr>
          <p:cNvPr id="29" name="s12-text-27"/>
          <p:cNvSpPr txBox="1"/>
          <p:nvPr/>
        </p:nvSpPr>
        <p:spPr>
          <a:xfrm>
            <a:off x="8000800" y="2840859"/>
            <a:ext cx="18414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a:t>
            </a:r>
          </a:p>
        </p:txBody>
      </p:sp>
      <p:sp>
        <p:nvSpPr>
          <p:cNvPr id="30" name="s12-text-28"/>
          <p:cNvSpPr txBox="1"/>
          <p:nvPr/>
        </p:nvSpPr>
        <p:spPr>
          <a:xfrm>
            <a:off x="4825879" y="3253599"/>
            <a:ext cx="167913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parameter tensor</a:t>
            </a:r>
          </a:p>
        </p:txBody>
      </p:sp>
      <p:sp>
        <p:nvSpPr>
          <p:cNvPr id="31" name="s12-text-29"/>
          <p:cNvSpPr txBox="1"/>
          <p:nvPr/>
        </p:nvSpPr>
        <p:spPr>
          <a:xfrm>
            <a:off x="7238819" y="3310748"/>
            <a:ext cx="132374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float · rotation angles</a:t>
            </a:r>
          </a:p>
        </p:txBody>
      </p:sp>
      <p:sp>
        <p:nvSpPr>
          <p:cNvPr id="32" name="s12-text-30"/>
          <p:cNvSpPr txBox="1"/>
          <p:nvPr/>
        </p:nvSpPr>
        <p:spPr>
          <a:xfrm>
            <a:off x="5059534" y="3628240"/>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a:t>
            </a:r>
          </a:p>
        </p:txBody>
      </p:sp>
      <p:sp>
        <p:nvSpPr>
          <p:cNvPr id="33" name="s12-text-31"/>
          <p:cNvSpPr txBox="1"/>
          <p:nvPr/>
        </p:nvSpPr>
        <p:spPr>
          <a:xfrm>
            <a:off x="5623380" y="3628240"/>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θ₁</a:t>
            </a:r>
          </a:p>
        </p:txBody>
      </p:sp>
      <p:sp>
        <p:nvSpPr>
          <p:cNvPr id="34" name="s12-text-32"/>
          <p:cNvSpPr txBox="1"/>
          <p:nvPr/>
        </p:nvSpPr>
        <p:spPr>
          <a:xfrm>
            <a:off x="6278703" y="3628240"/>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a:t>
            </a:r>
          </a:p>
        </p:txBody>
      </p:sp>
      <p:sp>
        <p:nvSpPr>
          <p:cNvPr id="35" name="s12-text-33"/>
          <p:cNvSpPr txBox="1"/>
          <p:nvPr/>
        </p:nvSpPr>
        <p:spPr>
          <a:xfrm>
            <a:off x="6842549" y="3628240"/>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θ₂</a:t>
            </a:r>
          </a:p>
        </p:txBody>
      </p:sp>
      <p:sp>
        <p:nvSpPr>
          <p:cNvPr id="36" name="s12-text-34"/>
          <p:cNvSpPr txBox="1"/>
          <p:nvPr/>
        </p:nvSpPr>
        <p:spPr>
          <a:xfrm>
            <a:off x="7497873" y="3628240"/>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a:t>
            </a:r>
          </a:p>
        </p:txBody>
      </p:sp>
      <p:sp>
        <p:nvSpPr>
          <p:cNvPr id="37" name="s12-text-35"/>
          <p:cNvSpPr txBox="1"/>
          <p:nvPr/>
        </p:nvSpPr>
        <p:spPr>
          <a:xfrm>
            <a:off x="8000800" y="3602840"/>
            <a:ext cx="18414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a:t>
            </a:r>
          </a:p>
        </p:txBody>
      </p:sp>
      <p:sp>
        <p:nvSpPr>
          <p:cNvPr id="38" name="s12-text-36"/>
          <p:cNvSpPr txBox="1"/>
          <p:nvPr/>
        </p:nvSpPr>
        <p:spPr>
          <a:xfrm>
            <a:off x="9465431" y="2618615"/>
            <a:ext cx="89969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HDF5 file</a:t>
            </a:r>
          </a:p>
        </p:txBody>
      </p:sp>
      <p:sp>
        <p:nvSpPr>
          <p:cNvPr id="39" name="s12-text-37"/>
          <p:cNvSpPr txBox="1"/>
          <p:nvPr/>
        </p:nvSpPr>
        <p:spPr>
          <a:xfrm>
            <a:off x="9203648" y="2878958"/>
            <a:ext cx="142325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portable, versioned</a:t>
            </a:r>
          </a:p>
        </p:txBody>
      </p:sp>
      <p:sp>
        <p:nvSpPr>
          <p:cNvPr id="40" name="s12-text-38"/>
          <p:cNvSpPr txBox="1"/>
          <p:nvPr/>
        </p:nvSpPr>
        <p:spPr>
          <a:xfrm>
            <a:off x="9171850" y="3983831"/>
            <a:ext cx="1486855"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CUDA-Q kernel</a:t>
            </a:r>
          </a:p>
        </p:txBody>
      </p:sp>
      <p:sp>
        <p:nvSpPr>
          <p:cNvPr id="41" name="s12-text-39"/>
          <p:cNvSpPr txBox="1"/>
          <p:nvPr/>
        </p:nvSpPr>
        <p:spPr>
          <a:xfrm>
            <a:off x="9153197" y="4244174"/>
            <a:ext cx="152902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generated per circuit</a:t>
            </a:r>
          </a:p>
        </p:txBody>
      </p:sp>
      <p:sp>
        <p:nvSpPr>
          <p:cNvPr id="42" name="s12-text-40"/>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Supported gates: H, RY, RZ, U3, CX, CP, SWAP, measure.</a:t>
            </a:r>
          </a:p>
        </p:txBody>
      </p:sp>
      <p:sp>
        <p:nvSpPr>
          <p:cNvPr id="43" name="!!sec"/>
          <p:cNvSpPr txBox="1"/>
          <p:nvPr/>
        </p:nvSpPr>
        <p:spPr>
          <a:xfrm>
            <a:off x="888978" y="6362541"/>
            <a:ext cx="101964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III · Q-GEAR</a:t>
            </a:r>
          </a:p>
        </p:txBody>
      </p:sp>
      <p:pic>
        <p:nvPicPr>
          <p:cNvPr id="44" name="s12-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45"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12</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79075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Design</a:t>
            </a:r>
          </a:p>
        </p:txBody>
      </p:sp>
      <p:sp>
        <p:nvSpPr>
          <p:cNvPr id="3" name="s13-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The kernel transformation pipeline</a:t>
            </a:r>
          </a:p>
        </p:txBody>
      </p:sp>
      <p:pic>
        <p:nvPicPr>
          <p:cNvPr id="4" name="s13-image-01" descr="diagram"/>
          <p:cNvPicPr>
            <a:picLocks noChangeAspect="1"/>
          </p:cNvPicPr>
          <p:nvPr/>
        </p:nvPicPr>
        <p:blipFill>
          <a:blip r:embed="rId3"/>
          <a:stretch>
            <a:fillRect/>
          </a:stretch>
        </p:blipFill>
        <p:spPr>
          <a:xfrm>
            <a:off x="863578" y="1670008"/>
            <a:ext cx="10470888" cy="2597085"/>
          </a:xfrm>
          <a:prstGeom prst="rect">
            <a:avLst/>
          </a:prstGeom>
        </p:spPr>
      </p:pic>
      <p:sp>
        <p:nvSpPr>
          <p:cNvPr id="5" name="s13-text-03"/>
          <p:cNvSpPr txBox="1"/>
          <p:nvPr/>
        </p:nvSpPr>
        <p:spPr>
          <a:xfrm>
            <a:off x="1149817" y="2713863"/>
            <a:ext cx="125210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Qiskit circuit</a:t>
            </a:r>
          </a:p>
        </p:txBody>
      </p:sp>
      <p:sp>
        <p:nvSpPr>
          <p:cNvPr id="6" name="s13-text-04"/>
          <p:cNvSpPr txBox="1"/>
          <p:nvPr/>
        </p:nvSpPr>
        <p:spPr>
          <a:xfrm>
            <a:off x="1073967" y="2999605"/>
            <a:ext cx="140162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user code, unchanged</a:t>
            </a:r>
          </a:p>
        </p:txBody>
      </p:sp>
      <p:sp>
        <p:nvSpPr>
          <p:cNvPr id="7" name="s13-text-05"/>
          <p:cNvSpPr txBox="1"/>
          <p:nvPr/>
        </p:nvSpPr>
        <p:spPr>
          <a:xfrm>
            <a:off x="3266398" y="2713863"/>
            <a:ext cx="57267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Parse</a:t>
            </a:r>
          </a:p>
        </p:txBody>
      </p:sp>
      <p:sp>
        <p:nvSpPr>
          <p:cNvPr id="8" name="s13-text-06"/>
          <p:cNvSpPr txBox="1"/>
          <p:nvPr/>
        </p:nvSpPr>
        <p:spPr>
          <a:xfrm>
            <a:off x="3092770" y="2999605"/>
            <a:ext cx="92619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gate set check</a:t>
            </a:r>
          </a:p>
        </p:txBody>
      </p:sp>
      <p:sp>
        <p:nvSpPr>
          <p:cNvPr id="9" name="s13-text-07"/>
          <p:cNvSpPr txBox="1"/>
          <p:nvPr/>
        </p:nvSpPr>
        <p:spPr>
          <a:xfrm>
            <a:off x="4954216" y="2713863"/>
            <a:ext cx="752952"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Encode</a:t>
            </a:r>
          </a:p>
        </p:txBody>
      </p:sp>
      <p:sp>
        <p:nvSpPr>
          <p:cNvPr id="10" name="s13-text-08"/>
          <p:cNvSpPr txBox="1"/>
          <p:nvPr/>
        </p:nvSpPr>
        <p:spPr>
          <a:xfrm>
            <a:off x="4622436" y="2999605"/>
            <a:ext cx="141651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three tensors → HDF5</a:t>
            </a:r>
          </a:p>
        </p:txBody>
      </p:sp>
      <p:sp>
        <p:nvSpPr>
          <p:cNvPr id="11" name="s13-text-09"/>
          <p:cNvSpPr txBox="1"/>
          <p:nvPr/>
        </p:nvSpPr>
        <p:spPr>
          <a:xfrm>
            <a:off x="6658652" y="2713863"/>
            <a:ext cx="89999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Generate</a:t>
            </a:r>
          </a:p>
        </p:txBody>
      </p:sp>
      <p:sp>
        <p:nvSpPr>
          <p:cNvPr id="12" name="s13-text-10"/>
          <p:cNvSpPr txBox="1"/>
          <p:nvPr/>
        </p:nvSpPr>
        <p:spPr>
          <a:xfrm>
            <a:off x="6613955" y="2999605"/>
            <a:ext cx="98938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CUDA-Q kernel</a:t>
            </a:r>
          </a:p>
        </p:txBody>
      </p:sp>
      <p:sp>
        <p:nvSpPr>
          <p:cNvPr id="13" name="s13-text-11"/>
          <p:cNvSpPr txBox="1"/>
          <p:nvPr/>
        </p:nvSpPr>
        <p:spPr>
          <a:xfrm>
            <a:off x="8464735" y="2713863"/>
            <a:ext cx="843735"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Package</a:t>
            </a:r>
          </a:p>
        </p:txBody>
      </p:sp>
      <p:sp>
        <p:nvSpPr>
          <p:cNvPr id="14" name="s13-text-12"/>
          <p:cNvSpPr txBox="1"/>
          <p:nvPr/>
        </p:nvSpPr>
        <p:spPr>
          <a:xfrm>
            <a:off x="8356788" y="2999605"/>
            <a:ext cx="105963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Podman / Shifter</a:t>
            </a:r>
          </a:p>
        </p:txBody>
      </p:sp>
      <p:sp>
        <p:nvSpPr>
          <p:cNvPr id="15" name="s13-text-13"/>
          <p:cNvSpPr txBox="1"/>
          <p:nvPr/>
        </p:nvSpPr>
        <p:spPr>
          <a:xfrm>
            <a:off x="10457544" y="2713863"/>
            <a:ext cx="41402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Run</a:t>
            </a:r>
          </a:p>
        </p:txBody>
      </p:sp>
      <p:sp>
        <p:nvSpPr>
          <p:cNvPr id="16" name="s13-text-14"/>
          <p:cNvSpPr txBox="1"/>
          <p:nvPr/>
        </p:nvSpPr>
        <p:spPr>
          <a:xfrm>
            <a:off x="9944844" y="2999605"/>
            <a:ext cx="143943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Slurm · multi-GPU MPI</a:t>
            </a:r>
          </a:p>
        </p:txBody>
      </p:sp>
      <p:sp>
        <p:nvSpPr>
          <p:cNvPr id="17" name="s13-text-15"/>
          <p:cNvSpPr txBox="1"/>
          <p:nvPr/>
        </p:nvSpPr>
        <p:spPr>
          <a:xfrm>
            <a:off x="1015975" y="3640939"/>
            <a:ext cx="320319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Q-GEAR automates the four middle stages.</a:t>
            </a:r>
          </a:p>
        </p:txBody>
      </p:sp>
      <p:sp>
        <p:nvSpPr>
          <p:cNvPr id="18" name="s13-text-16"/>
          <p:cNvSpPr txBox="1"/>
          <p:nvPr/>
        </p:nvSpPr>
        <p:spPr>
          <a:xfrm>
            <a:off x="1015975" y="3933032"/>
            <a:ext cx="4866062"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python · nbdev · Apache-2.0 · github.com/gzquse/qgear</a:t>
            </a:r>
          </a:p>
        </p:txBody>
      </p:sp>
      <p:sp>
        <p:nvSpPr>
          <p:cNvPr id="19" name="!!sec"/>
          <p:cNvSpPr txBox="1"/>
          <p:nvPr/>
        </p:nvSpPr>
        <p:spPr>
          <a:xfrm>
            <a:off x="888978" y="6362541"/>
            <a:ext cx="101964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III · Q-GEAR</a:t>
            </a:r>
          </a:p>
        </p:txBody>
      </p:sp>
      <p:pic>
        <p:nvPicPr>
          <p:cNvPr id="20" name="s13-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1"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13</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396767"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Deployment</a:t>
            </a:r>
          </a:p>
        </p:txBody>
      </p:sp>
      <p:sp>
        <p:nvSpPr>
          <p:cNvPr id="3" name="s14-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One node to a thousand GPUs</a:t>
            </a:r>
          </a:p>
        </p:txBody>
      </p:sp>
      <p:pic>
        <p:nvPicPr>
          <p:cNvPr id="4" name="s14-image-01" descr="diagram"/>
          <p:cNvPicPr>
            <a:picLocks noChangeAspect="1"/>
          </p:cNvPicPr>
          <p:nvPr/>
        </p:nvPicPr>
        <p:blipFill>
          <a:blip r:embed="rId3"/>
          <a:stretch>
            <a:fillRect/>
          </a:stretch>
        </p:blipFill>
        <p:spPr>
          <a:xfrm>
            <a:off x="863578" y="1568411"/>
            <a:ext cx="10470888" cy="3740056"/>
          </a:xfrm>
          <a:prstGeom prst="rect">
            <a:avLst/>
          </a:prstGeom>
        </p:spPr>
      </p:pic>
      <p:sp>
        <p:nvSpPr>
          <p:cNvPr id="5" name="s14-text-03"/>
          <p:cNvSpPr txBox="1"/>
          <p:nvPr/>
        </p:nvSpPr>
        <p:spPr>
          <a:xfrm>
            <a:off x="1333467" y="1983631"/>
            <a:ext cx="2073918"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Perlmutter GPU node</a:t>
            </a:r>
          </a:p>
        </p:txBody>
      </p:sp>
      <p:sp>
        <p:nvSpPr>
          <p:cNvPr id="6" name="s14-text-04"/>
          <p:cNvSpPr txBox="1"/>
          <p:nvPr/>
        </p:nvSpPr>
        <p:spPr>
          <a:xfrm>
            <a:off x="1333467" y="2269374"/>
            <a:ext cx="456938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 × AMD EPYC CPU · 4 × NVIDIA A100 (40 GB) · NVLink · Slingshot NIC</a:t>
            </a:r>
          </a:p>
        </p:txBody>
      </p:sp>
      <p:sp>
        <p:nvSpPr>
          <p:cNvPr id="7" name="s14-text-05"/>
          <p:cNvSpPr txBox="1"/>
          <p:nvPr/>
        </p:nvSpPr>
        <p:spPr>
          <a:xfrm>
            <a:off x="1753945" y="2834510"/>
            <a:ext cx="44806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CPU</a:t>
            </a:r>
          </a:p>
        </p:txBody>
      </p:sp>
      <p:sp>
        <p:nvSpPr>
          <p:cNvPr id="8" name="s14-text-06"/>
          <p:cNvSpPr txBox="1"/>
          <p:nvPr/>
        </p:nvSpPr>
        <p:spPr>
          <a:xfrm>
            <a:off x="1603583" y="3120252"/>
            <a:ext cx="74941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AMD EPYC</a:t>
            </a:r>
          </a:p>
        </p:txBody>
      </p:sp>
      <p:sp>
        <p:nvSpPr>
          <p:cNvPr id="9" name="s14-text-07"/>
          <p:cNvSpPr txBox="1"/>
          <p:nvPr/>
        </p:nvSpPr>
        <p:spPr>
          <a:xfrm>
            <a:off x="3076548" y="2834510"/>
            <a:ext cx="78728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A100 #0</a:t>
            </a:r>
          </a:p>
        </p:txBody>
      </p:sp>
      <p:sp>
        <p:nvSpPr>
          <p:cNvPr id="10" name="s14-text-08"/>
          <p:cNvSpPr txBox="1"/>
          <p:nvPr/>
        </p:nvSpPr>
        <p:spPr>
          <a:xfrm>
            <a:off x="3262628" y="3120252"/>
            <a:ext cx="4151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40 GB</a:t>
            </a:r>
          </a:p>
        </p:txBody>
      </p:sp>
      <p:sp>
        <p:nvSpPr>
          <p:cNvPr id="11" name="s14-text-09"/>
          <p:cNvSpPr txBox="1"/>
          <p:nvPr/>
        </p:nvSpPr>
        <p:spPr>
          <a:xfrm>
            <a:off x="4219519" y="2834510"/>
            <a:ext cx="78728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A100 #1</a:t>
            </a:r>
          </a:p>
        </p:txBody>
      </p:sp>
      <p:sp>
        <p:nvSpPr>
          <p:cNvPr id="12" name="s14-text-10"/>
          <p:cNvSpPr txBox="1"/>
          <p:nvPr/>
        </p:nvSpPr>
        <p:spPr>
          <a:xfrm>
            <a:off x="4405599" y="3120252"/>
            <a:ext cx="4151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40 GB</a:t>
            </a:r>
          </a:p>
        </p:txBody>
      </p:sp>
      <p:sp>
        <p:nvSpPr>
          <p:cNvPr id="13" name="s14-text-11"/>
          <p:cNvSpPr txBox="1"/>
          <p:nvPr/>
        </p:nvSpPr>
        <p:spPr>
          <a:xfrm>
            <a:off x="5362491" y="2834510"/>
            <a:ext cx="78728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A100 #2</a:t>
            </a:r>
          </a:p>
        </p:txBody>
      </p:sp>
      <p:sp>
        <p:nvSpPr>
          <p:cNvPr id="14" name="s14-text-12"/>
          <p:cNvSpPr txBox="1"/>
          <p:nvPr/>
        </p:nvSpPr>
        <p:spPr>
          <a:xfrm>
            <a:off x="5548571" y="3120252"/>
            <a:ext cx="4151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40 GB</a:t>
            </a:r>
          </a:p>
        </p:txBody>
      </p:sp>
      <p:sp>
        <p:nvSpPr>
          <p:cNvPr id="15" name="s14-text-13"/>
          <p:cNvSpPr txBox="1"/>
          <p:nvPr/>
        </p:nvSpPr>
        <p:spPr>
          <a:xfrm>
            <a:off x="6505462" y="2834510"/>
            <a:ext cx="78728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A100 #3</a:t>
            </a:r>
          </a:p>
        </p:txBody>
      </p:sp>
      <p:sp>
        <p:nvSpPr>
          <p:cNvPr id="16" name="s14-text-14"/>
          <p:cNvSpPr txBox="1"/>
          <p:nvPr/>
        </p:nvSpPr>
        <p:spPr>
          <a:xfrm>
            <a:off x="6691542" y="3120252"/>
            <a:ext cx="4151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40 GB</a:t>
            </a:r>
          </a:p>
        </p:txBody>
      </p:sp>
      <p:sp>
        <p:nvSpPr>
          <p:cNvPr id="17" name="s14-text-15"/>
          <p:cNvSpPr txBox="1"/>
          <p:nvPr/>
        </p:nvSpPr>
        <p:spPr>
          <a:xfrm>
            <a:off x="2853212" y="3882233"/>
            <a:ext cx="459936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NVLink · state vector sharded across the four GPUs (CUDA-Q multi-GPU)</a:t>
            </a:r>
          </a:p>
        </p:txBody>
      </p:sp>
      <p:sp>
        <p:nvSpPr>
          <p:cNvPr id="18" name="s14-text-16"/>
          <p:cNvSpPr txBox="1"/>
          <p:nvPr/>
        </p:nvSpPr>
        <p:spPr>
          <a:xfrm>
            <a:off x="1492957" y="4358472"/>
            <a:ext cx="1351028"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Slingshot NIC</a:t>
            </a:r>
          </a:p>
        </p:txBody>
      </p:sp>
      <p:sp>
        <p:nvSpPr>
          <p:cNvPr id="19" name="s14-text-17"/>
          <p:cNvSpPr txBox="1"/>
          <p:nvPr/>
        </p:nvSpPr>
        <p:spPr>
          <a:xfrm>
            <a:off x="1712324" y="4644214"/>
            <a:ext cx="91229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to other nodes</a:t>
            </a:r>
          </a:p>
        </p:txBody>
      </p:sp>
      <p:sp>
        <p:nvSpPr>
          <p:cNvPr id="20" name="s14-text-18"/>
          <p:cNvSpPr txBox="1"/>
          <p:nvPr/>
        </p:nvSpPr>
        <p:spPr>
          <a:xfrm>
            <a:off x="8947174" y="2834510"/>
            <a:ext cx="1910806" cy="311142"/>
          </a:xfrm>
          <a:prstGeom prst="rect">
            <a:avLst/>
          </a:prstGeom>
          <a:noFill/>
        </p:spPr>
        <p:txBody>
          <a:bodyPr wrap="none" lIns="0" tIns="0" rIns="0" bIns="0" anchor="t">
            <a:noAutofit/>
          </a:bodyPr>
          <a:lstStyle/>
          <a:p>
            <a:pPr algn="l">
              <a:lnSpc>
                <a:spcPct val="100000"/>
              </a:lnSpc>
              <a:spcBef>
                <a:spcPts val="0"/>
              </a:spcBef>
              <a:spcAft>
                <a:spcPts val="0"/>
              </a:spcAft>
            </a:pPr>
            <a:r>
              <a:rPr sz="2200" b="1" i="0" spc="-44">
                <a:solidFill>
                  <a:srgbClr val="0B0B0F"/>
                </a:solidFill>
                <a:latin typeface="Arial"/>
              </a:rPr>
              <a:t>… × 256 nodes</a:t>
            </a:r>
          </a:p>
        </p:txBody>
      </p:sp>
      <p:sp>
        <p:nvSpPr>
          <p:cNvPr id="21" name="s14-text-19"/>
          <p:cNvSpPr txBox="1"/>
          <p:nvPr/>
        </p:nvSpPr>
        <p:spPr>
          <a:xfrm>
            <a:off x="9012111" y="3234550"/>
            <a:ext cx="1780932"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1,024 A100 GPUs · MPI</a:t>
            </a:r>
          </a:p>
        </p:txBody>
      </p:sp>
      <p:sp>
        <p:nvSpPr>
          <p:cNvPr id="22" name="s14-text-20"/>
          <p:cNvSpPr txBox="1"/>
          <p:nvPr/>
        </p:nvSpPr>
        <p:spPr>
          <a:xfrm>
            <a:off x="9186385" y="3539342"/>
            <a:ext cx="143238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42-qubit state vector in</a:t>
            </a:r>
          </a:p>
        </p:txBody>
      </p:sp>
      <p:sp>
        <p:nvSpPr>
          <p:cNvPr id="23" name="s14-text-21"/>
          <p:cNvSpPr txBox="1"/>
          <p:nvPr/>
        </p:nvSpPr>
        <p:spPr>
          <a:xfrm>
            <a:off x="9136033" y="3729837"/>
            <a:ext cx="153309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aggregate GPU memory</a:t>
            </a:r>
          </a:p>
        </p:txBody>
      </p:sp>
      <p:sp>
        <p:nvSpPr>
          <p:cNvPr id="24" name="s14-text-22"/>
          <p:cNvSpPr txBox="1"/>
          <p:nvPr/>
        </p:nvSpPr>
        <p:spPr>
          <a:xfrm>
            <a:off x="9194669" y="3983831"/>
            <a:ext cx="141581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 GPU utilization</a:t>
            </a:r>
          </a:p>
        </p:txBody>
      </p:sp>
      <p:sp>
        <p:nvSpPr>
          <p:cNvPr id="25" name="!!sec"/>
          <p:cNvSpPr txBox="1"/>
          <p:nvPr/>
        </p:nvSpPr>
        <p:spPr>
          <a:xfrm>
            <a:off x="888978" y="6362541"/>
            <a:ext cx="101964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III · Q-GEAR</a:t>
            </a:r>
          </a:p>
        </p:txBody>
      </p:sp>
      <p:pic>
        <p:nvPicPr>
          <p:cNvPr id="26" name="s14-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7"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14</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93918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Results</a:t>
            </a:r>
          </a:p>
        </p:txBody>
      </p:sp>
      <p:sp>
        <p:nvSpPr>
          <p:cNvPr id="3" name="s15-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Hours become minutes</a:t>
            </a:r>
          </a:p>
        </p:txBody>
      </p:sp>
      <p:pic>
        <p:nvPicPr>
          <p:cNvPr id="4" name="s15-image-01" descr="diagram"/>
          <p:cNvPicPr>
            <a:picLocks noChangeAspect="1"/>
          </p:cNvPicPr>
          <p:nvPr/>
        </p:nvPicPr>
        <p:blipFill>
          <a:blip r:embed="rId3"/>
          <a:stretch>
            <a:fillRect/>
          </a:stretch>
        </p:blipFill>
        <p:spPr>
          <a:xfrm>
            <a:off x="863578" y="1517612"/>
            <a:ext cx="10470888" cy="3867053"/>
          </a:xfrm>
          <a:prstGeom prst="rect">
            <a:avLst/>
          </a:prstGeom>
        </p:spPr>
      </p:pic>
      <p:pic>
        <p:nvPicPr>
          <p:cNvPr id="5" name="!!qg-cpu" descr="chart element"/>
          <p:cNvPicPr>
            <a:picLocks noChangeAspect="1"/>
          </p:cNvPicPr>
          <p:nvPr/>
        </p:nvPicPr>
        <p:blipFill>
          <a:blip r:embed="rId4"/>
          <a:stretch>
            <a:fillRect/>
          </a:stretch>
        </p:blipFill>
        <p:spPr>
          <a:xfrm>
            <a:off x="2660583" y="2006550"/>
            <a:ext cx="7442014" cy="1003275"/>
          </a:xfrm>
          <a:prstGeom prst="rect">
            <a:avLst/>
          </a:prstGeom>
        </p:spPr>
      </p:pic>
      <p:pic>
        <p:nvPicPr>
          <p:cNvPr id="6" name="!!qg-cpu-28" descr="chart element"/>
          <p:cNvPicPr>
            <a:picLocks noChangeAspect="1"/>
          </p:cNvPicPr>
          <p:nvPr/>
        </p:nvPicPr>
        <p:blipFill>
          <a:blip r:embed="rId5"/>
          <a:stretch>
            <a:fillRect/>
          </a:stretch>
        </p:blipFill>
        <p:spPr>
          <a:xfrm>
            <a:off x="2603435" y="2870128"/>
            <a:ext cx="196845" cy="196845"/>
          </a:xfrm>
          <a:prstGeom prst="rect">
            <a:avLst/>
          </a:prstGeom>
        </p:spPr>
      </p:pic>
      <p:pic>
        <p:nvPicPr>
          <p:cNvPr id="7" name="!!qg-cpu-30" descr="chart element"/>
          <p:cNvPicPr>
            <a:picLocks noChangeAspect="1"/>
          </p:cNvPicPr>
          <p:nvPr/>
        </p:nvPicPr>
        <p:blipFill>
          <a:blip r:embed="rId6"/>
          <a:stretch>
            <a:fillRect/>
          </a:stretch>
        </p:blipFill>
        <p:spPr>
          <a:xfrm>
            <a:off x="5054474" y="2565336"/>
            <a:ext cx="196845" cy="196845"/>
          </a:xfrm>
          <a:prstGeom prst="rect">
            <a:avLst/>
          </a:prstGeom>
        </p:spPr>
      </p:pic>
      <p:pic>
        <p:nvPicPr>
          <p:cNvPr id="8" name="!!qg-cpu-32" descr="chart element"/>
          <p:cNvPicPr>
            <a:picLocks noChangeAspect="1"/>
          </p:cNvPicPr>
          <p:nvPr/>
        </p:nvPicPr>
        <p:blipFill>
          <a:blip r:embed="rId7"/>
          <a:stretch>
            <a:fillRect/>
          </a:stretch>
        </p:blipFill>
        <p:spPr>
          <a:xfrm>
            <a:off x="7511862" y="2254194"/>
            <a:ext cx="196845" cy="196845"/>
          </a:xfrm>
          <a:prstGeom prst="rect">
            <a:avLst/>
          </a:prstGeom>
        </p:spPr>
      </p:pic>
      <p:pic>
        <p:nvPicPr>
          <p:cNvPr id="9" name="!!qg-cpu-34" descr="chart element"/>
          <p:cNvPicPr>
            <a:picLocks noChangeAspect="1"/>
          </p:cNvPicPr>
          <p:nvPr/>
        </p:nvPicPr>
        <p:blipFill>
          <a:blip r:embed="rId8"/>
          <a:stretch>
            <a:fillRect/>
          </a:stretch>
        </p:blipFill>
        <p:spPr>
          <a:xfrm>
            <a:off x="9962901" y="1949401"/>
            <a:ext cx="196845" cy="196845"/>
          </a:xfrm>
          <a:prstGeom prst="rect">
            <a:avLst/>
          </a:prstGeom>
        </p:spPr>
      </p:pic>
      <p:pic>
        <p:nvPicPr>
          <p:cNvPr id="10" name="!!qg-cpu-lgm" descr="chart element"/>
          <p:cNvPicPr>
            <a:picLocks noChangeAspect="1"/>
          </p:cNvPicPr>
          <p:nvPr/>
        </p:nvPicPr>
        <p:blipFill>
          <a:blip r:embed="rId9"/>
          <a:stretch>
            <a:fillRect/>
          </a:stretch>
        </p:blipFill>
        <p:spPr>
          <a:xfrm>
            <a:off x="2222444" y="1949401"/>
            <a:ext cx="184145" cy="184145"/>
          </a:xfrm>
          <a:prstGeom prst="rect">
            <a:avLst/>
          </a:prstGeom>
        </p:spPr>
      </p:pic>
      <p:pic>
        <p:nvPicPr>
          <p:cNvPr id="11" name="!!qg-g1" descr="chart element"/>
          <p:cNvPicPr>
            <a:picLocks noChangeAspect="1"/>
          </p:cNvPicPr>
          <p:nvPr/>
        </p:nvPicPr>
        <p:blipFill>
          <a:blip r:embed="rId10"/>
          <a:stretch>
            <a:fillRect/>
          </a:stretch>
        </p:blipFill>
        <p:spPr>
          <a:xfrm>
            <a:off x="2660583" y="3644809"/>
            <a:ext cx="4990975" cy="692133"/>
          </a:xfrm>
          <a:prstGeom prst="rect">
            <a:avLst/>
          </a:prstGeom>
        </p:spPr>
      </p:pic>
      <p:pic>
        <p:nvPicPr>
          <p:cNvPr id="12" name="!!qg-g1-28" descr="chart element"/>
          <p:cNvPicPr>
            <a:picLocks noChangeAspect="1"/>
          </p:cNvPicPr>
          <p:nvPr/>
        </p:nvPicPr>
        <p:blipFill>
          <a:blip r:embed="rId11"/>
          <a:stretch>
            <a:fillRect/>
          </a:stretch>
        </p:blipFill>
        <p:spPr>
          <a:xfrm>
            <a:off x="2603435" y="4197245"/>
            <a:ext cx="196845" cy="196845"/>
          </a:xfrm>
          <a:prstGeom prst="rect">
            <a:avLst/>
          </a:prstGeom>
        </p:spPr>
      </p:pic>
      <p:pic>
        <p:nvPicPr>
          <p:cNvPr id="13" name="!!qg-g1-30" descr="chart element"/>
          <p:cNvPicPr>
            <a:picLocks noChangeAspect="1"/>
          </p:cNvPicPr>
          <p:nvPr/>
        </p:nvPicPr>
        <p:blipFill>
          <a:blip r:embed="rId12"/>
          <a:stretch>
            <a:fillRect/>
          </a:stretch>
        </p:blipFill>
        <p:spPr>
          <a:xfrm>
            <a:off x="5054474" y="3892453"/>
            <a:ext cx="196845" cy="196845"/>
          </a:xfrm>
          <a:prstGeom prst="rect">
            <a:avLst/>
          </a:prstGeom>
        </p:spPr>
      </p:pic>
      <p:pic>
        <p:nvPicPr>
          <p:cNvPr id="14" name="!!qg-g1-32" descr="chart element"/>
          <p:cNvPicPr>
            <a:picLocks noChangeAspect="1"/>
          </p:cNvPicPr>
          <p:nvPr/>
        </p:nvPicPr>
        <p:blipFill>
          <a:blip r:embed="rId13"/>
          <a:stretch>
            <a:fillRect/>
          </a:stretch>
        </p:blipFill>
        <p:spPr>
          <a:xfrm>
            <a:off x="7511862" y="3587660"/>
            <a:ext cx="196845" cy="196845"/>
          </a:xfrm>
          <a:prstGeom prst="rect">
            <a:avLst/>
          </a:prstGeom>
        </p:spPr>
      </p:pic>
      <p:pic>
        <p:nvPicPr>
          <p:cNvPr id="15" name="!!qg-g1-lgm" descr="chart element"/>
          <p:cNvPicPr>
            <a:picLocks noChangeAspect="1"/>
          </p:cNvPicPr>
          <p:nvPr/>
        </p:nvPicPr>
        <p:blipFill>
          <a:blip r:embed="rId14"/>
          <a:stretch>
            <a:fillRect/>
          </a:stretch>
        </p:blipFill>
        <p:spPr>
          <a:xfrm>
            <a:off x="2222444" y="2203395"/>
            <a:ext cx="184145" cy="184145"/>
          </a:xfrm>
          <a:prstGeom prst="rect">
            <a:avLst/>
          </a:prstGeom>
        </p:spPr>
      </p:pic>
      <p:pic>
        <p:nvPicPr>
          <p:cNvPr id="16" name="!!qg-g4" descr="chart element"/>
          <p:cNvPicPr>
            <a:picLocks noChangeAspect="1"/>
          </p:cNvPicPr>
          <p:nvPr/>
        </p:nvPicPr>
        <p:blipFill>
          <a:blip r:embed="rId15"/>
          <a:stretch>
            <a:fillRect/>
          </a:stretch>
        </p:blipFill>
        <p:spPr>
          <a:xfrm>
            <a:off x="2660583" y="3619410"/>
            <a:ext cx="7442014" cy="1003275"/>
          </a:xfrm>
          <a:prstGeom prst="rect">
            <a:avLst/>
          </a:prstGeom>
        </p:spPr>
      </p:pic>
      <p:pic>
        <p:nvPicPr>
          <p:cNvPr id="17" name="!!qg-g4-28" descr="chart element"/>
          <p:cNvPicPr>
            <a:picLocks noChangeAspect="1"/>
          </p:cNvPicPr>
          <p:nvPr/>
        </p:nvPicPr>
        <p:blipFill>
          <a:blip r:embed="rId16"/>
          <a:stretch>
            <a:fillRect/>
          </a:stretch>
        </p:blipFill>
        <p:spPr>
          <a:xfrm>
            <a:off x="2597085" y="4476638"/>
            <a:ext cx="215895" cy="196845"/>
          </a:xfrm>
          <a:prstGeom prst="rect">
            <a:avLst/>
          </a:prstGeom>
        </p:spPr>
      </p:pic>
      <p:pic>
        <p:nvPicPr>
          <p:cNvPr id="18" name="!!qg-g4-30" descr="chart element"/>
          <p:cNvPicPr>
            <a:picLocks noChangeAspect="1"/>
          </p:cNvPicPr>
          <p:nvPr/>
        </p:nvPicPr>
        <p:blipFill>
          <a:blip r:embed="rId17"/>
          <a:stretch>
            <a:fillRect/>
          </a:stretch>
        </p:blipFill>
        <p:spPr>
          <a:xfrm>
            <a:off x="5048124" y="4165496"/>
            <a:ext cx="215895" cy="196845"/>
          </a:xfrm>
          <a:prstGeom prst="rect">
            <a:avLst/>
          </a:prstGeom>
        </p:spPr>
      </p:pic>
      <p:pic>
        <p:nvPicPr>
          <p:cNvPr id="19" name="!!qg-g4-32" descr="chart element"/>
          <p:cNvPicPr>
            <a:picLocks noChangeAspect="1"/>
          </p:cNvPicPr>
          <p:nvPr/>
        </p:nvPicPr>
        <p:blipFill>
          <a:blip r:embed="rId18"/>
          <a:stretch>
            <a:fillRect/>
          </a:stretch>
        </p:blipFill>
        <p:spPr>
          <a:xfrm>
            <a:off x="7499163" y="3860703"/>
            <a:ext cx="215895" cy="196845"/>
          </a:xfrm>
          <a:prstGeom prst="rect">
            <a:avLst/>
          </a:prstGeom>
        </p:spPr>
      </p:pic>
      <p:pic>
        <p:nvPicPr>
          <p:cNvPr id="20" name="!!qg-g4-34" descr="chart element"/>
          <p:cNvPicPr>
            <a:picLocks noChangeAspect="1"/>
          </p:cNvPicPr>
          <p:nvPr/>
        </p:nvPicPr>
        <p:blipFill>
          <a:blip r:embed="rId19"/>
          <a:stretch>
            <a:fillRect/>
          </a:stretch>
        </p:blipFill>
        <p:spPr>
          <a:xfrm>
            <a:off x="9950201" y="3549561"/>
            <a:ext cx="215895" cy="196845"/>
          </a:xfrm>
          <a:prstGeom prst="rect">
            <a:avLst/>
          </a:prstGeom>
        </p:spPr>
      </p:pic>
      <p:pic>
        <p:nvPicPr>
          <p:cNvPr id="21" name="!!qg-g4-lgm" descr="chart element"/>
          <p:cNvPicPr>
            <a:picLocks noChangeAspect="1"/>
          </p:cNvPicPr>
          <p:nvPr/>
        </p:nvPicPr>
        <p:blipFill>
          <a:blip r:embed="rId20"/>
          <a:stretch>
            <a:fillRect/>
          </a:stretch>
        </p:blipFill>
        <p:spPr>
          <a:xfrm>
            <a:off x="2209745" y="2451039"/>
            <a:ext cx="203195" cy="184145"/>
          </a:xfrm>
          <a:prstGeom prst="rect">
            <a:avLst/>
          </a:prstGeom>
        </p:spPr>
      </p:pic>
      <p:sp>
        <p:nvSpPr>
          <p:cNvPr id="22" name="!!qg-yl-1"/>
          <p:cNvSpPr txBox="1"/>
          <p:nvPr/>
        </p:nvSpPr>
        <p:spPr>
          <a:xfrm>
            <a:off x="1667726" y="4490669"/>
            <a:ext cx="20547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 s</a:t>
            </a:r>
          </a:p>
        </p:txBody>
      </p:sp>
      <p:sp>
        <p:nvSpPr>
          <p:cNvPr id="23" name="!!qg-yl-10"/>
          <p:cNvSpPr txBox="1"/>
          <p:nvPr/>
        </p:nvSpPr>
        <p:spPr>
          <a:xfrm>
            <a:off x="1590040" y="3980599"/>
            <a:ext cx="28316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 s</a:t>
            </a:r>
          </a:p>
        </p:txBody>
      </p:sp>
      <p:sp>
        <p:nvSpPr>
          <p:cNvPr id="24" name="!!qg-yl-60"/>
          <p:cNvSpPr txBox="1"/>
          <p:nvPr/>
        </p:nvSpPr>
        <p:spPr>
          <a:xfrm>
            <a:off x="1512552" y="3583689"/>
            <a:ext cx="36065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 min</a:t>
            </a:r>
          </a:p>
        </p:txBody>
      </p:sp>
      <p:sp>
        <p:nvSpPr>
          <p:cNvPr id="25" name="!!qg-yl-600"/>
          <p:cNvSpPr txBox="1"/>
          <p:nvPr/>
        </p:nvSpPr>
        <p:spPr>
          <a:xfrm>
            <a:off x="1434766" y="3073626"/>
            <a:ext cx="43843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 min</a:t>
            </a:r>
          </a:p>
        </p:txBody>
      </p:sp>
      <p:sp>
        <p:nvSpPr>
          <p:cNvPr id="26" name="!!qg-yl-3600"/>
          <p:cNvSpPr txBox="1"/>
          <p:nvPr/>
        </p:nvSpPr>
        <p:spPr>
          <a:xfrm>
            <a:off x="1659888" y="2676716"/>
            <a:ext cx="21331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 h</a:t>
            </a:r>
          </a:p>
        </p:txBody>
      </p:sp>
      <p:sp>
        <p:nvSpPr>
          <p:cNvPr id="27" name="!!qg-yl-86400"/>
          <p:cNvSpPr txBox="1"/>
          <p:nvPr/>
        </p:nvSpPr>
        <p:spPr>
          <a:xfrm>
            <a:off x="1582202" y="1972714"/>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24 h</a:t>
            </a:r>
          </a:p>
        </p:txBody>
      </p:sp>
      <p:sp>
        <p:nvSpPr>
          <p:cNvPr id="28" name="!!qg-xt-28"/>
          <p:cNvSpPr txBox="1"/>
          <p:nvPr/>
        </p:nvSpPr>
        <p:spPr>
          <a:xfrm>
            <a:off x="2612147"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28</a:t>
            </a:r>
          </a:p>
        </p:txBody>
      </p:sp>
      <p:sp>
        <p:nvSpPr>
          <p:cNvPr id="29" name="!!qg-xt-30"/>
          <p:cNvSpPr txBox="1"/>
          <p:nvPr/>
        </p:nvSpPr>
        <p:spPr>
          <a:xfrm>
            <a:off x="5063891"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30</a:t>
            </a:r>
          </a:p>
        </p:txBody>
      </p:sp>
      <p:sp>
        <p:nvSpPr>
          <p:cNvPr id="30" name="!!qg-xt-32"/>
          <p:cNvSpPr txBox="1"/>
          <p:nvPr/>
        </p:nvSpPr>
        <p:spPr>
          <a:xfrm>
            <a:off x="7515667"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32</a:t>
            </a:r>
          </a:p>
        </p:txBody>
      </p:sp>
      <p:sp>
        <p:nvSpPr>
          <p:cNvPr id="31" name="!!qg-xt-34"/>
          <p:cNvSpPr txBox="1"/>
          <p:nvPr/>
        </p:nvSpPr>
        <p:spPr>
          <a:xfrm>
            <a:off x="9967404"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34</a:t>
            </a:r>
          </a:p>
        </p:txBody>
      </p:sp>
      <p:sp>
        <p:nvSpPr>
          <p:cNvPr id="32" name="!!qg-xlab"/>
          <p:cNvSpPr txBox="1"/>
          <p:nvPr/>
        </p:nvSpPr>
        <p:spPr>
          <a:xfrm>
            <a:off x="6195163" y="5126802"/>
            <a:ext cx="39190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qubits</a:t>
            </a:r>
          </a:p>
        </p:txBody>
      </p:sp>
      <p:sp>
        <p:nvSpPr>
          <p:cNvPr id="33" name="!!qg-ylab"/>
          <p:cNvSpPr txBox="1"/>
          <p:nvPr/>
        </p:nvSpPr>
        <p:spPr>
          <a:xfrm>
            <a:off x="1136622" y="1583591"/>
            <a:ext cx="281238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wall time, random CX-block circuit (log scale)</a:t>
            </a:r>
          </a:p>
        </p:txBody>
      </p:sp>
      <p:sp>
        <p:nvSpPr>
          <p:cNvPr id="34" name="!!qg-cpu-lab"/>
          <p:cNvSpPr txBox="1"/>
          <p:nvPr/>
        </p:nvSpPr>
        <p:spPr>
          <a:xfrm>
            <a:off x="2628834" y="1945532"/>
            <a:ext cx="166167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CPU node (128 cores)</a:t>
            </a:r>
          </a:p>
        </p:txBody>
      </p:sp>
      <p:sp>
        <p:nvSpPr>
          <p:cNvPr id="35" name="!!qg-g1-lab"/>
          <p:cNvSpPr txBox="1"/>
          <p:nvPr/>
        </p:nvSpPr>
        <p:spPr>
          <a:xfrm>
            <a:off x="2628834" y="2199525"/>
            <a:ext cx="129943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1 × A100 (40 GB)</a:t>
            </a:r>
          </a:p>
        </p:txBody>
      </p:sp>
      <p:sp>
        <p:nvSpPr>
          <p:cNvPr id="36" name="!!qg-g4-lab"/>
          <p:cNvSpPr txBox="1"/>
          <p:nvPr/>
        </p:nvSpPr>
        <p:spPr>
          <a:xfrm>
            <a:off x="2628834" y="2453519"/>
            <a:ext cx="112491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4 × A100 (MPI)</a:t>
            </a:r>
          </a:p>
        </p:txBody>
      </p:sp>
      <p:sp>
        <p:nvSpPr>
          <p:cNvPr id="37" name="!!qg-a1"/>
          <p:cNvSpPr txBox="1"/>
          <p:nvPr/>
        </p:nvSpPr>
        <p:spPr>
          <a:xfrm>
            <a:off x="9800175" y="1725070"/>
            <a:ext cx="537157"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≈24 h</a:t>
            </a:r>
          </a:p>
        </p:txBody>
      </p:sp>
      <p:sp>
        <p:nvSpPr>
          <p:cNvPr id="38" name="!!qg-a2"/>
          <p:cNvSpPr txBox="1"/>
          <p:nvPr/>
        </p:nvSpPr>
        <p:spPr>
          <a:xfrm>
            <a:off x="9738115" y="3323346"/>
            <a:ext cx="66127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 min</a:t>
            </a:r>
          </a:p>
        </p:txBody>
      </p:sp>
      <p:sp>
        <p:nvSpPr>
          <p:cNvPr id="39" name="s15-text-20"/>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Anchors: 34 q ≈ 24 h (CPU) vs ≈ 1 min (4 × A100); ≈400× on one A100. Lines follow 2ⁿ scaling; intermediate points illustrative.</a:t>
            </a:r>
          </a:p>
        </p:txBody>
      </p:sp>
      <p:sp>
        <p:nvSpPr>
          <p:cNvPr id="40" name="!!sec"/>
          <p:cNvSpPr txBox="1"/>
          <p:nvPr/>
        </p:nvSpPr>
        <p:spPr>
          <a:xfrm>
            <a:off x="888978" y="6362541"/>
            <a:ext cx="101964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III · Q-GEAR</a:t>
            </a:r>
          </a:p>
        </p:txBody>
      </p:sp>
      <p:pic>
        <p:nvPicPr>
          <p:cNvPr id="41" name="s15-image-19" descr="Texas Tech University Double T"/>
          <p:cNvPicPr>
            <a:picLocks noChangeAspect="1"/>
          </p:cNvPicPr>
          <p:nvPr/>
        </p:nvPicPr>
        <p:blipFill>
          <a:blip r:embed="rId21"/>
          <a:stretch>
            <a:fillRect/>
          </a:stretch>
        </p:blipFill>
        <p:spPr>
          <a:xfrm>
            <a:off x="11055074" y="600060"/>
            <a:ext cx="190495" cy="222244"/>
          </a:xfrm>
          <a:prstGeom prst="rect">
            <a:avLst/>
          </a:prstGeom>
        </p:spPr>
      </p:pic>
      <p:sp>
        <p:nvSpPr>
          <p:cNvPr id="42"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15</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93918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Results</a:t>
            </a:r>
          </a:p>
        </p:txBody>
      </p:sp>
      <p:sp>
        <p:nvSpPr>
          <p:cNvPr id="3" name="s16-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42 qubits on 1,024 A100s</a:t>
            </a:r>
          </a:p>
        </p:txBody>
      </p:sp>
      <p:pic>
        <p:nvPicPr>
          <p:cNvPr id="4" name="s16-image-01" descr="diagram"/>
          <p:cNvPicPr>
            <a:picLocks noChangeAspect="1"/>
          </p:cNvPicPr>
          <p:nvPr/>
        </p:nvPicPr>
        <p:blipFill>
          <a:blip r:embed="rId3"/>
          <a:stretch>
            <a:fillRect/>
          </a:stretch>
        </p:blipFill>
        <p:spPr>
          <a:xfrm>
            <a:off x="863578" y="1517612"/>
            <a:ext cx="10470888" cy="3867053"/>
          </a:xfrm>
          <a:prstGeom prst="rect">
            <a:avLst/>
          </a:prstGeom>
        </p:spPr>
      </p:pic>
      <p:pic>
        <p:nvPicPr>
          <p:cNvPr id="5" name="!!qg-cpu" descr="chart element"/>
          <p:cNvPicPr>
            <a:picLocks noChangeAspect="1"/>
          </p:cNvPicPr>
          <p:nvPr/>
        </p:nvPicPr>
        <p:blipFill>
          <a:blip r:embed="rId4"/>
          <a:stretch>
            <a:fillRect/>
          </a:stretch>
        </p:blipFill>
        <p:spPr>
          <a:xfrm>
            <a:off x="2273243" y="2006550"/>
            <a:ext cx="3568611" cy="1003275"/>
          </a:xfrm>
          <a:prstGeom prst="rect">
            <a:avLst/>
          </a:prstGeom>
        </p:spPr>
      </p:pic>
      <p:pic>
        <p:nvPicPr>
          <p:cNvPr id="6" name="!!qg-cpu-28" descr="chart element"/>
          <p:cNvPicPr>
            <a:picLocks noChangeAspect="1"/>
          </p:cNvPicPr>
          <p:nvPr/>
        </p:nvPicPr>
        <p:blipFill>
          <a:blip r:embed="rId5"/>
          <a:stretch>
            <a:fillRect/>
          </a:stretch>
        </p:blipFill>
        <p:spPr>
          <a:xfrm>
            <a:off x="2216095" y="2870128"/>
            <a:ext cx="196845" cy="196845"/>
          </a:xfrm>
          <a:prstGeom prst="rect">
            <a:avLst/>
          </a:prstGeom>
        </p:spPr>
      </p:pic>
      <p:pic>
        <p:nvPicPr>
          <p:cNvPr id="7" name="!!qg-cpu-30" descr="chart element"/>
          <p:cNvPicPr>
            <a:picLocks noChangeAspect="1"/>
          </p:cNvPicPr>
          <p:nvPr/>
        </p:nvPicPr>
        <p:blipFill>
          <a:blip r:embed="rId6"/>
          <a:stretch>
            <a:fillRect/>
          </a:stretch>
        </p:blipFill>
        <p:spPr>
          <a:xfrm>
            <a:off x="3378116" y="2565336"/>
            <a:ext cx="196845" cy="196845"/>
          </a:xfrm>
          <a:prstGeom prst="rect">
            <a:avLst/>
          </a:prstGeom>
        </p:spPr>
      </p:pic>
      <p:pic>
        <p:nvPicPr>
          <p:cNvPr id="8" name="!!qg-cpu-32" descr="chart element"/>
          <p:cNvPicPr>
            <a:picLocks noChangeAspect="1"/>
          </p:cNvPicPr>
          <p:nvPr/>
        </p:nvPicPr>
        <p:blipFill>
          <a:blip r:embed="rId7"/>
          <a:stretch>
            <a:fillRect/>
          </a:stretch>
        </p:blipFill>
        <p:spPr>
          <a:xfrm>
            <a:off x="4540136" y="2254194"/>
            <a:ext cx="196845" cy="196845"/>
          </a:xfrm>
          <a:prstGeom prst="rect">
            <a:avLst/>
          </a:prstGeom>
        </p:spPr>
      </p:pic>
      <p:pic>
        <p:nvPicPr>
          <p:cNvPr id="9" name="!!qg-cpu-34" descr="chart element"/>
          <p:cNvPicPr>
            <a:picLocks noChangeAspect="1"/>
          </p:cNvPicPr>
          <p:nvPr/>
        </p:nvPicPr>
        <p:blipFill>
          <a:blip r:embed="rId8"/>
          <a:stretch>
            <a:fillRect/>
          </a:stretch>
        </p:blipFill>
        <p:spPr>
          <a:xfrm>
            <a:off x="5702157" y="1949401"/>
            <a:ext cx="196845" cy="196845"/>
          </a:xfrm>
          <a:prstGeom prst="rect">
            <a:avLst/>
          </a:prstGeom>
        </p:spPr>
      </p:pic>
      <p:pic>
        <p:nvPicPr>
          <p:cNvPr id="10" name="!!qg-cpu-lgm" descr="chart element"/>
          <p:cNvPicPr>
            <a:picLocks noChangeAspect="1"/>
          </p:cNvPicPr>
          <p:nvPr/>
        </p:nvPicPr>
        <p:blipFill>
          <a:blip r:embed="rId9"/>
          <a:stretch>
            <a:fillRect/>
          </a:stretch>
        </p:blipFill>
        <p:spPr>
          <a:xfrm>
            <a:off x="2222444" y="1949401"/>
            <a:ext cx="184145" cy="184145"/>
          </a:xfrm>
          <a:prstGeom prst="rect">
            <a:avLst/>
          </a:prstGeom>
        </p:spPr>
      </p:pic>
      <p:pic>
        <p:nvPicPr>
          <p:cNvPr id="11" name="!!qg-g1" descr="chart element"/>
          <p:cNvPicPr>
            <a:picLocks noChangeAspect="1"/>
          </p:cNvPicPr>
          <p:nvPr/>
        </p:nvPicPr>
        <p:blipFill>
          <a:blip r:embed="rId10"/>
          <a:stretch>
            <a:fillRect/>
          </a:stretch>
        </p:blipFill>
        <p:spPr>
          <a:xfrm>
            <a:off x="2273243" y="3644809"/>
            <a:ext cx="2406590" cy="692133"/>
          </a:xfrm>
          <a:prstGeom prst="rect">
            <a:avLst/>
          </a:prstGeom>
        </p:spPr>
      </p:pic>
      <p:pic>
        <p:nvPicPr>
          <p:cNvPr id="12" name="!!qg-g1-28" descr="chart element"/>
          <p:cNvPicPr>
            <a:picLocks noChangeAspect="1"/>
          </p:cNvPicPr>
          <p:nvPr/>
        </p:nvPicPr>
        <p:blipFill>
          <a:blip r:embed="rId11"/>
          <a:stretch>
            <a:fillRect/>
          </a:stretch>
        </p:blipFill>
        <p:spPr>
          <a:xfrm>
            <a:off x="2216095" y="4197245"/>
            <a:ext cx="196845" cy="196845"/>
          </a:xfrm>
          <a:prstGeom prst="rect">
            <a:avLst/>
          </a:prstGeom>
        </p:spPr>
      </p:pic>
      <p:pic>
        <p:nvPicPr>
          <p:cNvPr id="13" name="!!qg-g1-30" descr="chart element"/>
          <p:cNvPicPr>
            <a:picLocks noChangeAspect="1"/>
          </p:cNvPicPr>
          <p:nvPr/>
        </p:nvPicPr>
        <p:blipFill>
          <a:blip r:embed="rId12"/>
          <a:stretch>
            <a:fillRect/>
          </a:stretch>
        </p:blipFill>
        <p:spPr>
          <a:xfrm>
            <a:off x="3378116" y="3892453"/>
            <a:ext cx="196845" cy="196845"/>
          </a:xfrm>
          <a:prstGeom prst="rect">
            <a:avLst/>
          </a:prstGeom>
        </p:spPr>
      </p:pic>
      <p:pic>
        <p:nvPicPr>
          <p:cNvPr id="14" name="!!qg-g1-32" descr="chart element"/>
          <p:cNvPicPr>
            <a:picLocks noChangeAspect="1"/>
          </p:cNvPicPr>
          <p:nvPr/>
        </p:nvPicPr>
        <p:blipFill>
          <a:blip r:embed="rId13"/>
          <a:stretch>
            <a:fillRect/>
          </a:stretch>
        </p:blipFill>
        <p:spPr>
          <a:xfrm>
            <a:off x="4540136" y="3587660"/>
            <a:ext cx="196845" cy="196845"/>
          </a:xfrm>
          <a:prstGeom prst="rect">
            <a:avLst/>
          </a:prstGeom>
        </p:spPr>
      </p:pic>
      <p:pic>
        <p:nvPicPr>
          <p:cNvPr id="15" name="!!qg-g1-lgm" descr="chart element"/>
          <p:cNvPicPr>
            <a:picLocks noChangeAspect="1"/>
          </p:cNvPicPr>
          <p:nvPr/>
        </p:nvPicPr>
        <p:blipFill>
          <a:blip r:embed="rId14"/>
          <a:stretch>
            <a:fillRect/>
          </a:stretch>
        </p:blipFill>
        <p:spPr>
          <a:xfrm>
            <a:off x="2222444" y="2203395"/>
            <a:ext cx="184145" cy="184145"/>
          </a:xfrm>
          <a:prstGeom prst="rect">
            <a:avLst/>
          </a:prstGeom>
        </p:spPr>
      </p:pic>
      <p:pic>
        <p:nvPicPr>
          <p:cNvPr id="16" name="!!qg-g4" descr="chart element"/>
          <p:cNvPicPr>
            <a:picLocks noChangeAspect="1"/>
          </p:cNvPicPr>
          <p:nvPr/>
        </p:nvPicPr>
        <p:blipFill>
          <a:blip r:embed="rId15"/>
          <a:stretch>
            <a:fillRect/>
          </a:stretch>
        </p:blipFill>
        <p:spPr>
          <a:xfrm>
            <a:off x="2273243" y="3619410"/>
            <a:ext cx="3568611" cy="1003275"/>
          </a:xfrm>
          <a:prstGeom prst="rect">
            <a:avLst/>
          </a:prstGeom>
        </p:spPr>
      </p:pic>
      <p:pic>
        <p:nvPicPr>
          <p:cNvPr id="17" name="!!qg-g4-28" descr="chart element"/>
          <p:cNvPicPr>
            <a:picLocks noChangeAspect="1"/>
          </p:cNvPicPr>
          <p:nvPr/>
        </p:nvPicPr>
        <p:blipFill>
          <a:blip r:embed="rId16"/>
          <a:stretch>
            <a:fillRect/>
          </a:stretch>
        </p:blipFill>
        <p:spPr>
          <a:xfrm>
            <a:off x="2209745" y="4476638"/>
            <a:ext cx="215895" cy="196845"/>
          </a:xfrm>
          <a:prstGeom prst="rect">
            <a:avLst/>
          </a:prstGeom>
        </p:spPr>
      </p:pic>
      <p:pic>
        <p:nvPicPr>
          <p:cNvPr id="18" name="!!qg-g4-30" descr="chart element"/>
          <p:cNvPicPr>
            <a:picLocks noChangeAspect="1"/>
          </p:cNvPicPr>
          <p:nvPr/>
        </p:nvPicPr>
        <p:blipFill>
          <a:blip r:embed="rId17"/>
          <a:stretch>
            <a:fillRect/>
          </a:stretch>
        </p:blipFill>
        <p:spPr>
          <a:xfrm>
            <a:off x="3371766" y="4165496"/>
            <a:ext cx="215895" cy="196845"/>
          </a:xfrm>
          <a:prstGeom prst="rect">
            <a:avLst/>
          </a:prstGeom>
        </p:spPr>
      </p:pic>
      <p:pic>
        <p:nvPicPr>
          <p:cNvPr id="19" name="!!qg-g4-32" descr="chart element"/>
          <p:cNvPicPr>
            <a:picLocks noChangeAspect="1"/>
          </p:cNvPicPr>
          <p:nvPr/>
        </p:nvPicPr>
        <p:blipFill>
          <a:blip r:embed="rId18"/>
          <a:stretch>
            <a:fillRect/>
          </a:stretch>
        </p:blipFill>
        <p:spPr>
          <a:xfrm>
            <a:off x="4533787" y="3860703"/>
            <a:ext cx="215895" cy="196845"/>
          </a:xfrm>
          <a:prstGeom prst="rect">
            <a:avLst/>
          </a:prstGeom>
        </p:spPr>
      </p:pic>
      <p:pic>
        <p:nvPicPr>
          <p:cNvPr id="20" name="!!qg-g4-34" descr="chart element"/>
          <p:cNvPicPr>
            <a:picLocks noChangeAspect="1"/>
          </p:cNvPicPr>
          <p:nvPr/>
        </p:nvPicPr>
        <p:blipFill>
          <a:blip r:embed="rId19"/>
          <a:stretch>
            <a:fillRect/>
          </a:stretch>
        </p:blipFill>
        <p:spPr>
          <a:xfrm>
            <a:off x="5695808" y="3549561"/>
            <a:ext cx="209545" cy="196845"/>
          </a:xfrm>
          <a:prstGeom prst="rect">
            <a:avLst/>
          </a:prstGeom>
        </p:spPr>
      </p:pic>
      <p:pic>
        <p:nvPicPr>
          <p:cNvPr id="21" name="!!qg-g4-lgm" descr="chart element"/>
          <p:cNvPicPr>
            <a:picLocks noChangeAspect="1"/>
          </p:cNvPicPr>
          <p:nvPr/>
        </p:nvPicPr>
        <p:blipFill>
          <a:blip r:embed="rId20"/>
          <a:stretch>
            <a:fillRect/>
          </a:stretch>
        </p:blipFill>
        <p:spPr>
          <a:xfrm>
            <a:off x="2209745" y="2451039"/>
            <a:ext cx="203195" cy="184145"/>
          </a:xfrm>
          <a:prstGeom prst="rect">
            <a:avLst/>
          </a:prstGeom>
        </p:spPr>
      </p:pic>
      <p:sp>
        <p:nvSpPr>
          <p:cNvPr id="22" name="!!qg-yl-1"/>
          <p:cNvSpPr txBox="1"/>
          <p:nvPr/>
        </p:nvSpPr>
        <p:spPr>
          <a:xfrm>
            <a:off x="1667726" y="4490669"/>
            <a:ext cx="20547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 s</a:t>
            </a:r>
          </a:p>
        </p:txBody>
      </p:sp>
      <p:sp>
        <p:nvSpPr>
          <p:cNvPr id="23" name="!!qg-yl-10"/>
          <p:cNvSpPr txBox="1"/>
          <p:nvPr/>
        </p:nvSpPr>
        <p:spPr>
          <a:xfrm>
            <a:off x="1590040" y="3980599"/>
            <a:ext cx="28316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 s</a:t>
            </a:r>
          </a:p>
        </p:txBody>
      </p:sp>
      <p:sp>
        <p:nvSpPr>
          <p:cNvPr id="24" name="!!qg-yl-60"/>
          <p:cNvSpPr txBox="1"/>
          <p:nvPr/>
        </p:nvSpPr>
        <p:spPr>
          <a:xfrm>
            <a:off x="1512552" y="3583689"/>
            <a:ext cx="36065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 min</a:t>
            </a:r>
          </a:p>
        </p:txBody>
      </p:sp>
      <p:sp>
        <p:nvSpPr>
          <p:cNvPr id="25" name="!!qg-yl-600"/>
          <p:cNvSpPr txBox="1"/>
          <p:nvPr/>
        </p:nvSpPr>
        <p:spPr>
          <a:xfrm>
            <a:off x="1434766" y="3073626"/>
            <a:ext cx="43843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 min</a:t>
            </a:r>
          </a:p>
        </p:txBody>
      </p:sp>
      <p:sp>
        <p:nvSpPr>
          <p:cNvPr id="26" name="!!qg-yl-3600"/>
          <p:cNvSpPr txBox="1"/>
          <p:nvPr/>
        </p:nvSpPr>
        <p:spPr>
          <a:xfrm>
            <a:off x="1659888" y="2676716"/>
            <a:ext cx="21331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 h</a:t>
            </a:r>
          </a:p>
        </p:txBody>
      </p:sp>
      <p:sp>
        <p:nvSpPr>
          <p:cNvPr id="27" name="!!qg-yl-86400"/>
          <p:cNvSpPr txBox="1"/>
          <p:nvPr/>
        </p:nvSpPr>
        <p:spPr>
          <a:xfrm>
            <a:off x="1582202" y="1972714"/>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24 h</a:t>
            </a:r>
          </a:p>
        </p:txBody>
      </p:sp>
      <p:sp>
        <p:nvSpPr>
          <p:cNvPr id="28" name="!!qg-xt-28"/>
          <p:cNvSpPr txBox="1"/>
          <p:nvPr/>
        </p:nvSpPr>
        <p:spPr>
          <a:xfrm>
            <a:off x="2225029"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28</a:t>
            </a:r>
          </a:p>
        </p:txBody>
      </p:sp>
      <p:sp>
        <p:nvSpPr>
          <p:cNvPr id="29" name="!!qg-xt-30"/>
          <p:cNvSpPr txBox="1"/>
          <p:nvPr/>
        </p:nvSpPr>
        <p:spPr>
          <a:xfrm>
            <a:off x="3386383"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30</a:t>
            </a:r>
          </a:p>
        </p:txBody>
      </p:sp>
      <p:sp>
        <p:nvSpPr>
          <p:cNvPr id="30" name="!!qg-xt-32"/>
          <p:cNvSpPr txBox="1"/>
          <p:nvPr/>
        </p:nvSpPr>
        <p:spPr>
          <a:xfrm>
            <a:off x="4547738"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32</a:t>
            </a:r>
          </a:p>
        </p:txBody>
      </p:sp>
      <p:sp>
        <p:nvSpPr>
          <p:cNvPr id="31" name="!!qg-xt-34"/>
          <p:cNvSpPr txBox="1"/>
          <p:nvPr/>
        </p:nvSpPr>
        <p:spPr>
          <a:xfrm>
            <a:off x="5709092"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34</a:t>
            </a:r>
          </a:p>
        </p:txBody>
      </p:sp>
      <p:sp>
        <p:nvSpPr>
          <p:cNvPr id="32" name="!!qg-xt-36"/>
          <p:cNvSpPr txBox="1"/>
          <p:nvPr/>
        </p:nvSpPr>
        <p:spPr>
          <a:xfrm>
            <a:off x="6870440"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36</a:t>
            </a:r>
          </a:p>
        </p:txBody>
      </p:sp>
      <p:sp>
        <p:nvSpPr>
          <p:cNvPr id="33" name="!!qg-xt-38"/>
          <p:cNvSpPr txBox="1"/>
          <p:nvPr/>
        </p:nvSpPr>
        <p:spPr>
          <a:xfrm>
            <a:off x="8031781"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38</a:t>
            </a:r>
          </a:p>
        </p:txBody>
      </p:sp>
      <p:sp>
        <p:nvSpPr>
          <p:cNvPr id="34" name="!!qg-xt-40"/>
          <p:cNvSpPr txBox="1"/>
          <p:nvPr/>
        </p:nvSpPr>
        <p:spPr>
          <a:xfrm>
            <a:off x="9193167"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40</a:t>
            </a:r>
          </a:p>
        </p:txBody>
      </p:sp>
      <p:sp>
        <p:nvSpPr>
          <p:cNvPr id="35" name="!!qg-xt-42"/>
          <p:cNvSpPr txBox="1"/>
          <p:nvPr/>
        </p:nvSpPr>
        <p:spPr>
          <a:xfrm>
            <a:off x="10354490" y="4822010"/>
            <a:ext cx="20269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42</a:t>
            </a:r>
          </a:p>
        </p:txBody>
      </p:sp>
      <p:sp>
        <p:nvSpPr>
          <p:cNvPr id="36" name="!!qg-xlab"/>
          <p:cNvSpPr txBox="1"/>
          <p:nvPr/>
        </p:nvSpPr>
        <p:spPr>
          <a:xfrm>
            <a:off x="6195163" y="5126802"/>
            <a:ext cx="39190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qubits</a:t>
            </a:r>
          </a:p>
        </p:txBody>
      </p:sp>
      <p:sp>
        <p:nvSpPr>
          <p:cNvPr id="37" name="!!qg-ylab"/>
          <p:cNvSpPr txBox="1"/>
          <p:nvPr/>
        </p:nvSpPr>
        <p:spPr>
          <a:xfrm>
            <a:off x="1136622" y="1583591"/>
            <a:ext cx="281238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wall time, random CX-block circuit (log scale)</a:t>
            </a:r>
          </a:p>
        </p:txBody>
      </p:sp>
      <p:sp>
        <p:nvSpPr>
          <p:cNvPr id="38" name="!!qg-region-t"/>
          <p:cNvSpPr txBox="1"/>
          <p:nvPr/>
        </p:nvSpPr>
        <p:spPr>
          <a:xfrm>
            <a:off x="6893324" y="3044054"/>
            <a:ext cx="247961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multi-node CUDA-Q (MPI)</a:t>
            </a:r>
          </a:p>
        </p:txBody>
      </p:sp>
      <p:sp>
        <p:nvSpPr>
          <p:cNvPr id="39" name="s16-text-20"/>
          <p:cNvSpPr txBox="1"/>
          <p:nvPr/>
        </p:nvSpPr>
        <p:spPr>
          <a:xfrm>
            <a:off x="6529498" y="3329797"/>
            <a:ext cx="320726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up to 1,024 × A100 · ≈100% GPU utilization</a:t>
            </a:r>
          </a:p>
        </p:txBody>
      </p:sp>
      <p:sp>
        <p:nvSpPr>
          <p:cNvPr id="40" name="!!qg-reach-t-32"/>
          <p:cNvSpPr txBox="1"/>
          <p:nvPr/>
        </p:nvSpPr>
        <p:spPr>
          <a:xfrm>
            <a:off x="4715761" y="4428320"/>
            <a:ext cx="176743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32 q · 1 × A100 (40 GB)</a:t>
            </a:r>
          </a:p>
        </p:txBody>
      </p:sp>
      <p:sp>
        <p:nvSpPr>
          <p:cNvPr id="41" name="!!qg-reach-t-34"/>
          <p:cNvSpPr txBox="1"/>
          <p:nvPr/>
        </p:nvSpPr>
        <p:spPr>
          <a:xfrm>
            <a:off x="5877114" y="4199725"/>
            <a:ext cx="1987996"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34 q · 4 × A100 (one node)</a:t>
            </a:r>
          </a:p>
        </p:txBody>
      </p:sp>
      <p:sp>
        <p:nvSpPr>
          <p:cNvPr id="42" name="!!qg-reach-t-42"/>
          <p:cNvSpPr txBox="1"/>
          <p:nvPr/>
        </p:nvSpPr>
        <p:spPr>
          <a:xfrm>
            <a:off x="8924238" y="4428320"/>
            <a:ext cx="146492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42 q · 1,024 × A100</a:t>
            </a:r>
          </a:p>
        </p:txBody>
      </p:sp>
      <p:sp>
        <p:nvSpPr>
          <p:cNvPr id="43" name="!!qg-cpu-lab"/>
          <p:cNvSpPr txBox="1"/>
          <p:nvPr/>
        </p:nvSpPr>
        <p:spPr>
          <a:xfrm>
            <a:off x="2628834" y="1945532"/>
            <a:ext cx="166167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CPU node (128 cores)</a:t>
            </a:r>
          </a:p>
        </p:txBody>
      </p:sp>
      <p:sp>
        <p:nvSpPr>
          <p:cNvPr id="44" name="!!qg-g1-lab"/>
          <p:cNvSpPr txBox="1"/>
          <p:nvPr/>
        </p:nvSpPr>
        <p:spPr>
          <a:xfrm>
            <a:off x="2628834" y="2199525"/>
            <a:ext cx="129943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1 × A100 (40 GB)</a:t>
            </a:r>
          </a:p>
        </p:txBody>
      </p:sp>
      <p:sp>
        <p:nvSpPr>
          <p:cNvPr id="45" name="!!qg-g4-lab"/>
          <p:cNvSpPr txBox="1"/>
          <p:nvPr/>
        </p:nvSpPr>
        <p:spPr>
          <a:xfrm>
            <a:off x="2628834" y="2453519"/>
            <a:ext cx="112491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4 × A100 (MPI)</a:t>
            </a:r>
          </a:p>
        </p:txBody>
      </p:sp>
      <p:sp>
        <p:nvSpPr>
          <p:cNvPr id="46" name="!!qg-a1"/>
          <p:cNvSpPr txBox="1"/>
          <p:nvPr/>
        </p:nvSpPr>
        <p:spPr>
          <a:xfrm>
            <a:off x="5541863" y="1725070"/>
            <a:ext cx="537157"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≈24 h</a:t>
            </a:r>
          </a:p>
        </p:txBody>
      </p:sp>
      <p:sp>
        <p:nvSpPr>
          <p:cNvPr id="47" name="!!qg-a2"/>
          <p:cNvSpPr txBox="1"/>
          <p:nvPr/>
        </p:nvSpPr>
        <p:spPr>
          <a:xfrm>
            <a:off x="5479803" y="3323346"/>
            <a:ext cx="66127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 min</a:t>
            </a:r>
          </a:p>
        </p:txBody>
      </p:sp>
      <p:sp>
        <p:nvSpPr>
          <p:cNvPr id="48" name="s16-text-29"/>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Axis extended to the largest run: 42 qubits on 1,024 A100s (CUDA-Q MPI, ≈100% GPU utilization).</a:t>
            </a:r>
          </a:p>
        </p:txBody>
      </p:sp>
      <p:sp>
        <p:nvSpPr>
          <p:cNvPr id="49" name="!!sec"/>
          <p:cNvSpPr txBox="1"/>
          <p:nvPr/>
        </p:nvSpPr>
        <p:spPr>
          <a:xfrm>
            <a:off x="888978" y="6362541"/>
            <a:ext cx="101964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III · Q-GEAR</a:t>
            </a:r>
          </a:p>
        </p:txBody>
      </p:sp>
      <p:pic>
        <p:nvPicPr>
          <p:cNvPr id="50" name="s16-image-19" descr="Texas Tech University Double T"/>
          <p:cNvPicPr>
            <a:picLocks noChangeAspect="1"/>
          </p:cNvPicPr>
          <p:nvPr/>
        </p:nvPicPr>
        <p:blipFill>
          <a:blip r:embed="rId21"/>
          <a:stretch>
            <a:fillRect/>
          </a:stretch>
        </p:blipFill>
        <p:spPr>
          <a:xfrm>
            <a:off x="11055074" y="600060"/>
            <a:ext cx="190495" cy="222244"/>
          </a:xfrm>
          <a:prstGeom prst="rect">
            <a:avLst/>
          </a:prstGeom>
        </p:spPr>
      </p:pic>
      <p:sp>
        <p:nvSpPr>
          <p:cNvPr id="51"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16</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93918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Results</a:t>
            </a:r>
          </a:p>
        </p:txBody>
      </p:sp>
      <p:sp>
        <p:nvSpPr>
          <p:cNvPr id="3" name="s17-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Two orders of magnitude faster</a:t>
            </a:r>
          </a:p>
        </p:txBody>
      </p:sp>
      <p:pic>
        <p:nvPicPr>
          <p:cNvPr id="4" name="s17-image-01" descr="diagram"/>
          <p:cNvPicPr>
            <a:picLocks noChangeAspect="1"/>
          </p:cNvPicPr>
          <p:nvPr/>
        </p:nvPicPr>
        <p:blipFill>
          <a:blip r:embed="rId3"/>
          <a:stretch>
            <a:fillRect/>
          </a:stretch>
        </p:blipFill>
        <p:spPr>
          <a:xfrm>
            <a:off x="863578" y="1606510"/>
            <a:ext cx="10470888" cy="3105072"/>
          </a:xfrm>
          <a:prstGeom prst="rect">
            <a:avLst/>
          </a:prstGeom>
        </p:spPr>
      </p:pic>
      <p:sp>
        <p:nvSpPr>
          <p:cNvPr id="5" name="s17-text-03"/>
          <p:cNvSpPr txBox="1"/>
          <p:nvPr/>
        </p:nvSpPr>
        <p:spPr>
          <a:xfrm>
            <a:off x="4111225" y="4301323"/>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a:t>
            </a:r>
          </a:p>
        </p:txBody>
      </p:sp>
      <p:sp>
        <p:nvSpPr>
          <p:cNvPr id="6" name="s17-text-04"/>
          <p:cNvSpPr txBox="1"/>
          <p:nvPr/>
        </p:nvSpPr>
        <p:spPr>
          <a:xfrm>
            <a:off x="6146665" y="4301323"/>
            <a:ext cx="25607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7" name="s17-text-05"/>
          <p:cNvSpPr txBox="1"/>
          <p:nvPr/>
        </p:nvSpPr>
        <p:spPr>
          <a:xfrm>
            <a:off x="8182080" y="4301323"/>
            <a:ext cx="33376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8" name="s17-text-06"/>
          <p:cNvSpPr txBox="1"/>
          <p:nvPr/>
        </p:nvSpPr>
        <p:spPr>
          <a:xfrm>
            <a:off x="10217539" y="4301323"/>
            <a:ext cx="41145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1000×</a:t>
            </a:r>
          </a:p>
        </p:txBody>
      </p:sp>
      <p:sp>
        <p:nvSpPr>
          <p:cNvPr id="9" name="s17-text-07"/>
          <p:cNvSpPr txBox="1"/>
          <p:nvPr/>
        </p:nvSpPr>
        <p:spPr>
          <a:xfrm>
            <a:off x="965077" y="2193176"/>
            <a:ext cx="3079772"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vs CPU node (2 × EPYC 7763), one A100</a:t>
            </a:r>
          </a:p>
        </p:txBody>
      </p:sp>
      <p:sp>
        <p:nvSpPr>
          <p:cNvPr id="10" name="s17-text-08"/>
          <p:cNvSpPr txBox="1"/>
          <p:nvPr/>
        </p:nvSpPr>
        <p:spPr>
          <a:xfrm>
            <a:off x="9702621" y="2174126"/>
            <a:ext cx="58825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≈400×</a:t>
            </a:r>
          </a:p>
        </p:txBody>
      </p:sp>
      <p:sp>
        <p:nvSpPr>
          <p:cNvPr id="11" name="s17-text-09"/>
          <p:cNvSpPr txBox="1"/>
          <p:nvPr/>
        </p:nvSpPr>
        <p:spPr>
          <a:xfrm>
            <a:off x="1015776" y="2929757"/>
            <a:ext cx="3029073"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vs Qiskit Aer GPU / PennyLane Lightning</a:t>
            </a:r>
          </a:p>
        </p:txBody>
      </p:sp>
      <p:sp>
        <p:nvSpPr>
          <p:cNvPr id="12" name="s17-text-10"/>
          <p:cNvSpPr txBox="1"/>
          <p:nvPr/>
        </p:nvSpPr>
        <p:spPr>
          <a:xfrm>
            <a:off x="6379476" y="2910708"/>
            <a:ext cx="47524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≈10×</a:t>
            </a:r>
          </a:p>
        </p:txBody>
      </p:sp>
      <p:sp>
        <p:nvSpPr>
          <p:cNvPr id="13" name="s17-text-11"/>
          <p:cNvSpPr txBox="1"/>
          <p:nvPr/>
        </p:nvSpPr>
        <p:spPr>
          <a:xfrm>
            <a:off x="1190298" y="3666339"/>
            <a:ext cx="2854551"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QCrank image encoding, small images</a:t>
            </a:r>
          </a:p>
        </p:txBody>
      </p:sp>
      <p:sp>
        <p:nvSpPr>
          <p:cNvPr id="14" name="s17-text-12"/>
          <p:cNvSpPr txBox="1"/>
          <p:nvPr/>
        </p:nvSpPr>
        <p:spPr>
          <a:xfrm>
            <a:off x="8453734" y="3647289"/>
            <a:ext cx="67992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→100×</a:t>
            </a:r>
          </a:p>
        </p:txBody>
      </p:sp>
      <p:sp>
        <p:nvSpPr>
          <p:cNvPr id="15" name="s17-text-13"/>
          <p:cNvSpPr txBox="1"/>
          <p:nvPr/>
        </p:nvSpPr>
        <p:spPr>
          <a:xfrm>
            <a:off x="1142971" y="1659789"/>
            <a:ext cx="128485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speed-up (log scale)</a:t>
            </a:r>
          </a:p>
        </p:txBody>
      </p:sp>
      <p:sp>
        <p:nvSpPr>
          <p:cNvPr id="16" name="s17-text-14"/>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Random CX-block circuits (28–34 q, 100–10,000 gates) · QFT ≤ 22 q · QCrank image encoding.</a:t>
            </a:r>
          </a:p>
        </p:txBody>
      </p:sp>
      <p:sp>
        <p:nvSpPr>
          <p:cNvPr id="17" name="!!sec"/>
          <p:cNvSpPr txBox="1"/>
          <p:nvPr/>
        </p:nvSpPr>
        <p:spPr>
          <a:xfrm>
            <a:off x="888978" y="6362541"/>
            <a:ext cx="101964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III · Q-GEAR</a:t>
            </a:r>
          </a:p>
        </p:txBody>
      </p:sp>
      <p:pic>
        <p:nvPicPr>
          <p:cNvPr id="18" name="s17-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19"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17</a:t>
            </a:r>
            <a:r>
              <a:rPr sz="1100" b="0" i="0" spc="66">
                <a:solidFill>
                  <a:srgbClr val="7B7B86"/>
                </a:solidFill>
                <a:latin typeface="Courier New"/>
              </a:rPr>
              <a:t> / 68</a:t>
            </a:r>
          </a:p>
        </p:txBody>
      </p:sp>
      <p:sp>
        <p:nvSpPr>
          <p:cNvPr id="20" name="TextBox 19">
            <a:extLst>
              <a:ext uri="{FF2B5EF4-FFF2-40B4-BE49-F238E27FC236}">
                <a16:creationId xmlns:a16="http://schemas.microsoft.com/office/drawing/2014/main" id="{0C43CE5C-DAEA-9817-6B35-3D5C21BB260C}"/>
              </a:ext>
            </a:extLst>
          </p:cNvPr>
          <p:cNvSpPr txBox="1"/>
          <p:nvPr/>
        </p:nvSpPr>
        <p:spPr>
          <a:xfrm>
            <a:off x="2714625" y="5200650"/>
            <a:ext cx="3884910" cy="369332"/>
          </a:xfrm>
          <a:prstGeom prst="rect">
            <a:avLst/>
          </a:prstGeom>
          <a:noFill/>
        </p:spPr>
        <p:txBody>
          <a:bodyPr wrap="none" rtlCol="0">
            <a:spAutoFit/>
          </a:bodyPr>
          <a:lstStyle/>
          <a:p>
            <a:r>
              <a:rPr lang="en-US" dirty="0"/>
              <a:t> Why it is faster CUDA-Q + </a:t>
            </a:r>
            <a:r>
              <a:rPr lang="en-US" dirty="0" err="1"/>
              <a:t>Podman</a:t>
            </a:r>
            <a:r>
              <a:rPr lang="en-US" dirty="0"/>
              <a:t> HPC</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363201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Benchmark suite and takeaway</a:t>
            </a:r>
          </a:p>
        </p:txBody>
      </p:sp>
      <p:sp>
        <p:nvSpPr>
          <p:cNvPr id="3" name="s18-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RQ1: 42 qubits, program unchanged</a:t>
            </a:r>
          </a:p>
        </p:txBody>
      </p:sp>
      <p:sp>
        <p:nvSpPr>
          <p:cNvPr id="4" name="s18-box-01"/>
          <p:cNvSpPr/>
          <p:nvPr/>
        </p:nvSpPr>
        <p:spPr>
          <a:xfrm>
            <a:off x="888978" y="1897908"/>
            <a:ext cx="254390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18-text-03"/>
          <p:cNvSpPr txBox="1"/>
          <p:nvPr/>
        </p:nvSpPr>
        <p:spPr>
          <a:xfrm>
            <a:off x="888978" y="1621690"/>
            <a:ext cx="2410558"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Benchmark</a:t>
            </a:r>
          </a:p>
        </p:txBody>
      </p:sp>
      <p:sp>
        <p:nvSpPr>
          <p:cNvPr id="6" name="s18-box-02"/>
          <p:cNvSpPr/>
          <p:nvPr/>
        </p:nvSpPr>
        <p:spPr>
          <a:xfrm>
            <a:off x="3432883" y="1897908"/>
            <a:ext cx="122353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18-text-04"/>
          <p:cNvSpPr txBox="1"/>
          <p:nvPr/>
        </p:nvSpPr>
        <p:spPr>
          <a:xfrm>
            <a:off x="3432883" y="1621690"/>
            <a:ext cx="1090188"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Qubits</a:t>
            </a:r>
          </a:p>
        </p:txBody>
      </p:sp>
      <p:sp>
        <p:nvSpPr>
          <p:cNvPr id="8" name="s18-box-03"/>
          <p:cNvSpPr/>
          <p:nvPr/>
        </p:nvSpPr>
        <p:spPr>
          <a:xfrm>
            <a:off x="4656418" y="1897908"/>
            <a:ext cx="172616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18-text-05"/>
          <p:cNvSpPr txBox="1"/>
          <p:nvPr/>
        </p:nvSpPr>
        <p:spPr>
          <a:xfrm>
            <a:off x="4656418" y="1621690"/>
            <a:ext cx="1592818"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Two-qubit gates</a:t>
            </a:r>
          </a:p>
        </p:txBody>
      </p:sp>
      <p:sp>
        <p:nvSpPr>
          <p:cNvPr id="10" name="s18-box-04"/>
          <p:cNvSpPr/>
          <p:nvPr/>
        </p:nvSpPr>
        <p:spPr>
          <a:xfrm>
            <a:off x="6382583" y="1897908"/>
            <a:ext cx="492013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18-text-06"/>
          <p:cNvSpPr txBox="1"/>
          <p:nvPr/>
        </p:nvSpPr>
        <p:spPr>
          <a:xfrm>
            <a:off x="6382583" y="1621690"/>
            <a:ext cx="4786788"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Reported result</a:t>
            </a:r>
          </a:p>
        </p:txBody>
      </p:sp>
      <p:sp>
        <p:nvSpPr>
          <p:cNvPr id="12" name="s18-box-05"/>
          <p:cNvSpPr/>
          <p:nvPr/>
        </p:nvSpPr>
        <p:spPr>
          <a:xfrm>
            <a:off x="888978" y="2361446"/>
            <a:ext cx="254390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18-text-07"/>
          <p:cNvSpPr txBox="1"/>
          <p:nvPr/>
        </p:nvSpPr>
        <p:spPr>
          <a:xfrm>
            <a:off x="888978" y="2031255"/>
            <a:ext cx="2410558" cy="203195"/>
          </a:xfrm>
          <a:prstGeom prst="rect">
            <a:avLst/>
          </a:prstGeom>
          <a:noFill/>
        </p:spPr>
        <p:txBody>
          <a:bodyPr wrap="none" lIns="0" tIns="0" rIns="0" bIns="0" anchor="t">
            <a:noAutofit/>
          </a:bodyPr>
          <a:lstStyle/>
          <a:p>
            <a:pPr algn="l">
              <a:lnSpc>
                <a:spcPts val="1680"/>
              </a:lnSpc>
              <a:spcBef>
                <a:spcPts val="0"/>
              </a:spcBef>
              <a:spcAft>
                <a:spcPts val="0"/>
              </a:spcAft>
            </a:pPr>
            <a:r>
              <a:rPr sz="1400" b="1" i="0">
                <a:solidFill>
                  <a:srgbClr val="0B0B0F"/>
                </a:solidFill>
                <a:latin typeface="Arial"/>
              </a:rPr>
              <a:t>Random CX-block circuits</a:t>
            </a:r>
          </a:p>
        </p:txBody>
      </p:sp>
      <p:sp>
        <p:nvSpPr>
          <p:cNvPr id="14" name="s18-box-06"/>
          <p:cNvSpPr/>
          <p:nvPr/>
        </p:nvSpPr>
        <p:spPr>
          <a:xfrm>
            <a:off x="3432883" y="2361446"/>
            <a:ext cx="12235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18-text-08"/>
          <p:cNvSpPr txBox="1"/>
          <p:nvPr/>
        </p:nvSpPr>
        <p:spPr>
          <a:xfrm>
            <a:off x="3432883" y="2031255"/>
            <a:ext cx="109018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28–34</a:t>
            </a:r>
          </a:p>
        </p:txBody>
      </p:sp>
      <p:sp>
        <p:nvSpPr>
          <p:cNvPr id="16" name="s18-box-07"/>
          <p:cNvSpPr/>
          <p:nvPr/>
        </p:nvSpPr>
        <p:spPr>
          <a:xfrm>
            <a:off x="4656418" y="2361446"/>
            <a:ext cx="172616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18-text-09"/>
          <p:cNvSpPr txBox="1"/>
          <p:nvPr/>
        </p:nvSpPr>
        <p:spPr>
          <a:xfrm>
            <a:off x="4656418" y="2031255"/>
            <a:ext cx="159281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100 – 10,000</a:t>
            </a:r>
          </a:p>
        </p:txBody>
      </p:sp>
      <p:sp>
        <p:nvSpPr>
          <p:cNvPr id="18" name="s18-box-08"/>
          <p:cNvSpPr/>
          <p:nvPr/>
        </p:nvSpPr>
        <p:spPr>
          <a:xfrm>
            <a:off x="6382583" y="2361446"/>
            <a:ext cx="49201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18-text-10"/>
          <p:cNvSpPr txBox="1"/>
          <p:nvPr/>
        </p:nvSpPr>
        <p:spPr>
          <a:xfrm>
            <a:off x="6382583" y="2031255"/>
            <a:ext cx="478678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≈1 min on 4 × A100 vs ≈24 h on CPU · ≈400× on one A100</a:t>
            </a:r>
          </a:p>
        </p:txBody>
      </p:sp>
      <p:sp>
        <p:nvSpPr>
          <p:cNvPr id="20" name="s18-box-09"/>
          <p:cNvSpPr/>
          <p:nvPr/>
        </p:nvSpPr>
        <p:spPr>
          <a:xfrm>
            <a:off x="888978" y="2824985"/>
            <a:ext cx="254390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18-text-11"/>
          <p:cNvSpPr txBox="1"/>
          <p:nvPr/>
        </p:nvSpPr>
        <p:spPr>
          <a:xfrm>
            <a:off x="888978" y="2494793"/>
            <a:ext cx="2410558" cy="203195"/>
          </a:xfrm>
          <a:prstGeom prst="rect">
            <a:avLst/>
          </a:prstGeom>
          <a:noFill/>
        </p:spPr>
        <p:txBody>
          <a:bodyPr wrap="none" lIns="0" tIns="0" rIns="0" bIns="0" anchor="t">
            <a:noAutofit/>
          </a:bodyPr>
          <a:lstStyle/>
          <a:p>
            <a:pPr algn="l">
              <a:lnSpc>
                <a:spcPts val="1680"/>
              </a:lnSpc>
              <a:spcBef>
                <a:spcPts val="0"/>
              </a:spcBef>
              <a:spcAft>
                <a:spcPts val="0"/>
              </a:spcAft>
            </a:pPr>
            <a:r>
              <a:rPr sz="1400" b="1" i="0">
                <a:solidFill>
                  <a:srgbClr val="0B0B0F"/>
                </a:solidFill>
                <a:latin typeface="Arial"/>
              </a:rPr>
              <a:t>Quantum Fourier transform</a:t>
            </a:r>
          </a:p>
        </p:txBody>
      </p:sp>
      <p:sp>
        <p:nvSpPr>
          <p:cNvPr id="22" name="s18-box-10"/>
          <p:cNvSpPr/>
          <p:nvPr/>
        </p:nvSpPr>
        <p:spPr>
          <a:xfrm>
            <a:off x="3432883" y="2824985"/>
            <a:ext cx="12235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18-text-12"/>
          <p:cNvSpPr txBox="1"/>
          <p:nvPr/>
        </p:nvSpPr>
        <p:spPr>
          <a:xfrm>
            <a:off x="3432883" y="2494793"/>
            <a:ext cx="109018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 22</a:t>
            </a:r>
          </a:p>
        </p:txBody>
      </p:sp>
      <p:sp>
        <p:nvSpPr>
          <p:cNvPr id="24" name="s18-box-11"/>
          <p:cNvSpPr/>
          <p:nvPr/>
        </p:nvSpPr>
        <p:spPr>
          <a:xfrm>
            <a:off x="4656418" y="2824985"/>
            <a:ext cx="172616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18-text-13"/>
          <p:cNvSpPr txBox="1"/>
          <p:nvPr/>
        </p:nvSpPr>
        <p:spPr>
          <a:xfrm>
            <a:off x="4656418" y="2494793"/>
            <a:ext cx="159281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a:t>
            </a:r>
          </a:p>
        </p:txBody>
      </p:sp>
      <p:sp>
        <p:nvSpPr>
          <p:cNvPr id="26" name="s18-box-12"/>
          <p:cNvSpPr/>
          <p:nvPr/>
        </p:nvSpPr>
        <p:spPr>
          <a:xfrm>
            <a:off x="6382583" y="2824985"/>
            <a:ext cx="49201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s18-text-14"/>
          <p:cNvSpPr txBox="1"/>
          <p:nvPr/>
        </p:nvSpPr>
        <p:spPr>
          <a:xfrm>
            <a:off x="6382583" y="2494793"/>
            <a:ext cx="478678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same pipeline, program unchanged</a:t>
            </a:r>
          </a:p>
        </p:txBody>
      </p:sp>
      <p:sp>
        <p:nvSpPr>
          <p:cNvPr id="28" name="s18-box-13"/>
          <p:cNvSpPr/>
          <p:nvPr/>
        </p:nvSpPr>
        <p:spPr>
          <a:xfrm>
            <a:off x="888978" y="3288523"/>
            <a:ext cx="254390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18-text-15"/>
          <p:cNvSpPr txBox="1"/>
          <p:nvPr/>
        </p:nvSpPr>
        <p:spPr>
          <a:xfrm>
            <a:off x="888978" y="2958332"/>
            <a:ext cx="2410558" cy="203195"/>
          </a:xfrm>
          <a:prstGeom prst="rect">
            <a:avLst/>
          </a:prstGeom>
          <a:noFill/>
        </p:spPr>
        <p:txBody>
          <a:bodyPr wrap="none" lIns="0" tIns="0" rIns="0" bIns="0" anchor="t">
            <a:noAutofit/>
          </a:bodyPr>
          <a:lstStyle/>
          <a:p>
            <a:pPr algn="l">
              <a:lnSpc>
                <a:spcPts val="1680"/>
              </a:lnSpc>
              <a:spcBef>
                <a:spcPts val="0"/>
              </a:spcBef>
              <a:spcAft>
                <a:spcPts val="0"/>
              </a:spcAft>
            </a:pPr>
            <a:r>
              <a:rPr sz="1400" b="1" i="0">
                <a:solidFill>
                  <a:srgbClr val="0B0B0F"/>
                </a:solidFill>
                <a:latin typeface="Arial"/>
              </a:rPr>
              <a:t>QCrank image encoding</a:t>
            </a:r>
          </a:p>
        </p:txBody>
      </p:sp>
      <p:sp>
        <p:nvSpPr>
          <p:cNvPr id="30" name="s18-box-14"/>
          <p:cNvSpPr/>
          <p:nvPr/>
        </p:nvSpPr>
        <p:spPr>
          <a:xfrm>
            <a:off x="3432883" y="3288523"/>
            <a:ext cx="12235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18-text-16"/>
          <p:cNvSpPr txBox="1"/>
          <p:nvPr/>
        </p:nvSpPr>
        <p:spPr>
          <a:xfrm>
            <a:off x="3432883" y="2958332"/>
            <a:ext cx="109018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dirty="0">
                <a:solidFill>
                  <a:srgbClr val="50505B"/>
                </a:solidFill>
                <a:latin typeface="Arial"/>
              </a:rPr>
              <a:t>small images</a:t>
            </a:r>
          </a:p>
        </p:txBody>
      </p:sp>
      <p:sp>
        <p:nvSpPr>
          <p:cNvPr id="32" name="s18-box-15"/>
          <p:cNvSpPr/>
          <p:nvPr/>
        </p:nvSpPr>
        <p:spPr>
          <a:xfrm>
            <a:off x="4656418" y="3288523"/>
            <a:ext cx="172616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s18-text-17"/>
          <p:cNvSpPr txBox="1"/>
          <p:nvPr/>
        </p:nvSpPr>
        <p:spPr>
          <a:xfrm>
            <a:off x="4656418" y="2958332"/>
            <a:ext cx="159281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a:t>
            </a:r>
          </a:p>
        </p:txBody>
      </p:sp>
      <p:sp>
        <p:nvSpPr>
          <p:cNvPr id="34" name="s18-box-16"/>
          <p:cNvSpPr/>
          <p:nvPr/>
        </p:nvSpPr>
        <p:spPr>
          <a:xfrm>
            <a:off x="6382583" y="3288523"/>
            <a:ext cx="49201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18-text-18"/>
          <p:cNvSpPr txBox="1"/>
          <p:nvPr/>
        </p:nvSpPr>
        <p:spPr>
          <a:xfrm>
            <a:off x="6382583" y="2958332"/>
            <a:ext cx="478678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dirty="0">
                <a:solidFill>
                  <a:srgbClr val="50505B"/>
                </a:solidFill>
                <a:latin typeface="Arial"/>
              </a:rPr>
              <a:t>→ 100× speed-up</a:t>
            </a:r>
          </a:p>
        </p:txBody>
      </p:sp>
      <p:sp>
        <p:nvSpPr>
          <p:cNvPr id="36" name="s18-box-17"/>
          <p:cNvSpPr/>
          <p:nvPr/>
        </p:nvSpPr>
        <p:spPr>
          <a:xfrm>
            <a:off x="888978" y="3752062"/>
            <a:ext cx="254390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18-text-19"/>
          <p:cNvSpPr txBox="1"/>
          <p:nvPr/>
        </p:nvSpPr>
        <p:spPr>
          <a:xfrm>
            <a:off x="888978" y="3421870"/>
            <a:ext cx="2410558" cy="203195"/>
          </a:xfrm>
          <a:prstGeom prst="rect">
            <a:avLst/>
          </a:prstGeom>
          <a:noFill/>
        </p:spPr>
        <p:txBody>
          <a:bodyPr wrap="none" lIns="0" tIns="0" rIns="0" bIns="0" anchor="t">
            <a:noAutofit/>
          </a:bodyPr>
          <a:lstStyle/>
          <a:p>
            <a:pPr algn="l">
              <a:lnSpc>
                <a:spcPts val="1680"/>
              </a:lnSpc>
              <a:spcBef>
                <a:spcPts val="0"/>
              </a:spcBef>
              <a:spcAft>
                <a:spcPts val="0"/>
              </a:spcAft>
            </a:pPr>
            <a:r>
              <a:rPr sz="1400" b="1" i="0" dirty="0">
                <a:solidFill>
                  <a:srgbClr val="0B0B0F"/>
                </a:solidFill>
                <a:latin typeface="Arial"/>
              </a:rPr>
              <a:t>Largest run</a:t>
            </a:r>
          </a:p>
        </p:txBody>
      </p:sp>
      <p:sp>
        <p:nvSpPr>
          <p:cNvPr id="38" name="s18-box-18"/>
          <p:cNvSpPr/>
          <p:nvPr/>
        </p:nvSpPr>
        <p:spPr>
          <a:xfrm>
            <a:off x="3432883" y="3752062"/>
            <a:ext cx="12235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s18-text-20"/>
          <p:cNvSpPr txBox="1"/>
          <p:nvPr/>
        </p:nvSpPr>
        <p:spPr>
          <a:xfrm>
            <a:off x="3432883" y="3421870"/>
            <a:ext cx="109018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dirty="0">
                <a:solidFill>
                  <a:srgbClr val="50505B"/>
                </a:solidFill>
                <a:latin typeface="Arial"/>
              </a:rPr>
              <a:t>42</a:t>
            </a:r>
          </a:p>
        </p:txBody>
      </p:sp>
      <p:sp>
        <p:nvSpPr>
          <p:cNvPr id="40" name="s18-box-19"/>
          <p:cNvSpPr/>
          <p:nvPr/>
        </p:nvSpPr>
        <p:spPr>
          <a:xfrm>
            <a:off x="4656418" y="3752062"/>
            <a:ext cx="172616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18-text-21"/>
          <p:cNvSpPr txBox="1"/>
          <p:nvPr/>
        </p:nvSpPr>
        <p:spPr>
          <a:xfrm>
            <a:off x="4656418" y="3421870"/>
            <a:ext cx="159281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dirty="0">
                <a:solidFill>
                  <a:srgbClr val="50505B"/>
                </a:solidFill>
                <a:latin typeface="Arial"/>
              </a:rPr>
              <a:t>—</a:t>
            </a:r>
          </a:p>
        </p:txBody>
      </p:sp>
      <p:sp>
        <p:nvSpPr>
          <p:cNvPr id="42" name="s18-box-20"/>
          <p:cNvSpPr/>
          <p:nvPr/>
        </p:nvSpPr>
        <p:spPr>
          <a:xfrm>
            <a:off x="6382583" y="3752062"/>
            <a:ext cx="492013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18-text-22"/>
          <p:cNvSpPr txBox="1"/>
          <p:nvPr/>
        </p:nvSpPr>
        <p:spPr>
          <a:xfrm>
            <a:off x="6382583" y="3421870"/>
            <a:ext cx="478678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dirty="0">
                <a:solidFill>
                  <a:srgbClr val="50505B"/>
                </a:solidFill>
                <a:latin typeface="Arial"/>
              </a:rPr>
              <a:t>1,024 × A100 · ≈100% GPU utilization</a:t>
            </a:r>
          </a:p>
        </p:txBody>
      </p:sp>
      <p:sp>
        <p:nvSpPr>
          <p:cNvPr id="44" name="s18-text-23"/>
          <p:cNvSpPr txBox="1"/>
          <p:nvPr/>
        </p:nvSpPr>
        <p:spPr>
          <a:xfrm>
            <a:off x="888978" y="3977481"/>
            <a:ext cx="9543811" cy="291398"/>
          </a:xfrm>
          <a:prstGeom prst="rect">
            <a:avLst/>
          </a:prstGeom>
          <a:noFill/>
        </p:spPr>
        <p:txBody>
          <a:bodyPr wrap="none" lIns="0" tIns="0" rIns="0" bIns="0" anchor="t">
            <a:noAutofit/>
          </a:bodyPr>
          <a:lstStyle/>
          <a:p>
            <a:pPr algn="l">
              <a:lnSpc>
                <a:spcPts val="2295"/>
              </a:lnSpc>
              <a:spcBef>
                <a:spcPts val="0"/>
              </a:spcBef>
              <a:spcAft>
                <a:spcPts val="0"/>
              </a:spcAft>
            </a:pPr>
            <a:r>
              <a:rPr sz="1700" b="0" i="0">
                <a:solidFill>
                  <a:srgbClr val="50505B"/>
                </a:solidFill>
                <a:latin typeface="Arial"/>
              </a:rPr>
              <a:t>Reused downstream: validates DEAL circuits (Ch. IV) · evaluator inside RubriQ (Ch. VI)</a:t>
            </a:r>
          </a:p>
        </p:txBody>
      </p:sp>
      <p:sp>
        <p:nvSpPr>
          <p:cNvPr id="45" name="!!L1-bg"/>
          <p:cNvSpPr/>
          <p:nvPr/>
        </p:nvSpPr>
        <p:spPr>
          <a:xfrm>
            <a:off x="5579824" y="6311742"/>
            <a:ext cx="1119656"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s18-text-24"/>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01</a:t>
            </a:r>
          </a:p>
        </p:txBody>
      </p:sp>
      <p:sp>
        <p:nvSpPr>
          <p:cNvPr id="47"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Simulation</a:t>
            </a:r>
          </a:p>
        </p:txBody>
      </p:sp>
      <p:sp>
        <p:nvSpPr>
          <p:cNvPr id="48"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18-text-26"/>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50"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51"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18-text-28"/>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53"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54"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18-text-30"/>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56"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57"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s18-text-32"/>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59"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60" name="!!sec"/>
          <p:cNvSpPr txBox="1"/>
          <p:nvPr/>
        </p:nvSpPr>
        <p:spPr>
          <a:xfrm>
            <a:off x="888978" y="6362541"/>
            <a:ext cx="101964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III · Q-GEAR</a:t>
            </a:r>
          </a:p>
        </p:txBody>
      </p:sp>
      <p:pic>
        <p:nvPicPr>
          <p:cNvPr id="61" name="s18-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62"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18</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28-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s28-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s28-text-01"/>
          <p:cNvSpPr txBox="1"/>
          <p:nvPr/>
        </p:nvSpPr>
        <p:spPr>
          <a:xfrm>
            <a:off x="888978" y="2193275"/>
            <a:ext cx="10432789"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Chapter V · RQ3 Data</a:t>
            </a:r>
          </a:p>
        </p:txBody>
      </p:sp>
      <p:sp>
        <p:nvSpPr>
          <p:cNvPr id="5" name="s28-text-02"/>
          <p:cNvSpPr txBox="1"/>
          <p:nvPr/>
        </p:nvSpPr>
        <p:spPr>
          <a:xfrm>
            <a:off x="888978" y="2504417"/>
            <a:ext cx="6315116" cy="826670"/>
          </a:xfrm>
          <a:prstGeom prst="rect">
            <a:avLst/>
          </a:prstGeom>
          <a:noFill/>
        </p:spPr>
        <p:txBody>
          <a:bodyPr wrap="none" lIns="0" tIns="0" rIns="0" bIns="0" anchor="t">
            <a:noAutofit/>
          </a:bodyPr>
          <a:lstStyle/>
          <a:p>
            <a:pPr algn="l">
              <a:lnSpc>
                <a:spcPts val="6509"/>
              </a:lnSpc>
              <a:spcBef>
                <a:spcPts val="0"/>
              </a:spcBef>
              <a:spcAft>
                <a:spcPts val="0"/>
              </a:spcAft>
            </a:pPr>
            <a:r>
              <a:rPr sz="6200" b="1" i="0" spc="-217" dirty="0">
                <a:solidFill>
                  <a:srgbClr val="CC0000"/>
                </a:solidFill>
                <a:latin typeface="Arial"/>
              </a:rPr>
              <a:t>Quantum </a:t>
            </a:r>
            <a:r>
              <a:rPr lang="en-US" sz="6200" b="1" i="0" spc="-217" dirty="0">
                <a:solidFill>
                  <a:srgbClr val="CC0000"/>
                </a:solidFill>
                <a:latin typeface="Arial"/>
              </a:rPr>
              <a:t>Information </a:t>
            </a:r>
            <a:r>
              <a:rPr lang="en-US" sz="6200" b="1" i="0" spc="-217" dirty="0" err="1">
                <a:solidFill>
                  <a:srgbClr val="CC0000"/>
                </a:solidFill>
                <a:latin typeface="Arial"/>
              </a:rPr>
              <a:t>thoery</a:t>
            </a:r>
            <a:endParaRPr sz="6200" b="1" i="0" spc="-217" dirty="0">
              <a:solidFill>
                <a:srgbClr val="CC0000"/>
              </a:solidFill>
              <a:latin typeface="Arial"/>
            </a:endParaRPr>
          </a:p>
        </p:txBody>
      </p:sp>
      <p:sp>
        <p:nvSpPr>
          <p:cNvPr id="6" name="s28-text-03"/>
          <p:cNvSpPr txBox="1"/>
          <p:nvPr/>
        </p:nvSpPr>
        <p:spPr>
          <a:xfrm>
            <a:off x="888978" y="3483483"/>
            <a:ext cx="9537462" cy="1028674"/>
          </a:xfrm>
          <a:prstGeom prst="rect">
            <a:avLst/>
          </a:prstGeom>
          <a:noFill/>
        </p:spPr>
        <p:txBody>
          <a:bodyPr wrap="square" lIns="0" tIns="0" rIns="0" bIns="0" anchor="t">
            <a:noAutofit/>
          </a:bodyPr>
          <a:lstStyle/>
          <a:p>
            <a:pPr algn="l">
              <a:lnSpc>
                <a:spcPts val="2700"/>
              </a:lnSpc>
              <a:spcBef>
                <a:spcPts val="0"/>
              </a:spcBef>
              <a:spcAft>
                <a:spcPts val="0"/>
              </a:spcAft>
            </a:pPr>
            <a:r>
              <a:rPr sz="2000" b="0" i="0" dirty="0">
                <a:solidFill>
                  <a:srgbClr val="50505B"/>
                </a:solidFill>
                <a:latin typeface="Arial"/>
              </a:rPr>
              <a:t>Vectorized encodings for quantum learning</a:t>
            </a:r>
          </a:p>
          <a:p>
            <a:pPr algn="l">
              <a:lnSpc>
                <a:spcPts val="2700"/>
              </a:lnSpc>
              <a:spcBef>
                <a:spcPts val="0"/>
              </a:spcBef>
              <a:spcAft>
                <a:spcPts val="0"/>
              </a:spcAft>
            </a:pPr>
            <a:r>
              <a:rPr sz="1200" b="0" i="0" dirty="0">
                <a:solidFill>
                  <a:srgbClr val="7B7B86"/>
                </a:solidFill>
                <a:latin typeface="Arial"/>
              </a:rPr>
              <a:t>QPIE · Quantum Sci. Technol. 10 (2025)  ·  VQT · AAAI Symposium Series 7 (2025)  ·  </a:t>
            </a:r>
            <a:r>
              <a:rPr sz="1200" b="0" i="0" dirty="0" err="1">
                <a:solidFill>
                  <a:srgbClr val="7B7B86"/>
                </a:solidFill>
                <a:latin typeface="Arial"/>
              </a:rPr>
              <a:t>ShardQ</a:t>
            </a:r>
            <a:r>
              <a:rPr sz="1200" b="0" i="0" dirty="0">
                <a:solidFill>
                  <a:srgbClr val="7B7B86"/>
                </a:solidFill>
                <a:latin typeface="Arial"/>
              </a:rPr>
              <a:t> · arXiv:2511.05492  ·  NNQA · arXiv:2603.27297</a:t>
            </a:r>
          </a:p>
        </p:txBody>
      </p:sp>
      <p:sp>
        <p:nvSpPr>
          <p:cNvPr id="7"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28-text-04"/>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9"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28-text-06"/>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2"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28-text-08"/>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03</a:t>
            </a:r>
          </a:p>
        </p:txBody>
      </p:sp>
      <p:sp>
        <p:nvSpPr>
          <p:cNvPr id="15"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28-text-10"/>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18"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28-text-12"/>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1"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2"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23" name="s28-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28</a:t>
            </a:r>
            <a:r>
              <a:rPr sz="1100" b="0" i="0" spc="66">
                <a:solidFill>
                  <a:srgbClr val="7B7B86"/>
                </a:solidFill>
                <a:latin typeface="Courier New"/>
              </a:rPr>
              <a:t> / 68</a:t>
            </a:r>
          </a:p>
        </p:txBody>
      </p:sp>
    </p:spTree>
    <p:extLst>
      <p:ext uri="{BB962C8B-B14F-4D97-AF65-F5344CB8AC3E}">
        <p14:creationId xmlns:p14="http://schemas.microsoft.com/office/powerpoint/2010/main" val="3762223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100635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Problem</a:t>
            </a:r>
          </a:p>
        </p:txBody>
      </p:sp>
      <p:sp>
        <p:nvSpPr>
          <p:cNvPr id="3" name="s29-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dirty="0">
                <a:solidFill>
                  <a:srgbClr val="0B0B0F"/>
                </a:solidFill>
                <a:latin typeface="Arial"/>
              </a:rPr>
              <a:t>Getting data in and out is the cost</a:t>
            </a:r>
          </a:p>
        </p:txBody>
      </p:sp>
      <p:sp>
        <p:nvSpPr>
          <p:cNvPr id="4" name="s29-text-03"/>
          <p:cNvSpPr txBox="1"/>
          <p:nvPr/>
        </p:nvSpPr>
        <p:spPr>
          <a:xfrm>
            <a:off x="888978" y="1659789"/>
            <a:ext cx="9543811" cy="342891"/>
          </a:xfrm>
          <a:prstGeom prst="rect">
            <a:avLst/>
          </a:prstGeom>
          <a:noFill/>
        </p:spPr>
        <p:txBody>
          <a:bodyPr wrap="none" lIns="0" tIns="0" rIns="0" bIns="0" anchor="t">
            <a:noAutofit/>
          </a:bodyPr>
          <a:lstStyle/>
          <a:p>
            <a:pPr algn="l">
              <a:lnSpc>
                <a:spcPts val="2700"/>
              </a:lnSpc>
              <a:spcBef>
                <a:spcPts val="0"/>
              </a:spcBef>
              <a:spcAft>
                <a:spcPts val="0"/>
              </a:spcAft>
            </a:pPr>
            <a:r>
              <a:rPr sz="2000" b="0" i="0">
                <a:solidFill>
                  <a:srgbClr val="50505B"/>
                </a:solidFill>
                <a:latin typeface="Arial"/>
              </a:rPr>
              <a:t>Shot-efficient, hardware-compatible, trainable — at the same time.</a:t>
            </a:r>
          </a:p>
        </p:txBody>
      </p:sp>
      <p:sp>
        <p:nvSpPr>
          <p:cNvPr id="5" name="s29-box-01"/>
          <p:cNvSpPr/>
          <p:nvPr/>
        </p:nvSpPr>
        <p:spPr>
          <a:xfrm>
            <a:off x="888978" y="2167776"/>
            <a:ext cx="3352716" cy="1596191"/>
          </a:xfrm>
          <a:prstGeom prst="roundRect">
            <a:avLst>
              <a:gd name="adj" fmla="val 9547"/>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29-text-04"/>
          <p:cNvSpPr txBox="1"/>
          <p:nvPr/>
        </p:nvSpPr>
        <p:spPr>
          <a:xfrm>
            <a:off x="1142971" y="2396371"/>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SHOT-EFFICIENT</a:t>
            </a:r>
          </a:p>
        </p:txBody>
      </p:sp>
      <p:sp>
        <p:nvSpPr>
          <p:cNvPr id="7" name="s29-text-05"/>
          <p:cNvSpPr txBox="1"/>
          <p:nvPr/>
        </p:nvSpPr>
        <p:spPr>
          <a:xfrm>
            <a:off x="1142971" y="2694813"/>
            <a:ext cx="2863778"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Reading out costs shots</a:t>
            </a:r>
          </a:p>
        </p:txBody>
      </p:sp>
      <p:sp>
        <p:nvSpPr>
          <p:cNvPr id="8" name="s29-text-06"/>
          <p:cNvSpPr txBox="1"/>
          <p:nvPr/>
        </p:nvSpPr>
        <p:spPr>
          <a:xfrm>
            <a:off x="1142971" y="3037705"/>
            <a:ext cx="2857429"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Variance p(1−p)/S per value · attention needs B·T² values</a:t>
            </a:r>
          </a:p>
        </p:txBody>
      </p:sp>
      <p:sp>
        <p:nvSpPr>
          <p:cNvPr id="9" name="s29-box-02"/>
          <p:cNvSpPr/>
          <p:nvPr/>
        </p:nvSpPr>
        <p:spPr>
          <a:xfrm>
            <a:off x="4419490" y="2167776"/>
            <a:ext cx="3352716" cy="1596191"/>
          </a:xfrm>
          <a:prstGeom prst="roundRect">
            <a:avLst>
              <a:gd name="adj" fmla="val 9547"/>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s29-text-07"/>
          <p:cNvSpPr txBox="1"/>
          <p:nvPr/>
        </p:nvSpPr>
        <p:spPr>
          <a:xfrm>
            <a:off x="4673483" y="2396371"/>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HARDWARE-COMPATIBLE</a:t>
            </a:r>
          </a:p>
        </p:txBody>
      </p:sp>
      <p:sp>
        <p:nvSpPr>
          <p:cNvPr id="11" name="s29-text-08"/>
          <p:cNvSpPr txBox="1"/>
          <p:nvPr/>
        </p:nvSpPr>
        <p:spPr>
          <a:xfrm>
            <a:off x="4673483" y="2694813"/>
            <a:ext cx="2863778"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Loading costs depth</a:t>
            </a:r>
          </a:p>
        </p:txBody>
      </p:sp>
      <p:sp>
        <p:nvSpPr>
          <p:cNvPr id="12" name="s29-text-09"/>
          <p:cNvSpPr txBox="1"/>
          <p:nvPr/>
        </p:nvSpPr>
        <p:spPr>
          <a:xfrm>
            <a:off x="4673483" y="3037705"/>
            <a:ext cx="2857429"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dirty="0" err="1">
                <a:solidFill>
                  <a:srgbClr val="50505B"/>
                </a:solidFill>
                <a:latin typeface="Arial"/>
              </a:rPr>
              <a:t>Θ</a:t>
            </a:r>
            <a:r>
              <a:rPr sz="1400" b="0" i="0" dirty="0">
                <a:solidFill>
                  <a:srgbClr val="50505B"/>
                </a:solidFill>
                <a:latin typeface="Arial"/>
              </a:rPr>
              <a:t>(N) CNOTs for N values · deep loaders must be cut and mitigated</a:t>
            </a:r>
          </a:p>
        </p:txBody>
      </p:sp>
      <p:sp>
        <p:nvSpPr>
          <p:cNvPr id="13" name="s29-box-03"/>
          <p:cNvSpPr/>
          <p:nvPr/>
        </p:nvSpPr>
        <p:spPr>
          <a:xfrm>
            <a:off x="7950001" y="2167776"/>
            <a:ext cx="3352716" cy="1596191"/>
          </a:xfrm>
          <a:prstGeom prst="roundRect">
            <a:avLst>
              <a:gd name="adj" fmla="val 9547"/>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29-text-10"/>
          <p:cNvSpPr txBox="1"/>
          <p:nvPr/>
        </p:nvSpPr>
        <p:spPr>
          <a:xfrm>
            <a:off x="8203995" y="2396371"/>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TRAINABLE</a:t>
            </a:r>
          </a:p>
        </p:txBody>
      </p:sp>
      <p:sp>
        <p:nvSpPr>
          <p:cNvPr id="15" name="s29-text-11"/>
          <p:cNvSpPr txBox="1"/>
          <p:nvPr/>
        </p:nvSpPr>
        <p:spPr>
          <a:xfrm>
            <a:off x="8203995" y="2694813"/>
            <a:ext cx="2863778"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dirty="0">
                <a:solidFill>
                  <a:srgbClr val="0B0B0F"/>
                </a:solidFill>
                <a:latin typeface="Arial"/>
              </a:rPr>
              <a:t>Gradients must exist</a:t>
            </a:r>
          </a:p>
        </p:txBody>
      </p:sp>
      <p:sp>
        <p:nvSpPr>
          <p:cNvPr id="16" name="s29-text-12"/>
          <p:cNvSpPr txBox="1"/>
          <p:nvPr/>
        </p:nvSpPr>
        <p:spPr>
          <a:xfrm>
            <a:off x="8203995" y="3037705"/>
            <a:ext cx="2857429"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dirty="0">
                <a:solidFill>
                  <a:srgbClr val="50505B"/>
                </a:solidFill>
                <a:latin typeface="Arial"/>
              </a:rPr>
              <a:t>Barren plateaus · parameters from classical training or learnable heads</a:t>
            </a:r>
          </a:p>
        </p:txBody>
      </p:sp>
      <p:sp>
        <p:nvSpPr>
          <p:cNvPr id="17"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18" name="s29-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19"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29</a:t>
            </a:r>
            <a:r>
              <a:rPr sz="1100" b="0" i="0" spc="66">
                <a:solidFill>
                  <a:srgbClr val="7B7B86"/>
                </a:solidFill>
                <a:latin typeface="Courier New"/>
              </a:rPr>
              <a:t> / 68</a:t>
            </a:r>
          </a:p>
        </p:txBody>
      </p:sp>
    </p:spTree>
    <p:extLst>
      <p:ext uri="{BB962C8B-B14F-4D97-AF65-F5344CB8AC3E}">
        <p14:creationId xmlns:p14="http://schemas.microsoft.com/office/powerpoint/2010/main" val="813461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1773392"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Building block</a:t>
            </a:r>
          </a:p>
        </p:txBody>
      </p:sp>
      <p:sp>
        <p:nvSpPr>
          <p:cNvPr id="3" name="s30-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QCrank: vectorized data encoding</a:t>
            </a:r>
          </a:p>
        </p:txBody>
      </p:sp>
      <p:pic>
        <p:nvPicPr>
          <p:cNvPr id="4" name="s30-image-01" descr="diagram"/>
          <p:cNvPicPr>
            <a:picLocks noChangeAspect="1"/>
          </p:cNvPicPr>
          <p:nvPr/>
        </p:nvPicPr>
        <p:blipFill>
          <a:blip r:embed="rId3"/>
          <a:stretch>
            <a:fillRect/>
          </a:stretch>
        </p:blipFill>
        <p:spPr>
          <a:xfrm>
            <a:off x="863578" y="1543011"/>
            <a:ext cx="10470888" cy="3422564"/>
          </a:xfrm>
          <a:prstGeom prst="rect">
            <a:avLst/>
          </a:prstGeom>
        </p:spPr>
      </p:pic>
      <p:sp>
        <p:nvSpPr>
          <p:cNvPr id="5" name="s30-text-03"/>
          <p:cNvSpPr txBox="1"/>
          <p:nvPr/>
        </p:nvSpPr>
        <p:spPr>
          <a:xfrm>
            <a:off x="1747397" y="2009030"/>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a0</a:t>
            </a:r>
          </a:p>
        </p:txBody>
      </p:sp>
      <p:sp>
        <p:nvSpPr>
          <p:cNvPr id="6" name="s30-text-04"/>
          <p:cNvSpPr txBox="1"/>
          <p:nvPr/>
        </p:nvSpPr>
        <p:spPr>
          <a:xfrm>
            <a:off x="1747397" y="245351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a1</a:t>
            </a:r>
          </a:p>
        </p:txBody>
      </p:sp>
      <p:sp>
        <p:nvSpPr>
          <p:cNvPr id="7" name="s30-text-05"/>
          <p:cNvSpPr txBox="1"/>
          <p:nvPr/>
        </p:nvSpPr>
        <p:spPr>
          <a:xfrm>
            <a:off x="1747397" y="289800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a2</a:t>
            </a:r>
          </a:p>
        </p:txBody>
      </p:sp>
      <p:sp>
        <p:nvSpPr>
          <p:cNvPr id="8" name="s30-text-06"/>
          <p:cNvSpPr txBox="1"/>
          <p:nvPr/>
        </p:nvSpPr>
        <p:spPr>
          <a:xfrm>
            <a:off x="1747397" y="359649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d0</a:t>
            </a:r>
          </a:p>
        </p:txBody>
      </p:sp>
      <p:sp>
        <p:nvSpPr>
          <p:cNvPr id="9" name="s30-text-07"/>
          <p:cNvSpPr txBox="1"/>
          <p:nvPr/>
        </p:nvSpPr>
        <p:spPr>
          <a:xfrm>
            <a:off x="1747397" y="404097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d1</a:t>
            </a:r>
          </a:p>
        </p:txBody>
      </p:sp>
      <p:sp>
        <p:nvSpPr>
          <p:cNvPr id="10" name="s30-text-08"/>
          <p:cNvSpPr txBox="1"/>
          <p:nvPr/>
        </p:nvSpPr>
        <p:spPr>
          <a:xfrm>
            <a:off x="2430699" y="2009030"/>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H</a:t>
            </a:r>
          </a:p>
        </p:txBody>
      </p:sp>
      <p:sp>
        <p:nvSpPr>
          <p:cNvPr id="11" name="s30-text-09"/>
          <p:cNvSpPr txBox="1"/>
          <p:nvPr/>
        </p:nvSpPr>
        <p:spPr>
          <a:xfrm>
            <a:off x="2430699" y="2453519"/>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H</a:t>
            </a:r>
          </a:p>
        </p:txBody>
      </p:sp>
      <p:sp>
        <p:nvSpPr>
          <p:cNvPr id="12" name="s30-text-10"/>
          <p:cNvSpPr txBox="1"/>
          <p:nvPr/>
        </p:nvSpPr>
        <p:spPr>
          <a:xfrm>
            <a:off x="2430699" y="2898008"/>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H</a:t>
            </a:r>
          </a:p>
        </p:txBody>
      </p:sp>
      <p:sp>
        <p:nvSpPr>
          <p:cNvPr id="13" name="s30-text-11"/>
          <p:cNvSpPr txBox="1"/>
          <p:nvPr/>
        </p:nvSpPr>
        <p:spPr>
          <a:xfrm>
            <a:off x="2956446" y="359649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4" name="s30-text-12"/>
          <p:cNvSpPr txBox="1"/>
          <p:nvPr/>
        </p:nvSpPr>
        <p:spPr>
          <a:xfrm>
            <a:off x="2956446" y="404097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5" name="s30-text-13"/>
          <p:cNvSpPr txBox="1"/>
          <p:nvPr/>
        </p:nvSpPr>
        <p:spPr>
          <a:xfrm>
            <a:off x="2956446" y="450451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θ0</a:t>
            </a:r>
          </a:p>
        </p:txBody>
      </p:sp>
      <p:sp>
        <p:nvSpPr>
          <p:cNvPr id="16" name="s30-text-14"/>
          <p:cNvSpPr txBox="1"/>
          <p:nvPr/>
        </p:nvSpPr>
        <p:spPr>
          <a:xfrm>
            <a:off x="3807325" y="359649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7" name="s30-text-15"/>
          <p:cNvSpPr txBox="1"/>
          <p:nvPr/>
        </p:nvSpPr>
        <p:spPr>
          <a:xfrm>
            <a:off x="3807325" y="404097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8" name="s30-text-16"/>
          <p:cNvSpPr txBox="1"/>
          <p:nvPr/>
        </p:nvSpPr>
        <p:spPr>
          <a:xfrm>
            <a:off x="3807325" y="450451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θ1</a:t>
            </a:r>
          </a:p>
        </p:txBody>
      </p:sp>
      <p:sp>
        <p:nvSpPr>
          <p:cNvPr id="19" name="s30-text-17"/>
          <p:cNvSpPr txBox="1"/>
          <p:nvPr/>
        </p:nvSpPr>
        <p:spPr>
          <a:xfrm>
            <a:off x="4658204" y="359649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0" name="s30-text-18"/>
          <p:cNvSpPr txBox="1"/>
          <p:nvPr/>
        </p:nvSpPr>
        <p:spPr>
          <a:xfrm>
            <a:off x="4658204" y="404097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1" name="s30-text-19"/>
          <p:cNvSpPr txBox="1"/>
          <p:nvPr/>
        </p:nvSpPr>
        <p:spPr>
          <a:xfrm>
            <a:off x="4658204" y="450451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θ2</a:t>
            </a:r>
          </a:p>
        </p:txBody>
      </p:sp>
      <p:sp>
        <p:nvSpPr>
          <p:cNvPr id="22" name="s30-text-20"/>
          <p:cNvSpPr txBox="1"/>
          <p:nvPr/>
        </p:nvSpPr>
        <p:spPr>
          <a:xfrm>
            <a:off x="5509083" y="359649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3" name="s30-text-21"/>
          <p:cNvSpPr txBox="1"/>
          <p:nvPr/>
        </p:nvSpPr>
        <p:spPr>
          <a:xfrm>
            <a:off x="5509083" y="404097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4" name="s30-text-22"/>
          <p:cNvSpPr txBox="1"/>
          <p:nvPr/>
        </p:nvSpPr>
        <p:spPr>
          <a:xfrm>
            <a:off x="5509083" y="450451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θ3</a:t>
            </a:r>
          </a:p>
        </p:txBody>
      </p:sp>
      <p:sp>
        <p:nvSpPr>
          <p:cNvPr id="25" name="s30-text-23"/>
          <p:cNvSpPr txBox="1"/>
          <p:nvPr/>
        </p:nvSpPr>
        <p:spPr>
          <a:xfrm>
            <a:off x="6359961" y="359649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6" name="s30-text-24"/>
          <p:cNvSpPr txBox="1"/>
          <p:nvPr/>
        </p:nvSpPr>
        <p:spPr>
          <a:xfrm>
            <a:off x="6359961" y="404097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7" name="s30-text-25"/>
          <p:cNvSpPr txBox="1"/>
          <p:nvPr/>
        </p:nvSpPr>
        <p:spPr>
          <a:xfrm>
            <a:off x="6359961" y="450451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θ4</a:t>
            </a:r>
          </a:p>
        </p:txBody>
      </p:sp>
      <p:sp>
        <p:nvSpPr>
          <p:cNvPr id="28" name="s30-text-26"/>
          <p:cNvSpPr txBox="1"/>
          <p:nvPr/>
        </p:nvSpPr>
        <p:spPr>
          <a:xfrm>
            <a:off x="7210840" y="359649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9" name="s30-text-27"/>
          <p:cNvSpPr txBox="1"/>
          <p:nvPr/>
        </p:nvSpPr>
        <p:spPr>
          <a:xfrm>
            <a:off x="7210840" y="404097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0" name="s30-text-28"/>
          <p:cNvSpPr txBox="1"/>
          <p:nvPr/>
        </p:nvSpPr>
        <p:spPr>
          <a:xfrm>
            <a:off x="7210840" y="450451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θ5</a:t>
            </a:r>
          </a:p>
        </p:txBody>
      </p:sp>
      <p:sp>
        <p:nvSpPr>
          <p:cNvPr id="31" name="s30-text-29"/>
          <p:cNvSpPr txBox="1"/>
          <p:nvPr/>
        </p:nvSpPr>
        <p:spPr>
          <a:xfrm>
            <a:off x="8061719" y="359649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2" name="s30-text-30"/>
          <p:cNvSpPr txBox="1"/>
          <p:nvPr/>
        </p:nvSpPr>
        <p:spPr>
          <a:xfrm>
            <a:off x="8061719" y="404097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3" name="s30-text-31"/>
          <p:cNvSpPr txBox="1"/>
          <p:nvPr/>
        </p:nvSpPr>
        <p:spPr>
          <a:xfrm>
            <a:off x="8061719" y="450451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θ6</a:t>
            </a:r>
          </a:p>
        </p:txBody>
      </p:sp>
      <p:sp>
        <p:nvSpPr>
          <p:cNvPr id="34" name="s30-text-32"/>
          <p:cNvSpPr txBox="1"/>
          <p:nvPr/>
        </p:nvSpPr>
        <p:spPr>
          <a:xfrm>
            <a:off x="8912597" y="359649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5" name="s30-text-33"/>
          <p:cNvSpPr txBox="1"/>
          <p:nvPr/>
        </p:nvSpPr>
        <p:spPr>
          <a:xfrm>
            <a:off x="8912597" y="404097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6" name="s30-text-34"/>
          <p:cNvSpPr txBox="1"/>
          <p:nvPr/>
        </p:nvSpPr>
        <p:spPr>
          <a:xfrm>
            <a:off x="8912597" y="450451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θ7</a:t>
            </a:r>
          </a:p>
        </p:txBody>
      </p:sp>
      <p:sp>
        <p:nvSpPr>
          <p:cNvPr id="37" name="s30-text-35"/>
          <p:cNvSpPr txBox="1"/>
          <p:nvPr/>
        </p:nvSpPr>
        <p:spPr>
          <a:xfrm>
            <a:off x="7045050" y="4656914"/>
            <a:ext cx="402763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uniformly controlled rotations: 2ⁿᵃ angles per data qubit</a:t>
            </a:r>
          </a:p>
        </p:txBody>
      </p:sp>
      <p:sp>
        <p:nvSpPr>
          <p:cNvPr id="38" name="s30-text-36"/>
          <p:cNvSpPr txBox="1"/>
          <p:nvPr/>
        </p:nvSpPr>
        <p:spPr>
          <a:xfrm>
            <a:off x="2031949" y="4656914"/>
            <a:ext cx="4439333"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N = 2ⁿᵃ · n_d values · Θ(N) CNOTs · all addresses in parallel</a:t>
            </a:r>
          </a:p>
        </p:txBody>
      </p:sp>
      <p:sp>
        <p:nvSpPr>
          <p:cNvPr id="39" name="s30-text-37"/>
          <p:cNvSpPr txBox="1"/>
          <p:nvPr/>
        </p:nvSpPr>
        <p:spPr>
          <a:xfrm>
            <a:off x="888978" y="5704737"/>
            <a:ext cx="8902477" cy="391111"/>
          </a:xfrm>
          <a:prstGeom prst="rect">
            <a:avLst/>
          </a:prstGeom>
          <a:noFill/>
        </p:spPr>
        <p:txBody>
          <a:bodyPr wrap="square" lIns="0" tIns="0" rIns="0" bIns="0" anchor="t">
            <a:noAutofit/>
          </a:bodyPr>
          <a:lstStyle/>
          <a:p>
            <a:pPr algn="l">
              <a:lnSpc>
                <a:spcPts val="1540"/>
              </a:lnSpc>
              <a:spcBef>
                <a:spcPts val="0"/>
              </a:spcBef>
              <a:spcAft>
                <a:spcPts val="0"/>
              </a:spcAft>
            </a:pPr>
            <a:r>
              <a:rPr sz="1100" b="0" i="0">
                <a:solidFill>
                  <a:srgbClr val="7B7B86"/>
                </a:solidFill>
                <a:latin typeface="Arial"/>
              </a:rPr>
              <a:t>Address qubits index the values; data qubits carry them as angles. Shared by Q-GEAR, QPIE, VQT, ShardQ, QAWA. A 1,000-pixel image: 9 + 2 qubits.</a:t>
            </a:r>
          </a:p>
        </p:txBody>
      </p:sp>
      <p:sp>
        <p:nvSpPr>
          <p:cNvPr id="40"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41" name="s30-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42"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30</a:t>
            </a:r>
            <a:r>
              <a:rPr sz="1100" b="0" i="0" spc="66">
                <a:solidFill>
                  <a:srgbClr val="7B7B86"/>
                </a:solidFill>
                <a:latin typeface="Courier New"/>
              </a:rPr>
              <a:t> / 68</a:t>
            </a:r>
          </a:p>
        </p:txBody>
      </p:sp>
    </p:spTree>
    <p:extLst>
      <p:ext uri="{BB962C8B-B14F-4D97-AF65-F5344CB8AC3E}">
        <p14:creationId xmlns:p14="http://schemas.microsoft.com/office/powerpoint/2010/main" val="17337529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5E6902-C471-ED4D-E2DD-9645E73EB126}"/>
              </a:ext>
            </a:extLst>
          </p:cNvPr>
          <p:cNvSpPr txBox="1"/>
          <p:nvPr/>
        </p:nvSpPr>
        <p:spPr>
          <a:xfrm>
            <a:off x="3486150" y="1114425"/>
            <a:ext cx="2265236" cy="369332"/>
          </a:xfrm>
          <a:prstGeom prst="rect">
            <a:avLst/>
          </a:prstGeom>
          <a:noFill/>
        </p:spPr>
        <p:txBody>
          <a:bodyPr wrap="none" rtlCol="0">
            <a:spAutoFit/>
          </a:bodyPr>
          <a:lstStyle/>
          <a:p>
            <a:r>
              <a:rPr lang="en-US" dirty="0"/>
              <a:t>Quantum </a:t>
            </a:r>
            <a:r>
              <a:rPr lang="en-US" dirty="0" err="1"/>
              <a:t>arithemetic</a:t>
            </a:r>
            <a:r>
              <a:rPr lang="en-US" dirty="0"/>
              <a:t> </a:t>
            </a:r>
          </a:p>
        </p:txBody>
      </p:sp>
    </p:spTree>
    <p:extLst>
      <p:ext uri="{BB962C8B-B14F-4D97-AF65-F5344CB8AC3E}">
        <p14:creationId xmlns:p14="http://schemas.microsoft.com/office/powerpoint/2010/main" val="3283150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551196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QPIE · Quantum Parallel Information Exchange</a:t>
            </a:r>
          </a:p>
        </p:txBody>
      </p:sp>
      <p:sp>
        <p:nvSpPr>
          <p:cNvPr id="3" name="s31-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A non-sequential hybrid network</a:t>
            </a:r>
          </a:p>
        </p:txBody>
      </p:sp>
      <p:pic>
        <p:nvPicPr>
          <p:cNvPr id="4" name="s31-image-01" descr="diagram"/>
          <p:cNvPicPr>
            <a:picLocks noChangeAspect="1"/>
          </p:cNvPicPr>
          <p:nvPr/>
        </p:nvPicPr>
        <p:blipFill>
          <a:blip r:embed="rId3"/>
          <a:stretch>
            <a:fillRect/>
          </a:stretch>
        </p:blipFill>
        <p:spPr>
          <a:xfrm>
            <a:off x="863578" y="1555711"/>
            <a:ext cx="10470888" cy="3613060"/>
          </a:xfrm>
          <a:prstGeom prst="rect">
            <a:avLst/>
          </a:prstGeom>
        </p:spPr>
      </p:pic>
      <p:sp>
        <p:nvSpPr>
          <p:cNvPr id="5" name="s31-text-03"/>
          <p:cNvSpPr txBox="1"/>
          <p:nvPr/>
        </p:nvSpPr>
        <p:spPr>
          <a:xfrm>
            <a:off x="919437" y="2885308"/>
            <a:ext cx="275335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pretrained classical network</a:t>
            </a:r>
          </a:p>
        </p:txBody>
      </p:sp>
      <p:sp>
        <p:nvSpPr>
          <p:cNvPr id="6" name="s31-text-04"/>
          <p:cNvSpPr txBox="1"/>
          <p:nvPr/>
        </p:nvSpPr>
        <p:spPr>
          <a:xfrm>
            <a:off x="1404654" y="3171051"/>
            <a:ext cx="178162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frozen features · parameters</a:t>
            </a:r>
          </a:p>
        </p:txBody>
      </p:sp>
      <p:sp>
        <p:nvSpPr>
          <p:cNvPr id="7" name="s31-text-05"/>
          <p:cNvSpPr txBox="1"/>
          <p:nvPr/>
        </p:nvSpPr>
        <p:spPr>
          <a:xfrm>
            <a:off x="3447418" y="2726562"/>
            <a:ext cx="61702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in parallel</a:t>
            </a:r>
          </a:p>
        </p:txBody>
      </p:sp>
      <p:sp>
        <p:nvSpPr>
          <p:cNvPr id="8" name="s31-text-06"/>
          <p:cNvSpPr txBox="1"/>
          <p:nvPr/>
        </p:nvSpPr>
        <p:spPr>
          <a:xfrm>
            <a:off x="4241247" y="2059829"/>
            <a:ext cx="2458282"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variational circuit block 1</a:t>
            </a:r>
          </a:p>
        </p:txBody>
      </p:sp>
      <p:sp>
        <p:nvSpPr>
          <p:cNvPr id="9" name="s31-text-07"/>
          <p:cNvSpPr txBox="1"/>
          <p:nvPr/>
        </p:nvSpPr>
        <p:spPr>
          <a:xfrm>
            <a:off x="4074018" y="2345572"/>
            <a:ext cx="279274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 data + 2 ancilla qubits · non-Clifford gates</a:t>
            </a:r>
          </a:p>
        </p:txBody>
      </p:sp>
      <p:sp>
        <p:nvSpPr>
          <p:cNvPr id="10" name="s31-text-08"/>
          <p:cNvSpPr txBox="1"/>
          <p:nvPr/>
        </p:nvSpPr>
        <p:spPr>
          <a:xfrm>
            <a:off x="4241247" y="2885308"/>
            <a:ext cx="2458282"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variational circuit block 2</a:t>
            </a:r>
          </a:p>
        </p:txBody>
      </p:sp>
      <p:sp>
        <p:nvSpPr>
          <p:cNvPr id="11" name="s31-text-09"/>
          <p:cNvSpPr txBox="1"/>
          <p:nvPr/>
        </p:nvSpPr>
        <p:spPr>
          <a:xfrm>
            <a:off x="4074018" y="3171051"/>
            <a:ext cx="279274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 data + 2 ancilla qubits · non-Clifford gates</a:t>
            </a:r>
          </a:p>
        </p:txBody>
      </p:sp>
      <p:sp>
        <p:nvSpPr>
          <p:cNvPr id="12" name="s31-text-10"/>
          <p:cNvSpPr txBox="1"/>
          <p:nvPr/>
        </p:nvSpPr>
        <p:spPr>
          <a:xfrm>
            <a:off x="4241247" y="3710788"/>
            <a:ext cx="2458282"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variational circuit block 3</a:t>
            </a:r>
          </a:p>
        </p:txBody>
      </p:sp>
      <p:sp>
        <p:nvSpPr>
          <p:cNvPr id="13" name="s31-text-11"/>
          <p:cNvSpPr txBox="1"/>
          <p:nvPr/>
        </p:nvSpPr>
        <p:spPr>
          <a:xfrm>
            <a:off x="4074018" y="3996531"/>
            <a:ext cx="279274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 data + 2 ancilla qubits · non-Clifford gates</a:t>
            </a:r>
          </a:p>
        </p:txBody>
      </p:sp>
      <p:sp>
        <p:nvSpPr>
          <p:cNvPr id="14" name="s31-text-12"/>
          <p:cNvSpPr txBox="1"/>
          <p:nvPr/>
        </p:nvSpPr>
        <p:spPr>
          <a:xfrm>
            <a:off x="4919291" y="4275924"/>
            <a:ext cx="110219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up to 28 qubits</a:t>
            </a:r>
          </a:p>
        </p:txBody>
      </p:sp>
      <p:sp>
        <p:nvSpPr>
          <p:cNvPr id="15" name="s31-text-13"/>
          <p:cNvSpPr txBox="1"/>
          <p:nvPr/>
        </p:nvSpPr>
        <p:spPr>
          <a:xfrm>
            <a:off x="7654634" y="2885308"/>
            <a:ext cx="1600358"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classical branch</a:t>
            </a:r>
          </a:p>
        </p:txBody>
      </p:sp>
      <p:sp>
        <p:nvSpPr>
          <p:cNvPr id="16" name="s31-text-14"/>
          <p:cNvSpPr txBox="1"/>
          <p:nvPr/>
        </p:nvSpPr>
        <p:spPr>
          <a:xfrm>
            <a:off x="8049218" y="3171051"/>
            <a:ext cx="811192"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dense layers</a:t>
            </a:r>
          </a:p>
        </p:txBody>
      </p:sp>
      <p:sp>
        <p:nvSpPr>
          <p:cNvPr id="17" name="s31-text-15"/>
          <p:cNvSpPr txBox="1"/>
          <p:nvPr/>
        </p:nvSpPr>
        <p:spPr>
          <a:xfrm>
            <a:off x="6475697" y="3488543"/>
            <a:ext cx="135479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information exchange</a:t>
            </a:r>
          </a:p>
        </p:txBody>
      </p:sp>
      <p:sp>
        <p:nvSpPr>
          <p:cNvPr id="18" name="s31-text-16"/>
          <p:cNvSpPr txBox="1"/>
          <p:nvPr/>
        </p:nvSpPr>
        <p:spPr>
          <a:xfrm>
            <a:off x="10320079" y="2993256"/>
            <a:ext cx="65304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output</a:t>
            </a:r>
          </a:p>
        </p:txBody>
      </p:sp>
      <p:sp>
        <p:nvSpPr>
          <p:cNvPr id="19" name="s31-text-17"/>
          <p:cNvSpPr txBox="1"/>
          <p:nvPr/>
        </p:nvSpPr>
        <p:spPr>
          <a:xfrm>
            <a:off x="1142971" y="4574366"/>
            <a:ext cx="175791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gradient selection</a:t>
            </a:r>
          </a:p>
        </p:txBody>
      </p:sp>
      <p:sp>
        <p:nvSpPr>
          <p:cNvPr id="20" name="s31-text-18"/>
          <p:cNvSpPr txBox="1"/>
          <p:nvPr/>
        </p:nvSpPr>
        <p:spPr>
          <a:xfrm>
            <a:off x="1142971" y="4860109"/>
            <a:ext cx="759083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parameter-shift rule on QPUs (Braket SV1, IonQ Aria-1) · adjoint differentiation on GPU simulators (A100, up to 30× faster)</a:t>
            </a:r>
          </a:p>
        </p:txBody>
      </p:sp>
      <p:sp>
        <p:nvSpPr>
          <p:cNvPr id="21"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22" name="s31-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3"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31</a:t>
            </a:r>
            <a:r>
              <a:rPr sz="1100" b="0" i="0" spc="66">
                <a:solidFill>
                  <a:srgbClr val="7B7B86"/>
                </a:solidFill>
                <a:latin typeface="Courier New"/>
              </a:rPr>
              <a:t> / 68</a:t>
            </a:r>
          </a:p>
        </p:txBody>
      </p:sp>
    </p:spTree>
    <p:extLst>
      <p:ext uri="{BB962C8B-B14F-4D97-AF65-F5344CB8AC3E}">
        <p14:creationId xmlns:p14="http://schemas.microsoft.com/office/powerpoint/2010/main" val="3432283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1642128"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QPIE · Results</a:t>
            </a:r>
          </a:p>
        </p:txBody>
      </p:sp>
      <p:sp>
        <p:nvSpPr>
          <p:cNvPr id="3" name="s32-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Higher accuracy on every benchmark</a:t>
            </a:r>
          </a:p>
        </p:txBody>
      </p:sp>
      <p:pic>
        <p:nvPicPr>
          <p:cNvPr id="4" name="s32-image-01" descr="diagram"/>
          <p:cNvPicPr>
            <a:picLocks noChangeAspect="1"/>
          </p:cNvPicPr>
          <p:nvPr/>
        </p:nvPicPr>
        <p:blipFill>
          <a:blip r:embed="rId3"/>
          <a:stretch>
            <a:fillRect/>
          </a:stretch>
        </p:blipFill>
        <p:spPr>
          <a:xfrm>
            <a:off x="863578" y="1517612"/>
            <a:ext cx="10470888" cy="3803555"/>
          </a:xfrm>
          <a:prstGeom prst="rect">
            <a:avLst/>
          </a:prstGeom>
        </p:spPr>
      </p:pic>
      <p:sp>
        <p:nvSpPr>
          <p:cNvPr id="5" name="s32-text-03"/>
          <p:cNvSpPr txBox="1"/>
          <p:nvPr/>
        </p:nvSpPr>
        <p:spPr>
          <a:xfrm>
            <a:off x="3419935" y="4822010"/>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0.70</a:t>
            </a:r>
          </a:p>
        </p:txBody>
      </p:sp>
      <p:sp>
        <p:nvSpPr>
          <p:cNvPr id="6" name="s32-text-04"/>
          <p:cNvSpPr txBox="1"/>
          <p:nvPr/>
        </p:nvSpPr>
        <p:spPr>
          <a:xfrm>
            <a:off x="4562907" y="4822010"/>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0.75</a:t>
            </a:r>
          </a:p>
        </p:txBody>
      </p:sp>
      <p:sp>
        <p:nvSpPr>
          <p:cNvPr id="7" name="s32-text-05"/>
          <p:cNvSpPr txBox="1"/>
          <p:nvPr/>
        </p:nvSpPr>
        <p:spPr>
          <a:xfrm>
            <a:off x="5705878" y="4822010"/>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0.80</a:t>
            </a:r>
          </a:p>
        </p:txBody>
      </p:sp>
      <p:sp>
        <p:nvSpPr>
          <p:cNvPr id="8" name="s32-text-06"/>
          <p:cNvSpPr txBox="1"/>
          <p:nvPr/>
        </p:nvSpPr>
        <p:spPr>
          <a:xfrm>
            <a:off x="6848849" y="4822010"/>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0.85</a:t>
            </a:r>
          </a:p>
        </p:txBody>
      </p:sp>
      <p:sp>
        <p:nvSpPr>
          <p:cNvPr id="9" name="s32-text-07"/>
          <p:cNvSpPr txBox="1"/>
          <p:nvPr/>
        </p:nvSpPr>
        <p:spPr>
          <a:xfrm>
            <a:off x="7991821" y="4822010"/>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0.90</a:t>
            </a:r>
          </a:p>
        </p:txBody>
      </p:sp>
      <p:sp>
        <p:nvSpPr>
          <p:cNvPr id="10" name="s32-text-08"/>
          <p:cNvSpPr txBox="1"/>
          <p:nvPr/>
        </p:nvSpPr>
        <p:spPr>
          <a:xfrm>
            <a:off x="9134792" y="4822010"/>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0.95</a:t>
            </a:r>
          </a:p>
        </p:txBody>
      </p:sp>
      <p:sp>
        <p:nvSpPr>
          <p:cNvPr id="11" name="s32-text-09"/>
          <p:cNvSpPr txBox="1"/>
          <p:nvPr/>
        </p:nvSpPr>
        <p:spPr>
          <a:xfrm>
            <a:off x="10277764" y="4822010"/>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12" name="s32-text-10"/>
          <p:cNvSpPr txBox="1"/>
          <p:nvPr/>
        </p:nvSpPr>
        <p:spPr>
          <a:xfrm>
            <a:off x="6573326" y="5076004"/>
            <a:ext cx="84204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test accuracy</a:t>
            </a:r>
          </a:p>
        </p:txBody>
      </p:sp>
      <p:sp>
        <p:nvSpPr>
          <p:cNvPr id="13" name="s32-text-11"/>
          <p:cNvSpPr txBox="1"/>
          <p:nvPr/>
        </p:nvSpPr>
        <p:spPr>
          <a:xfrm>
            <a:off x="2823794" y="2116978"/>
            <a:ext cx="56067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Moon</a:t>
            </a:r>
          </a:p>
        </p:txBody>
      </p:sp>
      <p:sp>
        <p:nvSpPr>
          <p:cNvPr id="14" name="s32-text-12"/>
          <p:cNvSpPr txBox="1"/>
          <p:nvPr/>
        </p:nvSpPr>
        <p:spPr>
          <a:xfrm>
            <a:off x="10350241" y="2148727"/>
            <a:ext cx="75354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0B0B0F"/>
                </a:solidFill>
                <a:latin typeface="Arial"/>
              </a:rPr>
              <a:t>0.95–0.99</a:t>
            </a:r>
          </a:p>
        </p:txBody>
      </p:sp>
      <p:sp>
        <p:nvSpPr>
          <p:cNvPr id="15" name="s32-text-13"/>
          <p:cNvSpPr txBox="1"/>
          <p:nvPr/>
        </p:nvSpPr>
        <p:spPr>
          <a:xfrm>
            <a:off x="8652899" y="1926482"/>
            <a:ext cx="340411"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0.93</a:t>
            </a:r>
          </a:p>
        </p:txBody>
      </p:sp>
      <p:sp>
        <p:nvSpPr>
          <p:cNvPr id="16" name="s32-text-14"/>
          <p:cNvSpPr txBox="1"/>
          <p:nvPr/>
        </p:nvSpPr>
        <p:spPr>
          <a:xfrm>
            <a:off x="2800776" y="2815460"/>
            <a:ext cx="58368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Spiral</a:t>
            </a:r>
          </a:p>
        </p:txBody>
      </p:sp>
      <p:sp>
        <p:nvSpPr>
          <p:cNvPr id="17" name="s32-text-15"/>
          <p:cNvSpPr txBox="1"/>
          <p:nvPr/>
        </p:nvSpPr>
        <p:spPr>
          <a:xfrm>
            <a:off x="10350241" y="2847209"/>
            <a:ext cx="75354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0B0B0F"/>
                </a:solidFill>
                <a:latin typeface="Arial"/>
              </a:rPr>
              <a:t>0.96–0.99</a:t>
            </a:r>
          </a:p>
        </p:txBody>
      </p:sp>
      <p:sp>
        <p:nvSpPr>
          <p:cNvPr id="18" name="s32-text-16"/>
          <p:cNvSpPr txBox="1"/>
          <p:nvPr/>
        </p:nvSpPr>
        <p:spPr>
          <a:xfrm>
            <a:off x="7967116" y="2624965"/>
            <a:ext cx="340411"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0.90</a:t>
            </a:r>
          </a:p>
        </p:txBody>
      </p:sp>
      <p:sp>
        <p:nvSpPr>
          <p:cNvPr id="19" name="s32-text-17"/>
          <p:cNvSpPr txBox="1"/>
          <p:nvPr/>
        </p:nvSpPr>
        <p:spPr>
          <a:xfrm>
            <a:off x="1773788" y="3513943"/>
            <a:ext cx="1610677"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Brain-tumor MRI</a:t>
            </a:r>
          </a:p>
        </p:txBody>
      </p:sp>
      <p:sp>
        <p:nvSpPr>
          <p:cNvPr id="20" name="s32-text-18"/>
          <p:cNvSpPr txBox="1"/>
          <p:nvPr/>
        </p:nvSpPr>
        <p:spPr>
          <a:xfrm>
            <a:off x="8521487" y="3545692"/>
            <a:ext cx="75354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0B0B0F"/>
                </a:solidFill>
                <a:latin typeface="Arial"/>
              </a:rPr>
              <a:t>0.87–0.91</a:t>
            </a:r>
          </a:p>
        </p:txBody>
      </p:sp>
      <p:sp>
        <p:nvSpPr>
          <p:cNvPr id="21" name="s32-text-19"/>
          <p:cNvSpPr txBox="1"/>
          <p:nvPr/>
        </p:nvSpPr>
        <p:spPr>
          <a:xfrm>
            <a:off x="4766796" y="3323447"/>
            <a:ext cx="340411"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0.76</a:t>
            </a:r>
          </a:p>
        </p:txBody>
      </p:sp>
      <p:sp>
        <p:nvSpPr>
          <p:cNvPr id="22" name="s32-text-20"/>
          <p:cNvSpPr txBox="1"/>
          <p:nvPr/>
        </p:nvSpPr>
        <p:spPr>
          <a:xfrm>
            <a:off x="2733309" y="4212425"/>
            <a:ext cx="65403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MNIST</a:t>
            </a:r>
          </a:p>
        </p:txBody>
      </p:sp>
      <p:sp>
        <p:nvSpPr>
          <p:cNvPr id="23" name="s32-text-21"/>
          <p:cNvSpPr txBox="1"/>
          <p:nvPr/>
        </p:nvSpPr>
        <p:spPr>
          <a:xfrm>
            <a:off x="9893053" y="4244174"/>
            <a:ext cx="75354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0B0B0F"/>
                </a:solidFill>
                <a:latin typeface="Arial"/>
              </a:rPr>
              <a:t>0.93–0.97</a:t>
            </a:r>
          </a:p>
        </p:txBody>
      </p:sp>
      <p:sp>
        <p:nvSpPr>
          <p:cNvPr id="24" name="s32-text-22"/>
          <p:cNvSpPr txBox="1"/>
          <p:nvPr/>
        </p:nvSpPr>
        <p:spPr>
          <a:xfrm>
            <a:off x="5909767" y="4021930"/>
            <a:ext cx="340411"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0.81</a:t>
            </a:r>
          </a:p>
        </p:txBody>
      </p:sp>
      <p:sp>
        <p:nvSpPr>
          <p:cNvPr id="25" name="s32-text-23"/>
          <p:cNvSpPr txBox="1"/>
          <p:nvPr/>
        </p:nvSpPr>
        <p:spPr>
          <a:xfrm>
            <a:off x="4038499" y="1697888"/>
            <a:ext cx="172576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QPIE (range over runs)</a:t>
            </a:r>
          </a:p>
        </p:txBody>
      </p:sp>
      <p:sp>
        <p:nvSpPr>
          <p:cNvPr id="26" name="s32-text-24"/>
          <p:cNvSpPr txBox="1"/>
          <p:nvPr/>
        </p:nvSpPr>
        <p:spPr>
          <a:xfrm>
            <a:off x="6387940" y="1697888"/>
            <a:ext cx="2551842"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classical transfer-learning baseline</a:t>
            </a:r>
          </a:p>
        </p:txBody>
      </p:sp>
      <p:sp>
        <p:nvSpPr>
          <p:cNvPr id="27" name="s32-text-25"/>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Also: ≈88% faster convergence on NARMA5/10 · Fisher eigenvalues ≈16 vs ≈7 (classical).</a:t>
            </a:r>
          </a:p>
        </p:txBody>
      </p:sp>
      <p:sp>
        <p:nvSpPr>
          <p:cNvPr id="28"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29" name="s32-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30"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32</a:t>
            </a:r>
            <a:r>
              <a:rPr sz="1100" b="0" i="0" spc="66">
                <a:solidFill>
                  <a:srgbClr val="7B7B86"/>
                </a:solidFill>
                <a:latin typeface="Courier New"/>
              </a:rPr>
              <a:t> / 68</a:t>
            </a:r>
          </a:p>
        </p:txBody>
      </p:sp>
    </p:spTree>
    <p:extLst>
      <p:ext uri="{BB962C8B-B14F-4D97-AF65-F5344CB8AC3E}">
        <p14:creationId xmlns:p14="http://schemas.microsoft.com/office/powerpoint/2010/main" val="4200907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461772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VQT · Vectorized Quantum Transformer</a:t>
            </a:r>
          </a:p>
        </p:txBody>
      </p:sp>
      <p:sp>
        <p:nvSpPr>
          <p:cNvPr id="3" name="s33-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Two shot-efficient primitives</a:t>
            </a:r>
          </a:p>
        </p:txBody>
      </p:sp>
      <p:pic>
        <p:nvPicPr>
          <p:cNvPr id="4" name="s33-image-01" descr="diagram"/>
          <p:cNvPicPr>
            <a:picLocks noChangeAspect="1"/>
          </p:cNvPicPr>
          <p:nvPr/>
        </p:nvPicPr>
        <p:blipFill>
          <a:blip r:embed="rId3"/>
          <a:stretch>
            <a:fillRect/>
          </a:stretch>
        </p:blipFill>
        <p:spPr>
          <a:xfrm>
            <a:off x="863578" y="1530312"/>
            <a:ext cx="10470888" cy="3803555"/>
          </a:xfrm>
          <a:prstGeom prst="rect">
            <a:avLst/>
          </a:prstGeom>
        </p:spPr>
      </p:pic>
      <p:sp>
        <p:nvSpPr>
          <p:cNvPr id="5" name="s33-text-03"/>
          <p:cNvSpPr txBox="1"/>
          <p:nvPr/>
        </p:nvSpPr>
        <p:spPr>
          <a:xfrm>
            <a:off x="1070891" y="3082153"/>
            <a:ext cx="181416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token embeddings</a:t>
            </a:r>
          </a:p>
        </p:txBody>
      </p:sp>
      <p:sp>
        <p:nvSpPr>
          <p:cNvPr id="6" name="s33-text-04"/>
          <p:cNvSpPr txBox="1"/>
          <p:nvPr/>
        </p:nvSpPr>
        <p:spPr>
          <a:xfrm>
            <a:off x="1101201" y="3367896"/>
            <a:ext cx="175354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B sequences × T tokens × d</a:t>
            </a:r>
          </a:p>
        </p:txBody>
      </p:sp>
      <p:sp>
        <p:nvSpPr>
          <p:cNvPr id="7" name="s33-text-05"/>
          <p:cNvSpPr txBox="1"/>
          <p:nvPr/>
        </p:nvSpPr>
        <p:spPr>
          <a:xfrm>
            <a:off x="3463293" y="3082153"/>
            <a:ext cx="229973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QCrank block encoding</a:t>
            </a:r>
          </a:p>
        </p:txBody>
      </p:sp>
      <p:sp>
        <p:nvSpPr>
          <p:cNvPr id="8" name="s33-text-06"/>
          <p:cNvSpPr txBox="1"/>
          <p:nvPr/>
        </p:nvSpPr>
        <p:spPr>
          <a:xfrm>
            <a:off x="3827416" y="3367896"/>
            <a:ext cx="157148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vectorized · Θ(N) CNOTs</a:t>
            </a:r>
          </a:p>
        </p:txBody>
      </p:sp>
      <p:sp>
        <p:nvSpPr>
          <p:cNvPr id="9" name="s33-text-07"/>
          <p:cNvSpPr txBox="1"/>
          <p:nvPr/>
        </p:nvSpPr>
        <p:spPr>
          <a:xfrm>
            <a:off x="6326228" y="1958232"/>
            <a:ext cx="387836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VQDP · vectorized quantum dot product</a:t>
            </a:r>
          </a:p>
        </p:txBody>
      </p:sp>
      <p:sp>
        <p:nvSpPr>
          <p:cNvPr id="10" name="s33-text-08"/>
          <p:cNvSpPr txBox="1"/>
          <p:nvPr/>
        </p:nvSpPr>
        <p:spPr>
          <a:xfrm>
            <a:off x="6419392" y="2231275"/>
            <a:ext cx="3689853"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the whole masked attention matrix in one estimate</a:t>
            </a:r>
          </a:p>
        </p:txBody>
      </p:sp>
      <p:sp>
        <p:nvSpPr>
          <p:cNvPr id="11" name="s33-text-09"/>
          <p:cNvSpPr txBox="1"/>
          <p:nvPr/>
        </p:nvSpPr>
        <p:spPr>
          <a:xfrm>
            <a:off x="6908230" y="2472569"/>
            <a:ext cx="271217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O(log(B·T²) · shots)  vs  O(B·T²·d) classically</a:t>
            </a:r>
          </a:p>
        </p:txBody>
      </p:sp>
      <p:sp>
        <p:nvSpPr>
          <p:cNvPr id="12" name="s33-text-10"/>
          <p:cNvSpPr txBox="1"/>
          <p:nvPr/>
        </p:nvSpPr>
        <p:spPr>
          <a:xfrm>
            <a:off x="6465131" y="3926682"/>
            <a:ext cx="359837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VNQE · vectorized nonlinear encoder</a:t>
            </a:r>
          </a:p>
        </p:txBody>
      </p:sp>
      <p:sp>
        <p:nvSpPr>
          <p:cNvPr id="13" name="s33-text-11"/>
          <p:cNvSpPr txBox="1"/>
          <p:nvPr/>
        </p:nvSpPr>
        <p:spPr>
          <a:xfrm>
            <a:off x="6467313" y="4199725"/>
            <a:ext cx="3594010"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tanh projection head + expressive quantum head</a:t>
            </a:r>
          </a:p>
        </p:txBody>
      </p:sp>
      <p:sp>
        <p:nvSpPr>
          <p:cNvPr id="14" name="s33-text-12"/>
          <p:cNvSpPr txBox="1"/>
          <p:nvPr/>
        </p:nvSpPr>
        <p:spPr>
          <a:xfrm>
            <a:off x="7322855" y="4441019"/>
            <a:ext cx="188292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makes the encoding learnable</a:t>
            </a:r>
          </a:p>
        </p:txBody>
      </p:sp>
      <p:sp>
        <p:nvSpPr>
          <p:cNvPr id="15" name="s33-text-13"/>
          <p:cNvSpPr txBox="1"/>
          <p:nvPr/>
        </p:nvSpPr>
        <p:spPr>
          <a:xfrm>
            <a:off x="10510575" y="3082153"/>
            <a:ext cx="65304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output</a:t>
            </a:r>
          </a:p>
        </p:txBody>
      </p:sp>
      <p:sp>
        <p:nvSpPr>
          <p:cNvPr id="16" name="s33-text-14"/>
          <p:cNvSpPr txBox="1"/>
          <p:nvPr/>
        </p:nvSpPr>
        <p:spPr>
          <a:xfrm>
            <a:off x="10430408" y="3367896"/>
            <a:ext cx="811192"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gradient-free</a:t>
            </a:r>
          </a:p>
        </p:txBody>
      </p:sp>
      <p:sp>
        <p:nvSpPr>
          <p:cNvPr id="17" name="s33-text-15"/>
          <p:cNvSpPr txBox="1"/>
          <p:nvPr/>
        </p:nvSpPr>
        <p:spPr>
          <a:xfrm>
            <a:off x="2809606" y="5025205"/>
            <a:ext cx="6591532"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attention error &lt; 1.2% with 3.0 M shots · variance bound for VQDP proved in the appendix</a:t>
            </a:r>
          </a:p>
        </p:txBody>
      </p:sp>
      <p:sp>
        <p:nvSpPr>
          <p:cNvPr id="18"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19" name="s33-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0"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33</a:t>
            </a:r>
            <a:r>
              <a:rPr sz="1100" b="0" i="0" spc="66">
                <a:solidFill>
                  <a:srgbClr val="7B7B86"/>
                </a:solidFill>
                <a:latin typeface="Courier New"/>
              </a:rPr>
              <a:t> / 68</a:t>
            </a:r>
          </a:p>
        </p:txBody>
      </p:sp>
    </p:spTree>
    <p:extLst>
      <p:ext uri="{BB962C8B-B14F-4D97-AF65-F5344CB8AC3E}">
        <p14:creationId xmlns:p14="http://schemas.microsoft.com/office/powerpoint/2010/main" val="485286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180097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VQT · Hardware</a:t>
            </a:r>
          </a:p>
        </p:txBody>
      </p:sp>
      <p:sp>
        <p:nvSpPr>
          <p:cNvPr id="3" name="s34-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Attention estimated on real QPUs</a:t>
            </a:r>
          </a:p>
        </p:txBody>
      </p:sp>
      <p:pic>
        <p:nvPicPr>
          <p:cNvPr id="4" name="s34-image-01" descr="diagram"/>
          <p:cNvPicPr>
            <a:picLocks noChangeAspect="1"/>
          </p:cNvPicPr>
          <p:nvPr/>
        </p:nvPicPr>
        <p:blipFill>
          <a:blip r:embed="rId3"/>
          <a:stretch>
            <a:fillRect/>
          </a:stretch>
        </p:blipFill>
        <p:spPr>
          <a:xfrm>
            <a:off x="863578" y="1530312"/>
            <a:ext cx="6660983" cy="3613060"/>
          </a:xfrm>
          <a:prstGeom prst="rect">
            <a:avLst/>
          </a:prstGeom>
        </p:spPr>
      </p:pic>
      <p:sp>
        <p:nvSpPr>
          <p:cNvPr id="5" name="s34-text-03"/>
          <p:cNvSpPr txBox="1"/>
          <p:nvPr/>
        </p:nvSpPr>
        <p:spPr>
          <a:xfrm>
            <a:off x="1531403" y="4529917"/>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0.00</a:t>
            </a:r>
          </a:p>
        </p:txBody>
      </p:sp>
      <p:sp>
        <p:nvSpPr>
          <p:cNvPr id="6" name="s34-text-04"/>
          <p:cNvSpPr txBox="1"/>
          <p:nvPr/>
        </p:nvSpPr>
        <p:spPr>
          <a:xfrm>
            <a:off x="1531403" y="3789100"/>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0.05</a:t>
            </a:r>
          </a:p>
        </p:txBody>
      </p:sp>
      <p:sp>
        <p:nvSpPr>
          <p:cNvPr id="7" name="s34-text-05"/>
          <p:cNvSpPr txBox="1"/>
          <p:nvPr/>
        </p:nvSpPr>
        <p:spPr>
          <a:xfrm>
            <a:off x="1531403" y="3048290"/>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0.10</a:t>
            </a:r>
          </a:p>
        </p:txBody>
      </p:sp>
      <p:sp>
        <p:nvSpPr>
          <p:cNvPr id="8" name="s34-text-06"/>
          <p:cNvSpPr txBox="1"/>
          <p:nvPr/>
        </p:nvSpPr>
        <p:spPr>
          <a:xfrm>
            <a:off x="1531403" y="2307473"/>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0.15</a:t>
            </a:r>
          </a:p>
        </p:txBody>
      </p:sp>
      <p:sp>
        <p:nvSpPr>
          <p:cNvPr id="9" name="s34-text-07"/>
          <p:cNvSpPr txBox="1"/>
          <p:nvPr/>
        </p:nvSpPr>
        <p:spPr>
          <a:xfrm>
            <a:off x="1803355" y="1672489"/>
            <a:ext cx="295396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RMSE of the attention estimate (lower is better)</a:t>
            </a:r>
          </a:p>
        </p:txBody>
      </p:sp>
      <p:sp>
        <p:nvSpPr>
          <p:cNvPr id="10" name="s34-text-08"/>
          <p:cNvSpPr txBox="1"/>
          <p:nvPr/>
        </p:nvSpPr>
        <p:spPr>
          <a:xfrm>
            <a:off x="2748859" y="4068493"/>
            <a:ext cx="5275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0.017</a:t>
            </a:r>
          </a:p>
        </p:txBody>
      </p:sp>
      <p:sp>
        <p:nvSpPr>
          <p:cNvPr id="11" name="s34-text-09"/>
          <p:cNvSpPr txBox="1"/>
          <p:nvPr/>
        </p:nvSpPr>
        <p:spPr>
          <a:xfrm>
            <a:off x="2470855" y="4707713"/>
            <a:ext cx="108563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ideal simulator</a:t>
            </a:r>
          </a:p>
        </p:txBody>
      </p:sp>
      <p:sp>
        <p:nvSpPr>
          <p:cNvPr id="12" name="s34-text-10"/>
          <p:cNvSpPr txBox="1"/>
          <p:nvPr/>
        </p:nvSpPr>
        <p:spPr>
          <a:xfrm>
            <a:off x="2735117" y="4936307"/>
            <a:ext cx="55501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batch 32</a:t>
            </a:r>
          </a:p>
        </p:txBody>
      </p:sp>
      <p:sp>
        <p:nvSpPr>
          <p:cNvPr id="13" name="s34-text-11"/>
          <p:cNvSpPr txBox="1"/>
          <p:nvPr/>
        </p:nvSpPr>
        <p:spPr>
          <a:xfrm>
            <a:off x="4317644" y="3446209"/>
            <a:ext cx="5275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0.059</a:t>
            </a:r>
          </a:p>
        </p:txBody>
      </p:sp>
      <p:sp>
        <p:nvSpPr>
          <p:cNvPr id="14" name="s34-text-12"/>
          <p:cNvSpPr txBox="1"/>
          <p:nvPr/>
        </p:nvSpPr>
        <p:spPr>
          <a:xfrm>
            <a:off x="4080914" y="4707713"/>
            <a:ext cx="1000993"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IBM Kingston</a:t>
            </a:r>
          </a:p>
        </p:txBody>
      </p:sp>
      <p:sp>
        <p:nvSpPr>
          <p:cNvPr id="15" name="s34-text-13"/>
          <p:cNvSpPr txBox="1"/>
          <p:nvPr/>
        </p:nvSpPr>
        <p:spPr>
          <a:xfrm>
            <a:off x="4303903" y="4936307"/>
            <a:ext cx="55501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batch 32</a:t>
            </a:r>
          </a:p>
        </p:txBody>
      </p:sp>
      <p:sp>
        <p:nvSpPr>
          <p:cNvPr id="16" name="s34-text-14"/>
          <p:cNvSpPr txBox="1"/>
          <p:nvPr/>
        </p:nvSpPr>
        <p:spPr>
          <a:xfrm>
            <a:off x="5886430" y="2023844"/>
            <a:ext cx="5275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0.155</a:t>
            </a:r>
          </a:p>
        </p:txBody>
      </p:sp>
      <p:sp>
        <p:nvSpPr>
          <p:cNvPr id="17" name="s34-text-15"/>
          <p:cNvSpPr txBox="1"/>
          <p:nvPr/>
        </p:nvSpPr>
        <p:spPr>
          <a:xfrm>
            <a:off x="5723120" y="4707713"/>
            <a:ext cx="854153"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IonQ Aria-1</a:t>
            </a:r>
          </a:p>
        </p:txBody>
      </p:sp>
      <p:sp>
        <p:nvSpPr>
          <p:cNvPr id="18" name="s34-text-16"/>
          <p:cNvSpPr txBox="1"/>
          <p:nvPr/>
        </p:nvSpPr>
        <p:spPr>
          <a:xfrm>
            <a:off x="5911531" y="4936307"/>
            <a:ext cx="47732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batch 8</a:t>
            </a:r>
          </a:p>
        </p:txBody>
      </p:sp>
      <p:sp>
        <p:nvSpPr>
          <p:cNvPr id="19" name="s34-box-01"/>
          <p:cNvSpPr/>
          <p:nvPr/>
        </p:nvSpPr>
        <p:spPr>
          <a:xfrm>
            <a:off x="7746806" y="2222444"/>
            <a:ext cx="3555911" cy="1163212"/>
          </a:xfrm>
          <a:prstGeom prst="roundRect">
            <a:avLst>
              <a:gd name="adj" fmla="val 1310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34-text-17"/>
          <p:cNvSpPr txBox="1"/>
          <p:nvPr/>
        </p:nvSpPr>
        <p:spPr>
          <a:xfrm>
            <a:off x="7937302" y="2362141"/>
            <a:ext cx="3193970"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HARDWARE RUNS</a:t>
            </a:r>
          </a:p>
        </p:txBody>
      </p:sp>
      <p:sp>
        <p:nvSpPr>
          <p:cNvPr id="21" name="s34-text-18"/>
          <p:cNvSpPr txBox="1"/>
          <p:nvPr/>
        </p:nvSpPr>
        <p:spPr>
          <a:xfrm>
            <a:off x="7937302" y="2565336"/>
            <a:ext cx="3193970" cy="215895"/>
          </a:xfrm>
          <a:prstGeom prst="rect">
            <a:avLst/>
          </a:prstGeom>
          <a:noFill/>
        </p:spPr>
        <p:txBody>
          <a:bodyPr wrap="none" lIns="0" tIns="0" rIns="0" bIns="0" anchor="t">
            <a:noAutofit/>
          </a:bodyPr>
          <a:lstStyle/>
          <a:p>
            <a:pPr algn="l">
              <a:lnSpc>
                <a:spcPts val="1800"/>
              </a:lnSpc>
              <a:spcBef>
                <a:spcPts val="0"/>
              </a:spcBef>
              <a:spcAft>
                <a:spcPts val="0"/>
              </a:spcAft>
            </a:pPr>
            <a:r>
              <a:rPr sz="1500" b="1" i="0" spc="-22">
                <a:solidFill>
                  <a:srgbClr val="0B0B0F"/>
                </a:solidFill>
                <a:latin typeface="Arial"/>
              </a:rPr>
              <a:t>4–9 qubits</a:t>
            </a:r>
          </a:p>
        </p:txBody>
      </p:sp>
      <p:sp>
        <p:nvSpPr>
          <p:cNvPr id="22" name="s34-text-19"/>
          <p:cNvSpPr txBox="1"/>
          <p:nvPr/>
        </p:nvSpPr>
        <p:spPr>
          <a:xfrm>
            <a:off x="7937302" y="2819330"/>
            <a:ext cx="3187620" cy="426630"/>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batches 4–128 · 10K–320K shots · CNOT depth 5–129</a:t>
            </a:r>
          </a:p>
        </p:txBody>
      </p:sp>
      <p:sp>
        <p:nvSpPr>
          <p:cNvPr id="23" name="s34-box-02"/>
          <p:cNvSpPr/>
          <p:nvPr/>
        </p:nvSpPr>
        <p:spPr>
          <a:xfrm>
            <a:off x="7746806" y="3499953"/>
            <a:ext cx="3555911" cy="949897"/>
          </a:xfrm>
          <a:prstGeom prst="roundRect">
            <a:avLst>
              <a:gd name="adj" fmla="val 1604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34-text-20"/>
          <p:cNvSpPr txBox="1"/>
          <p:nvPr/>
        </p:nvSpPr>
        <p:spPr>
          <a:xfrm>
            <a:off x="7937302" y="3639650"/>
            <a:ext cx="3193970"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GAP TO IDEAL</a:t>
            </a:r>
          </a:p>
        </p:txBody>
      </p:sp>
      <p:sp>
        <p:nvSpPr>
          <p:cNvPr id="25" name="s34-text-21"/>
          <p:cNvSpPr txBox="1"/>
          <p:nvPr/>
        </p:nvSpPr>
        <p:spPr>
          <a:xfrm>
            <a:off x="7937302" y="3842845"/>
            <a:ext cx="3193970" cy="215895"/>
          </a:xfrm>
          <a:prstGeom prst="rect">
            <a:avLst/>
          </a:prstGeom>
          <a:noFill/>
        </p:spPr>
        <p:txBody>
          <a:bodyPr wrap="none" lIns="0" tIns="0" rIns="0" bIns="0" anchor="t">
            <a:noAutofit/>
          </a:bodyPr>
          <a:lstStyle/>
          <a:p>
            <a:pPr algn="l">
              <a:lnSpc>
                <a:spcPts val="1800"/>
              </a:lnSpc>
              <a:spcBef>
                <a:spcPts val="0"/>
              </a:spcBef>
              <a:spcAft>
                <a:spcPts val="0"/>
              </a:spcAft>
            </a:pPr>
            <a:r>
              <a:rPr sz="1500" b="1" i="0" spc="-22">
                <a:solidFill>
                  <a:srgbClr val="0B0B0F"/>
                </a:solidFill>
                <a:latin typeface="Arial"/>
              </a:rPr>
              <a:t>0.017 → 0.059 → 0.155</a:t>
            </a:r>
          </a:p>
        </p:txBody>
      </p:sp>
      <p:sp>
        <p:nvSpPr>
          <p:cNvPr id="26" name="s34-text-22"/>
          <p:cNvSpPr txBox="1"/>
          <p:nvPr/>
        </p:nvSpPr>
        <p:spPr>
          <a:xfrm>
            <a:off x="7937302" y="4096838"/>
            <a:ext cx="3193970" cy="213315"/>
          </a:xfrm>
          <a:prstGeom prst="rect">
            <a:avLst/>
          </a:prstGeom>
          <a:noFill/>
        </p:spPr>
        <p:txBody>
          <a:bodyPr wrap="none" lIns="0" tIns="0" rIns="0" bIns="0" anchor="t">
            <a:noAutofit/>
          </a:bodyPr>
          <a:lstStyle/>
          <a:p>
            <a:pPr algn="l">
              <a:lnSpc>
                <a:spcPts val="1680"/>
              </a:lnSpc>
              <a:spcBef>
                <a:spcPts val="0"/>
              </a:spcBef>
              <a:spcAft>
                <a:spcPts val="0"/>
              </a:spcAft>
            </a:pPr>
            <a:r>
              <a:rPr sz="1200" b="0" i="0">
                <a:solidFill>
                  <a:srgbClr val="50505B"/>
                </a:solidFill>
                <a:latin typeface="Arial"/>
              </a:rPr>
              <a:t>ideal simulator, IBM Kingston, IonQ Aria-1</a:t>
            </a:r>
          </a:p>
        </p:txBody>
      </p:sp>
      <p:sp>
        <p:nvSpPr>
          <p:cNvPr id="27"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28" name="s34-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34</a:t>
            </a:r>
            <a:r>
              <a:rPr sz="1100" b="0" i="0" spc="66">
                <a:solidFill>
                  <a:srgbClr val="7B7B86"/>
                </a:solidFill>
                <a:latin typeface="Courier New"/>
              </a:rPr>
              <a:t> / 68</a:t>
            </a:r>
          </a:p>
        </p:txBody>
      </p:sp>
    </p:spTree>
    <p:extLst>
      <p:ext uri="{BB962C8B-B14F-4D97-AF65-F5344CB8AC3E}">
        <p14:creationId xmlns:p14="http://schemas.microsoft.com/office/powerpoint/2010/main" val="3376995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3040979"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VQT · Language modelling</a:t>
            </a:r>
          </a:p>
        </p:txBody>
      </p:sp>
      <p:sp>
        <p:nvSpPr>
          <p:cNvPr id="3" name="s35-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Language modelling, Brown corpus</a:t>
            </a:r>
          </a:p>
        </p:txBody>
      </p:sp>
      <p:pic>
        <p:nvPicPr>
          <p:cNvPr id="4" name="s35-image-01" descr="diagram"/>
          <p:cNvPicPr>
            <a:picLocks noChangeAspect="1"/>
          </p:cNvPicPr>
          <p:nvPr/>
        </p:nvPicPr>
        <p:blipFill>
          <a:blip r:embed="rId3"/>
          <a:stretch>
            <a:fillRect/>
          </a:stretch>
        </p:blipFill>
        <p:spPr>
          <a:xfrm>
            <a:off x="863578" y="1517612"/>
            <a:ext cx="10470888" cy="3867053"/>
          </a:xfrm>
          <a:prstGeom prst="rect">
            <a:avLst/>
          </a:prstGeom>
        </p:spPr>
      </p:pic>
      <p:pic>
        <p:nvPicPr>
          <p:cNvPr id="5" name="!!pp-nanogpt" descr="chart element"/>
          <p:cNvPicPr>
            <a:picLocks noChangeAspect="1"/>
          </p:cNvPicPr>
          <p:nvPr/>
        </p:nvPicPr>
        <p:blipFill>
          <a:blip r:embed="rId4"/>
          <a:stretch>
            <a:fillRect/>
          </a:stretch>
        </p:blipFill>
        <p:spPr>
          <a:xfrm>
            <a:off x="4406790" y="1885903"/>
            <a:ext cx="3936902" cy="476238"/>
          </a:xfrm>
          <a:prstGeom prst="rect">
            <a:avLst/>
          </a:prstGeom>
        </p:spPr>
      </p:pic>
      <p:pic>
        <p:nvPicPr>
          <p:cNvPr id="6" name="!!pp-qlstm" descr="chart element"/>
          <p:cNvPicPr>
            <a:picLocks noChangeAspect="1"/>
          </p:cNvPicPr>
          <p:nvPr/>
        </p:nvPicPr>
        <p:blipFill>
          <a:blip r:embed="rId5"/>
          <a:stretch>
            <a:fillRect/>
          </a:stretch>
        </p:blipFill>
        <p:spPr>
          <a:xfrm>
            <a:off x="4406790" y="2457389"/>
            <a:ext cx="5308467" cy="476238"/>
          </a:xfrm>
          <a:prstGeom prst="rect">
            <a:avLst/>
          </a:prstGeom>
        </p:spPr>
      </p:pic>
      <p:pic>
        <p:nvPicPr>
          <p:cNvPr id="7" name="!!pp-quixer" descr="chart element"/>
          <p:cNvPicPr>
            <a:picLocks noChangeAspect="1"/>
          </p:cNvPicPr>
          <p:nvPr/>
        </p:nvPicPr>
        <p:blipFill>
          <a:blip r:embed="rId6"/>
          <a:stretch>
            <a:fillRect/>
          </a:stretch>
        </p:blipFill>
        <p:spPr>
          <a:xfrm>
            <a:off x="4406790" y="3028874"/>
            <a:ext cx="4965576" cy="476238"/>
          </a:xfrm>
          <a:prstGeom prst="rect">
            <a:avLst/>
          </a:prstGeom>
        </p:spPr>
      </p:pic>
      <p:pic>
        <p:nvPicPr>
          <p:cNvPr id="8" name="!!pp-hqt" descr="chart element"/>
          <p:cNvPicPr>
            <a:picLocks noChangeAspect="1"/>
          </p:cNvPicPr>
          <p:nvPr/>
        </p:nvPicPr>
        <p:blipFill>
          <a:blip r:embed="rId7"/>
          <a:stretch>
            <a:fillRect/>
          </a:stretch>
        </p:blipFill>
        <p:spPr>
          <a:xfrm>
            <a:off x="4406790" y="3600360"/>
            <a:ext cx="5403715" cy="476238"/>
          </a:xfrm>
          <a:prstGeom prst="rect">
            <a:avLst/>
          </a:prstGeom>
        </p:spPr>
      </p:pic>
      <p:pic>
        <p:nvPicPr>
          <p:cNvPr id="9" name="!!pp-vqt" descr="chart element"/>
          <p:cNvPicPr>
            <a:picLocks noChangeAspect="1"/>
          </p:cNvPicPr>
          <p:nvPr/>
        </p:nvPicPr>
        <p:blipFill>
          <a:blip r:embed="rId8"/>
          <a:stretch>
            <a:fillRect/>
          </a:stretch>
        </p:blipFill>
        <p:spPr>
          <a:xfrm>
            <a:off x="4406790" y="4171846"/>
            <a:ext cx="4476638" cy="476238"/>
          </a:xfrm>
          <a:prstGeom prst="rect">
            <a:avLst/>
          </a:prstGeom>
        </p:spPr>
      </p:pic>
      <p:sp>
        <p:nvSpPr>
          <p:cNvPr id="10" name="!!pp-t-0"/>
          <p:cNvSpPr txBox="1"/>
          <p:nvPr/>
        </p:nvSpPr>
        <p:spPr>
          <a:xfrm>
            <a:off x="4405996" y="484740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11" name="!!pp-t-20"/>
          <p:cNvSpPr txBox="1"/>
          <p:nvPr/>
        </p:nvSpPr>
        <p:spPr>
          <a:xfrm>
            <a:off x="5201706" y="4847409"/>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20</a:t>
            </a:r>
          </a:p>
        </p:txBody>
      </p:sp>
      <p:sp>
        <p:nvSpPr>
          <p:cNvPr id="12" name="!!pp-t-40"/>
          <p:cNvSpPr txBox="1"/>
          <p:nvPr/>
        </p:nvSpPr>
        <p:spPr>
          <a:xfrm>
            <a:off x="6036253" y="4847409"/>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40</a:t>
            </a:r>
          </a:p>
        </p:txBody>
      </p:sp>
      <p:sp>
        <p:nvSpPr>
          <p:cNvPr id="13" name="!!pp-t-60"/>
          <p:cNvSpPr txBox="1"/>
          <p:nvPr/>
        </p:nvSpPr>
        <p:spPr>
          <a:xfrm>
            <a:off x="6870807" y="4847409"/>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60</a:t>
            </a:r>
          </a:p>
        </p:txBody>
      </p:sp>
      <p:sp>
        <p:nvSpPr>
          <p:cNvPr id="14" name="!!pp-t-80"/>
          <p:cNvSpPr txBox="1"/>
          <p:nvPr/>
        </p:nvSpPr>
        <p:spPr>
          <a:xfrm>
            <a:off x="7705328" y="4847409"/>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80</a:t>
            </a:r>
          </a:p>
        </p:txBody>
      </p:sp>
      <p:sp>
        <p:nvSpPr>
          <p:cNvPr id="15" name="!!pp-t-100"/>
          <p:cNvSpPr txBox="1"/>
          <p:nvPr/>
        </p:nvSpPr>
        <p:spPr>
          <a:xfrm>
            <a:off x="8501045" y="4847409"/>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16" name="!!pp-t-120"/>
          <p:cNvSpPr txBox="1"/>
          <p:nvPr/>
        </p:nvSpPr>
        <p:spPr>
          <a:xfrm>
            <a:off x="9335604" y="4847409"/>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120</a:t>
            </a:r>
          </a:p>
        </p:txBody>
      </p:sp>
      <p:sp>
        <p:nvSpPr>
          <p:cNvPr id="17" name="!!pp-t-140"/>
          <p:cNvSpPr txBox="1"/>
          <p:nvPr/>
        </p:nvSpPr>
        <p:spPr>
          <a:xfrm>
            <a:off x="10170164" y="4847409"/>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140</a:t>
            </a:r>
          </a:p>
        </p:txBody>
      </p:sp>
      <p:sp>
        <p:nvSpPr>
          <p:cNvPr id="18" name="!!pp-xlab"/>
          <p:cNvSpPr txBox="1"/>
          <p:nvPr/>
        </p:nvSpPr>
        <p:spPr>
          <a:xfrm>
            <a:off x="5906096" y="5101403"/>
            <a:ext cx="293848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perplexity on the Brown corpus (lower is better)</a:t>
            </a:r>
          </a:p>
        </p:txBody>
      </p:sp>
      <p:sp>
        <p:nvSpPr>
          <p:cNvPr id="19" name="!!pp-nanogpt-n"/>
          <p:cNvSpPr txBox="1"/>
          <p:nvPr/>
        </p:nvSpPr>
        <p:spPr>
          <a:xfrm>
            <a:off x="1676854" y="2028080"/>
            <a:ext cx="262198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nanoGPT · 125K params · classical</a:t>
            </a:r>
          </a:p>
        </p:txBody>
      </p:sp>
      <p:sp>
        <p:nvSpPr>
          <p:cNvPr id="20" name="!!pp-nanogpt-v"/>
          <p:cNvSpPr txBox="1"/>
          <p:nvPr/>
        </p:nvSpPr>
        <p:spPr>
          <a:xfrm>
            <a:off x="8406301" y="1996331"/>
            <a:ext cx="41452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92.5</a:t>
            </a:r>
          </a:p>
        </p:txBody>
      </p:sp>
      <p:sp>
        <p:nvSpPr>
          <p:cNvPr id="21" name="!!pp-qlstm-n"/>
          <p:cNvSpPr txBox="1"/>
          <p:nvPr/>
        </p:nvSpPr>
        <p:spPr>
          <a:xfrm>
            <a:off x="3656020" y="2599565"/>
            <a:ext cx="642822"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Q-LSTM</a:t>
            </a:r>
          </a:p>
        </p:txBody>
      </p:sp>
      <p:sp>
        <p:nvSpPr>
          <p:cNvPr id="22" name="!!pp-qlstm-v"/>
          <p:cNvSpPr txBox="1"/>
          <p:nvPr/>
        </p:nvSpPr>
        <p:spPr>
          <a:xfrm>
            <a:off x="9774946" y="2567816"/>
            <a:ext cx="5275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125.3</a:t>
            </a:r>
          </a:p>
        </p:txBody>
      </p:sp>
      <p:sp>
        <p:nvSpPr>
          <p:cNvPr id="23" name="!!pp-quixer-n"/>
          <p:cNvSpPr txBox="1"/>
          <p:nvPr/>
        </p:nvSpPr>
        <p:spPr>
          <a:xfrm>
            <a:off x="3793534" y="3171051"/>
            <a:ext cx="50747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Quixer</a:t>
            </a:r>
          </a:p>
        </p:txBody>
      </p:sp>
      <p:sp>
        <p:nvSpPr>
          <p:cNvPr id="24" name="!!pp-quixer-v"/>
          <p:cNvSpPr txBox="1"/>
          <p:nvPr/>
        </p:nvSpPr>
        <p:spPr>
          <a:xfrm>
            <a:off x="9432753" y="3139302"/>
            <a:ext cx="51632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117.1</a:t>
            </a:r>
          </a:p>
        </p:txBody>
      </p:sp>
      <p:sp>
        <p:nvSpPr>
          <p:cNvPr id="25" name="!!pp-hqt-n"/>
          <p:cNvSpPr txBox="1"/>
          <p:nvPr/>
        </p:nvSpPr>
        <p:spPr>
          <a:xfrm>
            <a:off x="3527535" y="3742537"/>
            <a:ext cx="772002"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Hybrid QT</a:t>
            </a:r>
          </a:p>
        </p:txBody>
      </p:sp>
      <p:sp>
        <p:nvSpPr>
          <p:cNvPr id="26" name="!!pp-hqt-v"/>
          <p:cNvSpPr txBox="1"/>
          <p:nvPr/>
        </p:nvSpPr>
        <p:spPr>
          <a:xfrm>
            <a:off x="9870892" y="3710788"/>
            <a:ext cx="5275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127.6</a:t>
            </a:r>
          </a:p>
        </p:txBody>
      </p:sp>
      <p:sp>
        <p:nvSpPr>
          <p:cNvPr id="27" name="!!pp-vqt-n"/>
          <p:cNvSpPr txBox="1"/>
          <p:nvPr/>
        </p:nvSpPr>
        <p:spPr>
          <a:xfrm>
            <a:off x="2420282" y="4314023"/>
            <a:ext cx="188482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VQT · 6 qubits · this work</a:t>
            </a:r>
          </a:p>
        </p:txBody>
      </p:sp>
      <p:sp>
        <p:nvSpPr>
          <p:cNvPr id="28" name="!!pp-vqt-v"/>
          <p:cNvSpPr txBox="1"/>
          <p:nvPr/>
        </p:nvSpPr>
        <p:spPr>
          <a:xfrm>
            <a:off x="8944577" y="4282273"/>
            <a:ext cx="52882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105.4</a:t>
            </a:r>
          </a:p>
        </p:txBody>
      </p:sp>
      <p:sp>
        <p:nvSpPr>
          <p:cNvPr id="29" name="s35-text-22"/>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VQT perplexity 105.4 · nanoGPT 92.5. Colour = model family.</a:t>
            </a:r>
          </a:p>
        </p:txBody>
      </p:sp>
      <p:sp>
        <p:nvSpPr>
          <p:cNvPr id="30"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31" name="s35-image-07" descr="Texas Tech University Double T"/>
          <p:cNvPicPr>
            <a:picLocks noChangeAspect="1"/>
          </p:cNvPicPr>
          <p:nvPr/>
        </p:nvPicPr>
        <p:blipFill>
          <a:blip r:embed="rId9"/>
          <a:stretch>
            <a:fillRect/>
          </a:stretch>
        </p:blipFill>
        <p:spPr>
          <a:xfrm>
            <a:off x="11055074" y="600060"/>
            <a:ext cx="190495" cy="222244"/>
          </a:xfrm>
          <a:prstGeom prst="rect">
            <a:avLst/>
          </a:prstGeom>
        </p:spPr>
      </p:pic>
      <p:sp>
        <p:nvSpPr>
          <p:cNvPr id="32"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35</a:t>
            </a:r>
            <a:r>
              <a:rPr sz="1100" b="0" i="0" spc="66">
                <a:solidFill>
                  <a:srgbClr val="7B7B86"/>
                </a:solidFill>
                <a:latin typeface="Courier New"/>
              </a:rPr>
              <a:t> / 68</a:t>
            </a:r>
          </a:p>
        </p:txBody>
      </p:sp>
    </p:spTree>
    <p:extLst>
      <p:ext uri="{BB962C8B-B14F-4D97-AF65-F5344CB8AC3E}">
        <p14:creationId xmlns:p14="http://schemas.microsoft.com/office/powerpoint/2010/main" val="2317342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3040979"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VQT · Language modelling</a:t>
            </a:r>
          </a:p>
        </p:txBody>
      </p:sp>
      <p:sp>
        <p:nvSpPr>
          <p:cNvPr id="3" name="s36-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12.9 points behind nanoGPT</a:t>
            </a:r>
          </a:p>
        </p:txBody>
      </p:sp>
      <p:pic>
        <p:nvPicPr>
          <p:cNvPr id="4" name="s36-image-01" descr="diagram"/>
          <p:cNvPicPr>
            <a:picLocks noChangeAspect="1"/>
          </p:cNvPicPr>
          <p:nvPr/>
        </p:nvPicPr>
        <p:blipFill>
          <a:blip r:embed="rId3"/>
          <a:stretch>
            <a:fillRect/>
          </a:stretch>
        </p:blipFill>
        <p:spPr>
          <a:xfrm>
            <a:off x="863578" y="1517612"/>
            <a:ext cx="10470888" cy="3867053"/>
          </a:xfrm>
          <a:prstGeom prst="rect">
            <a:avLst/>
          </a:prstGeom>
        </p:spPr>
      </p:pic>
      <p:pic>
        <p:nvPicPr>
          <p:cNvPr id="5" name="!!pp-nanogpt" descr="chart element"/>
          <p:cNvPicPr>
            <a:picLocks noChangeAspect="1"/>
          </p:cNvPicPr>
          <p:nvPr/>
        </p:nvPicPr>
        <p:blipFill>
          <a:blip r:embed="rId4"/>
          <a:stretch>
            <a:fillRect/>
          </a:stretch>
        </p:blipFill>
        <p:spPr>
          <a:xfrm>
            <a:off x="4406790" y="1885903"/>
            <a:ext cx="3936902" cy="476238"/>
          </a:xfrm>
          <a:prstGeom prst="rect">
            <a:avLst/>
          </a:prstGeom>
        </p:spPr>
      </p:pic>
      <p:pic>
        <p:nvPicPr>
          <p:cNvPr id="6" name="!!pp-vqt" descr="chart element"/>
          <p:cNvPicPr>
            <a:picLocks noChangeAspect="1"/>
          </p:cNvPicPr>
          <p:nvPr/>
        </p:nvPicPr>
        <p:blipFill>
          <a:blip r:embed="rId5"/>
          <a:stretch>
            <a:fillRect/>
          </a:stretch>
        </p:blipFill>
        <p:spPr>
          <a:xfrm>
            <a:off x="4406790" y="2457389"/>
            <a:ext cx="4476638" cy="476238"/>
          </a:xfrm>
          <a:prstGeom prst="rect">
            <a:avLst/>
          </a:prstGeom>
        </p:spPr>
      </p:pic>
      <p:pic>
        <p:nvPicPr>
          <p:cNvPr id="7" name="!!pp-quixer" descr="chart element"/>
          <p:cNvPicPr>
            <a:picLocks noChangeAspect="1"/>
          </p:cNvPicPr>
          <p:nvPr/>
        </p:nvPicPr>
        <p:blipFill>
          <a:blip r:embed="rId6"/>
          <a:stretch>
            <a:fillRect/>
          </a:stretch>
        </p:blipFill>
        <p:spPr>
          <a:xfrm>
            <a:off x="4406790" y="3028874"/>
            <a:ext cx="4965576" cy="476238"/>
          </a:xfrm>
          <a:prstGeom prst="rect">
            <a:avLst/>
          </a:prstGeom>
        </p:spPr>
      </p:pic>
      <p:pic>
        <p:nvPicPr>
          <p:cNvPr id="8" name="!!pp-qlstm" descr="chart element"/>
          <p:cNvPicPr>
            <a:picLocks noChangeAspect="1"/>
          </p:cNvPicPr>
          <p:nvPr/>
        </p:nvPicPr>
        <p:blipFill>
          <a:blip r:embed="rId7"/>
          <a:stretch>
            <a:fillRect/>
          </a:stretch>
        </p:blipFill>
        <p:spPr>
          <a:xfrm>
            <a:off x="4406790" y="3600360"/>
            <a:ext cx="5308467" cy="476238"/>
          </a:xfrm>
          <a:prstGeom prst="rect">
            <a:avLst/>
          </a:prstGeom>
        </p:spPr>
      </p:pic>
      <p:pic>
        <p:nvPicPr>
          <p:cNvPr id="9" name="!!pp-hqt" descr="chart element"/>
          <p:cNvPicPr>
            <a:picLocks noChangeAspect="1"/>
          </p:cNvPicPr>
          <p:nvPr/>
        </p:nvPicPr>
        <p:blipFill>
          <a:blip r:embed="rId8"/>
          <a:stretch>
            <a:fillRect/>
          </a:stretch>
        </p:blipFill>
        <p:spPr>
          <a:xfrm>
            <a:off x="4406790" y="4171846"/>
            <a:ext cx="5403715" cy="476238"/>
          </a:xfrm>
          <a:prstGeom prst="rect">
            <a:avLst/>
          </a:prstGeom>
        </p:spPr>
      </p:pic>
      <p:sp>
        <p:nvSpPr>
          <p:cNvPr id="10" name="!!pp-t-0"/>
          <p:cNvSpPr txBox="1"/>
          <p:nvPr/>
        </p:nvSpPr>
        <p:spPr>
          <a:xfrm>
            <a:off x="4405996" y="484740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11" name="!!pp-t-20"/>
          <p:cNvSpPr txBox="1"/>
          <p:nvPr/>
        </p:nvSpPr>
        <p:spPr>
          <a:xfrm>
            <a:off x="5201706" y="4847409"/>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20</a:t>
            </a:r>
          </a:p>
        </p:txBody>
      </p:sp>
      <p:sp>
        <p:nvSpPr>
          <p:cNvPr id="12" name="!!pp-t-40"/>
          <p:cNvSpPr txBox="1"/>
          <p:nvPr/>
        </p:nvSpPr>
        <p:spPr>
          <a:xfrm>
            <a:off x="6036253" y="4847409"/>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40</a:t>
            </a:r>
          </a:p>
        </p:txBody>
      </p:sp>
      <p:sp>
        <p:nvSpPr>
          <p:cNvPr id="13" name="!!pp-t-60"/>
          <p:cNvSpPr txBox="1"/>
          <p:nvPr/>
        </p:nvSpPr>
        <p:spPr>
          <a:xfrm>
            <a:off x="6870807" y="4847409"/>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60</a:t>
            </a:r>
          </a:p>
        </p:txBody>
      </p:sp>
      <p:sp>
        <p:nvSpPr>
          <p:cNvPr id="14" name="!!pp-t-80"/>
          <p:cNvSpPr txBox="1"/>
          <p:nvPr/>
        </p:nvSpPr>
        <p:spPr>
          <a:xfrm>
            <a:off x="7705328" y="4847409"/>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80</a:t>
            </a:r>
          </a:p>
        </p:txBody>
      </p:sp>
      <p:sp>
        <p:nvSpPr>
          <p:cNvPr id="15" name="!!pp-t-100"/>
          <p:cNvSpPr txBox="1"/>
          <p:nvPr/>
        </p:nvSpPr>
        <p:spPr>
          <a:xfrm>
            <a:off x="8501045" y="4847409"/>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16" name="!!pp-t-120"/>
          <p:cNvSpPr txBox="1"/>
          <p:nvPr/>
        </p:nvSpPr>
        <p:spPr>
          <a:xfrm>
            <a:off x="9335604" y="4847409"/>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120</a:t>
            </a:r>
          </a:p>
        </p:txBody>
      </p:sp>
      <p:sp>
        <p:nvSpPr>
          <p:cNvPr id="17" name="!!pp-t-140"/>
          <p:cNvSpPr txBox="1"/>
          <p:nvPr/>
        </p:nvSpPr>
        <p:spPr>
          <a:xfrm>
            <a:off x="10170164" y="4847409"/>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140</a:t>
            </a:r>
          </a:p>
        </p:txBody>
      </p:sp>
      <p:sp>
        <p:nvSpPr>
          <p:cNvPr id="18" name="!!pp-xlab"/>
          <p:cNvSpPr txBox="1"/>
          <p:nvPr/>
        </p:nvSpPr>
        <p:spPr>
          <a:xfrm>
            <a:off x="5906096" y="5101403"/>
            <a:ext cx="293848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perplexity on the Brown corpus (lower is better)</a:t>
            </a:r>
          </a:p>
        </p:txBody>
      </p:sp>
      <p:sp>
        <p:nvSpPr>
          <p:cNvPr id="19" name="!!pp-nanogpt-n"/>
          <p:cNvSpPr txBox="1"/>
          <p:nvPr/>
        </p:nvSpPr>
        <p:spPr>
          <a:xfrm>
            <a:off x="1676854" y="2028080"/>
            <a:ext cx="262198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nanoGPT · 125K params · classical</a:t>
            </a:r>
          </a:p>
        </p:txBody>
      </p:sp>
      <p:sp>
        <p:nvSpPr>
          <p:cNvPr id="20" name="!!pp-nanogpt-v"/>
          <p:cNvSpPr txBox="1"/>
          <p:nvPr/>
        </p:nvSpPr>
        <p:spPr>
          <a:xfrm>
            <a:off x="8406301" y="1996331"/>
            <a:ext cx="41452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92.5</a:t>
            </a:r>
          </a:p>
        </p:txBody>
      </p:sp>
      <p:sp>
        <p:nvSpPr>
          <p:cNvPr id="21" name="!!pp-vqt-n"/>
          <p:cNvSpPr txBox="1"/>
          <p:nvPr/>
        </p:nvSpPr>
        <p:spPr>
          <a:xfrm>
            <a:off x="2420282" y="2599565"/>
            <a:ext cx="188482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VQT · 6 qubits · this work</a:t>
            </a:r>
          </a:p>
        </p:txBody>
      </p:sp>
      <p:sp>
        <p:nvSpPr>
          <p:cNvPr id="22" name="!!pp-vqt-v"/>
          <p:cNvSpPr txBox="1"/>
          <p:nvPr/>
        </p:nvSpPr>
        <p:spPr>
          <a:xfrm>
            <a:off x="8944577" y="2567816"/>
            <a:ext cx="52882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105.4</a:t>
            </a:r>
          </a:p>
        </p:txBody>
      </p:sp>
      <p:sp>
        <p:nvSpPr>
          <p:cNvPr id="23" name="!!pp-quixer-n"/>
          <p:cNvSpPr txBox="1"/>
          <p:nvPr/>
        </p:nvSpPr>
        <p:spPr>
          <a:xfrm>
            <a:off x="3793534" y="3171051"/>
            <a:ext cx="50747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Quixer</a:t>
            </a:r>
          </a:p>
        </p:txBody>
      </p:sp>
      <p:sp>
        <p:nvSpPr>
          <p:cNvPr id="24" name="!!pp-quixer-v"/>
          <p:cNvSpPr txBox="1"/>
          <p:nvPr/>
        </p:nvSpPr>
        <p:spPr>
          <a:xfrm>
            <a:off x="9432753" y="3139302"/>
            <a:ext cx="51632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117.1</a:t>
            </a:r>
          </a:p>
        </p:txBody>
      </p:sp>
      <p:sp>
        <p:nvSpPr>
          <p:cNvPr id="25" name="!!pp-qlstm-n"/>
          <p:cNvSpPr txBox="1"/>
          <p:nvPr/>
        </p:nvSpPr>
        <p:spPr>
          <a:xfrm>
            <a:off x="3656020" y="3742537"/>
            <a:ext cx="642822"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Q-LSTM</a:t>
            </a:r>
          </a:p>
        </p:txBody>
      </p:sp>
      <p:sp>
        <p:nvSpPr>
          <p:cNvPr id="26" name="!!pp-qlstm-v"/>
          <p:cNvSpPr txBox="1"/>
          <p:nvPr/>
        </p:nvSpPr>
        <p:spPr>
          <a:xfrm>
            <a:off x="9774946" y="3710788"/>
            <a:ext cx="5275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125.3</a:t>
            </a:r>
          </a:p>
        </p:txBody>
      </p:sp>
      <p:sp>
        <p:nvSpPr>
          <p:cNvPr id="27" name="!!pp-hqt-n"/>
          <p:cNvSpPr txBox="1"/>
          <p:nvPr/>
        </p:nvSpPr>
        <p:spPr>
          <a:xfrm>
            <a:off x="3527535" y="4314023"/>
            <a:ext cx="772002"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Hybrid QT</a:t>
            </a:r>
          </a:p>
        </p:txBody>
      </p:sp>
      <p:sp>
        <p:nvSpPr>
          <p:cNvPr id="28" name="!!pp-hqt-v"/>
          <p:cNvSpPr txBox="1"/>
          <p:nvPr/>
        </p:nvSpPr>
        <p:spPr>
          <a:xfrm>
            <a:off x="9870892" y="4282273"/>
            <a:ext cx="5275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127.6</a:t>
            </a:r>
          </a:p>
        </p:txBody>
      </p:sp>
      <p:sp>
        <p:nvSpPr>
          <p:cNvPr id="29" name="s36-text-22"/>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Six qubits. VQT beats Q-LSTM 125.3 · Quixer 117.1 · hybrid QT 127.6.</a:t>
            </a:r>
          </a:p>
        </p:txBody>
      </p:sp>
      <p:sp>
        <p:nvSpPr>
          <p:cNvPr id="30"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31" name="s36-image-07" descr="Texas Tech University Double T"/>
          <p:cNvPicPr>
            <a:picLocks noChangeAspect="1"/>
          </p:cNvPicPr>
          <p:nvPr/>
        </p:nvPicPr>
        <p:blipFill>
          <a:blip r:embed="rId9"/>
          <a:stretch>
            <a:fillRect/>
          </a:stretch>
        </p:blipFill>
        <p:spPr>
          <a:xfrm>
            <a:off x="11055074" y="600060"/>
            <a:ext cx="190495" cy="222244"/>
          </a:xfrm>
          <a:prstGeom prst="rect">
            <a:avLst/>
          </a:prstGeom>
        </p:spPr>
      </p:pic>
      <p:sp>
        <p:nvSpPr>
          <p:cNvPr id="32"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36</a:t>
            </a:r>
            <a:r>
              <a:rPr sz="1100" b="0" i="0" spc="66">
                <a:solidFill>
                  <a:srgbClr val="7B7B86"/>
                </a:solidFill>
                <a:latin typeface="Courier New"/>
              </a:rPr>
              <a:t> / 68</a:t>
            </a:r>
          </a:p>
        </p:txBody>
      </p:sp>
    </p:spTree>
    <p:extLst>
      <p:ext uri="{BB962C8B-B14F-4D97-AF65-F5344CB8AC3E}">
        <p14:creationId xmlns:p14="http://schemas.microsoft.com/office/powerpoint/2010/main" val="1995735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5651557"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ShardQ · Circuit partitioning and reintegration</a:t>
            </a:r>
          </a:p>
        </p:txBody>
      </p:sp>
      <p:sp>
        <p:nvSpPr>
          <p:cNvPr id="3" name="s37-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Cut where the hardware is worst</a:t>
            </a:r>
          </a:p>
        </p:txBody>
      </p:sp>
      <p:pic>
        <p:nvPicPr>
          <p:cNvPr id="4" name="s37-image-01" descr="diagram"/>
          <p:cNvPicPr>
            <a:picLocks noChangeAspect="1"/>
          </p:cNvPicPr>
          <p:nvPr/>
        </p:nvPicPr>
        <p:blipFill>
          <a:blip r:embed="rId3"/>
          <a:stretch>
            <a:fillRect/>
          </a:stretch>
        </p:blipFill>
        <p:spPr>
          <a:xfrm>
            <a:off x="863578" y="1504912"/>
            <a:ext cx="10470888" cy="2851079"/>
          </a:xfrm>
          <a:prstGeom prst="rect">
            <a:avLst/>
          </a:prstGeom>
        </p:spPr>
      </p:pic>
      <p:sp>
        <p:nvSpPr>
          <p:cNvPr id="5" name="s37-text-03"/>
          <p:cNvSpPr txBox="1"/>
          <p:nvPr/>
        </p:nvSpPr>
        <p:spPr>
          <a:xfrm>
            <a:off x="1112413" y="190743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q0</a:t>
            </a:r>
          </a:p>
        </p:txBody>
      </p:sp>
      <p:sp>
        <p:nvSpPr>
          <p:cNvPr id="6" name="s37-text-04"/>
          <p:cNvSpPr txBox="1"/>
          <p:nvPr/>
        </p:nvSpPr>
        <p:spPr>
          <a:xfrm>
            <a:off x="1112413" y="228842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q1</a:t>
            </a:r>
          </a:p>
        </p:txBody>
      </p:sp>
      <p:sp>
        <p:nvSpPr>
          <p:cNvPr id="7" name="s37-text-05"/>
          <p:cNvSpPr txBox="1"/>
          <p:nvPr/>
        </p:nvSpPr>
        <p:spPr>
          <a:xfrm>
            <a:off x="1112413" y="266941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q2</a:t>
            </a:r>
          </a:p>
        </p:txBody>
      </p:sp>
      <p:sp>
        <p:nvSpPr>
          <p:cNvPr id="8" name="s37-text-06"/>
          <p:cNvSpPr txBox="1"/>
          <p:nvPr/>
        </p:nvSpPr>
        <p:spPr>
          <a:xfrm>
            <a:off x="1112413" y="305040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q3</a:t>
            </a:r>
          </a:p>
        </p:txBody>
      </p:sp>
      <p:sp>
        <p:nvSpPr>
          <p:cNvPr id="9" name="s37-text-07"/>
          <p:cNvSpPr txBox="1"/>
          <p:nvPr/>
        </p:nvSpPr>
        <p:spPr>
          <a:xfrm>
            <a:off x="1112413" y="343139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q4</a:t>
            </a:r>
          </a:p>
        </p:txBody>
      </p:sp>
      <p:sp>
        <p:nvSpPr>
          <p:cNvPr id="10" name="s37-text-08"/>
          <p:cNvSpPr txBox="1"/>
          <p:nvPr/>
        </p:nvSpPr>
        <p:spPr>
          <a:xfrm>
            <a:off x="1622980" y="190743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1" name="s37-text-09"/>
          <p:cNvSpPr txBox="1"/>
          <p:nvPr/>
        </p:nvSpPr>
        <p:spPr>
          <a:xfrm>
            <a:off x="1622980" y="228842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2" name="s37-text-10"/>
          <p:cNvSpPr txBox="1"/>
          <p:nvPr/>
        </p:nvSpPr>
        <p:spPr>
          <a:xfrm>
            <a:off x="1622980" y="266941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3" name="s37-text-11"/>
          <p:cNvSpPr txBox="1"/>
          <p:nvPr/>
        </p:nvSpPr>
        <p:spPr>
          <a:xfrm>
            <a:off x="1622980" y="305040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4" name="s37-text-12"/>
          <p:cNvSpPr txBox="1"/>
          <p:nvPr/>
        </p:nvSpPr>
        <p:spPr>
          <a:xfrm>
            <a:off x="1622980" y="343139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5" name="s37-text-13"/>
          <p:cNvSpPr txBox="1"/>
          <p:nvPr/>
        </p:nvSpPr>
        <p:spPr>
          <a:xfrm>
            <a:off x="2359561" y="190743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6" name="s37-text-14"/>
          <p:cNvSpPr txBox="1"/>
          <p:nvPr/>
        </p:nvSpPr>
        <p:spPr>
          <a:xfrm>
            <a:off x="2359561" y="228842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7" name="s37-text-15"/>
          <p:cNvSpPr txBox="1"/>
          <p:nvPr/>
        </p:nvSpPr>
        <p:spPr>
          <a:xfrm>
            <a:off x="2359561" y="266941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8" name="s37-text-16"/>
          <p:cNvSpPr txBox="1"/>
          <p:nvPr/>
        </p:nvSpPr>
        <p:spPr>
          <a:xfrm>
            <a:off x="2359561" y="305040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9" name="s37-text-17"/>
          <p:cNvSpPr txBox="1"/>
          <p:nvPr/>
        </p:nvSpPr>
        <p:spPr>
          <a:xfrm>
            <a:off x="2359561" y="343139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0" name="s37-text-18"/>
          <p:cNvSpPr txBox="1"/>
          <p:nvPr/>
        </p:nvSpPr>
        <p:spPr>
          <a:xfrm>
            <a:off x="3096143" y="190743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1" name="s37-text-19"/>
          <p:cNvSpPr txBox="1"/>
          <p:nvPr/>
        </p:nvSpPr>
        <p:spPr>
          <a:xfrm>
            <a:off x="3096143" y="228842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2" name="s37-text-20"/>
          <p:cNvSpPr txBox="1"/>
          <p:nvPr/>
        </p:nvSpPr>
        <p:spPr>
          <a:xfrm>
            <a:off x="3096143" y="266941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3" name="s37-text-21"/>
          <p:cNvSpPr txBox="1"/>
          <p:nvPr/>
        </p:nvSpPr>
        <p:spPr>
          <a:xfrm>
            <a:off x="3096143" y="305040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4" name="s37-text-22"/>
          <p:cNvSpPr txBox="1"/>
          <p:nvPr/>
        </p:nvSpPr>
        <p:spPr>
          <a:xfrm>
            <a:off x="3096143" y="343139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5" name="s37-text-23"/>
          <p:cNvSpPr txBox="1"/>
          <p:nvPr/>
        </p:nvSpPr>
        <p:spPr>
          <a:xfrm>
            <a:off x="3832724" y="190743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6" name="s37-text-24"/>
          <p:cNvSpPr txBox="1"/>
          <p:nvPr/>
        </p:nvSpPr>
        <p:spPr>
          <a:xfrm>
            <a:off x="3832724" y="228842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7" name="s37-text-25"/>
          <p:cNvSpPr txBox="1"/>
          <p:nvPr/>
        </p:nvSpPr>
        <p:spPr>
          <a:xfrm>
            <a:off x="3832724" y="266941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8" name="s37-text-26"/>
          <p:cNvSpPr txBox="1"/>
          <p:nvPr/>
        </p:nvSpPr>
        <p:spPr>
          <a:xfrm>
            <a:off x="3832724" y="305040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9" name="s37-text-27"/>
          <p:cNvSpPr txBox="1"/>
          <p:nvPr/>
        </p:nvSpPr>
        <p:spPr>
          <a:xfrm>
            <a:off x="3832724" y="343139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0" name="s37-text-28"/>
          <p:cNvSpPr txBox="1"/>
          <p:nvPr/>
        </p:nvSpPr>
        <p:spPr>
          <a:xfrm>
            <a:off x="4569306" y="190743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1" name="s37-text-29"/>
          <p:cNvSpPr txBox="1"/>
          <p:nvPr/>
        </p:nvSpPr>
        <p:spPr>
          <a:xfrm>
            <a:off x="4569306" y="228842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2" name="s37-text-30"/>
          <p:cNvSpPr txBox="1"/>
          <p:nvPr/>
        </p:nvSpPr>
        <p:spPr>
          <a:xfrm>
            <a:off x="4569306" y="266941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3" name="s37-text-31"/>
          <p:cNvSpPr txBox="1"/>
          <p:nvPr/>
        </p:nvSpPr>
        <p:spPr>
          <a:xfrm>
            <a:off x="4569306" y="305040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4" name="s37-text-32"/>
          <p:cNvSpPr txBox="1"/>
          <p:nvPr/>
        </p:nvSpPr>
        <p:spPr>
          <a:xfrm>
            <a:off x="4569306" y="343139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35" name="s37-text-33"/>
          <p:cNvSpPr txBox="1"/>
          <p:nvPr/>
        </p:nvSpPr>
        <p:spPr>
          <a:xfrm>
            <a:off x="2222395" y="3818735"/>
            <a:ext cx="47633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cut 1</a:t>
            </a:r>
          </a:p>
        </p:txBody>
      </p:sp>
      <p:sp>
        <p:nvSpPr>
          <p:cNvPr id="36" name="s37-text-34"/>
          <p:cNvSpPr txBox="1"/>
          <p:nvPr/>
        </p:nvSpPr>
        <p:spPr>
          <a:xfrm>
            <a:off x="2958976" y="3818735"/>
            <a:ext cx="47633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cut 2</a:t>
            </a:r>
          </a:p>
        </p:txBody>
      </p:sp>
      <p:sp>
        <p:nvSpPr>
          <p:cNvPr id="37" name="s37-text-35"/>
          <p:cNvSpPr txBox="1"/>
          <p:nvPr/>
        </p:nvSpPr>
        <p:spPr>
          <a:xfrm>
            <a:off x="1142971" y="4072729"/>
            <a:ext cx="677161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QCrank encoding circuit · SparseCut picks gate cuts by qubit distance and calibrated CZ error · O(|G| log |G|)</a:t>
            </a:r>
          </a:p>
        </p:txBody>
      </p:sp>
      <p:sp>
        <p:nvSpPr>
          <p:cNvPr id="38" name="s37-text-36"/>
          <p:cNvSpPr txBox="1"/>
          <p:nvPr/>
        </p:nvSpPr>
        <p:spPr>
          <a:xfrm>
            <a:off x="5682265" y="2040779"/>
            <a:ext cx="122720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sub-circuit 1</a:t>
            </a:r>
          </a:p>
        </p:txBody>
      </p:sp>
      <p:sp>
        <p:nvSpPr>
          <p:cNvPr id="39" name="s37-text-37"/>
          <p:cNvSpPr txBox="1"/>
          <p:nvPr/>
        </p:nvSpPr>
        <p:spPr>
          <a:xfrm>
            <a:off x="5682265" y="2675764"/>
            <a:ext cx="122720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sub-circuit 2</a:t>
            </a:r>
          </a:p>
        </p:txBody>
      </p:sp>
      <p:sp>
        <p:nvSpPr>
          <p:cNvPr id="40" name="s37-text-38"/>
          <p:cNvSpPr txBox="1"/>
          <p:nvPr/>
        </p:nvSpPr>
        <p:spPr>
          <a:xfrm>
            <a:off x="5682265" y="3310748"/>
            <a:ext cx="122720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sub-circuit 3</a:t>
            </a:r>
          </a:p>
        </p:txBody>
      </p:sp>
      <p:sp>
        <p:nvSpPr>
          <p:cNvPr id="41" name="s37-text-39"/>
          <p:cNvSpPr txBox="1"/>
          <p:nvPr/>
        </p:nvSpPr>
        <p:spPr>
          <a:xfrm>
            <a:off x="5005064" y="3818735"/>
            <a:ext cx="258160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MPS compiler · bounded bond dimension</a:t>
            </a:r>
          </a:p>
        </p:txBody>
      </p:sp>
      <p:sp>
        <p:nvSpPr>
          <p:cNvPr id="42" name="s37-text-40"/>
          <p:cNvSpPr txBox="1"/>
          <p:nvPr/>
        </p:nvSpPr>
        <p:spPr>
          <a:xfrm>
            <a:off x="8010722" y="2517018"/>
            <a:ext cx="190415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global QPD knitting</a:t>
            </a:r>
          </a:p>
        </p:txBody>
      </p:sp>
      <p:sp>
        <p:nvSpPr>
          <p:cNvPr id="43" name="s37-text-41"/>
          <p:cNvSpPr txBox="1"/>
          <p:nvPr/>
        </p:nvSpPr>
        <p:spPr>
          <a:xfrm>
            <a:off x="8157016" y="2802760"/>
            <a:ext cx="161157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O(3²ᵏ) sampling overhead</a:t>
            </a:r>
          </a:p>
        </p:txBody>
      </p:sp>
      <p:sp>
        <p:nvSpPr>
          <p:cNvPr id="44" name="s37-text-42"/>
          <p:cNvSpPr txBox="1"/>
          <p:nvPr/>
        </p:nvSpPr>
        <p:spPr>
          <a:xfrm>
            <a:off x="10719822" y="2555117"/>
            <a:ext cx="177796" cy="311142"/>
          </a:xfrm>
          <a:prstGeom prst="rect">
            <a:avLst/>
          </a:prstGeom>
          <a:noFill/>
        </p:spPr>
        <p:txBody>
          <a:bodyPr wrap="none" lIns="0" tIns="0" rIns="0" bIns="0" anchor="t">
            <a:noAutofit/>
          </a:bodyPr>
          <a:lstStyle/>
          <a:p>
            <a:pPr algn="l">
              <a:lnSpc>
                <a:spcPct val="100000"/>
              </a:lnSpc>
              <a:spcBef>
                <a:spcPts val="0"/>
              </a:spcBef>
              <a:spcAft>
                <a:spcPts val="0"/>
              </a:spcAft>
            </a:pPr>
            <a:r>
              <a:rPr sz="2200" b="1" i="0" spc="-44">
                <a:solidFill>
                  <a:srgbClr val="0B0B0F"/>
                </a:solidFill>
                <a:latin typeface="Arial"/>
              </a:rPr>
              <a:t>ŷ</a:t>
            </a:r>
          </a:p>
        </p:txBody>
      </p:sp>
      <p:sp>
        <p:nvSpPr>
          <p:cNvPr id="45" name="s37-text-43"/>
          <p:cNvSpPr txBox="1"/>
          <p:nvPr/>
        </p:nvSpPr>
        <p:spPr>
          <a:xfrm>
            <a:off x="8134196" y="3818735"/>
            <a:ext cx="165720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1.5 M shots per sub-circuit</a:t>
            </a:r>
          </a:p>
        </p:txBody>
      </p:sp>
      <p:sp>
        <p:nvSpPr>
          <p:cNvPr id="46" name="s37-box-01"/>
          <p:cNvSpPr/>
          <p:nvPr/>
        </p:nvSpPr>
        <p:spPr>
          <a:xfrm>
            <a:off x="888978" y="4326722"/>
            <a:ext cx="3352716" cy="1122533"/>
          </a:xfrm>
          <a:prstGeom prst="roundRect">
            <a:avLst>
              <a:gd name="adj" fmla="val 1357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37-text-44"/>
          <p:cNvSpPr txBox="1"/>
          <p:nvPr/>
        </p:nvSpPr>
        <p:spPr>
          <a:xfrm>
            <a:off x="1079473" y="4466419"/>
            <a:ext cx="2990775" cy="380990"/>
          </a:xfrm>
          <a:prstGeom prst="rect">
            <a:avLst/>
          </a:prstGeom>
          <a:noFill/>
        </p:spPr>
        <p:txBody>
          <a:bodyPr wrap="none" lIns="0" tIns="0" rIns="0" bIns="0" anchor="t">
            <a:noAutofit/>
          </a:bodyPr>
          <a:lstStyle/>
          <a:p>
            <a:pPr algn="l">
              <a:lnSpc>
                <a:spcPts val="3000"/>
              </a:lnSpc>
              <a:spcBef>
                <a:spcPts val="0"/>
              </a:spcBef>
              <a:spcAft>
                <a:spcPts val="0"/>
              </a:spcAft>
            </a:pPr>
            <a:r>
              <a:rPr sz="3000" b="1" i="0" spc="-120">
                <a:solidFill>
                  <a:srgbClr val="0B0B0F"/>
                </a:solidFill>
                <a:latin typeface="Arial"/>
              </a:rPr>
              <a:t>≈15%</a:t>
            </a:r>
          </a:p>
        </p:txBody>
      </p:sp>
      <p:sp>
        <p:nvSpPr>
          <p:cNvPr id="48" name="s37-text-45"/>
          <p:cNvSpPr txBox="1"/>
          <p:nvPr/>
        </p:nvSpPr>
        <p:spPr>
          <a:xfrm>
            <a:off x="1079473" y="4898208"/>
            <a:ext cx="2984425" cy="411351"/>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50505B"/>
                </a:solidFill>
                <a:latin typeface="Arial"/>
              </a:rPr>
              <a:t>lower RMSE vs standard transpilation, IBM Heron-2/3</a:t>
            </a:r>
          </a:p>
        </p:txBody>
      </p:sp>
      <p:sp>
        <p:nvSpPr>
          <p:cNvPr id="49" name="s37-box-02"/>
          <p:cNvSpPr/>
          <p:nvPr/>
        </p:nvSpPr>
        <p:spPr>
          <a:xfrm>
            <a:off x="4419490" y="4326722"/>
            <a:ext cx="3352716" cy="1122533"/>
          </a:xfrm>
          <a:prstGeom prst="roundRect">
            <a:avLst>
              <a:gd name="adj" fmla="val 1357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s37-text-46"/>
          <p:cNvSpPr txBox="1"/>
          <p:nvPr/>
        </p:nvSpPr>
        <p:spPr>
          <a:xfrm>
            <a:off x="4609985" y="4466419"/>
            <a:ext cx="2990775" cy="380990"/>
          </a:xfrm>
          <a:prstGeom prst="rect">
            <a:avLst/>
          </a:prstGeom>
          <a:noFill/>
        </p:spPr>
        <p:txBody>
          <a:bodyPr wrap="none" lIns="0" tIns="0" rIns="0" bIns="0" anchor="t">
            <a:noAutofit/>
          </a:bodyPr>
          <a:lstStyle/>
          <a:p>
            <a:pPr algn="l">
              <a:lnSpc>
                <a:spcPts val="3000"/>
              </a:lnSpc>
              <a:spcBef>
                <a:spcPts val="0"/>
              </a:spcBef>
              <a:spcAft>
                <a:spcPts val="0"/>
              </a:spcAft>
            </a:pPr>
            <a:r>
              <a:rPr sz="3000" b="1" i="0" spc="-120">
                <a:solidFill>
                  <a:srgbClr val="0B0B0F"/>
                </a:solidFill>
                <a:latin typeface="Arial"/>
              </a:rPr>
              <a:t>0.79 → 0.90</a:t>
            </a:r>
          </a:p>
        </p:txBody>
      </p:sp>
      <p:sp>
        <p:nvSpPr>
          <p:cNvPr id="51" name="s37-text-47"/>
          <p:cNvSpPr txBox="1"/>
          <p:nvPr/>
        </p:nvSpPr>
        <p:spPr>
          <a:xfrm>
            <a:off x="4609985" y="4898208"/>
            <a:ext cx="2984425" cy="411351"/>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50505B"/>
                </a:solidFill>
                <a:latin typeface="Arial"/>
              </a:rPr>
              <a:t>image-encoding fidelity, 5 address qubits (0.75 → 0.88 at 7)</a:t>
            </a:r>
          </a:p>
        </p:txBody>
      </p:sp>
      <p:sp>
        <p:nvSpPr>
          <p:cNvPr id="52" name="s37-box-03"/>
          <p:cNvSpPr/>
          <p:nvPr/>
        </p:nvSpPr>
        <p:spPr>
          <a:xfrm>
            <a:off x="7950001" y="4326722"/>
            <a:ext cx="3352716" cy="1122533"/>
          </a:xfrm>
          <a:prstGeom prst="roundRect">
            <a:avLst>
              <a:gd name="adj" fmla="val 1357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s37-text-48"/>
          <p:cNvSpPr txBox="1"/>
          <p:nvPr/>
        </p:nvSpPr>
        <p:spPr>
          <a:xfrm>
            <a:off x="8140496" y="4466419"/>
            <a:ext cx="2990775" cy="380990"/>
          </a:xfrm>
          <a:prstGeom prst="rect">
            <a:avLst/>
          </a:prstGeom>
          <a:noFill/>
        </p:spPr>
        <p:txBody>
          <a:bodyPr wrap="none" lIns="0" tIns="0" rIns="0" bIns="0" anchor="t">
            <a:noAutofit/>
          </a:bodyPr>
          <a:lstStyle/>
          <a:p>
            <a:pPr algn="l">
              <a:lnSpc>
                <a:spcPts val="3000"/>
              </a:lnSpc>
              <a:spcBef>
                <a:spcPts val="0"/>
              </a:spcBef>
              <a:spcAft>
                <a:spcPts val="0"/>
              </a:spcAft>
            </a:pPr>
            <a:r>
              <a:rPr sz="3000" b="1" i="0" spc="-120">
                <a:solidFill>
                  <a:srgbClr val="0B0B0F"/>
                </a:solidFill>
                <a:latin typeface="Arial"/>
              </a:rPr>
              <a:t>15 s · 24 h</a:t>
            </a:r>
          </a:p>
        </p:txBody>
      </p:sp>
      <p:sp>
        <p:nvSpPr>
          <p:cNvPr id="54" name="s37-text-49"/>
          <p:cNvSpPr txBox="1"/>
          <p:nvPr/>
        </p:nvSpPr>
        <p:spPr>
          <a:xfrm>
            <a:off x="8140496" y="4898208"/>
            <a:ext cx="2984425" cy="411351"/>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50505B"/>
                </a:solidFill>
                <a:latin typeface="Arial"/>
              </a:rPr>
              <a:t>knitting: ≤2 cuts on one A100 · 4 cuts on four GPU nodes</a:t>
            </a:r>
          </a:p>
        </p:txBody>
      </p:sp>
      <p:sp>
        <p:nvSpPr>
          <p:cNvPr id="55"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56" name="s37-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57"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37</a:t>
            </a:r>
            <a:r>
              <a:rPr sz="1100" b="0" i="0" spc="66">
                <a:solidFill>
                  <a:srgbClr val="7B7B86"/>
                </a:solidFill>
                <a:latin typeface="Courier New"/>
              </a:rPr>
              <a:t> / 68</a:t>
            </a:r>
          </a:p>
        </p:txBody>
      </p:sp>
    </p:spTree>
    <p:extLst>
      <p:ext uri="{BB962C8B-B14F-4D97-AF65-F5344CB8AC3E}">
        <p14:creationId xmlns:p14="http://schemas.microsoft.com/office/powerpoint/2010/main" val="3153267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4830543"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NNQA · Neural-Native Quantum Arithmetic</a:t>
            </a:r>
          </a:p>
        </p:txBody>
      </p:sp>
      <p:sp>
        <p:nvSpPr>
          <p:cNvPr id="3" name="s38-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Compile, do not search</a:t>
            </a:r>
          </a:p>
        </p:txBody>
      </p:sp>
      <p:pic>
        <p:nvPicPr>
          <p:cNvPr id="4" name="s38-image-01" descr="diagram"/>
          <p:cNvPicPr>
            <a:picLocks noChangeAspect="1"/>
          </p:cNvPicPr>
          <p:nvPr/>
        </p:nvPicPr>
        <p:blipFill>
          <a:blip r:embed="rId3"/>
          <a:stretch>
            <a:fillRect/>
          </a:stretch>
        </p:blipFill>
        <p:spPr>
          <a:xfrm>
            <a:off x="863578" y="1517612"/>
            <a:ext cx="10470888" cy="2660583"/>
          </a:xfrm>
          <a:prstGeom prst="rect">
            <a:avLst/>
          </a:prstGeom>
        </p:spPr>
      </p:pic>
      <p:sp>
        <p:nvSpPr>
          <p:cNvPr id="5" name="s38-text-03"/>
          <p:cNvSpPr txBox="1"/>
          <p:nvPr/>
        </p:nvSpPr>
        <p:spPr>
          <a:xfrm>
            <a:off x="1714457" y="1615340"/>
            <a:ext cx="628535"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qubits</a:t>
            </a:r>
          </a:p>
        </p:txBody>
      </p:sp>
      <p:sp>
        <p:nvSpPr>
          <p:cNvPr id="6" name="s38-text-04"/>
          <p:cNvSpPr txBox="1"/>
          <p:nvPr/>
        </p:nvSpPr>
        <p:spPr>
          <a:xfrm>
            <a:off x="1675564" y="3539342"/>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a:t>
            </a:r>
          </a:p>
        </p:txBody>
      </p:sp>
      <p:sp>
        <p:nvSpPr>
          <p:cNvPr id="7" name="s38-text-05"/>
          <p:cNvSpPr txBox="1"/>
          <p:nvPr/>
        </p:nvSpPr>
        <p:spPr>
          <a:xfrm>
            <a:off x="2602570" y="3539342"/>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8" name="s38-text-06"/>
          <p:cNvSpPr txBox="1"/>
          <p:nvPr/>
        </p:nvSpPr>
        <p:spPr>
          <a:xfrm>
            <a:off x="3529576" y="3539342"/>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9" name="s38-text-07"/>
          <p:cNvSpPr txBox="1"/>
          <p:nvPr/>
        </p:nvSpPr>
        <p:spPr>
          <a:xfrm>
            <a:off x="1148528" y="2085228"/>
            <a:ext cx="50021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NNQA</a:t>
            </a:r>
          </a:p>
        </p:txBody>
      </p:sp>
      <p:sp>
        <p:nvSpPr>
          <p:cNvPr id="10" name="s38-text-08"/>
          <p:cNvSpPr txBox="1"/>
          <p:nvPr/>
        </p:nvSpPr>
        <p:spPr>
          <a:xfrm>
            <a:off x="2695787" y="2053479"/>
            <a:ext cx="132057"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7</a:t>
            </a:r>
          </a:p>
        </p:txBody>
      </p:sp>
      <p:sp>
        <p:nvSpPr>
          <p:cNvPr id="11" name="s38-text-09"/>
          <p:cNvSpPr txBox="1"/>
          <p:nvPr/>
        </p:nvSpPr>
        <p:spPr>
          <a:xfrm>
            <a:off x="1276814" y="2593216"/>
            <a:ext cx="36779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VQE</a:t>
            </a:r>
          </a:p>
        </p:txBody>
      </p:sp>
      <p:sp>
        <p:nvSpPr>
          <p:cNvPr id="12" name="s38-text-10"/>
          <p:cNvSpPr txBox="1"/>
          <p:nvPr/>
        </p:nvSpPr>
        <p:spPr>
          <a:xfrm>
            <a:off x="2909180" y="2561466"/>
            <a:ext cx="47107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6–12</a:t>
            </a:r>
          </a:p>
        </p:txBody>
      </p:sp>
      <p:sp>
        <p:nvSpPr>
          <p:cNvPr id="13" name="s38-text-11"/>
          <p:cNvSpPr txBox="1"/>
          <p:nvPr/>
        </p:nvSpPr>
        <p:spPr>
          <a:xfrm>
            <a:off x="1276814" y="3101203"/>
            <a:ext cx="36779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QSP</a:t>
            </a:r>
          </a:p>
        </p:txBody>
      </p:sp>
      <p:sp>
        <p:nvSpPr>
          <p:cNvPr id="14" name="s38-text-12"/>
          <p:cNvSpPr txBox="1"/>
          <p:nvPr/>
        </p:nvSpPr>
        <p:spPr>
          <a:xfrm>
            <a:off x="3798551" y="3069454"/>
            <a:ext cx="69709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10–100</a:t>
            </a:r>
          </a:p>
        </p:txBody>
      </p:sp>
      <p:sp>
        <p:nvSpPr>
          <p:cNvPr id="15" name="s38-text-13"/>
          <p:cNvSpPr txBox="1"/>
          <p:nvPr/>
        </p:nvSpPr>
        <p:spPr>
          <a:xfrm>
            <a:off x="5079873" y="1615340"/>
            <a:ext cx="1238318"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circuit depth</a:t>
            </a:r>
          </a:p>
        </p:txBody>
      </p:sp>
      <p:sp>
        <p:nvSpPr>
          <p:cNvPr id="16" name="s38-text-14"/>
          <p:cNvSpPr txBox="1"/>
          <p:nvPr/>
        </p:nvSpPr>
        <p:spPr>
          <a:xfrm>
            <a:off x="5002137" y="3539342"/>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17" name="s38-text-15"/>
          <p:cNvSpPr txBox="1"/>
          <p:nvPr/>
        </p:nvSpPr>
        <p:spPr>
          <a:xfrm>
            <a:off x="6671516" y="3539342"/>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18" name="s38-text-16"/>
          <p:cNvSpPr txBox="1"/>
          <p:nvPr/>
        </p:nvSpPr>
        <p:spPr>
          <a:xfrm>
            <a:off x="4513943" y="2085228"/>
            <a:ext cx="50021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NNQA</a:t>
            </a:r>
          </a:p>
        </p:txBody>
      </p:sp>
      <p:sp>
        <p:nvSpPr>
          <p:cNvPr id="19" name="s38-text-17"/>
          <p:cNvSpPr txBox="1"/>
          <p:nvPr/>
        </p:nvSpPr>
        <p:spPr>
          <a:xfrm>
            <a:off x="5721143" y="2053479"/>
            <a:ext cx="24506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19</a:t>
            </a:r>
          </a:p>
        </p:txBody>
      </p:sp>
      <p:sp>
        <p:nvSpPr>
          <p:cNvPr id="20" name="s38-text-18"/>
          <p:cNvSpPr txBox="1"/>
          <p:nvPr/>
        </p:nvSpPr>
        <p:spPr>
          <a:xfrm>
            <a:off x="4642230" y="2593216"/>
            <a:ext cx="36779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VQE</a:t>
            </a:r>
          </a:p>
        </p:txBody>
      </p:sp>
      <p:sp>
        <p:nvSpPr>
          <p:cNvPr id="21" name="s38-text-19"/>
          <p:cNvSpPr txBox="1"/>
          <p:nvPr/>
        </p:nvSpPr>
        <p:spPr>
          <a:xfrm>
            <a:off x="6940491" y="2561466"/>
            <a:ext cx="69709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20–100</a:t>
            </a:r>
          </a:p>
        </p:txBody>
      </p:sp>
      <p:sp>
        <p:nvSpPr>
          <p:cNvPr id="22" name="s38-text-20"/>
          <p:cNvSpPr txBox="1"/>
          <p:nvPr/>
        </p:nvSpPr>
        <p:spPr>
          <a:xfrm>
            <a:off x="4642230" y="3101203"/>
            <a:ext cx="36779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QSP</a:t>
            </a:r>
          </a:p>
        </p:txBody>
      </p:sp>
      <p:sp>
        <p:nvSpPr>
          <p:cNvPr id="23" name="s38-text-21"/>
          <p:cNvSpPr txBox="1"/>
          <p:nvPr/>
        </p:nvSpPr>
        <p:spPr>
          <a:xfrm>
            <a:off x="6438961" y="3069454"/>
            <a:ext cx="24506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50</a:t>
            </a:r>
          </a:p>
        </p:txBody>
      </p:sp>
      <p:sp>
        <p:nvSpPr>
          <p:cNvPr id="24" name="s38-text-22"/>
          <p:cNvSpPr txBox="1"/>
          <p:nvPr/>
        </p:nvSpPr>
        <p:spPr>
          <a:xfrm>
            <a:off x="8445289" y="1615340"/>
            <a:ext cx="1746802"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circuit executions</a:t>
            </a:r>
          </a:p>
        </p:txBody>
      </p:sp>
      <p:sp>
        <p:nvSpPr>
          <p:cNvPr id="25" name="s38-text-23"/>
          <p:cNvSpPr txBox="1"/>
          <p:nvPr/>
        </p:nvSpPr>
        <p:spPr>
          <a:xfrm>
            <a:off x="8546347" y="3539342"/>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a:t>
            </a:r>
          </a:p>
        </p:txBody>
      </p:sp>
      <p:sp>
        <p:nvSpPr>
          <p:cNvPr id="26" name="s38-text-24"/>
          <p:cNvSpPr txBox="1"/>
          <p:nvPr/>
        </p:nvSpPr>
        <p:spPr>
          <a:xfrm>
            <a:off x="9138360" y="3539342"/>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27" name="s38-text-25"/>
          <p:cNvSpPr txBox="1"/>
          <p:nvPr/>
        </p:nvSpPr>
        <p:spPr>
          <a:xfrm>
            <a:off x="9730374" y="3539342"/>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a:t>
            </a:r>
          </a:p>
        </p:txBody>
      </p:sp>
      <p:sp>
        <p:nvSpPr>
          <p:cNvPr id="28" name="s38-text-26"/>
          <p:cNvSpPr txBox="1"/>
          <p:nvPr/>
        </p:nvSpPr>
        <p:spPr>
          <a:xfrm>
            <a:off x="10322387" y="3539342"/>
            <a:ext cx="32989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1000</a:t>
            </a:r>
          </a:p>
        </p:txBody>
      </p:sp>
      <p:sp>
        <p:nvSpPr>
          <p:cNvPr id="29" name="s38-text-27"/>
          <p:cNvSpPr txBox="1"/>
          <p:nvPr/>
        </p:nvSpPr>
        <p:spPr>
          <a:xfrm>
            <a:off x="7879359" y="2085228"/>
            <a:ext cx="50021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NNQA</a:t>
            </a:r>
          </a:p>
        </p:txBody>
      </p:sp>
      <p:sp>
        <p:nvSpPr>
          <p:cNvPr id="30" name="s38-text-28"/>
          <p:cNvSpPr txBox="1"/>
          <p:nvPr/>
        </p:nvSpPr>
        <p:spPr>
          <a:xfrm>
            <a:off x="8750335" y="2053479"/>
            <a:ext cx="132057"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a:t>
            </a:r>
          </a:p>
        </p:txBody>
      </p:sp>
      <p:sp>
        <p:nvSpPr>
          <p:cNvPr id="31" name="s38-text-29"/>
          <p:cNvSpPr txBox="1"/>
          <p:nvPr/>
        </p:nvSpPr>
        <p:spPr>
          <a:xfrm>
            <a:off x="8007646" y="2593216"/>
            <a:ext cx="36779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VQE</a:t>
            </a:r>
          </a:p>
        </p:txBody>
      </p:sp>
      <p:sp>
        <p:nvSpPr>
          <p:cNvPr id="32" name="s38-text-30"/>
          <p:cNvSpPr txBox="1"/>
          <p:nvPr/>
        </p:nvSpPr>
        <p:spPr>
          <a:xfrm>
            <a:off x="10630206" y="2561466"/>
            <a:ext cx="923108"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100–1000</a:t>
            </a:r>
          </a:p>
        </p:txBody>
      </p:sp>
      <p:sp>
        <p:nvSpPr>
          <p:cNvPr id="33" name="s38-text-31"/>
          <p:cNvSpPr txBox="1"/>
          <p:nvPr/>
        </p:nvSpPr>
        <p:spPr>
          <a:xfrm>
            <a:off x="8007646" y="3101203"/>
            <a:ext cx="36779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QSP</a:t>
            </a:r>
          </a:p>
        </p:txBody>
      </p:sp>
      <p:sp>
        <p:nvSpPr>
          <p:cNvPr id="34" name="s38-text-32"/>
          <p:cNvSpPr txBox="1"/>
          <p:nvPr/>
        </p:nvSpPr>
        <p:spPr>
          <a:xfrm>
            <a:off x="8496088" y="3126602"/>
            <a:ext cx="77239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not reported</a:t>
            </a:r>
          </a:p>
        </p:txBody>
      </p:sp>
      <p:sp>
        <p:nvSpPr>
          <p:cNvPr id="35" name="s38-text-33"/>
          <p:cNvSpPr txBox="1"/>
          <p:nvPr/>
        </p:nvSpPr>
        <p:spPr>
          <a:xfrm>
            <a:off x="3316105" y="3894933"/>
            <a:ext cx="557853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resource model for a degree-6 polynomial (log scales) · NNQA runs once with 4,096 shots</a:t>
            </a:r>
          </a:p>
        </p:txBody>
      </p:sp>
      <p:sp>
        <p:nvSpPr>
          <p:cNvPr id="36" name="s38-box-01"/>
          <p:cNvSpPr/>
          <p:nvPr/>
        </p:nvSpPr>
        <p:spPr>
          <a:xfrm>
            <a:off x="888978" y="4288623"/>
            <a:ext cx="2968848"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38-box-02"/>
          <p:cNvSpPr/>
          <p:nvPr/>
        </p:nvSpPr>
        <p:spPr>
          <a:xfrm>
            <a:off x="1054074" y="4418795"/>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s38-text-34"/>
          <p:cNvSpPr txBox="1"/>
          <p:nvPr/>
        </p:nvSpPr>
        <p:spPr>
          <a:xfrm>
            <a:off x="1219170" y="4364821"/>
            <a:ext cx="2492610"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&gt;99.5% accuracy up to degree 35</a:t>
            </a:r>
          </a:p>
        </p:txBody>
      </p:sp>
      <p:sp>
        <p:nvSpPr>
          <p:cNvPr id="39" name="s38-box-03"/>
          <p:cNvSpPr/>
          <p:nvPr/>
        </p:nvSpPr>
        <p:spPr>
          <a:xfrm>
            <a:off x="3959424" y="4288623"/>
            <a:ext cx="3844630"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s38-box-04"/>
          <p:cNvSpPr/>
          <p:nvPr/>
        </p:nvSpPr>
        <p:spPr>
          <a:xfrm>
            <a:off x="4124520" y="4418795"/>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38-text-35"/>
          <p:cNvSpPr txBox="1"/>
          <p:nvPr/>
        </p:nvSpPr>
        <p:spPr>
          <a:xfrm>
            <a:off x="4289615" y="4364821"/>
            <a:ext cx="3368392"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36 qubits · depth 70 (IonQ Forte-1 stress test)</a:t>
            </a:r>
          </a:p>
        </p:txBody>
      </p:sp>
      <p:sp>
        <p:nvSpPr>
          <p:cNvPr id="42" name="s38-box-05"/>
          <p:cNvSpPr/>
          <p:nvPr/>
        </p:nvSpPr>
        <p:spPr>
          <a:xfrm>
            <a:off x="888978" y="4739462"/>
            <a:ext cx="4380795"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38-box-06"/>
          <p:cNvSpPr/>
          <p:nvPr/>
        </p:nvSpPr>
        <p:spPr>
          <a:xfrm>
            <a:off x="1054074" y="4869634"/>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s38-text-36"/>
          <p:cNvSpPr txBox="1"/>
          <p:nvPr/>
        </p:nvSpPr>
        <p:spPr>
          <a:xfrm>
            <a:off x="1219170" y="4815660"/>
            <a:ext cx="3904557"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RMSE ≤ 0.017 · correlation &gt; 0.999 for degrees 1–30</a:t>
            </a:r>
          </a:p>
        </p:txBody>
      </p:sp>
      <p:sp>
        <p:nvSpPr>
          <p:cNvPr id="45" name="s38-box-07"/>
          <p:cNvSpPr/>
          <p:nvPr/>
        </p:nvSpPr>
        <p:spPr>
          <a:xfrm>
            <a:off x="5371370" y="4739462"/>
            <a:ext cx="3881638"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s38-box-08"/>
          <p:cNvSpPr/>
          <p:nvPr/>
        </p:nvSpPr>
        <p:spPr>
          <a:xfrm>
            <a:off x="5536466" y="4869634"/>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38-text-37"/>
          <p:cNvSpPr txBox="1"/>
          <p:nvPr/>
        </p:nvSpPr>
        <p:spPr>
          <a:xfrm>
            <a:off x="5701562" y="4815660"/>
            <a:ext cx="3405400"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pass rates 74–86% Heron-3 · 92–99% Forte-1</a:t>
            </a:r>
          </a:p>
        </p:txBody>
      </p:sp>
      <p:sp>
        <p:nvSpPr>
          <p:cNvPr id="48" name="s38-box-09"/>
          <p:cNvSpPr/>
          <p:nvPr/>
        </p:nvSpPr>
        <p:spPr>
          <a:xfrm>
            <a:off x="888978" y="5190301"/>
            <a:ext cx="2899496"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38-box-10"/>
          <p:cNvSpPr/>
          <p:nvPr/>
        </p:nvSpPr>
        <p:spPr>
          <a:xfrm>
            <a:off x="1054074" y="5320472"/>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s38-text-38"/>
          <p:cNvSpPr txBox="1"/>
          <p:nvPr/>
        </p:nvSpPr>
        <p:spPr>
          <a:xfrm>
            <a:off x="1219170" y="5266499"/>
            <a:ext cx="2423258"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universal-approximation theorem</a:t>
            </a:r>
          </a:p>
        </p:txBody>
      </p:sp>
      <p:sp>
        <p:nvSpPr>
          <p:cNvPr id="51"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52" name="s38-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53"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38</a:t>
            </a:r>
            <a:r>
              <a:rPr sz="1100" b="0" i="0" spc="66">
                <a:solidFill>
                  <a:srgbClr val="7B7B86"/>
                </a:solidFill>
                <a:latin typeface="Courier New"/>
              </a:rPr>
              <a:t> / 68</a:t>
            </a:r>
          </a:p>
        </p:txBody>
      </p:sp>
    </p:spTree>
    <p:extLst>
      <p:ext uri="{BB962C8B-B14F-4D97-AF65-F5344CB8AC3E}">
        <p14:creationId xmlns:p14="http://schemas.microsoft.com/office/powerpoint/2010/main" val="873809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888978" y="609585"/>
            <a:ext cx="111221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Takeaway</a:t>
            </a:r>
          </a:p>
        </p:txBody>
      </p:sp>
      <p:sp>
        <p:nvSpPr>
          <p:cNvPr id="3" name="s39-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RQ3: vectorize, then learn</a:t>
            </a:r>
          </a:p>
        </p:txBody>
      </p:sp>
      <p:sp>
        <p:nvSpPr>
          <p:cNvPr id="4" name="s39-box-01"/>
          <p:cNvSpPr/>
          <p:nvPr/>
        </p:nvSpPr>
        <p:spPr>
          <a:xfrm>
            <a:off x="888978" y="180151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39-text-03"/>
          <p:cNvSpPr txBox="1"/>
          <p:nvPr/>
        </p:nvSpPr>
        <p:spPr>
          <a:xfrm>
            <a:off x="1219170" y="1659789"/>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sz="1800" b="1" i="0">
                <a:solidFill>
                  <a:srgbClr val="0B0B0F"/>
                </a:solidFill>
                <a:latin typeface="Arial"/>
              </a:rPr>
              <a:t>One encoding, four uses:</a:t>
            </a:r>
            <a:r>
              <a:rPr sz="1800" b="0" i="0">
                <a:solidFill>
                  <a:srgbClr val="50505B"/>
                </a:solidFill>
                <a:latin typeface="Arial"/>
              </a:rPr>
              <a:t> QPIE blocks · VQT attention · ShardQ cuts · NNQA arithmetic</a:t>
            </a:r>
          </a:p>
        </p:txBody>
      </p:sp>
      <p:sp>
        <p:nvSpPr>
          <p:cNvPr id="6" name="s39-box-02"/>
          <p:cNvSpPr/>
          <p:nvPr/>
        </p:nvSpPr>
        <p:spPr>
          <a:xfrm>
            <a:off x="888978" y="224977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39-text-04"/>
          <p:cNvSpPr txBox="1"/>
          <p:nvPr/>
        </p:nvSpPr>
        <p:spPr>
          <a:xfrm>
            <a:off x="1219170" y="2108048"/>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sz="1800" b="1" i="0">
                <a:solidFill>
                  <a:srgbClr val="0B0B0F"/>
                </a:solidFill>
                <a:latin typeface="Arial"/>
              </a:rPr>
              <a:t>Shot-efficient:</a:t>
            </a:r>
            <a:r>
              <a:rPr sz="1800" b="0" i="0">
                <a:solidFill>
                  <a:srgbClr val="50505B"/>
                </a:solidFill>
                <a:latin typeface="Arial"/>
              </a:rPr>
              <a:t> VQDP O(log(B·T²)) vs O(B·T²·d) · NNQA runs once</a:t>
            </a:r>
          </a:p>
        </p:txBody>
      </p:sp>
      <p:sp>
        <p:nvSpPr>
          <p:cNvPr id="8" name="s39-box-03"/>
          <p:cNvSpPr/>
          <p:nvPr/>
        </p:nvSpPr>
        <p:spPr>
          <a:xfrm>
            <a:off x="888978" y="2698036"/>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39-text-05"/>
          <p:cNvSpPr txBox="1"/>
          <p:nvPr/>
        </p:nvSpPr>
        <p:spPr>
          <a:xfrm>
            <a:off x="1219170" y="2556307"/>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sz="1800" b="1" i="0">
                <a:solidFill>
                  <a:srgbClr val="0B0B0F"/>
                </a:solidFill>
                <a:latin typeface="Arial"/>
              </a:rPr>
              <a:t>Hardware-compatible:</a:t>
            </a:r>
            <a:r>
              <a:rPr sz="1800" b="0" i="0">
                <a:solidFill>
                  <a:srgbClr val="50505B"/>
                </a:solidFill>
                <a:latin typeface="Arial"/>
              </a:rPr>
              <a:t> fidelity 0.79 → 0.90 · ran on Heron, Aria-1, Forte-1</a:t>
            </a:r>
          </a:p>
        </p:txBody>
      </p:sp>
      <p:sp>
        <p:nvSpPr>
          <p:cNvPr id="10" name="s39-box-04"/>
          <p:cNvSpPr/>
          <p:nvPr/>
        </p:nvSpPr>
        <p:spPr>
          <a:xfrm>
            <a:off x="888978" y="3146295"/>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39-text-06"/>
          <p:cNvSpPr txBox="1"/>
          <p:nvPr/>
        </p:nvSpPr>
        <p:spPr>
          <a:xfrm>
            <a:off x="1219170" y="3004566"/>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sz="1800" b="1" i="0">
                <a:solidFill>
                  <a:srgbClr val="0B0B0F"/>
                </a:solidFill>
                <a:latin typeface="Arial"/>
              </a:rPr>
              <a:t>Trainable:</a:t>
            </a:r>
            <a:r>
              <a:rPr sz="1800" b="0" i="0">
                <a:solidFill>
                  <a:srgbClr val="50505B"/>
                </a:solidFill>
                <a:latin typeface="Arial"/>
              </a:rPr>
              <a:t> learnable heads keep gradients alive · NNQA needs no on-device training</a:t>
            </a:r>
          </a:p>
        </p:txBody>
      </p:sp>
      <p:sp>
        <p:nvSpPr>
          <p:cNvPr id="12"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39-text-07"/>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14"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5"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39-text-09"/>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7"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8" name="!!L3-bg"/>
          <p:cNvSpPr/>
          <p:nvPr/>
        </p:nvSpPr>
        <p:spPr>
          <a:xfrm>
            <a:off x="7953771" y="6311742"/>
            <a:ext cx="1368391"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39-text-11"/>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03</a:t>
            </a:r>
          </a:p>
        </p:txBody>
      </p:sp>
      <p:sp>
        <p:nvSpPr>
          <p:cNvPr id="20"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Data encoding</a:t>
            </a:r>
          </a:p>
        </p:txBody>
      </p:sp>
      <p:sp>
        <p:nvSpPr>
          <p:cNvPr id="21"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39-text-13"/>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23"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24"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39-text-15"/>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6"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7" name="!!sec"/>
          <p:cNvSpPr txBox="1"/>
          <p:nvPr/>
        </p:nvSpPr>
        <p:spPr>
          <a:xfrm>
            <a:off x="888978" y="6362541"/>
            <a:ext cx="205387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 · Quantum learning</a:t>
            </a:r>
          </a:p>
        </p:txBody>
      </p:sp>
      <p:pic>
        <p:nvPicPr>
          <p:cNvPr id="28" name="s39-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39</a:t>
            </a:r>
            <a:r>
              <a:rPr sz="1100" b="0" i="0" spc="66">
                <a:solidFill>
                  <a:srgbClr val="7B7B86"/>
                </a:solidFill>
                <a:latin typeface="Courier New"/>
              </a:rPr>
              <a:t> / 68</a:t>
            </a:r>
          </a:p>
        </p:txBody>
      </p:sp>
    </p:spTree>
    <p:extLst>
      <p:ext uri="{BB962C8B-B14F-4D97-AF65-F5344CB8AC3E}">
        <p14:creationId xmlns:p14="http://schemas.microsoft.com/office/powerpoint/2010/main" val="660932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s19-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s19-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s19-text-01"/>
          <p:cNvSpPr txBox="1"/>
          <p:nvPr/>
        </p:nvSpPr>
        <p:spPr>
          <a:xfrm>
            <a:off x="888978" y="2364721"/>
            <a:ext cx="10432789"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Chapter IV · RQ2 Noise</a:t>
            </a:r>
          </a:p>
        </p:txBody>
      </p:sp>
      <p:sp>
        <p:nvSpPr>
          <p:cNvPr id="5" name="s19-text-02"/>
          <p:cNvSpPr txBox="1"/>
          <p:nvPr/>
        </p:nvSpPr>
        <p:spPr>
          <a:xfrm>
            <a:off x="888978" y="2675863"/>
            <a:ext cx="5257272" cy="826670"/>
          </a:xfrm>
          <a:prstGeom prst="rect">
            <a:avLst/>
          </a:prstGeom>
          <a:noFill/>
        </p:spPr>
        <p:txBody>
          <a:bodyPr wrap="none" lIns="0" tIns="0" rIns="0" bIns="0" anchor="t">
            <a:noAutofit/>
          </a:bodyPr>
          <a:lstStyle/>
          <a:p>
            <a:pPr algn="l">
              <a:lnSpc>
                <a:spcPts val="6509"/>
              </a:lnSpc>
              <a:spcBef>
                <a:spcPts val="0"/>
              </a:spcBef>
              <a:spcAft>
                <a:spcPts val="0"/>
              </a:spcAft>
            </a:pPr>
            <a:r>
              <a:rPr sz="6200" b="1" i="0" spc="-217" dirty="0">
                <a:solidFill>
                  <a:srgbClr val="CC0000"/>
                </a:solidFill>
                <a:latin typeface="Arial"/>
              </a:rPr>
              <a:t>DEAL &amp; QAWA</a:t>
            </a:r>
          </a:p>
        </p:txBody>
      </p:sp>
      <p:sp>
        <p:nvSpPr>
          <p:cNvPr id="6" name="s19-text-03"/>
          <p:cNvSpPr txBox="1"/>
          <p:nvPr/>
        </p:nvSpPr>
        <p:spPr>
          <a:xfrm>
            <a:off x="888978" y="3654929"/>
            <a:ext cx="9537462" cy="685783"/>
          </a:xfrm>
          <a:prstGeom prst="rect">
            <a:avLst/>
          </a:prstGeom>
          <a:noFill/>
        </p:spPr>
        <p:txBody>
          <a:bodyPr wrap="square" lIns="0" tIns="0" rIns="0" bIns="0" anchor="t">
            <a:noAutofit/>
          </a:bodyPr>
          <a:lstStyle/>
          <a:p>
            <a:pPr algn="l">
              <a:lnSpc>
                <a:spcPts val="2700"/>
              </a:lnSpc>
              <a:spcBef>
                <a:spcPts val="0"/>
              </a:spcBef>
              <a:spcAft>
                <a:spcPts val="0"/>
              </a:spcAft>
            </a:pPr>
            <a:r>
              <a:rPr sz="2000" b="0" i="0" dirty="0">
                <a:solidFill>
                  <a:srgbClr val="50505B"/>
                </a:solidFill>
                <a:latin typeface="Arial"/>
              </a:rPr>
              <a:t>Hardware-aware optimization on noisy devices</a:t>
            </a:r>
          </a:p>
          <a:p>
            <a:pPr algn="l">
              <a:lnSpc>
                <a:spcPts val="2700"/>
              </a:lnSpc>
              <a:spcBef>
                <a:spcPts val="0"/>
              </a:spcBef>
              <a:spcAft>
                <a:spcPts val="0"/>
              </a:spcAft>
            </a:pPr>
            <a:r>
              <a:rPr sz="1200" b="0" i="0" dirty="0">
                <a:solidFill>
                  <a:srgbClr val="7B7B86"/>
                </a:solidFill>
                <a:latin typeface="Arial"/>
              </a:rPr>
              <a:t>DEAL: Guo, Rayan, Hu, Pan · IEEE QCE 2025 · arXiv:2504.04021  ·  QAWA: Guo, </a:t>
            </a:r>
            <a:r>
              <a:rPr sz="1200" b="0" i="0" dirty="0" err="1">
                <a:solidFill>
                  <a:srgbClr val="7B7B86"/>
                </a:solidFill>
                <a:latin typeface="Arial"/>
              </a:rPr>
              <a:t>Balewski</a:t>
            </a:r>
            <a:r>
              <a:rPr sz="1200" b="0" i="0" dirty="0">
                <a:solidFill>
                  <a:srgbClr val="7B7B86"/>
                </a:solidFill>
                <a:latin typeface="Arial"/>
              </a:rPr>
              <a:t>, Hu, Khan, Pan · arXiv:2511.07676</a:t>
            </a:r>
          </a:p>
        </p:txBody>
      </p:sp>
      <p:sp>
        <p:nvSpPr>
          <p:cNvPr id="7"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19-text-04"/>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9"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19-text-06"/>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02</a:t>
            </a:r>
          </a:p>
        </p:txBody>
      </p:sp>
      <p:sp>
        <p:nvSpPr>
          <p:cNvPr id="12"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19-text-08"/>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15"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19-text-10"/>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18"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19-text-12"/>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1"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2" name="!!sec"/>
          <p:cNvSpPr txBox="1"/>
          <p:nvPr/>
        </p:nvSpPr>
        <p:spPr>
          <a:xfrm>
            <a:off x="888978" y="6362541"/>
            <a:ext cx="152654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IV · DEAL &amp; QAWA</a:t>
            </a:r>
          </a:p>
        </p:txBody>
      </p:sp>
      <p:pic>
        <p:nvPicPr>
          <p:cNvPr id="23" name="s19-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19</a:t>
            </a:r>
            <a:r>
              <a:rPr sz="1100" b="0" i="0" spc="66">
                <a:solidFill>
                  <a:srgbClr val="7B7B86"/>
                </a:solidFill>
                <a:latin typeface="Courier New"/>
              </a:rPr>
              <a:t> / 68</a:t>
            </a:r>
          </a:p>
        </p:txBody>
      </p:sp>
      <p:sp>
        <p:nvSpPr>
          <p:cNvPr id="25" name="TextBox 24">
            <a:extLst>
              <a:ext uri="{FF2B5EF4-FFF2-40B4-BE49-F238E27FC236}">
                <a16:creationId xmlns:a16="http://schemas.microsoft.com/office/drawing/2014/main" id="{23083D83-DF9E-6EFA-DC4F-630A473C2E9C}"/>
              </a:ext>
            </a:extLst>
          </p:cNvPr>
          <p:cNvSpPr txBox="1"/>
          <p:nvPr/>
        </p:nvSpPr>
        <p:spPr>
          <a:xfrm>
            <a:off x="7003228" y="2011680"/>
            <a:ext cx="4078489" cy="646331"/>
          </a:xfrm>
          <a:prstGeom prst="rect">
            <a:avLst/>
          </a:prstGeom>
          <a:noFill/>
        </p:spPr>
        <p:txBody>
          <a:bodyPr wrap="none" rtlCol="0">
            <a:spAutoFit/>
          </a:bodyPr>
          <a:lstStyle/>
          <a:p>
            <a:r>
              <a:rPr lang="en-US" dirty="0"/>
              <a:t>Quantum </a:t>
            </a:r>
            <a:r>
              <a:rPr lang="en-US" dirty="0" err="1"/>
              <a:t>utiltity</a:t>
            </a:r>
            <a:r>
              <a:rPr lang="en-US" dirty="0"/>
              <a:t>? QAOA for optimization</a:t>
            </a:r>
          </a:p>
          <a:p>
            <a:r>
              <a:rPr lang="en-US" dirty="0"/>
              <a:t> classical NP problems.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00635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Problem</a:t>
            </a:r>
          </a:p>
        </p:txBody>
      </p:sp>
      <p:sp>
        <p:nvSpPr>
          <p:cNvPr id="3" name="s20-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QAOA treats the device as a black box</a:t>
            </a:r>
          </a:p>
        </p:txBody>
      </p:sp>
      <p:pic>
        <p:nvPicPr>
          <p:cNvPr id="4" name="s20-image-01" descr="diagram"/>
          <p:cNvPicPr>
            <a:picLocks noChangeAspect="1"/>
          </p:cNvPicPr>
          <p:nvPr/>
        </p:nvPicPr>
        <p:blipFill>
          <a:blip r:embed="rId3"/>
          <a:stretch>
            <a:fillRect/>
          </a:stretch>
        </p:blipFill>
        <p:spPr>
          <a:xfrm>
            <a:off x="863578" y="1568411"/>
            <a:ext cx="10470888" cy="3168571"/>
          </a:xfrm>
          <a:prstGeom prst="rect">
            <a:avLst/>
          </a:prstGeom>
        </p:spPr>
      </p:pic>
      <p:sp>
        <p:nvSpPr>
          <p:cNvPr id="5" name="s20-text-03"/>
          <p:cNvSpPr txBox="1"/>
          <p:nvPr/>
        </p:nvSpPr>
        <p:spPr>
          <a:xfrm>
            <a:off x="1403761" y="2675764"/>
            <a:ext cx="165641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parameters (γ, β)</a:t>
            </a:r>
          </a:p>
        </p:txBody>
      </p:sp>
      <p:sp>
        <p:nvSpPr>
          <p:cNvPr id="6" name="s20-text-04"/>
          <p:cNvSpPr txBox="1"/>
          <p:nvPr/>
        </p:nvSpPr>
        <p:spPr>
          <a:xfrm>
            <a:off x="1612860" y="2961506"/>
            <a:ext cx="123821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p layers · 2p angles</a:t>
            </a:r>
          </a:p>
        </p:txBody>
      </p:sp>
      <p:sp>
        <p:nvSpPr>
          <p:cNvPr id="7" name="s20-text-05"/>
          <p:cNvSpPr txBox="1"/>
          <p:nvPr/>
        </p:nvSpPr>
        <p:spPr>
          <a:xfrm>
            <a:off x="4445732" y="2675764"/>
            <a:ext cx="128951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QAOA circuit</a:t>
            </a:r>
          </a:p>
        </p:txBody>
      </p:sp>
      <p:sp>
        <p:nvSpPr>
          <p:cNvPr id="8" name="s20-text-06"/>
          <p:cNvSpPr txBox="1"/>
          <p:nvPr/>
        </p:nvSpPr>
        <p:spPr>
          <a:xfrm>
            <a:off x="4216245" y="2961506"/>
            <a:ext cx="174630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cost layer · mixer layer · × p</a:t>
            </a:r>
          </a:p>
        </p:txBody>
      </p:sp>
      <p:sp>
        <p:nvSpPr>
          <p:cNvPr id="9" name="s20-text-07"/>
          <p:cNvSpPr txBox="1"/>
          <p:nvPr/>
        </p:nvSpPr>
        <p:spPr>
          <a:xfrm>
            <a:off x="7519353" y="2675764"/>
            <a:ext cx="854947"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measure</a:t>
            </a:r>
          </a:p>
        </p:txBody>
      </p:sp>
      <p:sp>
        <p:nvSpPr>
          <p:cNvPr id="10" name="s20-text-08"/>
          <p:cNvSpPr txBox="1"/>
          <p:nvPr/>
        </p:nvSpPr>
        <p:spPr>
          <a:xfrm>
            <a:off x="7554079" y="2961506"/>
            <a:ext cx="78549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shots → ⟨H⟩</a:t>
            </a:r>
          </a:p>
        </p:txBody>
      </p:sp>
      <p:sp>
        <p:nvSpPr>
          <p:cNvPr id="11" name="s20-text-09"/>
          <p:cNvSpPr txBox="1"/>
          <p:nvPr/>
        </p:nvSpPr>
        <p:spPr>
          <a:xfrm>
            <a:off x="9835160" y="2675764"/>
            <a:ext cx="922215"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optimizer</a:t>
            </a:r>
          </a:p>
        </p:txBody>
      </p:sp>
      <p:sp>
        <p:nvSpPr>
          <p:cNvPr id="12" name="s20-text-10"/>
          <p:cNvSpPr txBox="1"/>
          <p:nvPr/>
        </p:nvSpPr>
        <p:spPr>
          <a:xfrm>
            <a:off x="9991624" y="2961506"/>
            <a:ext cx="60928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black box</a:t>
            </a:r>
          </a:p>
        </p:txBody>
      </p:sp>
      <p:sp>
        <p:nvSpPr>
          <p:cNvPr id="13" name="s20-text-11"/>
          <p:cNvSpPr txBox="1"/>
          <p:nvPr/>
        </p:nvSpPr>
        <p:spPr>
          <a:xfrm>
            <a:off x="4155277" y="4110828"/>
            <a:ext cx="421768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repeat hundreds of times · each pass costs shots × depth</a:t>
            </a:r>
          </a:p>
        </p:txBody>
      </p:sp>
      <p:sp>
        <p:nvSpPr>
          <p:cNvPr id="14" name="s20-text-12"/>
          <p:cNvSpPr txBox="1"/>
          <p:nvPr/>
        </p:nvSpPr>
        <p:spPr>
          <a:xfrm>
            <a:off x="4208903" y="4402920"/>
            <a:ext cx="411043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on IBM Heron the 20-qubit circuits degrade after ≈41–43 CZ gates</a:t>
            </a:r>
          </a:p>
        </p:txBody>
      </p:sp>
      <p:sp>
        <p:nvSpPr>
          <p:cNvPr id="15" name="!!sec"/>
          <p:cNvSpPr txBox="1"/>
          <p:nvPr/>
        </p:nvSpPr>
        <p:spPr>
          <a:xfrm>
            <a:off x="888978" y="6362541"/>
            <a:ext cx="152654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IV · DEAL &amp; QAWA</a:t>
            </a:r>
          </a:p>
        </p:txBody>
      </p:sp>
      <p:pic>
        <p:nvPicPr>
          <p:cNvPr id="16" name="s20-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17"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20</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521193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DEAL · Direct Entanglement Ansatz Learning</a:t>
            </a:r>
          </a:p>
        </p:txBody>
      </p:sp>
      <p:sp>
        <p:nvSpPr>
          <p:cNvPr id="3" name="s21-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Read the angles off the problem</a:t>
            </a:r>
          </a:p>
        </p:txBody>
      </p:sp>
      <p:sp>
        <p:nvSpPr>
          <p:cNvPr id="4" name="s21-box-01"/>
          <p:cNvSpPr/>
          <p:nvPr/>
        </p:nvSpPr>
        <p:spPr>
          <a:xfrm>
            <a:off x="888978" y="1583591"/>
            <a:ext cx="4825879" cy="1297749"/>
          </a:xfrm>
          <a:prstGeom prst="roundRect">
            <a:avLst>
              <a:gd name="adj" fmla="val 1174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21-text-03"/>
          <p:cNvSpPr txBox="1"/>
          <p:nvPr/>
        </p:nvSpPr>
        <p:spPr>
          <a:xfrm>
            <a:off x="1142971" y="1812185"/>
            <a:ext cx="4336942"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Direct angle mapping</a:t>
            </a:r>
          </a:p>
        </p:txBody>
      </p:sp>
      <p:sp>
        <p:nvSpPr>
          <p:cNvPr id="6" name="s21-text-04"/>
          <p:cNvSpPr txBox="1"/>
          <p:nvPr/>
        </p:nvSpPr>
        <p:spPr>
          <a:xfrm>
            <a:off x="1142971" y="2155077"/>
            <a:ext cx="4330592"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Angles from the QUBO coefficients — no optimizer loop</a:t>
            </a:r>
          </a:p>
        </p:txBody>
      </p:sp>
      <p:sp>
        <p:nvSpPr>
          <p:cNvPr id="7" name="s21-box-02"/>
          <p:cNvSpPr/>
          <p:nvPr/>
        </p:nvSpPr>
        <p:spPr>
          <a:xfrm>
            <a:off x="888978" y="2995637"/>
            <a:ext cx="4825879" cy="1297749"/>
          </a:xfrm>
          <a:prstGeom prst="roundRect">
            <a:avLst>
              <a:gd name="adj" fmla="val 1174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21-text-05"/>
          <p:cNvSpPr txBox="1"/>
          <p:nvPr/>
        </p:nvSpPr>
        <p:spPr>
          <a:xfrm>
            <a:off x="1142971" y="3224231"/>
            <a:ext cx="4336942"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Entanglement-based ansatz</a:t>
            </a:r>
          </a:p>
        </p:txBody>
      </p:sp>
      <p:sp>
        <p:nvSpPr>
          <p:cNvPr id="9" name="s21-text-06"/>
          <p:cNvSpPr txBox="1"/>
          <p:nvPr/>
        </p:nvSpPr>
        <p:spPr>
          <a:xfrm>
            <a:off x="1142971" y="3567123"/>
            <a:ext cx="4330592"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Echoed cross-resonance gates within the device’s CZ budget</a:t>
            </a:r>
          </a:p>
        </p:txBody>
      </p:sp>
      <p:sp>
        <p:nvSpPr>
          <p:cNvPr id="10" name="s21-box-03"/>
          <p:cNvSpPr/>
          <p:nvPr/>
        </p:nvSpPr>
        <p:spPr>
          <a:xfrm>
            <a:off x="888978" y="4407683"/>
            <a:ext cx="4825879" cy="1297749"/>
          </a:xfrm>
          <a:prstGeom prst="roundRect">
            <a:avLst>
              <a:gd name="adj" fmla="val 1174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21-text-07"/>
          <p:cNvSpPr txBox="1"/>
          <p:nvPr/>
        </p:nvSpPr>
        <p:spPr>
          <a:xfrm>
            <a:off x="1142971" y="4636277"/>
            <a:ext cx="4336942"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Adaptive digital ZNE</a:t>
            </a:r>
          </a:p>
        </p:txBody>
      </p:sp>
      <p:sp>
        <p:nvSpPr>
          <p:cNvPr id="12" name="s21-text-08"/>
          <p:cNvSpPr txBox="1"/>
          <p:nvPr/>
        </p:nvSpPr>
        <p:spPr>
          <a:xfrm>
            <a:off x="1142971" y="4979168"/>
            <a:ext cx="4330592"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Delay / identity gates vs crosstalk; Bayesian layer choice</a:t>
            </a:r>
          </a:p>
        </p:txBody>
      </p:sp>
      <p:pic>
        <p:nvPicPr>
          <p:cNvPr id="13" name="s21-image-01" descr="diagram"/>
          <p:cNvPicPr>
            <a:picLocks noChangeAspect="1"/>
          </p:cNvPicPr>
          <p:nvPr/>
        </p:nvPicPr>
        <p:blipFill>
          <a:blip r:embed="rId3"/>
          <a:stretch>
            <a:fillRect/>
          </a:stretch>
        </p:blipFill>
        <p:spPr>
          <a:xfrm>
            <a:off x="5943451" y="2216095"/>
            <a:ext cx="5327517" cy="2851079"/>
          </a:xfrm>
          <a:prstGeom prst="rect">
            <a:avLst/>
          </a:prstGeom>
        </p:spPr>
      </p:pic>
      <p:sp>
        <p:nvSpPr>
          <p:cNvPr id="14" name="s21-text-09"/>
          <p:cNvSpPr txBox="1"/>
          <p:nvPr/>
        </p:nvSpPr>
        <p:spPr>
          <a:xfrm>
            <a:off x="6128787" y="2622187"/>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q0</a:t>
            </a:r>
          </a:p>
        </p:txBody>
      </p:sp>
      <p:sp>
        <p:nvSpPr>
          <p:cNvPr id="15" name="s21-text-10"/>
          <p:cNvSpPr txBox="1"/>
          <p:nvPr/>
        </p:nvSpPr>
        <p:spPr>
          <a:xfrm>
            <a:off x="6128787" y="3066676"/>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q1</a:t>
            </a:r>
          </a:p>
        </p:txBody>
      </p:sp>
      <p:sp>
        <p:nvSpPr>
          <p:cNvPr id="16" name="s21-text-11"/>
          <p:cNvSpPr txBox="1"/>
          <p:nvPr/>
        </p:nvSpPr>
        <p:spPr>
          <a:xfrm>
            <a:off x="6128787" y="351116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q2</a:t>
            </a:r>
          </a:p>
        </p:txBody>
      </p:sp>
      <p:sp>
        <p:nvSpPr>
          <p:cNvPr id="17" name="s21-text-12"/>
          <p:cNvSpPr txBox="1"/>
          <p:nvPr/>
        </p:nvSpPr>
        <p:spPr>
          <a:xfrm>
            <a:off x="6128787" y="395565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q3</a:t>
            </a:r>
          </a:p>
        </p:txBody>
      </p:sp>
      <p:sp>
        <p:nvSpPr>
          <p:cNvPr id="18" name="s21-text-13"/>
          <p:cNvSpPr txBox="1"/>
          <p:nvPr/>
        </p:nvSpPr>
        <p:spPr>
          <a:xfrm>
            <a:off x="6766351" y="2622187"/>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9" name="s21-text-14"/>
          <p:cNvSpPr txBox="1"/>
          <p:nvPr/>
        </p:nvSpPr>
        <p:spPr>
          <a:xfrm>
            <a:off x="6766351" y="3066676"/>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0" name="s21-text-15"/>
          <p:cNvSpPr txBox="1"/>
          <p:nvPr/>
        </p:nvSpPr>
        <p:spPr>
          <a:xfrm>
            <a:off x="6766351" y="351116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1" name="s21-text-16"/>
          <p:cNvSpPr txBox="1"/>
          <p:nvPr/>
        </p:nvSpPr>
        <p:spPr>
          <a:xfrm>
            <a:off x="6766351" y="395565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2" name="s21-text-17"/>
          <p:cNvSpPr txBox="1"/>
          <p:nvPr/>
        </p:nvSpPr>
        <p:spPr>
          <a:xfrm>
            <a:off x="8290313" y="2622187"/>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RZ</a:t>
            </a:r>
          </a:p>
        </p:txBody>
      </p:sp>
      <p:sp>
        <p:nvSpPr>
          <p:cNvPr id="23" name="s21-text-18"/>
          <p:cNvSpPr txBox="1"/>
          <p:nvPr/>
        </p:nvSpPr>
        <p:spPr>
          <a:xfrm>
            <a:off x="8290313" y="3066676"/>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RZ</a:t>
            </a:r>
          </a:p>
        </p:txBody>
      </p:sp>
      <p:sp>
        <p:nvSpPr>
          <p:cNvPr id="24" name="s21-text-19"/>
          <p:cNvSpPr txBox="1"/>
          <p:nvPr/>
        </p:nvSpPr>
        <p:spPr>
          <a:xfrm>
            <a:off x="8290313" y="351116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RZ</a:t>
            </a:r>
          </a:p>
        </p:txBody>
      </p:sp>
      <p:sp>
        <p:nvSpPr>
          <p:cNvPr id="25" name="s21-text-20"/>
          <p:cNvSpPr txBox="1"/>
          <p:nvPr/>
        </p:nvSpPr>
        <p:spPr>
          <a:xfrm>
            <a:off x="8290313" y="395565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RZ</a:t>
            </a:r>
          </a:p>
        </p:txBody>
      </p:sp>
      <p:sp>
        <p:nvSpPr>
          <p:cNvPr id="26" name="s21-text-21"/>
          <p:cNvSpPr txBox="1"/>
          <p:nvPr/>
        </p:nvSpPr>
        <p:spPr>
          <a:xfrm>
            <a:off x="9814275" y="2622187"/>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RX</a:t>
            </a:r>
          </a:p>
        </p:txBody>
      </p:sp>
      <p:sp>
        <p:nvSpPr>
          <p:cNvPr id="27" name="s21-text-22"/>
          <p:cNvSpPr txBox="1"/>
          <p:nvPr/>
        </p:nvSpPr>
        <p:spPr>
          <a:xfrm>
            <a:off x="9814275" y="3066676"/>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RX</a:t>
            </a:r>
          </a:p>
        </p:txBody>
      </p:sp>
      <p:sp>
        <p:nvSpPr>
          <p:cNvPr id="28" name="s21-text-23"/>
          <p:cNvSpPr txBox="1"/>
          <p:nvPr/>
        </p:nvSpPr>
        <p:spPr>
          <a:xfrm>
            <a:off x="9814275" y="3511165"/>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RX</a:t>
            </a:r>
          </a:p>
        </p:txBody>
      </p:sp>
      <p:sp>
        <p:nvSpPr>
          <p:cNvPr id="29" name="s21-text-24"/>
          <p:cNvSpPr txBox="1"/>
          <p:nvPr/>
        </p:nvSpPr>
        <p:spPr>
          <a:xfrm>
            <a:off x="9814275" y="395565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RX</a:t>
            </a:r>
          </a:p>
        </p:txBody>
      </p:sp>
      <p:sp>
        <p:nvSpPr>
          <p:cNvPr id="30" name="s21-text-25"/>
          <p:cNvSpPr txBox="1"/>
          <p:nvPr/>
        </p:nvSpPr>
        <p:spPr>
          <a:xfrm>
            <a:off x="6525901" y="4342994"/>
            <a:ext cx="235926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angles from QUBO coefficients Qᵢᵢ, Qᵢⱼ</a:t>
            </a:r>
          </a:p>
        </p:txBody>
      </p:sp>
      <p:sp>
        <p:nvSpPr>
          <p:cNvPr id="31" name="s21-text-26"/>
          <p:cNvSpPr txBox="1"/>
          <p:nvPr/>
        </p:nvSpPr>
        <p:spPr>
          <a:xfrm>
            <a:off x="8414284" y="4571588"/>
            <a:ext cx="224000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echoed cross-resonance entanglers</a:t>
            </a:r>
          </a:p>
        </p:txBody>
      </p:sp>
      <p:sp>
        <p:nvSpPr>
          <p:cNvPr id="32" name="s21-text-27"/>
          <p:cNvSpPr txBox="1"/>
          <p:nvPr/>
        </p:nvSpPr>
        <p:spPr>
          <a:xfrm>
            <a:off x="6017764" y="4787483"/>
            <a:ext cx="5191591"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20 qubits · 10 layers on IBM Torino (133 q) and IBM Marrakesh (156 q)</a:t>
            </a:r>
          </a:p>
        </p:txBody>
      </p:sp>
      <p:sp>
        <p:nvSpPr>
          <p:cNvPr id="33" name="!!sec"/>
          <p:cNvSpPr txBox="1"/>
          <p:nvPr/>
        </p:nvSpPr>
        <p:spPr>
          <a:xfrm>
            <a:off x="888978" y="6362541"/>
            <a:ext cx="152654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IV · DEAL &amp; QAWA</a:t>
            </a:r>
          </a:p>
        </p:txBody>
      </p:sp>
      <p:pic>
        <p:nvPicPr>
          <p:cNvPr id="34" name="s21-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35"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21</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274581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DEAL · Error mitigation</a:t>
            </a:r>
          </a:p>
        </p:txBody>
      </p:sp>
      <p:sp>
        <p:nvSpPr>
          <p:cNvPr id="3" name="s22-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Adaptive zero-noise extrapolation</a:t>
            </a:r>
          </a:p>
        </p:txBody>
      </p:sp>
      <p:pic>
        <p:nvPicPr>
          <p:cNvPr id="4" name="s22-image-01" descr="diagram"/>
          <p:cNvPicPr>
            <a:picLocks noChangeAspect="1"/>
          </p:cNvPicPr>
          <p:nvPr/>
        </p:nvPicPr>
        <p:blipFill>
          <a:blip r:embed="rId3"/>
          <a:stretch>
            <a:fillRect/>
          </a:stretch>
        </p:blipFill>
        <p:spPr>
          <a:xfrm>
            <a:off x="863578" y="1593810"/>
            <a:ext cx="10470888" cy="3105072"/>
          </a:xfrm>
          <a:prstGeom prst="rect">
            <a:avLst/>
          </a:prstGeom>
        </p:spPr>
      </p:pic>
      <p:sp>
        <p:nvSpPr>
          <p:cNvPr id="5" name="s22-text-03"/>
          <p:cNvSpPr txBox="1"/>
          <p:nvPr/>
        </p:nvSpPr>
        <p:spPr>
          <a:xfrm>
            <a:off x="1142971" y="2116978"/>
            <a:ext cx="47633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λ = 1</a:t>
            </a:r>
          </a:p>
        </p:txBody>
      </p:sp>
      <p:sp>
        <p:nvSpPr>
          <p:cNvPr id="6" name="s22-text-04"/>
          <p:cNvSpPr txBox="1"/>
          <p:nvPr/>
        </p:nvSpPr>
        <p:spPr>
          <a:xfrm>
            <a:off x="2113207" y="2123327"/>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U</a:t>
            </a:r>
          </a:p>
        </p:txBody>
      </p:sp>
      <p:sp>
        <p:nvSpPr>
          <p:cNvPr id="7" name="s22-text-05"/>
          <p:cNvSpPr txBox="1"/>
          <p:nvPr/>
        </p:nvSpPr>
        <p:spPr>
          <a:xfrm>
            <a:off x="2621195" y="2123327"/>
            <a:ext cx="11429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V</a:t>
            </a:r>
          </a:p>
        </p:txBody>
      </p:sp>
      <p:sp>
        <p:nvSpPr>
          <p:cNvPr id="8" name="s22-text-06"/>
          <p:cNvSpPr txBox="1"/>
          <p:nvPr/>
        </p:nvSpPr>
        <p:spPr>
          <a:xfrm>
            <a:off x="3305688" y="2123327"/>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U†</a:t>
            </a:r>
          </a:p>
        </p:txBody>
      </p:sp>
      <p:sp>
        <p:nvSpPr>
          <p:cNvPr id="9" name="s22-text-07"/>
          <p:cNvSpPr txBox="1"/>
          <p:nvPr/>
        </p:nvSpPr>
        <p:spPr>
          <a:xfrm>
            <a:off x="1142971" y="2878958"/>
            <a:ext cx="47633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λ = 2</a:t>
            </a:r>
          </a:p>
        </p:txBody>
      </p:sp>
      <p:sp>
        <p:nvSpPr>
          <p:cNvPr id="10" name="s22-text-08"/>
          <p:cNvSpPr txBox="1"/>
          <p:nvPr/>
        </p:nvSpPr>
        <p:spPr>
          <a:xfrm>
            <a:off x="2113207" y="2885308"/>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U</a:t>
            </a:r>
          </a:p>
        </p:txBody>
      </p:sp>
      <p:sp>
        <p:nvSpPr>
          <p:cNvPr id="11" name="s22-text-09"/>
          <p:cNvSpPr txBox="1"/>
          <p:nvPr/>
        </p:nvSpPr>
        <p:spPr>
          <a:xfrm>
            <a:off x="2621195" y="2885308"/>
            <a:ext cx="11429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V</a:t>
            </a:r>
          </a:p>
        </p:txBody>
      </p:sp>
      <p:sp>
        <p:nvSpPr>
          <p:cNvPr id="12" name="s22-text-10"/>
          <p:cNvSpPr txBox="1"/>
          <p:nvPr/>
        </p:nvSpPr>
        <p:spPr>
          <a:xfrm>
            <a:off x="3150761" y="2885308"/>
            <a:ext cx="384860"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I·δt</a:t>
            </a:r>
          </a:p>
        </p:txBody>
      </p:sp>
      <p:sp>
        <p:nvSpPr>
          <p:cNvPr id="13" name="s22-text-11"/>
          <p:cNvSpPr txBox="1"/>
          <p:nvPr/>
        </p:nvSpPr>
        <p:spPr>
          <a:xfrm>
            <a:off x="3972421" y="2885308"/>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U†</a:t>
            </a:r>
          </a:p>
        </p:txBody>
      </p:sp>
      <p:sp>
        <p:nvSpPr>
          <p:cNvPr id="14" name="s22-text-12"/>
          <p:cNvSpPr txBox="1"/>
          <p:nvPr/>
        </p:nvSpPr>
        <p:spPr>
          <a:xfrm>
            <a:off x="1142971" y="3640939"/>
            <a:ext cx="47633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λ = 3</a:t>
            </a:r>
          </a:p>
        </p:txBody>
      </p:sp>
      <p:sp>
        <p:nvSpPr>
          <p:cNvPr id="15" name="s22-text-13"/>
          <p:cNvSpPr txBox="1"/>
          <p:nvPr/>
        </p:nvSpPr>
        <p:spPr>
          <a:xfrm>
            <a:off x="2113207" y="3647289"/>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U</a:t>
            </a:r>
          </a:p>
        </p:txBody>
      </p:sp>
      <p:sp>
        <p:nvSpPr>
          <p:cNvPr id="16" name="s22-text-14"/>
          <p:cNvSpPr txBox="1"/>
          <p:nvPr/>
        </p:nvSpPr>
        <p:spPr>
          <a:xfrm>
            <a:off x="2621195" y="3647289"/>
            <a:ext cx="11429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V</a:t>
            </a:r>
          </a:p>
        </p:txBody>
      </p:sp>
      <p:sp>
        <p:nvSpPr>
          <p:cNvPr id="17" name="s22-text-15"/>
          <p:cNvSpPr txBox="1"/>
          <p:nvPr/>
        </p:nvSpPr>
        <p:spPr>
          <a:xfrm>
            <a:off x="3150761" y="3647289"/>
            <a:ext cx="384860"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I·δt</a:t>
            </a:r>
          </a:p>
        </p:txBody>
      </p:sp>
      <p:sp>
        <p:nvSpPr>
          <p:cNvPr id="18" name="s22-text-16"/>
          <p:cNvSpPr txBox="1"/>
          <p:nvPr/>
        </p:nvSpPr>
        <p:spPr>
          <a:xfrm>
            <a:off x="3817495" y="3647289"/>
            <a:ext cx="384860"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I·δt</a:t>
            </a:r>
          </a:p>
        </p:txBody>
      </p:sp>
      <p:sp>
        <p:nvSpPr>
          <p:cNvPr id="19" name="s22-text-17"/>
          <p:cNvSpPr txBox="1"/>
          <p:nvPr/>
        </p:nvSpPr>
        <p:spPr>
          <a:xfrm>
            <a:off x="4639154" y="3647289"/>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U†</a:t>
            </a:r>
          </a:p>
        </p:txBody>
      </p:sp>
      <p:sp>
        <p:nvSpPr>
          <p:cNvPr id="20" name="s22-text-18"/>
          <p:cNvSpPr txBox="1"/>
          <p:nvPr/>
        </p:nvSpPr>
        <p:spPr>
          <a:xfrm>
            <a:off x="1023962" y="4288623"/>
            <a:ext cx="457496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identity / delay gates scale the effective noise λ without changing the logic</a:t>
            </a:r>
          </a:p>
        </p:txBody>
      </p:sp>
      <p:sp>
        <p:nvSpPr>
          <p:cNvPr id="21" name="s22-text-19"/>
          <p:cNvSpPr txBox="1"/>
          <p:nvPr/>
        </p:nvSpPr>
        <p:spPr>
          <a:xfrm>
            <a:off x="6557898" y="4110828"/>
            <a:ext cx="11092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0</a:t>
            </a:r>
          </a:p>
        </p:txBody>
      </p:sp>
      <p:sp>
        <p:nvSpPr>
          <p:cNvPr id="22" name="s22-text-20"/>
          <p:cNvSpPr txBox="1"/>
          <p:nvPr/>
        </p:nvSpPr>
        <p:spPr>
          <a:xfrm>
            <a:off x="7790529" y="4110828"/>
            <a:ext cx="11092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1</a:t>
            </a:r>
          </a:p>
        </p:txBody>
      </p:sp>
      <p:sp>
        <p:nvSpPr>
          <p:cNvPr id="23" name="s22-text-21"/>
          <p:cNvSpPr txBox="1"/>
          <p:nvPr/>
        </p:nvSpPr>
        <p:spPr>
          <a:xfrm>
            <a:off x="9023160" y="4110828"/>
            <a:ext cx="11092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2</a:t>
            </a:r>
          </a:p>
        </p:txBody>
      </p:sp>
      <p:sp>
        <p:nvSpPr>
          <p:cNvPr id="24" name="s22-text-22"/>
          <p:cNvSpPr txBox="1"/>
          <p:nvPr/>
        </p:nvSpPr>
        <p:spPr>
          <a:xfrm>
            <a:off x="10255728" y="4110828"/>
            <a:ext cx="11092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3</a:t>
            </a:r>
          </a:p>
        </p:txBody>
      </p:sp>
      <p:sp>
        <p:nvSpPr>
          <p:cNvPr id="25" name="s22-text-23"/>
          <p:cNvSpPr txBox="1"/>
          <p:nvPr/>
        </p:nvSpPr>
        <p:spPr>
          <a:xfrm>
            <a:off x="8295472" y="4390221"/>
            <a:ext cx="82667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noise scale λ</a:t>
            </a:r>
          </a:p>
        </p:txBody>
      </p:sp>
      <p:sp>
        <p:nvSpPr>
          <p:cNvPr id="26" name="s22-text-24"/>
          <p:cNvSpPr txBox="1"/>
          <p:nvPr/>
        </p:nvSpPr>
        <p:spPr>
          <a:xfrm>
            <a:off x="5539046" y="1761386"/>
            <a:ext cx="99494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⟨H⟩ (schematic)</a:t>
            </a:r>
          </a:p>
        </p:txBody>
      </p:sp>
      <p:sp>
        <p:nvSpPr>
          <p:cNvPr id="27" name="s22-text-25"/>
          <p:cNvSpPr txBox="1"/>
          <p:nvPr/>
        </p:nvSpPr>
        <p:spPr>
          <a:xfrm>
            <a:off x="6756231" y="2223655"/>
            <a:ext cx="145976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zero-noise estimate</a:t>
            </a:r>
          </a:p>
        </p:txBody>
      </p:sp>
      <p:sp>
        <p:nvSpPr>
          <p:cNvPr id="28" name="s22-text-26"/>
          <p:cNvSpPr txBox="1"/>
          <p:nvPr/>
        </p:nvSpPr>
        <p:spPr>
          <a:xfrm>
            <a:off x="6730832" y="3767936"/>
            <a:ext cx="2689852"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QNRE: quantum noise-limited relative error</a:t>
            </a:r>
          </a:p>
        </p:txBody>
      </p:sp>
      <p:sp>
        <p:nvSpPr>
          <p:cNvPr id="29" name="s22-text-27"/>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Schematic. Accuracy reported as QNRE; layer count by Bayesian optimization.</a:t>
            </a:r>
          </a:p>
        </p:txBody>
      </p:sp>
      <p:sp>
        <p:nvSpPr>
          <p:cNvPr id="30" name="!!sec"/>
          <p:cNvSpPr txBox="1"/>
          <p:nvPr/>
        </p:nvSpPr>
        <p:spPr>
          <a:xfrm>
            <a:off x="888978" y="6362541"/>
            <a:ext cx="152654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IV · DEAL &amp; QAWA</a:t>
            </a:r>
          </a:p>
        </p:txBody>
      </p:sp>
      <p:pic>
        <p:nvPicPr>
          <p:cNvPr id="31" name="s22-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32"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22</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231233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Results · hardware</a:t>
            </a:r>
          </a:p>
        </p:txBody>
      </p:sp>
      <p:sp>
        <p:nvSpPr>
          <p:cNvPr id="3" name="s23-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DEAL beats vanilla QAOA on Heron-1</a:t>
            </a:r>
          </a:p>
        </p:txBody>
      </p:sp>
      <p:pic>
        <p:nvPicPr>
          <p:cNvPr id="4" name="s23-image-01" descr="diagram"/>
          <p:cNvPicPr>
            <a:picLocks noChangeAspect="1"/>
          </p:cNvPicPr>
          <p:nvPr/>
        </p:nvPicPr>
        <p:blipFill>
          <a:blip r:embed="rId3"/>
          <a:stretch>
            <a:fillRect/>
          </a:stretch>
        </p:blipFill>
        <p:spPr>
          <a:xfrm>
            <a:off x="863578" y="1543011"/>
            <a:ext cx="10470888" cy="3359066"/>
          </a:xfrm>
          <a:prstGeom prst="rect">
            <a:avLst/>
          </a:prstGeom>
        </p:spPr>
      </p:pic>
      <p:pic>
        <p:nvPicPr>
          <p:cNvPr id="5" name="!!dl-torino" descr="chart element"/>
          <p:cNvPicPr>
            <a:picLocks noChangeAspect="1"/>
          </p:cNvPicPr>
          <p:nvPr/>
        </p:nvPicPr>
        <p:blipFill>
          <a:blip r:embed="rId4"/>
          <a:stretch>
            <a:fillRect/>
          </a:stretch>
        </p:blipFill>
        <p:spPr>
          <a:xfrm>
            <a:off x="2057349" y="2108147"/>
            <a:ext cx="1479513" cy="2552636"/>
          </a:xfrm>
          <a:prstGeom prst="rect">
            <a:avLst/>
          </a:prstGeom>
        </p:spPr>
      </p:pic>
      <p:pic>
        <p:nvPicPr>
          <p:cNvPr id="6" name="!!dl-lay-DEAL" descr="chart element"/>
          <p:cNvPicPr>
            <a:picLocks noChangeAspect="1"/>
          </p:cNvPicPr>
          <p:nvPr/>
        </p:nvPicPr>
        <p:blipFill>
          <a:blip r:embed="rId5"/>
          <a:stretch>
            <a:fillRect/>
          </a:stretch>
        </p:blipFill>
        <p:spPr>
          <a:xfrm>
            <a:off x="7581710" y="2355791"/>
            <a:ext cx="2304992" cy="488938"/>
          </a:xfrm>
          <a:prstGeom prst="rect">
            <a:avLst/>
          </a:prstGeom>
        </p:spPr>
      </p:pic>
      <p:pic>
        <p:nvPicPr>
          <p:cNvPr id="7" name="!!dl-lay-QAOA" descr="chart element"/>
          <p:cNvPicPr>
            <a:picLocks noChangeAspect="1"/>
          </p:cNvPicPr>
          <p:nvPr/>
        </p:nvPicPr>
        <p:blipFill>
          <a:blip r:embed="rId6"/>
          <a:stretch>
            <a:fillRect/>
          </a:stretch>
        </p:blipFill>
        <p:spPr>
          <a:xfrm>
            <a:off x="7581710" y="3117772"/>
            <a:ext cx="2939976" cy="488938"/>
          </a:xfrm>
          <a:prstGeom prst="rect">
            <a:avLst/>
          </a:prstGeom>
        </p:spPr>
      </p:pic>
      <p:sp>
        <p:nvSpPr>
          <p:cNvPr id="8" name="!!dl-t-0"/>
          <p:cNvSpPr txBox="1"/>
          <p:nvPr/>
        </p:nvSpPr>
        <p:spPr>
          <a:xfrm>
            <a:off x="1390020" y="4542617"/>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9" name="!!dl-t-4"/>
          <p:cNvSpPr txBox="1"/>
          <p:nvPr/>
        </p:nvSpPr>
        <p:spPr>
          <a:xfrm>
            <a:off x="1390020" y="3875884"/>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a:t>
            </a:r>
          </a:p>
        </p:txBody>
      </p:sp>
      <p:sp>
        <p:nvSpPr>
          <p:cNvPr id="10" name="!!dl-t-8"/>
          <p:cNvSpPr txBox="1"/>
          <p:nvPr/>
        </p:nvSpPr>
        <p:spPr>
          <a:xfrm>
            <a:off x="1390020" y="3209150"/>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+8</a:t>
            </a:r>
          </a:p>
        </p:txBody>
      </p:sp>
      <p:sp>
        <p:nvSpPr>
          <p:cNvPr id="11" name="!!dl-t-12"/>
          <p:cNvSpPr txBox="1"/>
          <p:nvPr/>
        </p:nvSpPr>
        <p:spPr>
          <a:xfrm>
            <a:off x="1312334" y="2542417"/>
            <a:ext cx="25607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+12</a:t>
            </a:r>
          </a:p>
        </p:txBody>
      </p:sp>
      <p:sp>
        <p:nvSpPr>
          <p:cNvPr id="12" name="!!dl-t-16"/>
          <p:cNvSpPr txBox="1"/>
          <p:nvPr/>
        </p:nvSpPr>
        <p:spPr>
          <a:xfrm>
            <a:off x="1312334" y="1875684"/>
            <a:ext cx="25607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+16</a:t>
            </a:r>
          </a:p>
        </p:txBody>
      </p:sp>
      <p:sp>
        <p:nvSpPr>
          <p:cNvPr id="13" name="!!dl-ylab"/>
          <p:cNvSpPr txBox="1"/>
          <p:nvPr/>
        </p:nvSpPr>
        <p:spPr>
          <a:xfrm>
            <a:off x="1142971" y="1596291"/>
            <a:ext cx="434666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success-rate gain of DEAL over QAOA at layer 10 (percentage points)</a:t>
            </a:r>
          </a:p>
        </p:txBody>
      </p:sp>
      <p:sp>
        <p:nvSpPr>
          <p:cNvPr id="14" name="!!dl-torino-v"/>
          <p:cNvSpPr txBox="1"/>
          <p:nvPr/>
        </p:nvSpPr>
        <p:spPr>
          <a:xfrm>
            <a:off x="2299734" y="1851792"/>
            <a:ext cx="1007442"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+14.81 pts</a:t>
            </a:r>
          </a:p>
        </p:txBody>
      </p:sp>
      <p:sp>
        <p:nvSpPr>
          <p:cNvPr id="15" name="!!dl-torino-n"/>
          <p:cNvSpPr txBox="1"/>
          <p:nvPr/>
        </p:nvSpPr>
        <p:spPr>
          <a:xfrm>
            <a:off x="1917553" y="4720412"/>
            <a:ext cx="177180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Torino · Heron-1 · 133 q</a:t>
            </a:r>
          </a:p>
        </p:txBody>
      </p:sp>
      <p:sp>
        <p:nvSpPr>
          <p:cNvPr id="16" name="s23-text-11"/>
          <p:cNvSpPr txBox="1"/>
          <p:nvPr/>
        </p:nvSpPr>
        <p:spPr>
          <a:xfrm>
            <a:off x="4506403" y="4745812"/>
            <a:ext cx="911996"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Heron-2 · next</a:t>
            </a:r>
          </a:p>
        </p:txBody>
      </p:sp>
      <p:sp>
        <p:nvSpPr>
          <p:cNvPr id="17" name="!!dl-rt"/>
          <p:cNvSpPr txBox="1"/>
          <p:nvPr/>
        </p:nvSpPr>
        <p:spPr>
          <a:xfrm>
            <a:off x="7619809" y="1926482"/>
            <a:ext cx="2992363"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layers needed for the same success rate</a:t>
            </a:r>
          </a:p>
        </p:txBody>
      </p:sp>
      <p:sp>
        <p:nvSpPr>
          <p:cNvPr id="18" name="!!dl-ln-DEAL"/>
          <p:cNvSpPr txBox="1"/>
          <p:nvPr/>
        </p:nvSpPr>
        <p:spPr>
          <a:xfrm>
            <a:off x="7619809" y="2123327"/>
            <a:ext cx="572180"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DEAL</a:t>
            </a:r>
          </a:p>
        </p:txBody>
      </p:sp>
      <p:sp>
        <p:nvSpPr>
          <p:cNvPr id="19" name="!!dl-lv-DEAL"/>
          <p:cNvSpPr txBox="1"/>
          <p:nvPr/>
        </p:nvSpPr>
        <p:spPr>
          <a:xfrm>
            <a:off x="9943851" y="2478918"/>
            <a:ext cx="776070"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7 layers</a:t>
            </a:r>
          </a:p>
        </p:txBody>
      </p:sp>
      <p:sp>
        <p:nvSpPr>
          <p:cNvPr id="20" name="!!dl-ln-QAOA"/>
          <p:cNvSpPr txBox="1"/>
          <p:nvPr/>
        </p:nvSpPr>
        <p:spPr>
          <a:xfrm>
            <a:off x="7619809" y="2885308"/>
            <a:ext cx="62863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QAOA</a:t>
            </a:r>
          </a:p>
        </p:txBody>
      </p:sp>
      <p:sp>
        <p:nvSpPr>
          <p:cNvPr id="21" name="!!dl-lv-QAOA"/>
          <p:cNvSpPr txBox="1"/>
          <p:nvPr/>
        </p:nvSpPr>
        <p:spPr>
          <a:xfrm>
            <a:off x="10578836" y="3240899"/>
            <a:ext cx="776070"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9 layers</a:t>
            </a:r>
          </a:p>
        </p:txBody>
      </p:sp>
      <p:sp>
        <p:nvSpPr>
          <p:cNvPr id="22" name="!!dl-lt-0"/>
          <p:cNvSpPr txBox="1"/>
          <p:nvPr/>
        </p:nvSpPr>
        <p:spPr>
          <a:xfrm>
            <a:off x="7580917" y="404732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23" name="!!dl-lt-2"/>
          <p:cNvSpPr txBox="1"/>
          <p:nvPr/>
        </p:nvSpPr>
        <p:spPr>
          <a:xfrm>
            <a:off x="8215901" y="404732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2</a:t>
            </a:r>
          </a:p>
        </p:txBody>
      </p:sp>
      <p:sp>
        <p:nvSpPr>
          <p:cNvPr id="24" name="!!dl-lt-4"/>
          <p:cNvSpPr txBox="1"/>
          <p:nvPr/>
        </p:nvSpPr>
        <p:spPr>
          <a:xfrm>
            <a:off x="8850885" y="404732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a:t>
            </a:r>
          </a:p>
        </p:txBody>
      </p:sp>
      <p:sp>
        <p:nvSpPr>
          <p:cNvPr id="25" name="!!dl-lt-6"/>
          <p:cNvSpPr txBox="1"/>
          <p:nvPr/>
        </p:nvSpPr>
        <p:spPr>
          <a:xfrm>
            <a:off x="9485869" y="404732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6</a:t>
            </a:r>
          </a:p>
        </p:txBody>
      </p:sp>
      <p:sp>
        <p:nvSpPr>
          <p:cNvPr id="26" name="!!dl-lt-8"/>
          <p:cNvSpPr txBox="1"/>
          <p:nvPr/>
        </p:nvSpPr>
        <p:spPr>
          <a:xfrm>
            <a:off x="10120853" y="404732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8</a:t>
            </a:r>
          </a:p>
        </p:txBody>
      </p:sp>
      <p:sp>
        <p:nvSpPr>
          <p:cNvPr id="27" name="!!dl-lt-10"/>
          <p:cNvSpPr txBox="1"/>
          <p:nvPr/>
        </p:nvSpPr>
        <p:spPr>
          <a:xfrm>
            <a:off x="10716994" y="4047329"/>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28" name="!!dl-rxlab"/>
          <p:cNvSpPr txBox="1"/>
          <p:nvPr/>
        </p:nvSpPr>
        <p:spPr>
          <a:xfrm>
            <a:off x="8760896" y="4301323"/>
            <a:ext cx="91179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circuit layers p</a:t>
            </a:r>
          </a:p>
        </p:txBody>
      </p:sp>
      <p:sp>
        <p:nvSpPr>
          <p:cNvPr id="29" name="s23-text-24"/>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20 qubits, 10 layers; success = reaching the ground-state energy. TSP, knapsack and MaxCut instances; lower variance too.</a:t>
            </a:r>
          </a:p>
        </p:txBody>
      </p:sp>
      <p:sp>
        <p:nvSpPr>
          <p:cNvPr id="30" name="!!sec"/>
          <p:cNvSpPr txBox="1"/>
          <p:nvPr/>
        </p:nvSpPr>
        <p:spPr>
          <a:xfrm>
            <a:off x="888978" y="6362541"/>
            <a:ext cx="152654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IV · DEAL &amp; QAWA</a:t>
            </a:r>
          </a:p>
        </p:txBody>
      </p:sp>
      <p:pic>
        <p:nvPicPr>
          <p:cNvPr id="31" name="s23-image-05" descr="Texas Tech University Double T"/>
          <p:cNvPicPr>
            <a:picLocks noChangeAspect="1"/>
          </p:cNvPicPr>
          <p:nvPr/>
        </p:nvPicPr>
        <p:blipFill>
          <a:blip r:embed="rId7"/>
          <a:stretch>
            <a:fillRect/>
          </a:stretch>
        </p:blipFill>
        <p:spPr>
          <a:xfrm>
            <a:off x="11055074" y="600060"/>
            <a:ext cx="190495" cy="222244"/>
          </a:xfrm>
          <a:prstGeom prst="rect">
            <a:avLst/>
          </a:prstGeom>
        </p:spPr>
      </p:pic>
      <p:sp>
        <p:nvSpPr>
          <p:cNvPr id="32"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23</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231233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Results · hardware</a:t>
            </a:r>
          </a:p>
        </p:txBody>
      </p:sp>
      <p:sp>
        <p:nvSpPr>
          <p:cNvPr id="3" name="s24-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…and on Heron-2</a:t>
            </a:r>
          </a:p>
        </p:txBody>
      </p:sp>
      <p:pic>
        <p:nvPicPr>
          <p:cNvPr id="4" name="s24-image-01" descr="diagram"/>
          <p:cNvPicPr>
            <a:picLocks noChangeAspect="1"/>
          </p:cNvPicPr>
          <p:nvPr/>
        </p:nvPicPr>
        <p:blipFill>
          <a:blip r:embed="rId3"/>
          <a:stretch>
            <a:fillRect/>
          </a:stretch>
        </p:blipFill>
        <p:spPr>
          <a:xfrm>
            <a:off x="863578" y="1543011"/>
            <a:ext cx="10470888" cy="3359066"/>
          </a:xfrm>
          <a:prstGeom prst="rect">
            <a:avLst/>
          </a:prstGeom>
        </p:spPr>
      </p:pic>
      <p:pic>
        <p:nvPicPr>
          <p:cNvPr id="5" name="!!dl-torino" descr="chart element"/>
          <p:cNvPicPr>
            <a:picLocks noChangeAspect="1"/>
          </p:cNvPicPr>
          <p:nvPr/>
        </p:nvPicPr>
        <p:blipFill>
          <a:blip r:embed="rId4"/>
          <a:stretch>
            <a:fillRect/>
          </a:stretch>
        </p:blipFill>
        <p:spPr>
          <a:xfrm>
            <a:off x="2057349" y="2108147"/>
            <a:ext cx="1479513" cy="2552636"/>
          </a:xfrm>
          <a:prstGeom prst="rect">
            <a:avLst/>
          </a:prstGeom>
        </p:spPr>
      </p:pic>
      <p:pic>
        <p:nvPicPr>
          <p:cNvPr id="6" name="!!dl-lay-DEAL" descr="chart element"/>
          <p:cNvPicPr>
            <a:picLocks noChangeAspect="1"/>
          </p:cNvPicPr>
          <p:nvPr/>
        </p:nvPicPr>
        <p:blipFill>
          <a:blip r:embed="rId5"/>
          <a:stretch>
            <a:fillRect/>
          </a:stretch>
        </p:blipFill>
        <p:spPr>
          <a:xfrm>
            <a:off x="7581710" y="2355791"/>
            <a:ext cx="2304992" cy="488938"/>
          </a:xfrm>
          <a:prstGeom prst="rect">
            <a:avLst/>
          </a:prstGeom>
        </p:spPr>
      </p:pic>
      <p:pic>
        <p:nvPicPr>
          <p:cNvPr id="7" name="!!dl-lay-QAOA" descr="chart element"/>
          <p:cNvPicPr>
            <a:picLocks noChangeAspect="1"/>
          </p:cNvPicPr>
          <p:nvPr/>
        </p:nvPicPr>
        <p:blipFill>
          <a:blip r:embed="rId6"/>
          <a:stretch>
            <a:fillRect/>
          </a:stretch>
        </p:blipFill>
        <p:spPr>
          <a:xfrm>
            <a:off x="7581710" y="3117772"/>
            <a:ext cx="2939976" cy="488938"/>
          </a:xfrm>
          <a:prstGeom prst="rect">
            <a:avLst/>
          </a:prstGeom>
        </p:spPr>
      </p:pic>
      <p:sp>
        <p:nvSpPr>
          <p:cNvPr id="8" name="!!dl-t-0"/>
          <p:cNvSpPr txBox="1"/>
          <p:nvPr/>
        </p:nvSpPr>
        <p:spPr>
          <a:xfrm>
            <a:off x="1390020" y="4542617"/>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9" name="!!dl-t-4"/>
          <p:cNvSpPr txBox="1"/>
          <p:nvPr/>
        </p:nvSpPr>
        <p:spPr>
          <a:xfrm>
            <a:off x="1390020" y="3875884"/>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a:t>
            </a:r>
          </a:p>
        </p:txBody>
      </p:sp>
      <p:sp>
        <p:nvSpPr>
          <p:cNvPr id="10" name="!!dl-t-8"/>
          <p:cNvSpPr txBox="1"/>
          <p:nvPr/>
        </p:nvSpPr>
        <p:spPr>
          <a:xfrm>
            <a:off x="1390020" y="3209150"/>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+8</a:t>
            </a:r>
          </a:p>
        </p:txBody>
      </p:sp>
      <p:sp>
        <p:nvSpPr>
          <p:cNvPr id="11" name="!!dl-t-12"/>
          <p:cNvSpPr txBox="1"/>
          <p:nvPr/>
        </p:nvSpPr>
        <p:spPr>
          <a:xfrm>
            <a:off x="1312334" y="2542417"/>
            <a:ext cx="25607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+12</a:t>
            </a:r>
          </a:p>
        </p:txBody>
      </p:sp>
      <p:sp>
        <p:nvSpPr>
          <p:cNvPr id="12" name="!!dl-t-16"/>
          <p:cNvSpPr txBox="1"/>
          <p:nvPr/>
        </p:nvSpPr>
        <p:spPr>
          <a:xfrm>
            <a:off x="1312334" y="1875684"/>
            <a:ext cx="25607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+16</a:t>
            </a:r>
          </a:p>
        </p:txBody>
      </p:sp>
      <p:sp>
        <p:nvSpPr>
          <p:cNvPr id="13" name="!!dl-ylab"/>
          <p:cNvSpPr txBox="1"/>
          <p:nvPr/>
        </p:nvSpPr>
        <p:spPr>
          <a:xfrm>
            <a:off x="1142971" y="1596291"/>
            <a:ext cx="434666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success-rate gain of DEAL over QAOA at layer 10 (percentage points)</a:t>
            </a:r>
          </a:p>
        </p:txBody>
      </p:sp>
      <p:sp>
        <p:nvSpPr>
          <p:cNvPr id="14" name="!!dl-torino-v"/>
          <p:cNvSpPr txBox="1"/>
          <p:nvPr/>
        </p:nvSpPr>
        <p:spPr>
          <a:xfrm>
            <a:off x="2299734" y="1851792"/>
            <a:ext cx="1007442"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+14.81 pts</a:t>
            </a:r>
          </a:p>
        </p:txBody>
      </p:sp>
      <p:sp>
        <p:nvSpPr>
          <p:cNvPr id="15" name="!!dl-torino-n"/>
          <p:cNvSpPr txBox="1"/>
          <p:nvPr/>
        </p:nvSpPr>
        <p:spPr>
          <a:xfrm>
            <a:off x="1917553" y="4720412"/>
            <a:ext cx="177180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Torino · Heron-1 · 133 q</a:t>
            </a:r>
          </a:p>
        </p:txBody>
      </p:sp>
      <p:sp>
        <p:nvSpPr>
          <p:cNvPr id="16" name="!!dl-marrakesh-v"/>
          <p:cNvSpPr txBox="1"/>
          <p:nvPr/>
        </p:nvSpPr>
        <p:spPr>
          <a:xfrm>
            <a:off x="4515184" y="3086916"/>
            <a:ext cx="894435"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+7.40 pts</a:t>
            </a:r>
          </a:p>
        </p:txBody>
      </p:sp>
      <p:sp>
        <p:nvSpPr>
          <p:cNvPr id="17" name="!!dl-marrakesh-n"/>
          <p:cNvSpPr txBox="1"/>
          <p:nvPr/>
        </p:nvSpPr>
        <p:spPr>
          <a:xfrm>
            <a:off x="3911403" y="4720412"/>
            <a:ext cx="2101996"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Marrakesh · Heron-2 · 156 q</a:t>
            </a:r>
          </a:p>
        </p:txBody>
      </p:sp>
      <p:sp>
        <p:nvSpPr>
          <p:cNvPr id="18" name="!!dl-rt"/>
          <p:cNvSpPr txBox="1"/>
          <p:nvPr/>
        </p:nvSpPr>
        <p:spPr>
          <a:xfrm>
            <a:off x="7619809" y="1926482"/>
            <a:ext cx="2992363"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layers needed for the same success rate</a:t>
            </a:r>
          </a:p>
        </p:txBody>
      </p:sp>
      <p:sp>
        <p:nvSpPr>
          <p:cNvPr id="19" name="!!dl-ln-DEAL"/>
          <p:cNvSpPr txBox="1"/>
          <p:nvPr/>
        </p:nvSpPr>
        <p:spPr>
          <a:xfrm>
            <a:off x="7619809" y="2123327"/>
            <a:ext cx="572180"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DEAL</a:t>
            </a:r>
          </a:p>
        </p:txBody>
      </p:sp>
      <p:sp>
        <p:nvSpPr>
          <p:cNvPr id="20" name="!!dl-lv-DEAL"/>
          <p:cNvSpPr txBox="1"/>
          <p:nvPr/>
        </p:nvSpPr>
        <p:spPr>
          <a:xfrm>
            <a:off x="9943851" y="2478918"/>
            <a:ext cx="776070"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7 layers</a:t>
            </a:r>
          </a:p>
        </p:txBody>
      </p:sp>
      <p:sp>
        <p:nvSpPr>
          <p:cNvPr id="21" name="!!dl-ln-QAOA"/>
          <p:cNvSpPr txBox="1"/>
          <p:nvPr/>
        </p:nvSpPr>
        <p:spPr>
          <a:xfrm>
            <a:off x="7619809" y="2885308"/>
            <a:ext cx="62863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QAOA</a:t>
            </a:r>
          </a:p>
        </p:txBody>
      </p:sp>
      <p:sp>
        <p:nvSpPr>
          <p:cNvPr id="22" name="!!dl-lv-QAOA"/>
          <p:cNvSpPr txBox="1"/>
          <p:nvPr/>
        </p:nvSpPr>
        <p:spPr>
          <a:xfrm>
            <a:off x="10578836" y="3240899"/>
            <a:ext cx="776070"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9 layers</a:t>
            </a:r>
          </a:p>
        </p:txBody>
      </p:sp>
      <p:sp>
        <p:nvSpPr>
          <p:cNvPr id="23" name="!!dl-lt-0"/>
          <p:cNvSpPr txBox="1"/>
          <p:nvPr/>
        </p:nvSpPr>
        <p:spPr>
          <a:xfrm>
            <a:off x="7580917" y="404732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24" name="!!dl-lt-2"/>
          <p:cNvSpPr txBox="1"/>
          <p:nvPr/>
        </p:nvSpPr>
        <p:spPr>
          <a:xfrm>
            <a:off x="8215901" y="404732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2</a:t>
            </a:r>
          </a:p>
        </p:txBody>
      </p:sp>
      <p:sp>
        <p:nvSpPr>
          <p:cNvPr id="25" name="!!dl-lt-4"/>
          <p:cNvSpPr txBox="1"/>
          <p:nvPr/>
        </p:nvSpPr>
        <p:spPr>
          <a:xfrm>
            <a:off x="8850885" y="404732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a:t>
            </a:r>
          </a:p>
        </p:txBody>
      </p:sp>
      <p:sp>
        <p:nvSpPr>
          <p:cNvPr id="26" name="!!dl-lt-6"/>
          <p:cNvSpPr txBox="1"/>
          <p:nvPr/>
        </p:nvSpPr>
        <p:spPr>
          <a:xfrm>
            <a:off x="9485869" y="404732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6</a:t>
            </a:r>
          </a:p>
        </p:txBody>
      </p:sp>
      <p:sp>
        <p:nvSpPr>
          <p:cNvPr id="27" name="!!dl-lt-8"/>
          <p:cNvSpPr txBox="1"/>
          <p:nvPr/>
        </p:nvSpPr>
        <p:spPr>
          <a:xfrm>
            <a:off x="10120853" y="4047329"/>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8</a:t>
            </a:r>
          </a:p>
        </p:txBody>
      </p:sp>
      <p:sp>
        <p:nvSpPr>
          <p:cNvPr id="28" name="!!dl-lt-10"/>
          <p:cNvSpPr txBox="1"/>
          <p:nvPr/>
        </p:nvSpPr>
        <p:spPr>
          <a:xfrm>
            <a:off x="10716994" y="4047329"/>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a:t>
            </a:r>
          </a:p>
        </p:txBody>
      </p:sp>
      <p:sp>
        <p:nvSpPr>
          <p:cNvPr id="29" name="!!dl-rxlab"/>
          <p:cNvSpPr txBox="1"/>
          <p:nvPr/>
        </p:nvSpPr>
        <p:spPr>
          <a:xfrm>
            <a:off x="8760896" y="4301323"/>
            <a:ext cx="91179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circuit layers p</a:t>
            </a:r>
          </a:p>
        </p:txBody>
      </p:sp>
      <p:sp>
        <p:nvSpPr>
          <p:cNvPr id="30" name="s24-text-25"/>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IBM Marrakesh (156-qubit Heron-2): +7.40 pts at layer 10. Both devices degrade beyond ≈41–43 CZ gates.</a:t>
            </a:r>
          </a:p>
        </p:txBody>
      </p:sp>
      <p:sp>
        <p:nvSpPr>
          <p:cNvPr id="31" name="!!sec"/>
          <p:cNvSpPr txBox="1"/>
          <p:nvPr/>
        </p:nvSpPr>
        <p:spPr>
          <a:xfrm>
            <a:off x="888978" y="6362541"/>
            <a:ext cx="152654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IV · DEAL &amp; QAWA</a:t>
            </a:r>
          </a:p>
        </p:txBody>
      </p:sp>
      <p:pic>
        <p:nvPicPr>
          <p:cNvPr id="32" name="s24-image-05" descr="Texas Tech University Double T"/>
          <p:cNvPicPr>
            <a:picLocks noChangeAspect="1"/>
          </p:cNvPicPr>
          <p:nvPr/>
        </p:nvPicPr>
        <p:blipFill>
          <a:blip r:embed="rId7"/>
          <a:stretch>
            <a:fillRect/>
          </a:stretch>
        </p:blipFill>
        <p:spPr>
          <a:xfrm>
            <a:off x="11055074" y="600060"/>
            <a:ext cx="190495" cy="222244"/>
          </a:xfrm>
          <a:prstGeom prst="rect">
            <a:avLst/>
          </a:prstGeom>
        </p:spPr>
      </p:pic>
      <p:sp>
        <p:nvSpPr>
          <p:cNvPr id="33"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24</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526501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QAWA · Quantum Approximate Walk Algorithm</a:t>
            </a:r>
          </a:p>
        </p:txBody>
      </p:sp>
      <p:sp>
        <p:nvSpPr>
          <p:cNvPr id="3" name="s25-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A data-traceable oracle in O(n) depth</a:t>
            </a:r>
          </a:p>
        </p:txBody>
      </p:sp>
      <p:pic>
        <p:nvPicPr>
          <p:cNvPr id="4" name="s25-image-01" descr="diagram"/>
          <p:cNvPicPr>
            <a:picLocks noChangeAspect="1"/>
          </p:cNvPicPr>
          <p:nvPr/>
        </p:nvPicPr>
        <p:blipFill>
          <a:blip r:embed="rId3"/>
          <a:stretch>
            <a:fillRect/>
          </a:stretch>
        </p:blipFill>
        <p:spPr>
          <a:xfrm>
            <a:off x="863578" y="1555711"/>
            <a:ext cx="10470888" cy="3105072"/>
          </a:xfrm>
          <a:prstGeom prst="rect">
            <a:avLst/>
          </a:prstGeom>
        </p:spPr>
      </p:pic>
      <p:sp>
        <p:nvSpPr>
          <p:cNvPr id="5" name="s25-text-03"/>
          <p:cNvSpPr txBox="1"/>
          <p:nvPr/>
        </p:nvSpPr>
        <p:spPr>
          <a:xfrm>
            <a:off x="1269968" y="1716938"/>
            <a:ext cx="2086320"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full state tomography</a:t>
            </a:r>
          </a:p>
        </p:txBody>
      </p:sp>
      <p:sp>
        <p:nvSpPr>
          <p:cNvPr id="6" name="s25-text-04"/>
          <p:cNvSpPr txBox="1"/>
          <p:nvPr/>
        </p:nvSpPr>
        <p:spPr>
          <a:xfrm>
            <a:off x="1269968" y="1989981"/>
            <a:ext cx="273638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O(n²) measurements for n-qubit correlations</a:t>
            </a:r>
          </a:p>
        </p:txBody>
      </p:sp>
      <p:sp>
        <p:nvSpPr>
          <p:cNvPr id="7" name="s25-text-05"/>
          <p:cNvSpPr txBox="1"/>
          <p:nvPr/>
        </p:nvSpPr>
        <p:spPr>
          <a:xfrm>
            <a:off x="1391707" y="4377521"/>
            <a:ext cx="1756723"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n = 6 → 36 settings</a:t>
            </a:r>
          </a:p>
        </p:txBody>
      </p:sp>
      <p:sp>
        <p:nvSpPr>
          <p:cNvPr id="8" name="s25-text-06"/>
          <p:cNvSpPr txBox="1"/>
          <p:nvPr/>
        </p:nvSpPr>
        <p:spPr>
          <a:xfrm>
            <a:off x="4444889" y="1716938"/>
            <a:ext cx="2721800"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QAWA data-traceable oracle</a:t>
            </a:r>
          </a:p>
        </p:txBody>
      </p:sp>
      <p:sp>
        <p:nvSpPr>
          <p:cNvPr id="9" name="s25-text-07"/>
          <p:cNvSpPr txBox="1"/>
          <p:nvPr/>
        </p:nvSpPr>
        <p:spPr>
          <a:xfrm>
            <a:off x="4444889" y="1989981"/>
            <a:ext cx="4340712"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O(n) CNOT depth · mid-circuit measurement · classical preprocessing</a:t>
            </a:r>
          </a:p>
        </p:txBody>
      </p:sp>
      <p:sp>
        <p:nvSpPr>
          <p:cNvPr id="10" name="s25-text-08"/>
          <p:cNvSpPr txBox="1"/>
          <p:nvPr/>
        </p:nvSpPr>
        <p:spPr>
          <a:xfrm>
            <a:off x="4414330" y="2402720"/>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q0</a:t>
            </a:r>
          </a:p>
        </p:txBody>
      </p:sp>
      <p:sp>
        <p:nvSpPr>
          <p:cNvPr id="11" name="s25-text-09"/>
          <p:cNvSpPr txBox="1"/>
          <p:nvPr/>
        </p:nvSpPr>
        <p:spPr>
          <a:xfrm>
            <a:off x="4414330" y="278371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q1</a:t>
            </a:r>
          </a:p>
        </p:txBody>
      </p:sp>
      <p:sp>
        <p:nvSpPr>
          <p:cNvPr id="12" name="s25-text-10"/>
          <p:cNvSpPr txBox="1"/>
          <p:nvPr/>
        </p:nvSpPr>
        <p:spPr>
          <a:xfrm>
            <a:off x="4414330" y="316470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q2</a:t>
            </a:r>
          </a:p>
        </p:txBody>
      </p:sp>
      <p:sp>
        <p:nvSpPr>
          <p:cNvPr id="13" name="s25-text-11"/>
          <p:cNvSpPr txBox="1"/>
          <p:nvPr/>
        </p:nvSpPr>
        <p:spPr>
          <a:xfrm>
            <a:off x="4414330" y="3545692"/>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q3</a:t>
            </a:r>
          </a:p>
        </p:txBody>
      </p:sp>
      <p:sp>
        <p:nvSpPr>
          <p:cNvPr id="14" name="s25-text-12"/>
          <p:cNvSpPr txBox="1"/>
          <p:nvPr/>
        </p:nvSpPr>
        <p:spPr>
          <a:xfrm>
            <a:off x="4414330" y="3926682"/>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q4</a:t>
            </a:r>
          </a:p>
        </p:txBody>
      </p:sp>
      <p:sp>
        <p:nvSpPr>
          <p:cNvPr id="15" name="s25-text-13"/>
          <p:cNvSpPr txBox="1"/>
          <p:nvPr/>
        </p:nvSpPr>
        <p:spPr>
          <a:xfrm>
            <a:off x="4988396" y="2402720"/>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6" name="s25-text-14"/>
          <p:cNvSpPr txBox="1"/>
          <p:nvPr/>
        </p:nvSpPr>
        <p:spPr>
          <a:xfrm>
            <a:off x="4988396" y="278371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7" name="s25-text-15"/>
          <p:cNvSpPr txBox="1"/>
          <p:nvPr/>
        </p:nvSpPr>
        <p:spPr>
          <a:xfrm>
            <a:off x="4988396" y="3164701"/>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8" name="s25-text-16"/>
          <p:cNvSpPr txBox="1"/>
          <p:nvPr/>
        </p:nvSpPr>
        <p:spPr>
          <a:xfrm>
            <a:off x="4988396" y="3545692"/>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19" name="s25-text-17"/>
          <p:cNvSpPr txBox="1"/>
          <p:nvPr/>
        </p:nvSpPr>
        <p:spPr>
          <a:xfrm>
            <a:off x="4988396" y="3926682"/>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RY</a:t>
            </a:r>
          </a:p>
        </p:txBody>
      </p:sp>
      <p:sp>
        <p:nvSpPr>
          <p:cNvPr id="20" name="s25-text-18"/>
          <p:cNvSpPr txBox="1"/>
          <p:nvPr/>
        </p:nvSpPr>
        <p:spPr>
          <a:xfrm>
            <a:off x="8817201" y="3012305"/>
            <a:ext cx="232314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classical preprocessing</a:t>
            </a:r>
          </a:p>
        </p:txBody>
      </p:sp>
      <p:sp>
        <p:nvSpPr>
          <p:cNvPr id="21" name="s25-text-19"/>
          <p:cNvSpPr txBox="1"/>
          <p:nvPr/>
        </p:nvSpPr>
        <p:spPr>
          <a:xfrm>
            <a:off x="9371324" y="3298048"/>
            <a:ext cx="121490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correlation patterns</a:t>
            </a:r>
          </a:p>
        </p:txBody>
      </p:sp>
      <p:sp>
        <p:nvSpPr>
          <p:cNvPr id="22" name="s25-text-20"/>
          <p:cNvSpPr txBox="1"/>
          <p:nvPr/>
        </p:nvSpPr>
        <p:spPr>
          <a:xfrm>
            <a:off x="5076698" y="4250524"/>
            <a:ext cx="5105272"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approximate walk learning: re-encode learned patterns into the next shallow circuit</a:t>
            </a:r>
          </a:p>
        </p:txBody>
      </p:sp>
      <p:sp>
        <p:nvSpPr>
          <p:cNvPr id="23" name="s25-text-21"/>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A classical trace of what the circuit encodes: interpretable without tomography, verifiable in polynomial time.</a:t>
            </a:r>
          </a:p>
        </p:txBody>
      </p:sp>
      <p:sp>
        <p:nvSpPr>
          <p:cNvPr id="24" name="!!sec"/>
          <p:cNvSpPr txBox="1"/>
          <p:nvPr/>
        </p:nvSpPr>
        <p:spPr>
          <a:xfrm>
            <a:off x="888978" y="6362541"/>
            <a:ext cx="152654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IV · DEAL &amp; QAWA</a:t>
            </a:r>
          </a:p>
        </p:txBody>
      </p:sp>
      <p:pic>
        <p:nvPicPr>
          <p:cNvPr id="25" name="s25-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6"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25</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746008"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QAWA · Results</a:t>
            </a:r>
          </a:p>
        </p:txBody>
      </p:sp>
      <p:sp>
        <p:nvSpPr>
          <p:cNvPr id="3" name="s26-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A portfolio copula on a Heron QPU</a:t>
            </a:r>
          </a:p>
        </p:txBody>
      </p:sp>
      <p:pic>
        <p:nvPicPr>
          <p:cNvPr id="4" name="s26-image-01" descr="diagram"/>
          <p:cNvPicPr>
            <a:picLocks noChangeAspect="1"/>
          </p:cNvPicPr>
          <p:nvPr/>
        </p:nvPicPr>
        <p:blipFill>
          <a:blip r:embed="rId3"/>
          <a:stretch>
            <a:fillRect/>
          </a:stretch>
        </p:blipFill>
        <p:spPr>
          <a:xfrm>
            <a:off x="863578" y="1530312"/>
            <a:ext cx="3232069" cy="3232069"/>
          </a:xfrm>
          <a:prstGeom prst="rect">
            <a:avLst/>
          </a:prstGeom>
        </p:spPr>
      </p:pic>
      <p:sp>
        <p:nvSpPr>
          <p:cNvPr id="5" name="s26-text-03"/>
          <p:cNvSpPr txBox="1"/>
          <p:nvPr/>
        </p:nvSpPr>
        <p:spPr>
          <a:xfrm>
            <a:off x="1575131" y="2293903"/>
            <a:ext cx="384860"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AAPL</a:t>
            </a:r>
          </a:p>
        </p:txBody>
      </p:sp>
      <p:sp>
        <p:nvSpPr>
          <p:cNvPr id="6" name="s26-text-04"/>
          <p:cNvSpPr txBox="1"/>
          <p:nvPr/>
        </p:nvSpPr>
        <p:spPr>
          <a:xfrm>
            <a:off x="3011935" y="2293903"/>
            <a:ext cx="384860"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MSFT</a:t>
            </a:r>
          </a:p>
        </p:txBody>
      </p:sp>
      <p:sp>
        <p:nvSpPr>
          <p:cNvPr id="7" name="s26-text-05"/>
          <p:cNvSpPr txBox="1"/>
          <p:nvPr/>
        </p:nvSpPr>
        <p:spPr>
          <a:xfrm>
            <a:off x="3057624" y="3730707"/>
            <a:ext cx="293482"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JNJ</a:t>
            </a:r>
          </a:p>
        </p:txBody>
      </p:sp>
      <p:sp>
        <p:nvSpPr>
          <p:cNvPr id="8" name="s26-text-06"/>
          <p:cNvSpPr txBox="1"/>
          <p:nvPr/>
        </p:nvSpPr>
        <p:spPr>
          <a:xfrm>
            <a:off x="1620820" y="3730707"/>
            <a:ext cx="293482"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XOM</a:t>
            </a:r>
          </a:p>
        </p:txBody>
      </p:sp>
      <p:sp>
        <p:nvSpPr>
          <p:cNvPr id="9" name="s26-text-07"/>
          <p:cNvSpPr txBox="1"/>
          <p:nvPr/>
        </p:nvSpPr>
        <p:spPr>
          <a:xfrm>
            <a:off x="884364" y="4390221"/>
            <a:ext cx="320319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4 assets · 6 pairwise correlations recovered</a:t>
            </a:r>
          </a:p>
        </p:txBody>
      </p:sp>
      <p:sp>
        <p:nvSpPr>
          <p:cNvPr id="10" name="s26-box-01"/>
          <p:cNvSpPr/>
          <p:nvPr/>
        </p:nvSpPr>
        <p:spPr>
          <a:xfrm>
            <a:off x="4317892" y="1675068"/>
            <a:ext cx="2209745" cy="2014090"/>
          </a:xfrm>
          <a:prstGeom prst="roundRect">
            <a:avLst>
              <a:gd name="adj" fmla="val 756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26-text-08"/>
          <p:cNvSpPr txBox="1"/>
          <p:nvPr/>
        </p:nvSpPr>
        <p:spPr>
          <a:xfrm>
            <a:off x="4571886" y="1903663"/>
            <a:ext cx="1720807" cy="507987"/>
          </a:xfrm>
          <a:prstGeom prst="rect">
            <a:avLst/>
          </a:prstGeom>
          <a:noFill/>
        </p:spPr>
        <p:txBody>
          <a:bodyPr wrap="none" lIns="0" tIns="0" rIns="0" bIns="0" anchor="t">
            <a:noAutofit/>
          </a:bodyPr>
          <a:lstStyle/>
          <a:p>
            <a:pPr algn="l">
              <a:lnSpc>
                <a:spcPts val="4000"/>
              </a:lnSpc>
              <a:spcBef>
                <a:spcPts val="0"/>
              </a:spcBef>
              <a:spcAft>
                <a:spcPts val="0"/>
              </a:spcAft>
            </a:pPr>
            <a:r>
              <a:rPr sz="4000" b="1" i="0" spc="-160">
                <a:solidFill>
                  <a:srgbClr val="CC0000"/>
                </a:solidFill>
                <a:latin typeface="Arial"/>
              </a:rPr>
              <a:t>0.01</a:t>
            </a:r>
          </a:p>
        </p:txBody>
      </p:sp>
      <p:sp>
        <p:nvSpPr>
          <p:cNvPr id="12" name="s26-text-09"/>
          <p:cNvSpPr txBox="1"/>
          <p:nvPr/>
        </p:nvSpPr>
        <p:spPr>
          <a:xfrm>
            <a:off x="4571886" y="2500548"/>
            <a:ext cx="1714457" cy="960017"/>
          </a:xfrm>
          <a:prstGeom prst="rect">
            <a:avLst/>
          </a:prstGeom>
          <a:noFill/>
        </p:spPr>
        <p:txBody>
          <a:bodyPr wrap="square" lIns="0" tIns="0" rIns="0" bIns="0" anchor="t">
            <a:noAutofit/>
          </a:bodyPr>
          <a:lstStyle/>
          <a:p>
            <a:pPr algn="l">
              <a:lnSpc>
                <a:spcPts val="1889"/>
              </a:lnSpc>
              <a:spcBef>
                <a:spcPts val="0"/>
              </a:spcBef>
              <a:spcAft>
                <a:spcPts val="0"/>
              </a:spcAft>
            </a:pPr>
            <a:r>
              <a:rPr sz="1400" b="0" i="0">
                <a:solidFill>
                  <a:srgbClr val="50505B"/>
                </a:solidFill>
                <a:latin typeface="Arial"/>
              </a:rPr>
              <a:t>KL divergence after ≈75 iterations; all six pairwise correlations learned</a:t>
            </a:r>
          </a:p>
        </p:txBody>
      </p:sp>
      <p:sp>
        <p:nvSpPr>
          <p:cNvPr id="13" name="s26-box-02"/>
          <p:cNvSpPr/>
          <p:nvPr/>
        </p:nvSpPr>
        <p:spPr>
          <a:xfrm>
            <a:off x="6705432" y="1675068"/>
            <a:ext cx="2209745" cy="2014090"/>
          </a:xfrm>
          <a:prstGeom prst="roundRect">
            <a:avLst>
              <a:gd name="adj" fmla="val 756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26-text-10"/>
          <p:cNvSpPr txBox="1"/>
          <p:nvPr/>
        </p:nvSpPr>
        <p:spPr>
          <a:xfrm>
            <a:off x="6959426" y="2143667"/>
            <a:ext cx="1720807" cy="507987"/>
          </a:xfrm>
          <a:prstGeom prst="rect">
            <a:avLst/>
          </a:prstGeom>
          <a:noFill/>
        </p:spPr>
        <p:txBody>
          <a:bodyPr wrap="none" lIns="0" tIns="0" rIns="0" bIns="0" anchor="t">
            <a:noAutofit/>
          </a:bodyPr>
          <a:lstStyle/>
          <a:p>
            <a:pPr algn="l">
              <a:lnSpc>
                <a:spcPts val="4000"/>
              </a:lnSpc>
              <a:spcBef>
                <a:spcPts val="0"/>
              </a:spcBef>
              <a:spcAft>
                <a:spcPts val="0"/>
              </a:spcAft>
            </a:pPr>
            <a:r>
              <a:rPr sz="4000" b="1" i="0" spc="-160">
                <a:solidFill>
                  <a:srgbClr val="0B0B0F"/>
                </a:solidFill>
                <a:latin typeface="Arial"/>
              </a:rPr>
              <a:t>+5.4%</a:t>
            </a:r>
          </a:p>
        </p:txBody>
      </p:sp>
      <p:sp>
        <p:nvSpPr>
          <p:cNvPr id="15" name="s26-text-11"/>
          <p:cNvSpPr txBox="1"/>
          <p:nvPr/>
        </p:nvSpPr>
        <p:spPr>
          <a:xfrm>
            <a:off x="6959426" y="2740552"/>
            <a:ext cx="1714457" cy="720012"/>
          </a:xfrm>
          <a:prstGeom prst="rect">
            <a:avLst/>
          </a:prstGeom>
          <a:noFill/>
        </p:spPr>
        <p:txBody>
          <a:bodyPr wrap="square" lIns="0" tIns="0" rIns="0" bIns="0" anchor="t">
            <a:noAutofit/>
          </a:bodyPr>
          <a:lstStyle/>
          <a:p>
            <a:pPr algn="l">
              <a:lnSpc>
                <a:spcPts val="1889"/>
              </a:lnSpc>
              <a:spcBef>
                <a:spcPts val="0"/>
              </a:spcBef>
              <a:spcAft>
                <a:spcPts val="0"/>
              </a:spcAft>
            </a:pPr>
            <a:r>
              <a:rPr sz="1400" b="0" i="0">
                <a:solidFill>
                  <a:srgbClr val="50505B"/>
                </a:solidFill>
                <a:latin typeface="Arial"/>
              </a:rPr>
              <a:t>over the baseline portfolio, ibm_pittsburgh</a:t>
            </a:r>
          </a:p>
        </p:txBody>
      </p:sp>
      <p:sp>
        <p:nvSpPr>
          <p:cNvPr id="16" name="s26-box-03"/>
          <p:cNvSpPr/>
          <p:nvPr/>
        </p:nvSpPr>
        <p:spPr>
          <a:xfrm>
            <a:off x="9092973" y="1675068"/>
            <a:ext cx="2209745" cy="2014090"/>
          </a:xfrm>
          <a:prstGeom prst="roundRect">
            <a:avLst>
              <a:gd name="adj" fmla="val 756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26-text-12"/>
          <p:cNvSpPr txBox="1"/>
          <p:nvPr/>
        </p:nvSpPr>
        <p:spPr>
          <a:xfrm>
            <a:off x="9346966" y="2143667"/>
            <a:ext cx="1720807" cy="507987"/>
          </a:xfrm>
          <a:prstGeom prst="rect">
            <a:avLst/>
          </a:prstGeom>
          <a:noFill/>
        </p:spPr>
        <p:txBody>
          <a:bodyPr wrap="none" lIns="0" tIns="0" rIns="0" bIns="0" anchor="t">
            <a:noAutofit/>
          </a:bodyPr>
          <a:lstStyle/>
          <a:p>
            <a:pPr algn="l">
              <a:lnSpc>
                <a:spcPts val="4000"/>
              </a:lnSpc>
              <a:spcBef>
                <a:spcPts val="0"/>
              </a:spcBef>
              <a:spcAft>
                <a:spcPts val="0"/>
              </a:spcAft>
            </a:pPr>
            <a:r>
              <a:rPr sz="4000" b="1" i="0" spc="-160">
                <a:solidFill>
                  <a:srgbClr val="0B0B0F"/>
                </a:solidFill>
                <a:latin typeface="Arial"/>
              </a:rPr>
              <a:t>+8.1%</a:t>
            </a:r>
          </a:p>
        </p:txBody>
      </p:sp>
      <p:sp>
        <p:nvSpPr>
          <p:cNvPr id="18" name="s26-text-13"/>
          <p:cNvSpPr txBox="1"/>
          <p:nvPr/>
        </p:nvSpPr>
        <p:spPr>
          <a:xfrm>
            <a:off x="9346966" y="2740552"/>
            <a:ext cx="1714457" cy="720012"/>
          </a:xfrm>
          <a:prstGeom prst="rect">
            <a:avLst/>
          </a:prstGeom>
          <a:noFill/>
        </p:spPr>
        <p:txBody>
          <a:bodyPr wrap="square" lIns="0" tIns="0" rIns="0" bIns="0" anchor="t">
            <a:noAutofit/>
          </a:bodyPr>
          <a:lstStyle/>
          <a:p>
            <a:pPr algn="l">
              <a:lnSpc>
                <a:spcPts val="1889"/>
              </a:lnSpc>
              <a:spcBef>
                <a:spcPts val="0"/>
              </a:spcBef>
              <a:spcAft>
                <a:spcPts val="0"/>
              </a:spcAft>
            </a:pPr>
            <a:r>
              <a:rPr sz="1400" b="0" i="0">
                <a:solidFill>
                  <a:srgbClr val="50505B"/>
                </a:solidFill>
                <a:latin typeface="Arial"/>
              </a:rPr>
              <a:t>above the noise floor — no extra optimizer iterations</a:t>
            </a:r>
          </a:p>
        </p:txBody>
      </p:sp>
      <p:sp>
        <p:nvSpPr>
          <p:cNvPr id="19" name="s26-box-04"/>
          <p:cNvSpPr/>
          <p:nvPr/>
        </p:nvSpPr>
        <p:spPr>
          <a:xfrm>
            <a:off x="4317892" y="3816155"/>
            <a:ext cx="2908723"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26-box-05"/>
          <p:cNvSpPr/>
          <p:nvPr/>
        </p:nvSpPr>
        <p:spPr>
          <a:xfrm>
            <a:off x="4482988" y="3946327"/>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26-text-14"/>
          <p:cNvSpPr txBox="1"/>
          <p:nvPr/>
        </p:nvSpPr>
        <p:spPr>
          <a:xfrm>
            <a:off x="4648084" y="3892353"/>
            <a:ext cx="2432485"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IBM Pittsburgh · 156-qubit Heron</a:t>
            </a:r>
          </a:p>
        </p:txBody>
      </p:sp>
      <p:sp>
        <p:nvSpPr>
          <p:cNvPr id="22" name="s26-box-06"/>
          <p:cNvSpPr/>
          <p:nvPr/>
        </p:nvSpPr>
        <p:spPr>
          <a:xfrm>
            <a:off x="7328213" y="3816155"/>
            <a:ext cx="2087808"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26-box-07"/>
          <p:cNvSpPr/>
          <p:nvPr/>
        </p:nvSpPr>
        <p:spPr>
          <a:xfrm>
            <a:off x="7493309" y="3946327"/>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26-text-15"/>
          <p:cNvSpPr txBox="1"/>
          <p:nvPr/>
        </p:nvSpPr>
        <p:spPr>
          <a:xfrm>
            <a:off x="7658405" y="3892353"/>
            <a:ext cx="1611570"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8,192 shots × 20 runs</a:t>
            </a:r>
          </a:p>
        </p:txBody>
      </p:sp>
      <p:sp>
        <p:nvSpPr>
          <p:cNvPr id="25" name="s26-box-08"/>
          <p:cNvSpPr/>
          <p:nvPr/>
        </p:nvSpPr>
        <p:spPr>
          <a:xfrm>
            <a:off x="4317892" y="4266994"/>
            <a:ext cx="2683899"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s26-box-09"/>
          <p:cNvSpPr/>
          <p:nvPr/>
        </p:nvSpPr>
        <p:spPr>
          <a:xfrm>
            <a:off x="4482988" y="4397166"/>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s26-text-16"/>
          <p:cNvSpPr txBox="1"/>
          <p:nvPr/>
        </p:nvSpPr>
        <p:spPr>
          <a:xfrm>
            <a:off x="4648084" y="4343192"/>
            <a:ext cx="2207661"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Qiskit 2.2 + Aer HPC backend</a:t>
            </a:r>
          </a:p>
        </p:txBody>
      </p:sp>
      <p:sp>
        <p:nvSpPr>
          <p:cNvPr id="28" name="!!sec"/>
          <p:cNvSpPr txBox="1"/>
          <p:nvPr/>
        </p:nvSpPr>
        <p:spPr>
          <a:xfrm>
            <a:off x="888978" y="6362541"/>
            <a:ext cx="152654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IV · DEAL &amp; QAWA</a:t>
            </a:r>
          </a:p>
        </p:txBody>
      </p:sp>
      <p:pic>
        <p:nvPicPr>
          <p:cNvPr id="29" name="s26-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30"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26</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11221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Takeaway</a:t>
            </a:r>
          </a:p>
        </p:txBody>
      </p:sp>
      <p:sp>
        <p:nvSpPr>
          <p:cNvPr id="3" name="s27-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RQ2: structure beats search</a:t>
            </a:r>
          </a:p>
        </p:txBody>
      </p:sp>
      <p:sp>
        <p:nvSpPr>
          <p:cNvPr id="4" name="s27-box-01"/>
          <p:cNvSpPr/>
          <p:nvPr/>
        </p:nvSpPr>
        <p:spPr>
          <a:xfrm>
            <a:off x="888978" y="180151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27-text-03"/>
          <p:cNvSpPr txBox="1"/>
          <p:nvPr/>
        </p:nvSpPr>
        <p:spPr>
          <a:xfrm>
            <a:off x="1219170" y="1659789"/>
            <a:ext cx="10096248" cy="617125"/>
          </a:xfrm>
          <a:prstGeom prst="rect">
            <a:avLst/>
          </a:prstGeom>
          <a:noFill/>
        </p:spPr>
        <p:txBody>
          <a:bodyPr wrap="square" lIns="0" tIns="0" rIns="0" bIns="0" anchor="t">
            <a:noAutofit/>
          </a:bodyPr>
          <a:lstStyle/>
          <a:p>
            <a:pPr algn="l">
              <a:lnSpc>
                <a:spcPts val="2430"/>
              </a:lnSpc>
              <a:spcBef>
                <a:spcPts val="0"/>
              </a:spcBef>
              <a:spcAft>
                <a:spcPts val="0"/>
              </a:spcAft>
            </a:pPr>
            <a:r>
              <a:rPr sz="1800" b="1" i="0">
                <a:solidFill>
                  <a:srgbClr val="0B0B0F"/>
                </a:solidFill>
                <a:latin typeface="Arial"/>
              </a:rPr>
              <a:t>Problem structure</a:t>
            </a:r>
            <a:r>
              <a:rPr sz="1800" b="0" i="0">
                <a:solidFill>
                  <a:srgbClr val="50505B"/>
                </a:solidFill>
                <a:latin typeface="Arial"/>
              </a:rPr>
              <a:t> sets the angles (DEAL) and the oracle (QAWA) — no black-box search on the QPU</a:t>
            </a:r>
          </a:p>
        </p:txBody>
      </p:sp>
      <p:sp>
        <p:nvSpPr>
          <p:cNvPr id="6" name="s27-box-02"/>
          <p:cNvSpPr/>
          <p:nvPr/>
        </p:nvSpPr>
        <p:spPr>
          <a:xfrm>
            <a:off x="888978" y="2558339"/>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27-text-04"/>
          <p:cNvSpPr txBox="1"/>
          <p:nvPr/>
        </p:nvSpPr>
        <p:spPr>
          <a:xfrm>
            <a:off x="1219170" y="2416611"/>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sz="1800" b="1" i="0">
                <a:solidFill>
                  <a:srgbClr val="0B0B0F"/>
                </a:solidFill>
                <a:latin typeface="Arial"/>
              </a:rPr>
              <a:t>Device structure</a:t>
            </a:r>
            <a:r>
              <a:rPr sz="1800" b="0" i="0">
                <a:solidFill>
                  <a:srgbClr val="50505B"/>
                </a:solidFill>
                <a:latin typeface="Arial"/>
              </a:rPr>
              <a:t> sets the ansatz: ECR entanglers · ≈41–43 CZ budget · adaptive ZNE</a:t>
            </a:r>
          </a:p>
        </p:txBody>
      </p:sp>
      <p:sp>
        <p:nvSpPr>
          <p:cNvPr id="8" name="s27-box-03"/>
          <p:cNvSpPr/>
          <p:nvPr/>
        </p:nvSpPr>
        <p:spPr>
          <a:xfrm>
            <a:off x="888978" y="3006598"/>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27-text-05"/>
          <p:cNvSpPr txBox="1"/>
          <p:nvPr/>
        </p:nvSpPr>
        <p:spPr>
          <a:xfrm>
            <a:off x="1219170" y="2864870"/>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sz="1800" b="0" i="0">
                <a:solidFill>
                  <a:srgbClr val="50505B"/>
                </a:solidFill>
                <a:latin typeface="Arial"/>
              </a:rPr>
              <a:t>Heron results: </a:t>
            </a:r>
            <a:r>
              <a:rPr sz="1800" b="1" i="0">
                <a:solidFill>
                  <a:srgbClr val="0B0B0F"/>
                </a:solidFill>
                <a:latin typeface="Arial"/>
              </a:rPr>
              <a:t>+14.81 / +7.40 pts</a:t>
            </a:r>
            <a:r>
              <a:rPr sz="1800" b="0" i="0">
                <a:solidFill>
                  <a:srgbClr val="50505B"/>
                </a:solidFill>
                <a:latin typeface="Arial"/>
              </a:rPr>
              <a:t> success at layer 10 · </a:t>
            </a:r>
            <a:r>
              <a:rPr sz="1800" b="1" i="0">
                <a:solidFill>
                  <a:srgbClr val="0B0B0F"/>
                </a:solidFill>
                <a:latin typeface="Arial"/>
              </a:rPr>
              <a:t>7 layers for 9</a:t>
            </a:r>
            <a:r>
              <a:rPr sz="1800" b="0" i="0">
                <a:solidFill>
                  <a:srgbClr val="50505B"/>
                </a:solidFill>
                <a:latin typeface="Arial"/>
              </a:rPr>
              <a:t> · </a:t>
            </a:r>
            <a:r>
              <a:rPr sz="1800" b="1" i="0">
                <a:solidFill>
                  <a:srgbClr val="0B0B0F"/>
                </a:solidFill>
                <a:latin typeface="Arial"/>
              </a:rPr>
              <a:t>+5.4%</a:t>
            </a:r>
            <a:r>
              <a:rPr sz="1800" b="0" i="0">
                <a:solidFill>
                  <a:srgbClr val="50505B"/>
                </a:solidFill>
                <a:latin typeface="Arial"/>
              </a:rPr>
              <a:t> portfolio</a:t>
            </a:r>
          </a:p>
        </p:txBody>
      </p:sp>
      <p:sp>
        <p:nvSpPr>
          <p:cNvPr id="10" name="s27-box-04"/>
          <p:cNvSpPr/>
          <p:nvPr/>
        </p:nvSpPr>
        <p:spPr>
          <a:xfrm>
            <a:off x="888978" y="345485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27-text-06"/>
          <p:cNvSpPr txBox="1"/>
          <p:nvPr/>
        </p:nvSpPr>
        <p:spPr>
          <a:xfrm>
            <a:off x="1219170" y="3313129"/>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sz="1800" b="0" i="0">
                <a:solidFill>
                  <a:srgbClr val="50505B"/>
                </a:solidFill>
                <a:latin typeface="Arial"/>
              </a:rPr>
              <a:t>Next: make the data these algorithms consume cheap to load (Ch. V)</a:t>
            </a:r>
          </a:p>
        </p:txBody>
      </p:sp>
      <p:sp>
        <p:nvSpPr>
          <p:cNvPr id="12"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27-text-07"/>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14"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5" name="!!L2-bg"/>
          <p:cNvSpPr/>
          <p:nvPr/>
        </p:nvSpPr>
        <p:spPr>
          <a:xfrm>
            <a:off x="6762978" y="6311742"/>
            <a:ext cx="1127295"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27-text-09"/>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02</a:t>
            </a:r>
          </a:p>
        </p:txBody>
      </p:sp>
      <p:sp>
        <p:nvSpPr>
          <p:cNvPr id="17"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Algorithms</a:t>
            </a:r>
          </a:p>
        </p:txBody>
      </p:sp>
      <p:sp>
        <p:nvSpPr>
          <p:cNvPr id="18"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27-text-11"/>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20"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21"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27-text-13"/>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23"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24"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27-text-15"/>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6"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7" name="!!sec"/>
          <p:cNvSpPr txBox="1"/>
          <p:nvPr/>
        </p:nvSpPr>
        <p:spPr>
          <a:xfrm>
            <a:off x="888978" y="6362541"/>
            <a:ext cx="152654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IV · DEAL &amp; QAWA</a:t>
            </a:r>
          </a:p>
        </p:txBody>
      </p:sp>
      <p:pic>
        <p:nvPicPr>
          <p:cNvPr id="28" name="s27-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27</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26B1A4-9BD4-491B-036E-70574A12B837}"/>
              </a:ext>
            </a:extLst>
          </p:cNvPr>
          <p:cNvSpPr txBox="1"/>
          <p:nvPr/>
        </p:nvSpPr>
        <p:spPr>
          <a:xfrm>
            <a:off x="1936376" y="1161826"/>
            <a:ext cx="4784323" cy="369332"/>
          </a:xfrm>
          <a:prstGeom prst="rect">
            <a:avLst/>
          </a:prstGeom>
          <a:noFill/>
        </p:spPr>
        <p:txBody>
          <a:bodyPr wrap="none" rtlCol="0">
            <a:spAutoFit/>
          </a:bodyPr>
          <a:lstStyle/>
          <a:p>
            <a:r>
              <a:rPr lang="en-US" dirty="0"/>
              <a:t>Scott </a:t>
            </a:r>
            <a:r>
              <a:rPr lang="en-US" dirty="0" err="1"/>
              <a:t>Aarrason</a:t>
            </a:r>
            <a:r>
              <a:rPr lang="en-US" dirty="0"/>
              <a:t> Can QC really beats Classical algo?</a:t>
            </a:r>
          </a:p>
        </p:txBody>
      </p:sp>
      <p:sp>
        <p:nvSpPr>
          <p:cNvPr id="5" name="TextBox 4">
            <a:extLst>
              <a:ext uri="{FF2B5EF4-FFF2-40B4-BE49-F238E27FC236}">
                <a16:creationId xmlns:a16="http://schemas.microsoft.com/office/drawing/2014/main" id="{8822D7D5-6832-E1A7-681F-F507309C4AC5}"/>
              </a:ext>
            </a:extLst>
          </p:cNvPr>
          <p:cNvSpPr txBox="1"/>
          <p:nvPr/>
        </p:nvSpPr>
        <p:spPr>
          <a:xfrm>
            <a:off x="1506071" y="2495774"/>
            <a:ext cx="6416693" cy="369332"/>
          </a:xfrm>
          <a:prstGeom prst="rect">
            <a:avLst/>
          </a:prstGeom>
          <a:noFill/>
        </p:spPr>
        <p:txBody>
          <a:bodyPr wrap="none" rtlCol="0">
            <a:spAutoFit/>
          </a:bodyPr>
          <a:lstStyle/>
          <a:p>
            <a:r>
              <a:rPr lang="en-US" dirty="0"/>
              <a:t>LLM intro from background -&gt; modern LLM -&gt; harness engineering</a:t>
            </a:r>
          </a:p>
        </p:txBody>
      </p:sp>
    </p:spTree>
    <p:extLst>
      <p:ext uri="{BB962C8B-B14F-4D97-AF65-F5344CB8AC3E}">
        <p14:creationId xmlns:p14="http://schemas.microsoft.com/office/powerpoint/2010/main" val="38335181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s40-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s40-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s40-text-01"/>
          <p:cNvSpPr txBox="1"/>
          <p:nvPr/>
        </p:nvSpPr>
        <p:spPr>
          <a:xfrm>
            <a:off x="888978" y="2193275"/>
            <a:ext cx="10432789"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dirty="0">
                <a:solidFill>
                  <a:srgbClr val="B00000"/>
                </a:solidFill>
                <a:latin typeface="Arial"/>
              </a:rPr>
              <a:t>Chapter VI · RQ4 Synthesis</a:t>
            </a:r>
          </a:p>
        </p:txBody>
      </p:sp>
      <p:sp>
        <p:nvSpPr>
          <p:cNvPr id="5" name="s40-text-02"/>
          <p:cNvSpPr txBox="1"/>
          <p:nvPr/>
        </p:nvSpPr>
        <p:spPr>
          <a:xfrm>
            <a:off x="888978" y="2504417"/>
            <a:ext cx="5922914" cy="826670"/>
          </a:xfrm>
          <a:prstGeom prst="rect">
            <a:avLst/>
          </a:prstGeom>
          <a:noFill/>
        </p:spPr>
        <p:txBody>
          <a:bodyPr wrap="none" lIns="0" tIns="0" rIns="0" bIns="0" anchor="t">
            <a:noAutofit/>
          </a:bodyPr>
          <a:lstStyle/>
          <a:p>
            <a:pPr algn="l">
              <a:lnSpc>
                <a:spcPts val="6509"/>
              </a:lnSpc>
              <a:spcBef>
                <a:spcPts val="0"/>
              </a:spcBef>
              <a:spcAft>
                <a:spcPts val="0"/>
              </a:spcAft>
            </a:pPr>
            <a:r>
              <a:rPr sz="6200" b="1" i="0" spc="-217" dirty="0">
                <a:solidFill>
                  <a:srgbClr val="CC0000"/>
                </a:solidFill>
                <a:latin typeface="Arial"/>
              </a:rPr>
              <a:t>Synthesis &amp; cost</a:t>
            </a:r>
          </a:p>
        </p:txBody>
      </p:sp>
      <p:sp>
        <p:nvSpPr>
          <p:cNvPr id="6" name="s40-text-03"/>
          <p:cNvSpPr txBox="1"/>
          <p:nvPr/>
        </p:nvSpPr>
        <p:spPr>
          <a:xfrm>
            <a:off x="888978" y="3483483"/>
            <a:ext cx="9537462" cy="1028674"/>
          </a:xfrm>
          <a:prstGeom prst="rect">
            <a:avLst/>
          </a:prstGeom>
          <a:noFill/>
        </p:spPr>
        <p:txBody>
          <a:bodyPr wrap="square" lIns="0" tIns="0" rIns="0" bIns="0" anchor="t">
            <a:noAutofit/>
          </a:bodyPr>
          <a:lstStyle/>
          <a:p>
            <a:pPr algn="l">
              <a:lnSpc>
                <a:spcPts val="2700"/>
              </a:lnSpc>
              <a:spcBef>
                <a:spcPts val="0"/>
              </a:spcBef>
              <a:spcAft>
                <a:spcPts val="0"/>
              </a:spcAft>
            </a:pPr>
            <a:r>
              <a:rPr sz="2000" b="0" i="0" dirty="0">
                <a:solidFill>
                  <a:srgbClr val="50505B"/>
                </a:solidFill>
                <a:latin typeface="Arial"/>
              </a:rPr>
              <a:t>Learned synthesis and honest cost accounting</a:t>
            </a:r>
          </a:p>
          <a:p>
            <a:pPr algn="l">
              <a:lnSpc>
                <a:spcPts val="2700"/>
              </a:lnSpc>
              <a:spcBef>
                <a:spcPts val="0"/>
              </a:spcBef>
              <a:spcAft>
                <a:spcPts val="0"/>
              </a:spcAft>
            </a:pPr>
            <a:r>
              <a:rPr sz="1200" b="0" i="0" dirty="0" err="1">
                <a:solidFill>
                  <a:srgbClr val="7B7B86"/>
                </a:solidFill>
                <a:latin typeface="Arial"/>
              </a:rPr>
              <a:t>RubriQ</a:t>
            </a:r>
            <a:r>
              <a:rPr sz="1200" b="0" i="0" dirty="0">
                <a:solidFill>
                  <a:srgbClr val="7B7B86"/>
                </a:solidFill>
                <a:latin typeface="Arial"/>
              </a:rPr>
              <a:t> · Guo, Pan · arXiv:2607.07554 · under review, </a:t>
            </a:r>
            <a:r>
              <a:rPr sz="1200" b="0" i="0" dirty="0" err="1">
                <a:solidFill>
                  <a:srgbClr val="7B7B86"/>
                </a:solidFill>
                <a:latin typeface="Arial"/>
              </a:rPr>
              <a:t>npj</a:t>
            </a:r>
            <a:r>
              <a:rPr sz="1200" b="0" i="0" dirty="0">
                <a:solidFill>
                  <a:srgbClr val="7B7B86"/>
                </a:solidFill>
                <a:latin typeface="Arial"/>
              </a:rPr>
              <a:t> Quantum Information  ·  Nonlinear waves · Guo, Dsouza, Khan, Chopra, </a:t>
            </a:r>
            <a:r>
              <a:rPr sz="1200" b="0" i="0" dirty="0" err="1">
                <a:solidFill>
                  <a:srgbClr val="7B7B86"/>
                </a:solidFill>
                <a:latin typeface="Arial"/>
              </a:rPr>
              <a:t>Lineswala</a:t>
            </a:r>
            <a:r>
              <a:rPr sz="1200" b="0" i="0" dirty="0">
                <a:solidFill>
                  <a:srgbClr val="7B7B86"/>
                </a:solidFill>
                <a:latin typeface="Arial"/>
              </a:rPr>
              <a:t>, Pan · arXiv:2608.21647</a:t>
            </a:r>
          </a:p>
        </p:txBody>
      </p:sp>
      <p:sp>
        <p:nvSpPr>
          <p:cNvPr id="7"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40-text-04"/>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9"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40-text-06"/>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2"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40-text-08"/>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15"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40-text-10"/>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04</a:t>
            </a:r>
          </a:p>
        </p:txBody>
      </p:sp>
      <p:sp>
        <p:nvSpPr>
          <p:cNvPr id="18"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40-text-12"/>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1"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2" name="!!sec"/>
          <p:cNvSpPr txBox="1"/>
          <p:nvPr/>
        </p:nvSpPr>
        <p:spPr>
          <a:xfrm>
            <a:off x="888978" y="6362541"/>
            <a:ext cx="198561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 · Synthesis &amp; cost</a:t>
            </a:r>
          </a:p>
        </p:txBody>
      </p:sp>
      <p:pic>
        <p:nvPicPr>
          <p:cNvPr id="23" name="s40-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40</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3312137"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RubriQ · Rubric-guided GRPO</a:t>
            </a:r>
          </a:p>
        </p:txBody>
      </p:sp>
      <p:sp>
        <p:nvSpPr>
          <p:cNvPr id="3" name="s41-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Synthesis as code generation</a:t>
            </a:r>
          </a:p>
        </p:txBody>
      </p:sp>
      <p:pic>
        <p:nvPicPr>
          <p:cNvPr id="4" name="s41-image-01" descr="diagram"/>
          <p:cNvPicPr>
            <a:picLocks noChangeAspect="1"/>
          </p:cNvPicPr>
          <p:nvPr/>
        </p:nvPicPr>
        <p:blipFill>
          <a:blip r:embed="rId3"/>
          <a:stretch>
            <a:fillRect/>
          </a:stretch>
        </p:blipFill>
        <p:spPr>
          <a:xfrm>
            <a:off x="863578" y="1555711"/>
            <a:ext cx="10470888" cy="3105072"/>
          </a:xfrm>
          <a:prstGeom prst="rect">
            <a:avLst/>
          </a:prstGeom>
        </p:spPr>
      </p:pic>
      <p:sp>
        <p:nvSpPr>
          <p:cNvPr id="5" name="s41-text-03"/>
          <p:cNvSpPr txBox="1"/>
          <p:nvPr/>
        </p:nvSpPr>
        <p:spPr>
          <a:xfrm>
            <a:off x="1564889" y="2980556"/>
            <a:ext cx="1081457"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LLM policy</a:t>
            </a:r>
          </a:p>
        </p:txBody>
      </p:sp>
      <p:sp>
        <p:nvSpPr>
          <p:cNvPr id="6" name="s41-text-04"/>
          <p:cNvSpPr txBox="1"/>
          <p:nvPr/>
        </p:nvSpPr>
        <p:spPr>
          <a:xfrm>
            <a:off x="1382976" y="3266299"/>
            <a:ext cx="144399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7B coder · LoRA r = 64</a:t>
            </a:r>
          </a:p>
        </p:txBody>
      </p:sp>
      <p:sp>
        <p:nvSpPr>
          <p:cNvPr id="7" name="s41-text-05"/>
          <p:cNvSpPr txBox="1"/>
          <p:nvPr/>
        </p:nvSpPr>
        <p:spPr>
          <a:xfrm>
            <a:off x="3792790" y="2980556"/>
            <a:ext cx="56126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parse</a:t>
            </a:r>
          </a:p>
        </p:txBody>
      </p:sp>
      <p:sp>
        <p:nvSpPr>
          <p:cNvPr id="8" name="s41-text-06"/>
          <p:cNvSpPr txBox="1"/>
          <p:nvPr/>
        </p:nvSpPr>
        <p:spPr>
          <a:xfrm>
            <a:off x="3598524" y="3266299"/>
            <a:ext cx="94979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recovers ≈60%</a:t>
            </a:r>
          </a:p>
        </p:txBody>
      </p:sp>
      <p:sp>
        <p:nvSpPr>
          <p:cNvPr id="9" name="s41-text-07"/>
          <p:cNvSpPr txBox="1"/>
          <p:nvPr/>
        </p:nvSpPr>
        <p:spPr>
          <a:xfrm>
            <a:off x="5249086" y="2980556"/>
            <a:ext cx="1712572"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CUDA-Q simulate</a:t>
            </a:r>
          </a:p>
        </p:txBody>
      </p:sp>
      <p:sp>
        <p:nvSpPr>
          <p:cNvPr id="10" name="s41-text-08"/>
          <p:cNvSpPr txBox="1"/>
          <p:nvPr/>
        </p:nvSpPr>
        <p:spPr>
          <a:xfrm>
            <a:off x="5230235" y="3266299"/>
            <a:ext cx="175027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GPU fidelity (Q-GEAR path)</a:t>
            </a:r>
          </a:p>
        </p:txBody>
      </p:sp>
      <p:sp>
        <p:nvSpPr>
          <p:cNvPr id="11" name="s41-text-09"/>
          <p:cNvSpPr txBox="1"/>
          <p:nvPr/>
        </p:nvSpPr>
        <p:spPr>
          <a:xfrm>
            <a:off x="7668971" y="2980556"/>
            <a:ext cx="131769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rubric reward</a:t>
            </a:r>
          </a:p>
        </p:txBody>
      </p:sp>
      <p:sp>
        <p:nvSpPr>
          <p:cNvPr id="12" name="s41-text-10"/>
          <p:cNvSpPr txBox="1"/>
          <p:nvPr/>
        </p:nvSpPr>
        <p:spPr>
          <a:xfrm>
            <a:off x="7639008" y="3266299"/>
            <a:ext cx="137761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5 programmatic terms</a:t>
            </a:r>
          </a:p>
        </p:txBody>
      </p:sp>
      <p:sp>
        <p:nvSpPr>
          <p:cNvPr id="13" name="s41-text-11"/>
          <p:cNvSpPr txBox="1"/>
          <p:nvPr/>
        </p:nvSpPr>
        <p:spPr>
          <a:xfrm>
            <a:off x="9753307" y="2980556"/>
            <a:ext cx="133991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GRPO update</a:t>
            </a:r>
          </a:p>
        </p:txBody>
      </p:sp>
      <p:sp>
        <p:nvSpPr>
          <p:cNvPr id="14" name="s41-text-12"/>
          <p:cNvSpPr txBox="1"/>
          <p:nvPr/>
        </p:nvSpPr>
        <p:spPr>
          <a:xfrm>
            <a:off x="9581464" y="3266299"/>
            <a:ext cx="16836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group 8 · T 0.8 · top-p 0.95</a:t>
            </a:r>
          </a:p>
        </p:txBody>
      </p:sp>
      <p:sp>
        <p:nvSpPr>
          <p:cNvPr id="15" name="s41-text-13"/>
          <p:cNvSpPr txBox="1"/>
          <p:nvPr/>
        </p:nvSpPr>
        <p:spPr>
          <a:xfrm>
            <a:off x="2598226" y="4320372"/>
            <a:ext cx="7211100"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policy improves by comparing a group of 8 generated circuits against each other, no value network</a:t>
            </a:r>
          </a:p>
        </p:txBody>
      </p:sp>
      <p:sp>
        <p:nvSpPr>
          <p:cNvPr id="16" name="s41-text-14"/>
          <p:cNvSpPr txBox="1"/>
          <p:nvPr/>
        </p:nvSpPr>
        <p:spPr>
          <a:xfrm>
            <a:off x="2900141" y="1837585"/>
            <a:ext cx="660095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NERSC Perlmutter · DeepSpeed ZeRO-2 over 4–8 A100 nodes · 85% strong-scaling efficiency on 8 GPUs</a:t>
            </a:r>
          </a:p>
        </p:txBody>
      </p:sp>
      <p:sp>
        <p:nvSpPr>
          <p:cNvPr id="17" name="s41-text-15"/>
          <p:cNvSpPr txBox="1"/>
          <p:nvPr/>
        </p:nvSpPr>
        <p:spPr>
          <a:xfrm>
            <a:off x="2990230" y="2091578"/>
            <a:ext cx="6420781"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Qwen2.5-Coder · DeepSeek-Coder-V2-Lite · Llama-3.1-8B · StarCoder2-15B</a:t>
            </a:r>
          </a:p>
        </p:txBody>
      </p:sp>
      <p:sp>
        <p:nvSpPr>
          <p:cNvPr id="18" name="!!sec"/>
          <p:cNvSpPr txBox="1"/>
          <p:nvPr/>
        </p:nvSpPr>
        <p:spPr>
          <a:xfrm>
            <a:off x="888978" y="6362541"/>
            <a:ext cx="198561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 · Synthesis &amp; cost</a:t>
            </a:r>
          </a:p>
        </p:txBody>
      </p:sp>
      <p:pic>
        <p:nvPicPr>
          <p:cNvPr id="19" name="s41-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0"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41</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236601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RubriQ · The reward</a:t>
            </a:r>
          </a:p>
        </p:txBody>
      </p:sp>
      <p:sp>
        <p:nvSpPr>
          <p:cNvPr id="3" name="s42-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A programmatic, grounded rubric</a:t>
            </a:r>
          </a:p>
        </p:txBody>
      </p:sp>
      <p:pic>
        <p:nvPicPr>
          <p:cNvPr id="4" name="s42-image-01" descr="diagram"/>
          <p:cNvPicPr>
            <a:picLocks noChangeAspect="1"/>
          </p:cNvPicPr>
          <p:nvPr/>
        </p:nvPicPr>
        <p:blipFill>
          <a:blip r:embed="rId3"/>
          <a:stretch>
            <a:fillRect/>
          </a:stretch>
        </p:blipFill>
        <p:spPr>
          <a:xfrm>
            <a:off x="863578" y="1530312"/>
            <a:ext cx="10470888" cy="3740056"/>
          </a:xfrm>
          <a:prstGeom prst="rect">
            <a:avLst/>
          </a:prstGeom>
        </p:spPr>
      </p:pic>
      <p:sp>
        <p:nvSpPr>
          <p:cNvPr id="5" name="s42-text-03"/>
          <p:cNvSpPr txBox="1"/>
          <p:nvPr/>
        </p:nvSpPr>
        <p:spPr>
          <a:xfrm>
            <a:off x="4816900" y="4707713"/>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0.00</a:t>
            </a:r>
          </a:p>
        </p:txBody>
      </p:sp>
      <p:sp>
        <p:nvSpPr>
          <p:cNvPr id="6" name="s42-text-04"/>
          <p:cNvSpPr txBox="1"/>
          <p:nvPr/>
        </p:nvSpPr>
        <p:spPr>
          <a:xfrm>
            <a:off x="6030425" y="4707713"/>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0.10</a:t>
            </a:r>
          </a:p>
        </p:txBody>
      </p:sp>
      <p:sp>
        <p:nvSpPr>
          <p:cNvPr id="7" name="s42-text-05"/>
          <p:cNvSpPr txBox="1"/>
          <p:nvPr/>
        </p:nvSpPr>
        <p:spPr>
          <a:xfrm>
            <a:off x="7243936" y="4707713"/>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0.20</a:t>
            </a:r>
          </a:p>
        </p:txBody>
      </p:sp>
      <p:sp>
        <p:nvSpPr>
          <p:cNvPr id="8" name="s42-text-06"/>
          <p:cNvSpPr txBox="1"/>
          <p:nvPr/>
        </p:nvSpPr>
        <p:spPr>
          <a:xfrm>
            <a:off x="8457454" y="4707713"/>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0.30</a:t>
            </a:r>
          </a:p>
        </p:txBody>
      </p:sp>
      <p:sp>
        <p:nvSpPr>
          <p:cNvPr id="9" name="s42-text-07"/>
          <p:cNvSpPr txBox="1"/>
          <p:nvPr/>
        </p:nvSpPr>
        <p:spPr>
          <a:xfrm>
            <a:off x="9670973" y="4707713"/>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0.40</a:t>
            </a:r>
          </a:p>
        </p:txBody>
      </p:sp>
      <p:sp>
        <p:nvSpPr>
          <p:cNvPr id="10" name="s42-text-08"/>
          <p:cNvSpPr txBox="1"/>
          <p:nvPr/>
        </p:nvSpPr>
        <p:spPr>
          <a:xfrm>
            <a:off x="2851376" y="2028080"/>
            <a:ext cx="1955453"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fidelity to the target unitary</a:t>
            </a:r>
          </a:p>
        </p:txBody>
      </p:sp>
      <p:sp>
        <p:nvSpPr>
          <p:cNvPr id="11" name="s42-text-09"/>
          <p:cNvSpPr txBox="1"/>
          <p:nvPr/>
        </p:nvSpPr>
        <p:spPr>
          <a:xfrm>
            <a:off x="9908546" y="1996331"/>
            <a:ext cx="41452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0.40</a:t>
            </a:r>
          </a:p>
        </p:txBody>
      </p:sp>
      <p:sp>
        <p:nvSpPr>
          <p:cNvPr id="12" name="s42-text-10"/>
          <p:cNvSpPr txBox="1"/>
          <p:nvPr/>
        </p:nvSpPr>
        <p:spPr>
          <a:xfrm>
            <a:off x="3368591" y="2561466"/>
            <a:ext cx="143823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Clifford correctness</a:t>
            </a:r>
          </a:p>
        </p:txBody>
      </p:sp>
      <p:sp>
        <p:nvSpPr>
          <p:cNvPr id="13" name="s42-text-11"/>
          <p:cNvSpPr txBox="1"/>
          <p:nvPr/>
        </p:nvSpPr>
        <p:spPr>
          <a:xfrm>
            <a:off x="7481510" y="2529717"/>
            <a:ext cx="41452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0.20</a:t>
            </a:r>
          </a:p>
        </p:txBody>
      </p:sp>
      <p:sp>
        <p:nvSpPr>
          <p:cNvPr id="14" name="s42-text-12"/>
          <p:cNvSpPr txBox="1"/>
          <p:nvPr/>
        </p:nvSpPr>
        <p:spPr>
          <a:xfrm>
            <a:off x="2539341" y="3094853"/>
            <a:ext cx="226748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hardware-topology compliance</a:t>
            </a:r>
          </a:p>
        </p:txBody>
      </p:sp>
      <p:sp>
        <p:nvSpPr>
          <p:cNvPr id="15" name="s42-text-13"/>
          <p:cNvSpPr txBox="1"/>
          <p:nvPr/>
        </p:nvSpPr>
        <p:spPr>
          <a:xfrm>
            <a:off x="6874764" y="3063104"/>
            <a:ext cx="41452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0.15</a:t>
            </a:r>
          </a:p>
        </p:txBody>
      </p:sp>
      <p:sp>
        <p:nvSpPr>
          <p:cNvPr id="16" name="s42-text-14"/>
          <p:cNvSpPr txBox="1"/>
          <p:nvPr/>
        </p:nvSpPr>
        <p:spPr>
          <a:xfrm>
            <a:off x="3869931" y="3628240"/>
            <a:ext cx="941761"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T-gate count</a:t>
            </a:r>
          </a:p>
        </p:txBody>
      </p:sp>
      <p:sp>
        <p:nvSpPr>
          <p:cNvPr id="17" name="s42-text-15"/>
          <p:cNvSpPr txBox="1"/>
          <p:nvPr/>
        </p:nvSpPr>
        <p:spPr>
          <a:xfrm>
            <a:off x="6874764" y="3596491"/>
            <a:ext cx="41452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0.15</a:t>
            </a:r>
          </a:p>
        </p:txBody>
      </p:sp>
      <p:sp>
        <p:nvSpPr>
          <p:cNvPr id="18" name="s42-text-16"/>
          <p:cNvSpPr txBox="1"/>
          <p:nvPr/>
        </p:nvSpPr>
        <p:spPr>
          <a:xfrm>
            <a:off x="4102494" y="4161626"/>
            <a:ext cx="704336"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efficiency</a:t>
            </a:r>
          </a:p>
        </p:txBody>
      </p:sp>
      <p:sp>
        <p:nvSpPr>
          <p:cNvPr id="19" name="s42-text-17"/>
          <p:cNvSpPr txBox="1"/>
          <p:nvPr/>
        </p:nvSpPr>
        <p:spPr>
          <a:xfrm>
            <a:off x="6267998" y="4129877"/>
            <a:ext cx="41452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0.10</a:t>
            </a:r>
          </a:p>
        </p:txBody>
      </p:sp>
      <p:sp>
        <p:nvSpPr>
          <p:cNvPr id="20" name="s42-text-18"/>
          <p:cNvSpPr txBox="1"/>
          <p:nvPr/>
        </p:nvSpPr>
        <p:spPr>
          <a:xfrm>
            <a:off x="5008487" y="4961706"/>
            <a:ext cx="5368692"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rubric weight (sums to 1.00) · every term is computed by a program, not a judge model</a:t>
            </a:r>
          </a:p>
        </p:txBody>
      </p:sp>
      <p:sp>
        <p:nvSpPr>
          <p:cNvPr id="21" name="!!sec"/>
          <p:cNvSpPr txBox="1"/>
          <p:nvPr/>
        </p:nvSpPr>
        <p:spPr>
          <a:xfrm>
            <a:off x="888978" y="6362541"/>
            <a:ext cx="198561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 · Synthesis &amp; cost</a:t>
            </a:r>
          </a:p>
        </p:txBody>
      </p:sp>
      <p:pic>
        <p:nvPicPr>
          <p:cNvPr id="22" name="s42-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3"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42</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945036"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RubriQ · Results</a:t>
            </a:r>
          </a:p>
        </p:txBody>
      </p:sp>
      <p:sp>
        <p:nvSpPr>
          <p:cNvPr id="3" name="s43-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Deeper compression, fewer violations</a:t>
            </a:r>
          </a:p>
        </p:txBody>
      </p:sp>
      <p:pic>
        <p:nvPicPr>
          <p:cNvPr id="4" name="s43-image-01" descr="diagram"/>
          <p:cNvPicPr>
            <a:picLocks noChangeAspect="1"/>
          </p:cNvPicPr>
          <p:nvPr/>
        </p:nvPicPr>
        <p:blipFill>
          <a:blip r:embed="rId3"/>
          <a:stretch>
            <a:fillRect/>
          </a:stretch>
        </p:blipFill>
        <p:spPr>
          <a:xfrm>
            <a:off x="863578" y="1530312"/>
            <a:ext cx="4883028" cy="3105072"/>
          </a:xfrm>
          <a:prstGeom prst="rect">
            <a:avLst/>
          </a:prstGeom>
        </p:spPr>
      </p:pic>
      <p:sp>
        <p:nvSpPr>
          <p:cNvPr id="5" name="s43-text-03"/>
          <p:cNvSpPr txBox="1"/>
          <p:nvPr/>
        </p:nvSpPr>
        <p:spPr>
          <a:xfrm>
            <a:off x="1390020" y="4148927"/>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a:t>
            </a:r>
          </a:p>
        </p:txBody>
      </p:sp>
      <p:sp>
        <p:nvSpPr>
          <p:cNvPr id="6" name="s43-text-04"/>
          <p:cNvSpPr txBox="1"/>
          <p:nvPr/>
        </p:nvSpPr>
        <p:spPr>
          <a:xfrm>
            <a:off x="1390020" y="3513943"/>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a:t>
            </a:r>
          </a:p>
        </p:txBody>
      </p:sp>
      <p:sp>
        <p:nvSpPr>
          <p:cNvPr id="7" name="s43-text-05"/>
          <p:cNvSpPr txBox="1"/>
          <p:nvPr/>
        </p:nvSpPr>
        <p:spPr>
          <a:xfrm>
            <a:off x="1390020" y="2878958"/>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2×</a:t>
            </a:r>
          </a:p>
        </p:txBody>
      </p:sp>
      <p:sp>
        <p:nvSpPr>
          <p:cNvPr id="8" name="s43-text-06"/>
          <p:cNvSpPr txBox="1"/>
          <p:nvPr/>
        </p:nvSpPr>
        <p:spPr>
          <a:xfrm>
            <a:off x="1390020" y="2243974"/>
            <a:ext cx="17839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3×</a:t>
            </a:r>
          </a:p>
        </p:txBody>
      </p:sp>
      <p:sp>
        <p:nvSpPr>
          <p:cNvPr id="9" name="s43-text-07"/>
          <p:cNvSpPr txBox="1"/>
          <p:nvPr/>
        </p:nvSpPr>
        <p:spPr>
          <a:xfrm>
            <a:off x="1549361" y="1672489"/>
            <a:ext cx="341750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mean T-gate compression on 1,500 benchmark circuits</a:t>
            </a:r>
          </a:p>
        </p:txBody>
      </p:sp>
      <p:sp>
        <p:nvSpPr>
          <p:cNvPr id="10" name="s43-text-08"/>
          <p:cNvSpPr txBox="1"/>
          <p:nvPr/>
        </p:nvSpPr>
        <p:spPr>
          <a:xfrm>
            <a:off x="2468073" y="1837585"/>
            <a:ext cx="533188"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3.31×</a:t>
            </a:r>
          </a:p>
        </p:txBody>
      </p:sp>
      <p:sp>
        <p:nvSpPr>
          <p:cNvPr id="11" name="s43-text-09"/>
          <p:cNvSpPr txBox="1"/>
          <p:nvPr/>
        </p:nvSpPr>
        <p:spPr>
          <a:xfrm>
            <a:off x="2463658" y="4326722"/>
            <a:ext cx="54201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RubriQ</a:t>
            </a:r>
          </a:p>
        </p:txBody>
      </p:sp>
      <p:sp>
        <p:nvSpPr>
          <p:cNvPr id="12" name="s43-text-10"/>
          <p:cNvSpPr txBox="1"/>
          <p:nvPr/>
        </p:nvSpPr>
        <p:spPr>
          <a:xfrm>
            <a:off x="4002614" y="2637665"/>
            <a:ext cx="533188"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2.05×</a:t>
            </a:r>
          </a:p>
        </p:txBody>
      </p:sp>
      <p:sp>
        <p:nvSpPr>
          <p:cNvPr id="13" name="s43-text-11"/>
          <p:cNvSpPr txBox="1"/>
          <p:nvPr/>
        </p:nvSpPr>
        <p:spPr>
          <a:xfrm>
            <a:off x="3603616" y="4326722"/>
            <a:ext cx="1331185"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sparse-reward RL</a:t>
            </a:r>
          </a:p>
        </p:txBody>
      </p:sp>
      <p:sp>
        <p:nvSpPr>
          <p:cNvPr id="14" name="s43-box-01"/>
          <p:cNvSpPr/>
          <p:nvPr/>
        </p:nvSpPr>
        <p:spPr>
          <a:xfrm>
            <a:off x="5968851" y="1668718"/>
            <a:ext cx="2578036" cy="1356286"/>
          </a:xfrm>
          <a:prstGeom prst="roundRect">
            <a:avLst>
              <a:gd name="adj" fmla="val 112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43-text-12"/>
          <p:cNvSpPr txBox="1"/>
          <p:nvPr/>
        </p:nvSpPr>
        <p:spPr>
          <a:xfrm>
            <a:off x="6159346" y="1808415"/>
            <a:ext cx="2216095" cy="507987"/>
          </a:xfrm>
          <a:prstGeom prst="rect">
            <a:avLst/>
          </a:prstGeom>
          <a:noFill/>
        </p:spPr>
        <p:txBody>
          <a:bodyPr wrap="none" lIns="0" tIns="0" rIns="0" bIns="0" anchor="t">
            <a:noAutofit/>
          </a:bodyPr>
          <a:lstStyle/>
          <a:p>
            <a:pPr algn="l">
              <a:lnSpc>
                <a:spcPts val="4000"/>
              </a:lnSpc>
              <a:spcBef>
                <a:spcPts val="0"/>
              </a:spcBef>
              <a:spcAft>
                <a:spcPts val="0"/>
              </a:spcAft>
            </a:pPr>
            <a:r>
              <a:rPr sz="4000" b="1" i="0" spc="-160">
                <a:solidFill>
                  <a:srgbClr val="0B0B0F"/>
                </a:solidFill>
                <a:latin typeface="Arial"/>
              </a:rPr>
              <a:t>&lt;1%</a:t>
            </a:r>
          </a:p>
        </p:txBody>
      </p:sp>
      <p:sp>
        <p:nvSpPr>
          <p:cNvPr id="16" name="s43-text-13"/>
          <p:cNvSpPr txBox="1"/>
          <p:nvPr/>
        </p:nvSpPr>
        <p:spPr>
          <a:xfrm>
            <a:off x="6159346" y="2405300"/>
            <a:ext cx="2209745" cy="480008"/>
          </a:xfrm>
          <a:prstGeom prst="rect">
            <a:avLst/>
          </a:prstGeom>
          <a:noFill/>
        </p:spPr>
        <p:txBody>
          <a:bodyPr wrap="square" lIns="0" tIns="0" rIns="0" bIns="0" anchor="t">
            <a:noAutofit/>
          </a:bodyPr>
          <a:lstStyle/>
          <a:p>
            <a:pPr algn="l">
              <a:lnSpc>
                <a:spcPts val="1889"/>
              </a:lnSpc>
              <a:spcBef>
                <a:spcPts val="0"/>
              </a:spcBef>
              <a:spcAft>
                <a:spcPts val="0"/>
              </a:spcAft>
            </a:pPr>
            <a:r>
              <a:rPr sz="1400" b="0" i="0">
                <a:solidFill>
                  <a:srgbClr val="50505B"/>
                </a:solidFill>
                <a:latin typeface="Arial"/>
              </a:rPr>
              <a:t>constraint violations · 5× fewer than best baseline</a:t>
            </a:r>
          </a:p>
        </p:txBody>
      </p:sp>
      <p:sp>
        <p:nvSpPr>
          <p:cNvPr id="17" name="s43-box-02"/>
          <p:cNvSpPr/>
          <p:nvPr/>
        </p:nvSpPr>
        <p:spPr>
          <a:xfrm>
            <a:off x="8724682" y="1668718"/>
            <a:ext cx="2578036" cy="1356286"/>
          </a:xfrm>
          <a:prstGeom prst="roundRect">
            <a:avLst>
              <a:gd name="adj" fmla="val 112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s43-text-14"/>
          <p:cNvSpPr txBox="1"/>
          <p:nvPr/>
        </p:nvSpPr>
        <p:spPr>
          <a:xfrm>
            <a:off x="8915177" y="2048419"/>
            <a:ext cx="2216095" cy="507987"/>
          </a:xfrm>
          <a:prstGeom prst="rect">
            <a:avLst/>
          </a:prstGeom>
          <a:noFill/>
        </p:spPr>
        <p:txBody>
          <a:bodyPr wrap="none" lIns="0" tIns="0" rIns="0" bIns="0" anchor="t">
            <a:noAutofit/>
          </a:bodyPr>
          <a:lstStyle/>
          <a:p>
            <a:pPr algn="l">
              <a:lnSpc>
                <a:spcPts val="4000"/>
              </a:lnSpc>
              <a:spcBef>
                <a:spcPts val="0"/>
              </a:spcBef>
              <a:spcAft>
                <a:spcPts val="0"/>
              </a:spcAft>
            </a:pPr>
            <a:r>
              <a:rPr sz="4000" b="1" i="0" spc="-160">
                <a:solidFill>
                  <a:srgbClr val="0B0B0F"/>
                </a:solidFill>
                <a:latin typeface="Arial"/>
              </a:rPr>
              <a:t>96%</a:t>
            </a:r>
          </a:p>
        </p:txBody>
      </p:sp>
      <p:sp>
        <p:nvSpPr>
          <p:cNvPr id="19" name="s43-text-15"/>
          <p:cNvSpPr txBox="1"/>
          <p:nvPr/>
        </p:nvSpPr>
        <p:spPr>
          <a:xfrm>
            <a:off x="8915177" y="2645304"/>
            <a:ext cx="2216095" cy="240004"/>
          </a:xfrm>
          <a:prstGeom prst="rect">
            <a:avLst/>
          </a:prstGeom>
          <a:noFill/>
        </p:spPr>
        <p:txBody>
          <a:bodyPr wrap="none" lIns="0" tIns="0" rIns="0" bIns="0" anchor="t">
            <a:noAutofit/>
          </a:bodyPr>
          <a:lstStyle/>
          <a:p>
            <a:pPr algn="l">
              <a:lnSpc>
                <a:spcPts val="1889"/>
              </a:lnSpc>
              <a:spcBef>
                <a:spcPts val="0"/>
              </a:spcBef>
              <a:spcAft>
                <a:spcPts val="0"/>
              </a:spcAft>
            </a:pPr>
            <a:r>
              <a:rPr sz="1400" b="0" i="0">
                <a:solidFill>
                  <a:srgbClr val="50505B"/>
                </a:solidFill>
                <a:latin typeface="Arial"/>
              </a:rPr>
              <a:t>correctness</a:t>
            </a:r>
          </a:p>
        </p:txBody>
      </p:sp>
      <p:sp>
        <p:nvSpPr>
          <p:cNvPr id="20" name="s43-box-03"/>
          <p:cNvSpPr/>
          <p:nvPr/>
        </p:nvSpPr>
        <p:spPr>
          <a:xfrm>
            <a:off x="5968851" y="3139302"/>
            <a:ext cx="2578036" cy="1356286"/>
          </a:xfrm>
          <a:prstGeom prst="roundRect">
            <a:avLst>
              <a:gd name="adj" fmla="val 112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43-text-16"/>
          <p:cNvSpPr txBox="1"/>
          <p:nvPr/>
        </p:nvSpPr>
        <p:spPr>
          <a:xfrm>
            <a:off x="6159346" y="3278998"/>
            <a:ext cx="2216095" cy="507987"/>
          </a:xfrm>
          <a:prstGeom prst="rect">
            <a:avLst/>
          </a:prstGeom>
          <a:noFill/>
        </p:spPr>
        <p:txBody>
          <a:bodyPr wrap="none" lIns="0" tIns="0" rIns="0" bIns="0" anchor="t">
            <a:noAutofit/>
          </a:bodyPr>
          <a:lstStyle/>
          <a:p>
            <a:pPr algn="l">
              <a:lnSpc>
                <a:spcPts val="4000"/>
              </a:lnSpc>
              <a:spcBef>
                <a:spcPts val="0"/>
              </a:spcBef>
              <a:spcAft>
                <a:spcPts val="0"/>
              </a:spcAft>
            </a:pPr>
            <a:r>
              <a:rPr sz="4000" b="1" i="0" spc="-160">
                <a:solidFill>
                  <a:srgbClr val="0B0B0F"/>
                </a:solidFill>
                <a:latin typeface="Arial"/>
              </a:rPr>
              <a:t>2–3×</a:t>
            </a:r>
          </a:p>
        </p:txBody>
      </p:sp>
      <p:sp>
        <p:nvSpPr>
          <p:cNvPr id="22" name="s43-text-17"/>
          <p:cNvSpPr txBox="1"/>
          <p:nvPr/>
        </p:nvSpPr>
        <p:spPr>
          <a:xfrm>
            <a:off x="6159346" y="3875884"/>
            <a:ext cx="2209745" cy="480008"/>
          </a:xfrm>
          <a:prstGeom prst="rect">
            <a:avLst/>
          </a:prstGeom>
          <a:noFill/>
        </p:spPr>
        <p:txBody>
          <a:bodyPr wrap="square" lIns="0" tIns="0" rIns="0" bIns="0" anchor="t">
            <a:noAutofit/>
          </a:bodyPr>
          <a:lstStyle/>
          <a:p>
            <a:pPr algn="l">
              <a:lnSpc>
                <a:spcPts val="1889"/>
              </a:lnSpc>
              <a:spcBef>
                <a:spcPts val="0"/>
              </a:spcBef>
              <a:spcAft>
                <a:spcPts val="0"/>
              </a:spcAft>
            </a:pPr>
            <a:r>
              <a:rPr sz="1400" b="0" i="0">
                <a:solidFill>
                  <a:srgbClr val="50505B"/>
                </a:solidFill>
                <a:latin typeface="Arial"/>
              </a:rPr>
              <a:t>faster convergence · fewer simulator calls</a:t>
            </a:r>
          </a:p>
        </p:txBody>
      </p:sp>
      <p:sp>
        <p:nvSpPr>
          <p:cNvPr id="23" name="s43-box-04"/>
          <p:cNvSpPr/>
          <p:nvPr/>
        </p:nvSpPr>
        <p:spPr>
          <a:xfrm>
            <a:off x="8724682" y="3139302"/>
            <a:ext cx="2578036" cy="1356286"/>
          </a:xfrm>
          <a:prstGeom prst="roundRect">
            <a:avLst>
              <a:gd name="adj" fmla="val 1123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43-text-18"/>
          <p:cNvSpPr txBox="1"/>
          <p:nvPr/>
        </p:nvSpPr>
        <p:spPr>
          <a:xfrm>
            <a:off x="8915177" y="3278998"/>
            <a:ext cx="2216095" cy="507987"/>
          </a:xfrm>
          <a:prstGeom prst="rect">
            <a:avLst/>
          </a:prstGeom>
          <a:noFill/>
        </p:spPr>
        <p:txBody>
          <a:bodyPr wrap="none" lIns="0" tIns="0" rIns="0" bIns="0" anchor="t">
            <a:noAutofit/>
          </a:bodyPr>
          <a:lstStyle/>
          <a:p>
            <a:pPr algn="l">
              <a:lnSpc>
                <a:spcPts val="4000"/>
              </a:lnSpc>
              <a:spcBef>
                <a:spcPts val="0"/>
              </a:spcBef>
              <a:spcAft>
                <a:spcPts val="0"/>
              </a:spcAft>
            </a:pPr>
            <a:r>
              <a:rPr sz="4000" b="1" i="0" spc="-160">
                <a:solidFill>
                  <a:srgbClr val="0B0B0F"/>
                </a:solidFill>
                <a:latin typeface="Arial"/>
              </a:rPr>
              <a:t>85%</a:t>
            </a:r>
          </a:p>
        </p:txBody>
      </p:sp>
      <p:sp>
        <p:nvSpPr>
          <p:cNvPr id="25" name="s43-text-19"/>
          <p:cNvSpPr txBox="1"/>
          <p:nvPr/>
        </p:nvSpPr>
        <p:spPr>
          <a:xfrm>
            <a:off x="8915177" y="3875884"/>
            <a:ext cx="2209745" cy="480008"/>
          </a:xfrm>
          <a:prstGeom prst="rect">
            <a:avLst/>
          </a:prstGeom>
          <a:noFill/>
        </p:spPr>
        <p:txBody>
          <a:bodyPr wrap="square" lIns="0" tIns="0" rIns="0" bIns="0" anchor="t">
            <a:noAutofit/>
          </a:bodyPr>
          <a:lstStyle/>
          <a:p>
            <a:pPr algn="l">
              <a:lnSpc>
                <a:spcPts val="1889"/>
              </a:lnSpc>
              <a:spcBef>
                <a:spcPts val="0"/>
              </a:spcBef>
              <a:spcAft>
                <a:spcPts val="0"/>
              </a:spcAft>
            </a:pPr>
            <a:r>
              <a:rPr sz="1400" b="0" i="0">
                <a:solidFill>
                  <a:srgbClr val="50505B"/>
                </a:solidFill>
                <a:latin typeface="Arial"/>
              </a:rPr>
              <a:t>strong-scaling efficiency, 8 GPUs</a:t>
            </a:r>
          </a:p>
        </p:txBody>
      </p:sp>
      <p:sp>
        <p:nvSpPr>
          <p:cNvPr id="26" name="s43-text-20"/>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1,500 circuits: QFT, QPE, Hamiltonian simulation, data encoding. Validated on IBM Heron-3 and IonQ Forte.</a:t>
            </a:r>
          </a:p>
        </p:txBody>
      </p:sp>
      <p:sp>
        <p:nvSpPr>
          <p:cNvPr id="27" name="!!sec"/>
          <p:cNvSpPr txBox="1"/>
          <p:nvPr/>
        </p:nvSpPr>
        <p:spPr>
          <a:xfrm>
            <a:off x="888978" y="6362541"/>
            <a:ext cx="198561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 · Synthesis &amp; cost</a:t>
            </a:r>
          </a:p>
        </p:txBody>
      </p:sp>
      <p:pic>
        <p:nvPicPr>
          <p:cNvPr id="28" name="s43-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43</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4432685"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Nonlinear waves · Honest accounting</a:t>
            </a:r>
          </a:p>
        </p:txBody>
      </p:sp>
      <p:sp>
        <p:nvSpPr>
          <p:cNvPr id="3" name="s44-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Measure, update, reload — every step</a:t>
            </a:r>
          </a:p>
        </p:txBody>
      </p:sp>
      <p:pic>
        <p:nvPicPr>
          <p:cNvPr id="4" name="s44-image-01" descr="diagram"/>
          <p:cNvPicPr>
            <a:picLocks noChangeAspect="1"/>
          </p:cNvPicPr>
          <p:nvPr/>
        </p:nvPicPr>
        <p:blipFill>
          <a:blip r:embed="rId3"/>
          <a:stretch>
            <a:fillRect/>
          </a:stretch>
        </p:blipFill>
        <p:spPr>
          <a:xfrm>
            <a:off x="863578" y="1530312"/>
            <a:ext cx="10470888" cy="3359066"/>
          </a:xfrm>
          <a:prstGeom prst="rect">
            <a:avLst/>
          </a:prstGeom>
        </p:spPr>
      </p:pic>
      <p:sp>
        <p:nvSpPr>
          <p:cNvPr id="5" name="s44-text-03"/>
          <p:cNvSpPr txBox="1"/>
          <p:nvPr/>
        </p:nvSpPr>
        <p:spPr>
          <a:xfrm>
            <a:off x="1487004" y="2510668"/>
            <a:ext cx="854947"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measure</a:t>
            </a:r>
          </a:p>
        </p:txBody>
      </p:sp>
      <p:sp>
        <p:nvSpPr>
          <p:cNvPr id="6" name="s44-text-04"/>
          <p:cNvSpPr txBox="1"/>
          <p:nvPr/>
        </p:nvSpPr>
        <p:spPr>
          <a:xfrm>
            <a:off x="1671993" y="2796411"/>
            <a:ext cx="48496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 shots</a:t>
            </a:r>
          </a:p>
        </p:txBody>
      </p:sp>
      <p:sp>
        <p:nvSpPr>
          <p:cNvPr id="7" name="s44-text-05"/>
          <p:cNvSpPr txBox="1"/>
          <p:nvPr/>
        </p:nvSpPr>
        <p:spPr>
          <a:xfrm>
            <a:off x="3067221" y="2510668"/>
            <a:ext cx="1759700"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update classically</a:t>
            </a:r>
          </a:p>
        </p:txBody>
      </p:sp>
      <p:sp>
        <p:nvSpPr>
          <p:cNvPr id="8" name="s44-text-06"/>
          <p:cNvSpPr txBox="1"/>
          <p:nvPr/>
        </p:nvSpPr>
        <p:spPr>
          <a:xfrm>
            <a:off x="3304001" y="2796411"/>
            <a:ext cx="128485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degree-d polynomial</a:t>
            </a:r>
          </a:p>
        </p:txBody>
      </p:sp>
      <p:sp>
        <p:nvSpPr>
          <p:cNvPr id="9" name="s44-text-07"/>
          <p:cNvSpPr txBox="1"/>
          <p:nvPr/>
        </p:nvSpPr>
        <p:spPr>
          <a:xfrm>
            <a:off x="5663959" y="2510668"/>
            <a:ext cx="6288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reload</a:t>
            </a:r>
          </a:p>
        </p:txBody>
      </p:sp>
      <p:sp>
        <p:nvSpPr>
          <p:cNvPr id="10" name="s44-text-08"/>
          <p:cNvSpPr txBox="1"/>
          <p:nvPr/>
        </p:nvSpPr>
        <p:spPr>
          <a:xfrm>
            <a:off x="5573077" y="2796411"/>
            <a:ext cx="81059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Θ(N) CNOTs</a:t>
            </a:r>
          </a:p>
        </p:txBody>
      </p:sp>
      <p:sp>
        <p:nvSpPr>
          <p:cNvPr id="11" name="s44-text-09"/>
          <p:cNvSpPr txBox="1"/>
          <p:nvPr/>
        </p:nvSpPr>
        <p:spPr>
          <a:xfrm>
            <a:off x="3226414" y="3767936"/>
            <a:ext cx="1313028"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every Strang step</a:t>
            </a:r>
          </a:p>
        </p:txBody>
      </p:sp>
      <p:sp>
        <p:nvSpPr>
          <p:cNvPr id="12" name="s44-text-10"/>
          <p:cNvSpPr txBox="1"/>
          <p:nvPr/>
        </p:nvSpPr>
        <p:spPr>
          <a:xfrm>
            <a:off x="1767687" y="1755037"/>
            <a:ext cx="423048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hybrid split-step solver · NLSE and Burgers</a:t>
            </a:r>
          </a:p>
        </p:txBody>
      </p:sp>
      <p:sp>
        <p:nvSpPr>
          <p:cNvPr id="13" name="s44-text-11"/>
          <p:cNvSpPr txBox="1"/>
          <p:nvPr/>
        </p:nvSpPr>
        <p:spPr>
          <a:xfrm>
            <a:off x="1516967" y="4123527"/>
            <a:ext cx="4731922"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measure in the computational basis · update with O(N·d) classical arithmetic</a:t>
            </a:r>
          </a:p>
        </p:txBody>
      </p:sp>
      <p:sp>
        <p:nvSpPr>
          <p:cNvPr id="14" name="s44-text-12"/>
          <p:cNvSpPr txBox="1"/>
          <p:nvPr/>
        </p:nvSpPr>
        <p:spPr>
          <a:xfrm>
            <a:off x="1450095" y="4326722"/>
            <a:ext cx="486566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reload with the QCrank loader · coherent QFT kernel, n(n−1)/2 two-qubit gates</a:t>
            </a:r>
          </a:p>
        </p:txBody>
      </p:sp>
      <p:sp>
        <p:nvSpPr>
          <p:cNvPr id="15" name="s44-text-13"/>
          <p:cNvSpPr txBox="1"/>
          <p:nvPr/>
        </p:nvSpPr>
        <p:spPr>
          <a:xfrm>
            <a:off x="2809259" y="4529917"/>
            <a:ext cx="214733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field on N = 2ⁿ grid points, n qubits</a:t>
            </a:r>
          </a:p>
        </p:txBody>
      </p:sp>
      <p:sp>
        <p:nvSpPr>
          <p:cNvPr id="16" name="s44-text-14"/>
          <p:cNvSpPr txBox="1"/>
          <p:nvPr/>
        </p:nvSpPr>
        <p:spPr>
          <a:xfrm>
            <a:off x="7111822" y="1818535"/>
            <a:ext cx="270622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single cost-and-error model</a:t>
            </a:r>
          </a:p>
        </p:txBody>
      </p:sp>
      <p:sp>
        <p:nvSpPr>
          <p:cNvPr id="17" name="s44-text-15"/>
          <p:cNvSpPr txBox="1"/>
          <p:nvPr/>
        </p:nvSpPr>
        <p:spPr>
          <a:xfrm>
            <a:off x="7111822" y="2167776"/>
            <a:ext cx="1001092"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shot variance</a:t>
            </a:r>
          </a:p>
        </p:txBody>
      </p:sp>
      <p:sp>
        <p:nvSpPr>
          <p:cNvPr id="18" name="s44-text-16"/>
          <p:cNvSpPr txBox="1"/>
          <p:nvPr/>
        </p:nvSpPr>
        <p:spPr>
          <a:xfrm>
            <a:off x="10007151" y="2193176"/>
            <a:ext cx="933625"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p(1−p) / S</a:t>
            </a:r>
          </a:p>
        </p:txBody>
      </p:sp>
      <p:sp>
        <p:nvSpPr>
          <p:cNvPr id="19" name="s44-text-17"/>
          <p:cNvSpPr txBox="1"/>
          <p:nvPr/>
        </p:nvSpPr>
        <p:spPr>
          <a:xfrm>
            <a:off x="7111822" y="2548767"/>
            <a:ext cx="1140696"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truncation error</a:t>
            </a:r>
          </a:p>
        </p:txBody>
      </p:sp>
      <p:sp>
        <p:nvSpPr>
          <p:cNvPr id="20" name="s44-text-18"/>
          <p:cNvSpPr txBox="1"/>
          <p:nvPr/>
        </p:nvSpPr>
        <p:spPr>
          <a:xfrm>
            <a:off x="9458485" y="2574166"/>
            <a:ext cx="1482291"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θ^(d+1) / (d+1)!</a:t>
            </a:r>
          </a:p>
        </p:txBody>
      </p:sp>
      <p:sp>
        <p:nvSpPr>
          <p:cNvPr id="21" name="s44-text-19"/>
          <p:cNvSpPr txBox="1"/>
          <p:nvPr/>
        </p:nvSpPr>
        <p:spPr>
          <a:xfrm>
            <a:off x="7111822" y="2929757"/>
            <a:ext cx="162496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norm-defect threshold</a:t>
            </a:r>
          </a:p>
        </p:txBody>
      </p:sp>
      <p:sp>
        <p:nvSpPr>
          <p:cNvPr id="22" name="s44-text-20"/>
          <p:cNvSpPr txBox="1"/>
          <p:nvPr/>
        </p:nvSpPr>
        <p:spPr>
          <a:xfrm>
            <a:off x="10555917" y="2955157"/>
            <a:ext cx="384860"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0.02</a:t>
            </a:r>
          </a:p>
        </p:txBody>
      </p:sp>
      <p:sp>
        <p:nvSpPr>
          <p:cNvPr id="23" name="s44-text-21"/>
          <p:cNvSpPr txBox="1"/>
          <p:nvPr/>
        </p:nvSpPr>
        <p:spPr>
          <a:xfrm>
            <a:off x="7111822" y="3310748"/>
            <a:ext cx="183639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nonlinear phase per step</a:t>
            </a:r>
          </a:p>
        </p:txBody>
      </p:sp>
      <p:sp>
        <p:nvSpPr>
          <p:cNvPr id="24" name="s44-text-22"/>
          <p:cNvSpPr txBox="1"/>
          <p:nvPr/>
        </p:nvSpPr>
        <p:spPr>
          <a:xfrm>
            <a:off x="9549864" y="3336147"/>
            <a:ext cx="1390913"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θ = κ|ψ|²Δt &lt; 1</a:t>
            </a:r>
          </a:p>
        </p:txBody>
      </p:sp>
      <p:sp>
        <p:nvSpPr>
          <p:cNvPr id="25" name="s44-text-23"/>
          <p:cNvSpPr txBox="1"/>
          <p:nvPr/>
        </p:nvSpPr>
        <p:spPr>
          <a:xfrm>
            <a:off x="7111822" y="3691738"/>
            <a:ext cx="123970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controller adapts</a:t>
            </a:r>
          </a:p>
        </p:txBody>
      </p:sp>
      <p:sp>
        <p:nvSpPr>
          <p:cNvPr id="26" name="s44-text-24"/>
          <p:cNvSpPr txBox="1"/>
          <p:nvPr/>
        </p:nvSpPr>
        <p:spPr>
          <a:xfrm>
            <a:off x="8909423" y="3717138"/>
            <a:ext cx="203135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Δt · d ∈ {2, 4, 6} · S</a:t>
            </a:r>
          </a:p>
        </p:txBody>
      </p:sp>
      <p:sp>
        <p:nvSpPr>
          <p:cNvPr id="27" name="s44-text-25"/>
          <p:cNvSpPr txBox="1"/>
          <p:nvPr/>
        </p:nvSpPr>
        <p:spPr>
          <a:xfrm>
            <a:off x="7111822" y="4072729"/>
            <a:ext cx="104702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reload latency</a:t>
            </a:r>
          </a:p>
        </p:txBody>
      </p:sp>
      <p:sp>
        <p:nvSpPr>
          <p:cNvPr id="28" name="s44-text-26"/>
          <p:cNvSpPr txBox="1"/>
          <p:nvPr/>
        </p:nvSpPr>
        <p:spPr>
          <a:xfrm>
            <a:off x="9367008" y="4098128"/>
            <a:ext cx="1573768"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≈1.6 µs at N = 32</a:t>
            </a:r>
          </a:p>
        </p:txBody>
      </p:sp>
      <p:sp>
        <p:nvSpPr>
          <p:cNvPr id="29" name="s44-text-27"/>
          <p:cNvSpPr txBox="1"/>
          <p:nvPr/>
        </p:nvSpPr>
        <p:spPr>
          <a:xfrm>
            <a:off x="7111822" y="4606115"/>
            <a:ext cx="410765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κ = 50, T = 0.48 → fidelity ≈ 0.95 · kernels validated on IBM Heron</a:t>
            </a:r>
          </a:p>
        </p:txBody>
      </p:sp>
      <p:sp>
        <p:nvSpPr>
          <p:cNvPr id="30" name="!!sec"/>
          <p:cNvSpPr txBox="1"/>
          <p:nvPr/>
        </p:nvSpPr>
        <p:spPr>
          <a:xfrm>
            <a:off x="888978" y="6362541"/>
            <a:ext cx="198561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 · Synthesis &amp; cost</a:t>
            </a:r>
          </a:p>
        </p:txBody>
      </p:sp>
      <p:pic>
        <p:nvPicPr>
          <p:cNvPr id="31" name="s44-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32"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44</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3524856"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Nonlinear waves · Cost model</a:t>
            </a:r>
          </a:p>
        </p:txBody>
      </p:sp>
      <p:sp>
        <p:nvSpPr>
          <p:cNvPr id="3" name="s45-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Where the quantum step loses</a:t>
            </a:r>
          </a:p>
        </p:txBody>
      </p:sp>
      <p:pic>
        <p:nvPicPr>
          <p:cNvPr id="4" name="s45-image-01" descr="diagram"/>
          <p:cNvPicPr>
            <a:picLocks noChangeAspect="1"/>
          </p:cNvPicPr>
          <p:nvPr/>
        </p:nvPicPr>
        <p:blipFill>
          <a:blip r:embed="rId3"/>
          <a:stretch>
            <a:fillRect/>
          </a:stretch>
        </p:blipFill>
        <p:spPr>
          <a:xfrm>
            <a:off x="863578" y="1517612"/>
            <a:ext cx="10470888" cy="3803555"/>
          </a:xfrm>
          <a:prstGeom prst="rect">
            <a:avLst/>
          </a:prstGeom>
        </p:spPr>
      </p:pic>
      <p:sp>
        <p:nvSpPr>
          <p:cNvPr id="5" name="s45-text-03"/>
          <p:cNvSpPr txBox="1"/>
          <p:nvPr/>
        </p:nvSpPr>
        <p:spPr>
          <a:xfrm>
            <a:off x="2518193" y="4822010"/>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32</a:t>
            </a:r>
          </a:p>
        </p:txBody>
      </p:sp>
      <p:sp>
        <p:nvSpPr>
          <p:cNvPr id="6" name="s45-text-04"/>
          <p:cNvSpPr txBox="1"/>
          <p:nvPr/>
        </p:nvSpPr>
        <p:spPr>
          <a:xfrm>
            <a:off x="3571067" y="4822010"/>
            <a:ext cx="1745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64</a:t>
            </a:r>
          </a:p>
        </p:txBody>
      </p:sp>
      <p:sp>
        <p:nvSpPr>
          <p:cNvPr id="7" name="s45-text-05"/>
          <p:cNvSpPr txBox="1"/>
          <p:nvPr/>
        </p:nvSpPr>
        <p:spPr>
          <a:xfrm>
            <a:off x="4585097" y="4822010"/>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128</a:t>
            </a:r>
          </a:p>
        </p:txBody>
      </p:sp>
      <p:sp>
        <p:nvSpPr>
          <p:cNvPr id="8" name="s45-text-06"/>
          <p:cNvSpPr txBox="1"/>
          <p:nvPr/>
        </p:nvSpPr>
        <p:spPr>
          <a:xfrm>
            <a:off x="5637971" y="4822010"/>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256</a:t>
            </a:r>
          </a:p>
        </p:txBody>
      </p:sp>
      <p:sp>
        <p:nvSpPr>
          <p:cNvPr id="9" name="s45-text-07"/>
          <p:cNvSpPr txBox="1"/>
          <p:nvPr/>
        </p:nvSpPr>
        <p:spPr>
          <a:xfrm>
            <a:off x="6690844" y="4822010"/>
            <a:ext cx="2522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512</a:t>
            </a:r>
          </a:p>
        </p:txBody>
      </p:sp>
      <p:sp>
        <p:nvSpPr>
          <p:cNvPr id="10" name="s45-text-08"/>
          <p:cNvSpPr txBox="1"/>
          <p:nvPr/>
        </p:nvSpPr>
        <p:spPr>
          <a:xfrm>
            <a:off x="7704856" y="4822010"/>
            <a:ext cx="32989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1024</a:t>
            </a:r>
          </a:p>
        </p:txBody>
      </p:sp>
      <p:sp>
        <p:nvSpPr>
          <p:cNvPr id="11" name="s45-text-09"/>
          <p:cNvSpPr txBox="1"/>
          <p:nvPr/>
        </p:nvSpPr>
        <p:spPr>
          <a:xfrm>
            <a:off x="8757723" y="4822010"/>
            <a:ext cx="32989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2048</a:t>
            </a:r>
          </a:p>
        </p:txBody>
      </p:sp>
      <p:sp>
        <p:nvSpPr>
          <p:cNvPr id="12" name="s45-text-10"/>
          <p:cNvSpPr txBox="1"/>
          <p:nvPr/>
        </p:nvSpPr>
        <p:spPr>
          <a:xfrm>
            <a:off x="9810590" y="4822010"/>
            <a:ext cx="32989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4096</a:t>
            </a:r>
          </a:p>
        </p:txBody>
      </p:sp>
      <p:sp>
        <p:nvSpPr>
          <p:cNvPr id="13" name="s45-text-11"/>
          <p:cNvSpPr txBox="1"/>
          <p:nvPr/>
        </p:nvSpPr>
        <p:spPr>
          <a:xfrm>
            <a:off x="1979563" y="4644214"/>
            <a:ext cx="9683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a:t>
            </a:r>
          </a:p>
        </p:txBody>
      </p:sp>
      <p:sp>
        <p:nvSpPr>
          <p:cNvPr id="14" name="s45-text-12"/>
          <p:cNvSpPr txBox="1"/>
          <p:nvPr/>
        </p:nvSpPr>
        <p:spPr>
          <a:xfrm>
            <a:off x="1855443" y="3712902"/>
            <a:ext cx="22095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10²</a:t>
            </a:r>
          </a:p>
        </p:txBody>
      </p:sp>
      <p:sp>
        <p:nvSpPr>
          <p:cNvPr id="15" name="s45-text-13"/>
          <p:cNvSpPr txBox="1"/>
          <p:nvPr/>
        </p:nvSpPr>
        <p:spPr>
          <a:xfrm>
            <a:off x="1841851" y="2781596"/>
            <a:ext cx="23454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10⁴</a:t>
            </a:r>
          </a:p>
        </p:txBody>
      </p:sp>
      <p:sp>
        <p:nvSpPr>
          <p:cNvPr id="16" name="s45-text-14"/>
          <p:cNvSpPr txBox="1"/>
          <p:nvPr/>
        </p:nvSpPr>
        <p:spPr>
          <a:xfrm>
            <a:off x="1844430" y="1850284"/>
            <a:ext cx="23196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10⁶</a:t>
            </a:r>
          </a:p>
        </p:txBody>
      </p:sp>
      <p:sp>
        <p:nvSpPr>
          <p:cNvPr id="17" name="s45-text-15"/>
          <p:cNvSpPr txBox="1"/>
          <p:nvPr/>
        </p:nvSpPr>
        <p:spPr>
          <a:xfrm>
            <a:off x="5750277" y="5101403"/>
            <a:ext cx="109118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grid points N = 2ⁿ</a:t>
            </a:r>
          </a:p>
        </p:txBody>
      </p:sp>
      <p:sp>
        <p:nvSpPr>
          <p:cNvPr id="18" name="s45-text-16"/>
          <p:cNvSpPr txBox="1"/>
          <p:nvPr/>
        </p:nvSpPr>
        <p:spPr>
          <a:xfrm>
            <a:off x="2057349" y="1659789"/>
            <a:ext cx="192896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relative cost per time step (log)</a:t>
            </a:r>
          </a:p>
        </p:txBody>
      </p:sp>
      <p:sp>
        <p:nvSpPr>
          <p:cNvPr id="19" name="s45-text-17"/>
          <p:cNvSpPr txBox="1"/>
          <p:nvPr/>
        </p:nvSpPr>
        <p:spPr>
          <a:xfrm>
            <a:off x="8013138" y="3878874"/>
            <a:ext cx="184492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classical update · O(N·d)</a:t>
            </a:r>
          </a:p>
        </p:txBody>
      </p:sp>
      <p:sp>
        <p:nvSpPr>
          <p:cNvPr id="20" name="s45-text-18"/>
          <p:cNvSpPr txBox="1"/>
          <p:nvPr/>
        </p:nvSpPr>
        <p:spPr>
          <a:xfrm>
            <a:off x="6907274" y="2478557"/>
            <a:ext cx="2950791"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quantum step · depth Θ(N) × shots S(N)</a:t>
            </a:r>
          </a:p>
        </p:txBody>
      </p:sp>
      <p:sp>
        <p:nvSpPr>
          <p:cNvPr id="21" name="s45-text-19"/>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Schematic from the cost model: depth Θ(N) × shots S(N) per step vs O(N·d) classical, normalized at N = 32. Not measured wall time.</a:t>
            </a:r>
          </a:p>
        </p:txBody>
      </p:sp>
      <p:sp>
        <p:nvSpPr>
          <p:cNvPr id="22" name="!!sec"/>
          <p:cNvSpPr txBox="1"/>
          <p:nvPr/>
        </p:nvSpPr>
        <p:spPr>
          <a:xfrm>
            <a:off x="888978" y="6362541"/>
            <a:ext cx="198561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 · Synthesis &amp; cost</a:t>
            </a:r>
          </a:p>
        </p:txBody>
      </p:sp>
      <p:pic>
        <p:nvPicPr>
          <p:cNvPr id="23" name="s45-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45</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11221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Takeaway</a:t>
            </a:r>
          </a:p>
        </p:txBody>
      </p:sp>
      <p:sp>
        <p:nvSpPr>
          <p:cNvPr id="3" name="s46-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RQ4: honest accounting</a:t>
            </a:r>
          </a:p>
        </p:txBody>
      </p:sp>
      <p:sp>
        <p:nvSpPr>
          <p:cNvPr id="4" name="s46-box-01"/>
          <p:cNvSpPr/>
          <p:nvPr/>
        </p:nvSpPr>
        <p:spPr>
          <a:xfrm>
            <a:off x="888978" y="180151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46-text-03"/>
          <p:cNvSpPr txBox="1"/>
          <p:nvPr/>
        </p:nvSpPr>
        <p:spPr>
          <a:xfrm>
            <a:off x="1219170" y="1659789"/>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sz="1800" b="1" i="0">
                <a:solidFill>
                  <a:srgbClr val="0B0B0F"/>
                </a:solidFill>
                <a:latin typeface="Arial"/>
              </a:rPr>
              <a:t>Grounded reward works:</a:t>
            </a:r>
            <a:r>
              <a:rPr sz="1800" b="0" i="0">
                <a:solidFill>
                  <a:srgbClr val="50505B"/>
                </a:solidFill>
                <a:latin typeface="Arial"/>
              </a:rPr>
              <a:t> rubric + GPU simulation → 3.31× T-gate compression, &lt;1% violations</a:t>
            </a:r>
          </a:p>
        </p:txBody>
      </p:sp>
      <p:sp>
        <p:nvSpPr>
          <p:cNvPr id="6" name="s46-box-02"/>
          <p:cNvSpPr/>
          <p:nvPr/>
        </p:nvSpPr>
        <p:spPr>
          <a:xfrm>
            <a:off x="888978" y="224977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46-text-04"/>
          <p:cNvSpPr txBox="1"/>
          <p:nvPr/>
        </p:nvSpPr>
        <p:spPr>
          <a:xfrm>
            <a:off x="1219170" y="2108048"/>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sz="1800" b="1" i="0">
                <a:solidFill>
                  <a:srgbClr val="0B0B0F"/>
                </a:solidFill>
                <a:latin typeface="Arial"/>
              </a:rPr>
              <a:t>HPC inside the loop:</a:t>
            </a:r>
            <a:r>
              <a:rPr sz="1800" b="0" i="0">
                <a:solidFill>
                  <a:srgbClr val="50505B"/>
                </a:solidFill>
                <a:latin typeface="Arial"/>
              </a:rPr>
              <a:t> CUDA-Q evaluation (Q-GEAR path) + DeepSpeed on Perlmutter</a:t>
            </a:r>
          </a:p>
        </p:txBody>
      </p:sp>
      <p:sp>
        <p:nvSpPr>
          <p:cNvPr id="8" name="s46-box-03"/>
          <p:cNvSpPr/>
          <p:nvPr/>
        </p:nvSpPr>
        <p:spPr>
          <a:xfrm>
            <a:off x="888978" y="2698036"/>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46-text-05"/>
          <p:cNvSpPr txBox="1"/>
          <p:nvPr/>
        </p:nvSpPr>
        <p:spPr>
          <a:xfrm>
            <a:off x="1219170" y="2556307"/>
            <a:ext cx="10096248" cy="617125"/>
          </a:xfrm>
          <a:prstGeom prst="rect">
            <a:avLst/>
          </a:prstGeom>
          <a:noFill/>
        </p:spPr>
        <p:txBody>
          <a:bodyPr wrap="square" lIns="0" tIns="0" rIns="0" bIns="0" anchor="t">
            <a:noAutofit/>
          </a:bodyPr>
          <a:lstStyle/>
          <a:p>
            <a:pPr algn="l">
              <a:lnSpc>
                <a:spcPts val="2430"/>
              </a:lnSpc>
              <a:spcBef>
                <a:spcPts val="0"/>
              </a:spcBef>
              <a:spcAft>
                <a:spcPts val="0"/>
              </a:spcAft>
            </a:pPr>
            <a:r>
              <a:rPr sz="1800" b="1" i="0">
                <a:solidFill>
                  <a:srgbClr val="0B0B0F"/>
                </a:solidFill>
                <a:latin typeface="Arial"/>
              </a:rPr>
              <a:t>Count everything:</a:t>
            </a:r>
            <a:r>
              <a:rPr sz="1800" b="0" i="0">
                <a:solidFill>
                  <a:srgbClr val="50505B"/>
                </a:solidFill>
                <a:latin typeface="Arial"/>
              </a:rPr>
              <a:t> measurement + reload every step → no end-to-end advantage for nonlinear waves</a:t>
            </a:r>
          </a:p>
        </p:txBody>
      </p:sp>
      <p:sp>
        <p:nvSpPr>
          <p:cNvPr id="10" name="s46-box-04"/>
          <p:cNvSpPr/>
          <p:nvPr/>
        </p:nvSpPr>
        <p:spPr>
          <a:xfrm>
            <a:off x="888978" y="345485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46-text-06"/>
          <p:cNvSpPr txBox="1"/>
          <p:nvPr/>
        </p:nvSpPr>
        <p:spPr>
          <a:xfrm>
            <a:off x="1219170" y="3313129"/>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sz="1800" b="0" i="0">
                <a:solidFill>
                  <a:srgbClr val="50505B"/>
                </a:solidFill>
                <a:latin typeface="Arial"/>
              </a:rPr>
              <a:t>Both stated as budgets: T-gates · shots × depth</a:t>
            </a:r>
          </a:p>
        </p:txBody>
      </p:sp>
      <p:sp>
        <p:nvSpPr>
          <p:cNvPr id="12"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46-text-07"/>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14"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5"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46-text-09"/>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7"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8"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46-text-11"/>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20"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21" name="!!L4-bg"/>
          <p:cNvSpPr/>
          <p:nvPr/>
        </p:nvSpPr>
        <p:spPr>
          <a:xfrm>
            <a:off x="9385661" y="6311742"/>
            <a:ext cx="1073123"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46-text-13"/>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04</a:t>
            </a:r>
          </a:p>
        </p:txBody>
      </p:sp>
      <p:sp>
        <p:nvSpPr>
          <p:cNvPr id="23"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Synthesis</a:t>
            </a:r>
          </a:p>
        </p:txBody>
      </p:sp>
      <p:sp>
        <p:nvSpPr>
          <p:cNvPr id="24" name="!!L5-bg"/>
          <p:cNvSpPr/>
          <p:nvPr/>
        </p:nvSpPr>
        <p:spPr>
          <a:xfrm>
            <a:off x="10522282" y="6311742"/>
            <a:ext cx="78043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46-text-15"/>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05</a:t>
            </a:r>
          </a:p>
        </p:txBody>
      </p:sp>
      <p:sp>
        <p:nvSpPr>
          <p:cNvPr id="26"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Trust</a:t>
            </a:r>
          </a:p>
        </p:txBody>
      </p:sp>
      <p:sp>
        <p:nvSpPr>
          <p:cNvPr id="27" name="!!sec"/>
          <p:cNvSpPr txBox="1"/>
          <p:nvPr/>
        </p:nvSpPr>
        <p:spPr>
          <a:xfrm>
            <a:off x="888978" y="6362541"/>
            <a:ext cx="198561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 · Synthesis &amp; cost</a:t>
            </a:r>
          </a:p>
        </p:txBody>
      </p:sp>
      <p:pic>
        <p:nvPicPr>
          <p:cNvPr id="28" name="s46-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9"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46</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s47-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s47-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s47-text-01"/>
          <p:cNvSpPr txBox="1"/>
          <p:nvPr/>
        </p:nvSpPr>
        <p:spPr>
          <a:xfrm>
            <a:off x="888978" y="2193275"/>
            <a:ext cx="10432789"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Chapter VII · RQ5 Trust</a:t>
            </a:r>
          </a:p>
        </p:txBody>
      </p:sp>
      <p:sp>
        <p:nvSpPr>
          <p:cNvPr id="5" name="s47-text-02"/>
          <p:cNvSpPr txBox="1"/>
          <p:nvPr/>
        </p:nvSpPr>
        <p:spPr>
          <a:xfrm>
            <a:off x="888978" y="2504417"/>
            <a:ext cx="3576846" cy="826670"/>
          </a:xfrm>
          <a:prstGeom prst="rect">
            <a:avLst/>
          </a:prstGeom>
          <a:noFill/>
        </p:spPr>
        <p:txBody>
          <a:bodyPr wrap="none" lIns="0" tIns="0" rIns="0" bIns="0" anchor="t">
            <a:noAutofit/>
          </a:bodyPr>
          <a:lstStyle/>
          <a:p>
            <a:pPr algn="l">
              <a:lnSpc>
                <a:spcPts val="6509"/>
              </a:lnSpc>
              <a:spcBef>
                <a:spcPts val="0"/>
              </a:spcBef>
              <a:spcAft>
                <a:spcPts val="0"/>
              </a:spcAft>
            </a:pPr>
            <a:r>
              <a:rPr sz="6200" b="1" i="0" spc="-217" dirty="0">
                <a:solidFill>
                  <a:srgbClr val="CC0000"/>
                </a:solidFill>
                <a:latin typeface="Arial"/>
              </a:rPr>
              <a:t>QEC audit</a:t>
            </a:r>
          </a:p>
        </p:txBody>
      </p:sp>
      <p:sp>
        <p:nvSpPr>
          <p:cNvPr id="6" name="s47-text-03"/>
          <p:cNvSpPr txBox="1"/>
          <p:nvPr/>
        </p:nvSpPr>
        <p:spPr>
          <a:xfrm>
            <a:off x="888978" y="3483483"/>
            <a:ext cx="9537462" cy="1028674"/>
          </a:xfrm>
          <a:prstGeom prst="rect">
            <a:avLst/>
          </a:prstGeom>
          <a:noFill/>
        </p:spPr>
        <p:txBody>
          <a:bodyPr wrap="square" lIns="0" tIns="0" rIns="0" bIns="0" anchor="t">
            <a:noAutofit/>
          </a:bodyPr>
          <a:lstStyle/>
          <a:p>
            <a:pPr algn="l">
              <a:lnSpc>
                <a:spcPts val="2700"/>
              </a:lnSpc>
              <a:spcBef>
                <a:spcPts val="0"/>
              </a:spcBef>
              <a:spcAft>
                <a:spcPts val="0"/>
              </a:spcAft>
            </a:pPr>
            <a:r>
              <a:rPr sz="2000" b="0" i="0" dirty="0">
                <a:solidFill>
                  <a:srgbClr val="50505B"/>
                </a:solidFill>
                <a:latin typeface="Arial"/>
              </a:rPr>
              <a:t>Auditing structured randomness for quantum error correction under a bounded cloud fault model</a:t>
            </a:r>
          </a:p>
          <a:p>
            <a:pPr algn="l">
              <a:lnSpc>
                <a:spcPts val="2700"/>
              </a:lnSpc>
              <a:spcBef>
                <a:spcPts val="0"/>
              </a:spcBef>
              <a:spcAft>
                <a:spcPts val="0"/>
              </a:spcAft>
            </a:pPr>
            <a:r>
              <a:rPr sz="1200" b="0" i="0" dirty="0">
                <a:solidFill>
                  <a:srgbClr val="7B7B86"/>
                </a:solidFill>
                <a:latin typeface="Arial"/>
              </a:rPr>
              <a:t>Guo, Lawrence, Wang, Kuang, Pan · arXiv:2608.26600 · artifact: anonymous.4open.science/r/</a:t>
            </a:r>
            <a:r>
              <a:rPr sz="1200" b="0" i="0" dirty="0" err="1">
                <a:solidFill>
                  <a:srgbClr val="7B7B86"/>
                </a:solidFill>
                <a:latin typeface="Arial"/>
              </a:rPr>
              <a:t>usenix_qec_hse</a:t>
            </a:r>
            <a:endParaRPr sz="1200" b="0" i="0" dirty="0">
              <a:solidFill>
                <a:srgbClr val="7B7B86"/>
              </a:solidFill>
              <a:latin typeface="Arial"/>
            </a:endParaRPr>
          </a:p>
        </p:txBody>
      </p:sp>
      <p:sp>
        <p:nvSpPr>
          <p:cNvPr id="7"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47-text-04"/>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9"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47-text-06"/>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2"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47-text-08"/>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15"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47-text-10"/>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18"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47-text-12"/>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05</a:t>
            </a:r>
          </a:p>
        </p:txBody>
      </p:sp>
      <p:sp>
        <p:nvSpPr>
          <p:cNvPr id="21"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Trust</a:t>
            </a:r>
          </a:p>
        </p:txBody>
      </p:sp>
      <p:sp>
        <p:nvSpPr>
          <p:cNvPr id="22" name="!!sec"/>
          <p:cNvSpPr txBox="1"/>
          <p:nvPr/>
        </p:nvSpPr>
        <p:spPr>
          <a:xfrm>
            <a:off x="888978" y="6362541"/>
            <a:ext cx="132860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 · QEC audit</a:t>
            </a:r>
          </a:p>
        </p:txBody>
      </p:sp>
      <p:pic>
        <p:nvPicPr>
          <p:cNvPr id="23" name="s47-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47</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595695"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Threat model</a:t>
            </a:r>
          </a:p>
        </p:txBody>
      </p:sp>
      <p:sp>
        <p:nvSpPr>
          <p:cNvPr id="3" name="s48-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A public encoder is a reusable target</a:t>
            </a:r>
          </a:p>
        </p:txBody>
      </p:sp>
      <p:pic>
        <p:nvPicPr>
          <p:cNvPr id="4" name="s48-image-01" descr="diagram"/>
          <p:cNvPicPr>
            <a:picLocks noChangeAspect="1"/>
          </p:cNvPicPr>
          <p:nvPr/>
        </p:nvPicPr>
        <p:blipFill>
          <a:blip r:embed="rId3"/>
          <a:stretch>
            <a:fillRect/>
          </a:stretch>
        </p:blipFill>
        <p:spPr>
          <a:xfrm>
            <a:off x="863578" y="1530312"/>
            <a:ext cx="10470888" cy="3359066"/>
          </a:xfrm>
          <a:prstGeom prst="rect">
            <a:avLst/>
          </a:prstGeom>
        </p:spPr>
      </p:pic>
      <p:sp>
        <p:nvSpPr>
          <p:cNvPr id="5" name="s48-text-03"/>
          <p:cNvSpPr txBox="1"/>
          <p:nvPr/>
        </p:nvSpPr>
        <p:spPr>
          <a:xfrm>
            <a:off x="1333467" y="1945532"/>
            <a:ext cx="178043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shared cloud QPU</a:t>
            </a:r>
          </a:p>
        </p:txBody>
      </p:sp>
      <p:sp>
        <p:nvSpPr>
          <p:cNvPr id="6" name="s48-text-04"/>
          <p:cNvSpPr txBox="1"/>
          <p:nvPr/>
        </p:nvSpPr>
        <p:spPr>
          <a:xfrm>
            <a:off x="1333467" y="2218575"/>
            <a:ext cx="492717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bounded cloud fault model: weight-one Pauli faults, all 3n locations enumerated</a:t>
            </a:r>
          </a:p>
        </p:txBody>
      </p:sp>
      <p:sp>
        <p:nvSpPr>
          <p:cNvPr id="7" name="s48-text-05"/>
          <p:cNvSpPr txBox="1"/>
          <p:nvPr/>
        </p:nvSpPr>
        <p:spPr>
          <a:xfrm>
            <a:off x="2329697" y="2758312"/>
            <a:ext cx="82051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your job</a:t>
            </a:r>
          </a:p>
        </p:txBody>
      </p:sp>
      <p:sp>
        <p:nvSpPr>
          <p:cNvPr id="8" name="s48-text-06"/>
          <p:cNvSpPr txBox="1"/>
          <p:nvPr/>
        </p:nvSpPr>
        <p:spPr>
          <a:xfrm>
            <a:off x="1861595" y="3272649"/>
            <a:ext cx="1756723"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0B0B0F"/>
                </a:solidFill>
                <a:latin typeface="Courier New"/>
              </a:rPr>
              <a:t>[[n,k,d]] encoder E</a:t>
            </a:r>
          </a:p>
        </p:txBody>
      </p:sp>
      <p:sp>
        <p:nvSpPr>
          <p:cNvPr id="9" name="s48-text-07"/>
          <p:cNvSpPr txBox="1"/>
          <p:nvPr/>
        </p:nvSpPr>
        <p:spPr>
          <a:xfrm>
            <a:off x="2044054" y="3526642"/>
            <a:ext cx="1391806"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50505B"/>
                </a:solidFill>
                <a:latin typeface="Courier New"/>
              </a:rPr>
              <a:t>|ψ⟩ → E|ψ⟩|0…0⟩</a:t>
            </a:r>
          </a:p>
        </p:txBody>
      </p:sp>
      <p:sp>
        <p:nvSpPr>
          <p:cNvPr id="10" name="s48-text-08"/>
          <p:cNvSpPr txBox="1"/>
          <p:nvPr/>
        </p:nvSpPr>
        <p:spPr>
          <a:xfrm>
            <a:off x="1678392" y="3812385"/>
            <a:ext cx="212312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syndrome check → accept / reject</a:t>
            </a:r>
          </a:p>
        </p:txBody>
      </p:sp>
      <p:sp>
        <p:nvSpPr>
          <p:cNvPr id="11" name="s48-text-09"/>
          <p:cNvSpPr txBox="1"/>
          <p:nvPr/>
        </p:nvSpPr>
        <p:spPr>
          <a:xfrm>
            <a:off x="2361546" y="4034630"/>
            <a:ext cx="756822"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logical qubit</a:t>
            </a:r>
          </a:p>
        </p:txBody>
      </p:sp>
      <p:sp>
        <p:nvSpPr>
          <p:cNvPr id="12" name="s48-text-10"/>
          <p:cNvSpPr txBox="1"/>
          <p:nvPr/>
        </p:nvSpPr>
        <p:spPr>
          <a:xfrm>
            <a:off x="5003278" y="2859909"/>
            <a:ext cx="1951485"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co-tenant adversary</a:t>
            </a:r>
          </a:p>
        </p:txBody>
      </p:sp>
      <p:sp>
        <p:nvSpPr>
          <p:cNvPr id="13" name="s48-text-11"/>
          <p:cNvSpPr txBox="1"/>
          <p:nvPr/>
        </p:nvSpPr>
        <p:spPr>
          <a:xfrm>
            <a:off x="5289517" y="3145652"/>
            <a:ext cx="137771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same chip, same time</a:t>
            </a:r>
          </a:p>
        </p:txBody>
      </p:sp>
      <p:sp>
        <p:nvSpPr>
          <p:cNvPr id="14" name="s48-text-12"/>
          <p:cNvSpPr txBox="1"/>
          <p:nvPr/>
        </p:nvSpPr>
        <p:spPr>
          <a:xfrm>
            <a:off x="3784803" y="3564741"/>
            <a:ext cx="133922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injects one Pauli fault</a:t>
            </a:r>
          </a:p>
        </p:txBody>
      </p:sp>
      <p:sp>
        <p:nvSpPr>
          <p:cNvPr id="15" name="s48-text-13"/>
          <p:cNvSpPr txBox="1"/>
          <p:nvPr/>
        </p:nvSpPr>
        <p:spPr>
          <a:xfrm>
            <a:off x="5028082" y="3818735"/>
            <a:ext cx="190058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learns the public encoder,</a:t>
            </a:r>
          </a:p>
        </p:txBody>
      </p:sp>
      <p:sp>
        <p:nvSpPr>
          <p:cNvPr id="16" name="s48-text-14"/>
          <p:cNvSpPr txBox="1"/>
          <p:nvPr/>
        </p:nvSpPr>
        <p:spPr>
          <a:xfrm>
            <a:off x="4918051" y="4034630"/>
            <a:ext cx="2120649"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then chooses where to strike</a:t>
            </a:r>
          </a:p>
        </p:txBody>
      </p:sp>
      <p:sp>
        <p:nvSpPr>
          <p:cNvPr id="17" name="s48-text-15"/>
          <p:cNvSpPr txBox="1"/>
          <p:nvPr/>
        </p:nvSpPr>
        <p:spPr>
          <a:xfrm>
            <a:off x="8441568" y="2351922"/>
            <a:ext cx="1994942"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fixed public encoder</a:t>
            </a:r>
          </a:p>
        </p:txBody>
      </p:sp>
      <p:sp>
        <p:nvSpPr>
          <p:cNvPr id="18" name="s48-text-16"/>
          <p:cNvSpPr txBox="1"/>
          <p:nvPr/>
        </p:nvSpPr>
        <p:spPr>
          <a:xfrm>
            <a:off x="8307527" y="2637665"/>
            <a:ext cx="226302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same E every run → reusable target</a:t>
            </a:r>
          </a:p>
        </p:txBody>
      </p:sp>
      <p:sp>
        <p:nvSpPr>
          <p:cNvPr id="19" name="s48-text-17"/>
          <p:cNvSpPr txBox="1"/>
          <p:nvPr/>
        </p:nvSpPr>
        <p:spPr>
          <a:xfrm>
            <a:off x="8559884" y="3875884"/>
            <a:ext cx="175831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reseeded encoder</a:t>
            </a:r>
          </a:p>
        </p:txBody>
      </p:sp>
      <p:sp>
        <p:nvSpPr>
          <p:cNvPr id="20" name="s48-text-18"/>
          <p:cNvSpPr txBox="1"/>
          <p:nvPr/>
        </p:nvSpPr>
        <p:spPr>
          <a:xfrm>
            <a:off x="8183159" y="4161626"/>
            <a:ext cx="251175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fresh seed per run → fault map changes</a:t>
            </a:r>
          </a:p>
        </p:txBody>
      </p:sp>
      <p:sp>
        <p:nvSpPr>
          <p:cNvPr id="21" name="s48-text-19"/>
          <p:cNvSpPr txBox="1"/>
          <p:nvPr/>
        </p:nvSpPr>
        <p:spPr>
          <a:xfrm>
            <a:off x="8183259" y="2891658"/>
            <a:ext cx="251156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adversary picks the fault after learning E</a:t>
            </a:r>
          </a:p>
        </p:txBody>
      </p:sp>
      <p:sp>
        <p:nvSpPr>
          <p:cNvPr id="22" name="s48-text-20"/>
          <p:cNvSpPr txBox="1"/>
          <p:nvPr/>
        </p:nvSpPr>
        <p:spPr>
          <a:xfrm>
            <a:off x="8066680" y="4415620"/>
            <a:ext cx="274471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fault must be fixed before the seed is known</a:t>
            </a:r>
          </a:p>
        </p:txBody>
      </p:sp>
      <p:sp>
        <p:nvSpPr>
          <p:cNvPr id="23" name="!!sec"/>
          <p:cNvSpPr txBox="1"/>
          <p:nvPr/>
        </p:nvSpPr>
        <p:spPr>
          <a:xfrm>
            <a:off x="888978" y="6362541"/>
            <a:ext cx="132860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 · QEC audit</a:t>
            </a:r>
          </a:p>
        </p:txBody>
      </p:sp>
      <p:pic>
        <p:nvPicPr>
          <p:cNvPr id="24" name="s48-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5"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48</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18573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Definition</a:t>
            </a:r>
          </a:p>
        </p:txBody>
      </p:sp>
      <p:sp>
        <p:nvSpPr>
          <p:cNvPr id="3" name="s49-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Accepted logical disturbance</a:t>
            </a:r>
          </a:p>
        </p:txBody>
      </p:sp>
      <p:sp>
        <p:nvSpPr>
          <p:cNvPr id="4" name="s49-box-01"/>
          <p:cNvSpPr/>
          <p:nvPr/>
        </p:nvSpPr>
        <p:spPr>
          <a:xfrm>
            <a:off x="888978" y="1596291"/>
            <a:ext cx="10413740" cy="2489435"/>
          </a:xfrm>
          <a:prstGeom prst="roundRect">
            <a:avLst>
              <a:gd name="adj" fmla="val 6121"/>
            </a:avLst>
          </a:prstGeom>
          <a:solidFill>
            <a:srgbClr val="000000">
              <a:alpha val="11000"/>
            </a:srgbClr>
          </a:solidFill>
          <a:ln w="6350">
            <a:solidFill>
              <a:srgbClr val="0000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49-text-03"/>
          <p:cNvSpPr txBox="1"/>
          <p:nvPr/>
        </p:nvSpPr>
        <p:spPr>
          <a:xfrm>
            <a:off x="1219170" y="1875684"/>
            <a:ext cx="9766056" cy="977181"/>
          </a:xfrm>
          <a:prstGeom prst="rect">
            <a:avLst/>
          </a:prstGeom>
          <a:noFill/>
        </p:spPr>
        <p:txBody>
          <a:bodyPr wrap="square" lIns="0" tIns="0" rIns="0" bIns="0" anchor="t">
            <a:noAutofit/>
          </a:bodyPr>
          <a:lstStyle/>
          <a:p>
            <a:pPr algn="l">
              <a:lnSpc>
                <a:spcPts val="2565"/>
              </a:lnSpc>
              <a:spcBef>
                <a:spcPts val="0"/>
              </a:spcBef>
              <a:spcAft>
                <a:spcPts val="0"/>
              </a:spcAft>
            </a:pPr>
            <a:r>
              <a:rPr sz="1900" b="1" i="0">
                <a:solidFill>
                  <a:srgbClr val="0B0B0F"/>
                </a:solidFill>
                <a:latin typeface="Arial"/>
              </a:rPr>
              <a:t>Accepted logical disturbance</a:t>
            </a:r>
            <a:r>
              <a:rPr sz="1900" b="0" i="0">
                <a:solidFill>
                  <a:srgbClr val="0B0B0F"/>
                </a:solidFill>
                <a:latin typeface="Arial"/>
              </a:rPr>
              <a:t> = harmful logical action that </a:t>
            </a:r>
            <a:r>
              <a:rPr sz="1900" b="1" i="0">
                <a:solidFill>
                  <a:srgbClr val="0B0B0F"/>
                </a:solidFill>
                <a:latin typeface="Arial"/>
              </a:rPr>
              <a:t>survives syndrome rejection</a:t>
            </a:r>
            <a:r>
              <a:rPr sz="1900" b="0" i="0">
                <a:solidFill>
                  <a:srgbClr val="0B0B0F"/>
                </a:solidFill>
                <a:latin typeface="Arial"/>
              </a:rPr>
              <a:t>, weighted by acceptance probability. Rejected faults and trivially acting faults cost nothing.</a:t>
            </a:r>
          </a:p>
        </p:txBody>
      </p:sp>
      <p:sp>
        <p:nvSpPr>
          <p:cNvPr id="6" name="s49-box-02"/>
          <p:cNvSpPr/>
          <p:nvPr/>
        </p:nvSpPr>
        <p:spPr>
          <a:xfrm>
            <a:off x="888978" y="4250822"/>
            <a:ext cx="3352716" cy="1845026"/>
          </a:xfrm>
          <a:prstGeom prst="roundRect">
            <a:avLst>
              <a:gd name="adj" fmla="val 8259"/>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49-text-04"/>
          <p:cNvSpPr txBox="1"/>
          <p:nvPr/>
        </p:nvSpPr>
        <p:spPr>
          <a:xfrm>
            <a:off x="1142971" y="4479416"/>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BASELINE</a:t>
            </a:r>
          </a:p>
        </p:txBody>
      </p:sp>
      <p:sp>
        <p:nvSpPr>
          <p:cNvPr id="8" name="s49-text-05"/>
          <p:cNvSpPr txBox="1"/>
          <p:nvPr/>
        </p:nvSpPr>
        <p:spPr>
          <a:xfrm>
            <a:off x="1142971" y="4777859"/>
            <a:ext cx="2863778"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Haar-random encoders</a:t>
            </a:r>
          </a:p>
        </p:txBody>
      </p:sp>
      <p:sp>
        <p:nvSpPr>
          <p:cNvPr id="9" name="s49-text-06"/>
          <p:cNvSpPr txBox="1"/>
          <p:nvPr/>
        </p:nvSpPr>
        <p:spPr>
          <a:xfrm>
            <a:off x="1142971" y="5120750"/>
            <a:ext cx="2857429" cy="497669"/>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Exact expectation derived — ideal, exponentially costly</a:t>
            </a:r>
          </a:p>
        </p:txBody>
      </p:sp>
      <p:sp>
        <p:nvSpPr>
          <p:cNvPr id="10" name="s49-box-03"/>
          <p:cNvSpPr/>
          <p:nvPr/>
        </p:nvSpPr>
        <p:spPr>
          <a:xfrm>
            <a:off x="4419490" y="4250822"/>
            <a:ext cx="3352716" cy="1845026"/>
          </a:xfrm>
          <a:prstGeom prst="roundRect">
            <a:avLst>
              <a:gd name="adj" fmla="val 8259"/>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49-text-07"/>
          <p:cNvSpPr txBox="1"/>
          <p:nvPr/>
        </p:nvSpPr>
        <p:spPr>
          <a:xfrm>
            <a:off x="4673483" y="4479416"/>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SUBSTITUTE</a:t>
            </a:r>
          </a:p>
        </p:txBody>
      </p:sp>
      <p:sp>
        <p:nvSpPr>
          <p:cNvPr id="12" name="s49-text-08"/>
          <p:cNvSpPr txBox="1"/>
          <p:nvPr/>
        </p:nvSpPr>
        <p:spPr>
          <a:xfrm>
            <a:off x="4673483" y="4777859"/>
            <a:ext cx="2863778"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Seeded Clifford ensemble</a:t>
            </a:r>
          </a:p>
        </p:txBody>
      </p:sp>
      <p:sp>
        <p:nvSpPr>
          <p:cNvPr id="13" name="s49-text-09"/>
          <p:cNvSpPr txBox="1"/>
          <p:nvPr/>
        </p:nvSpPr>
        <p:spPr>
          <a:xfrm>
            <a:off x="4673483" y="5120750"/>
            <a:ext cx="2857429" cy="746503"/>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Polynomial-cost Hadamard-structured ensemble (HSE) from a seed</a:t>
            </a:r>
          </a:p>
        </p:txBody>
      </p:sp>
      <p:sp>
        <p:nvSpPr>
          <p:cNvPr id="14" name="s49-box-04"/>
          <p:cNvSpPr/>
          <p:nvPr/>
        </p:nvSpPr>
        <p:spPr>
          <a:xfrm>
            <a:off x="7950001" y="4250822"/>
            <a:ext cx="3352716" cy="1845026"/>
          </a:xfrm>
          <a:prstGeom prst="roundRect">
            <a:avLst>
              <a:gd name="adj" fmla="val 8259"/>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49-text-10"/>
          <p:cNvSpPr txBox="1"/>
          <p:nvPr/>
        </p:nvSpPr>
        <p:spPr>
          <a:xfrm>
            <a:off x="8203995" y="4479416"/>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AUDIT</a:t>
            </a:r>
          </a:p>
        </p:txBody>
      </p:sp>
      <p:sp>
        <p:nvSpPr>
          <p:cNvPr id="16" name="s49-text-11"/>
          <p:cNvSpPr txBox="1"/>
          <p:nvPr/>
        </p:nvSpPr>
        <p:spPr>
          <a:xfrm>
            <a:off x="8203995" y="4777859"/>
            <a:ext cx="2863778"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Two adversary orders</a:t>
            </a:r>
          </a:p>
        </p:txBody>
      </p:sp>
      <p:sp>
        <p:nvSpPr>
          <p:cNvPr id="17" name="s49-text-12"/>
          <p:cNvSpPr txBox="1"/>
          <p:nvPr/>
        </p:nvSpPr>
        <p:spPr>
          <a:xfrm>
            <a:off x="8203995" y="5120750"/>
            <a:ext cx="2857429" cy="746503"/>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Fault after seeing the encoder (fixed) vs before the seed (reseeded)</a:t>
            </a:r>
          </a:p>
        </p:txBody>
      </p:sp>
      <p:sp>
        <p:nvSpPr>
          <p:cNvPr id="18" name="!!sec"/>
          <p:cNvSpPr txBox="1"/>
          <p:nvPr/>
        </p:nvSpPr>
        <p:spPr>
          <a:xfrm>
            <a:off x="888978" y="6362541"/>
            <a:ext cx="132860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 · QEC audit</a:t>
            </a:r>
          </a:p>
        </p:txBody>
      </p:sp>
      <p:pic>
        <p:nvPicPr>
          <p:cNvPr id="19" name="s49-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0"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49</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3793832"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Hadamard-structured ensemble</a:t>
            </a:r>
          </a:p>
        </p:txBody>
      </p:sp>
      <p:sp>
        <p:nvSpPr>
          <p:cNvPr id="3" name="s50-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Seeded structure instead of Haar</a:t>
            </a:r>
          </a:p>
        </p:txBody>
      </p:sp>
      <p:pic>
        <p:nvPicPr>
          <p:cNvPr id="4" name="s50-image-01" descr="diagram"/>
          <p:cNvPicPr>
            <a:picLocks noChangeAspect="1"/>
          </p:cNvPicPr>
          <p:nvPr/>
        </p:nvPicPr>
        <p:blipFill>
          <a:blip r:embed="rId3"/>
          <a:stretch>
            <a:fillRect/>
          </a:stretch>
        </p:blipFill>
        <p:spPr>
          <a:xfrm>
            <a:off x="863578" y="1517612"/>
            <a:ext cx="10470888" cy="3613060"/>
          </a:xfrm>
          <a:prstGeom prst="rect">
            <a:avLst/>
          </a:prstGeom>
        </p:spPr>
      </p:pic>
      <p:sp>
        <p:nvSpPr>
          <p:cNvPr id="5" name="s50-text-03"/>
          <p:cNvSpPr txBox="1"/>
          <p:nvPr/>
        </p:nvSpPr>
        <p:spPr>
          <a:xfrm>
            <a:off x="1546385" y="2847209"/>
            <a:ext cx="48219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seed</a:t>
            </a:r>
          </a:p>
        </p:txBody>
      </p:sp>
      <p:sp>
        <p:nvSpPr>
          <p:cNvPr id="6" name="s50-text-04"/>
          <p:cNvSpPr txBox="1"/>
          <p:nvPr/>
        </p:nvSpPr>
        <p:spPr>
          <a:xfrm>
            <a:off x="1358767" y="3132952"/>
            <a:ext cx="85742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from a DRBG</a:t>
            </a:r>
          </a:p>
        </p:txBody>
      </p:sp>
      <p:sp>
        <p:nvSpPr>
          <p:cNvPr id="7" name="s50-text-05"/>
          <p:cNvSpPr txBox="1"/>
          <p:nvPr/>
        </p:nvSpPr>
        <p:spPr>
          <a:xfrm>
            <a:off x="3414925" y="2243974"/>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H</a:t>
            </a:r>
          </a:p>
        </p:txBody>
      </p:sp>
      <p:sp>
        <p:nvSpPr>
          <p:cNvPr id="8" name="s50-text-06"/>
          <p:cNvSpPr txBox="1"/>
          <p:nvPr/>
        </p:nvSpPr>
        <p:spPr>
          <a:xfrm>
            <a:off x="3414925" y="2663064"/>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H</a:t>
            </a:r>
          </a:p>
        </p:txBody>
      </p:sp>
      <p:sp>
        <p:nvSpPr>
          <p:cNvPr id="9" name="s50-text-07"/>
          <p:cNvSpPr txBox="1"/>
          <p:nvPr/>
        </p:nvSpPr>
        <p:spPr>
          <a:xfrm>
            <a:off x="3414925" y="3082153"/>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H</a:t>
            </a:r>
          </a:p>
        </p:txBody>
      </p:sp>
      <p:sp>
        <p:nvSpPr>
          <p:cNvPr id="10" name="s50-text-08"/>
          <p:cNvSpPr txBox="1"/>
          <p:nvPr/>
        </p:nvSpPr>
        <p:spPr>
          <a:xfrm>
            <a:off x="3414925" y="3501243"/>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H</a:t>
            </a:r>
          </a:p>
        </p:txBody>
      </p:sp>
      <p:sp>
        <p:nvSpPr>
          <p:cNvPr id="11" name="s50-text-09"/>
          <p:cNvSpPr txBox="1"/>
          <p:nvPr/>
        </p:nvSpPr>
        <p:spPr>
          <a:xfrm>
            <a:off x="3414925" y="3920332"/>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H</a:t>
            </a:r>
          </a:p>
        </p:txBody>
      </p:sp>
      <p:sp>
        <p:nvSpPr>
          <p:cNvPr id="12" name="s50-text-10"/>
          <p:cNvSpPr txBox="1"/>
          <p:nvPr/>
        </p:nvSpPr>
        <p:spPr>
          <a:xfrm>
            <a:off x="2963739" y="4314023"/>
            <a:ext cx="101289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Hadamard layer</a:t>
            </a:r>
          </a:p>
        </p:txBody>
      </p:sp>
      <p:sp>
        <p:nvSpPr>
          <p:cNvPr id="13" name="s50-text-11"/>
          <p:cNvSpPr txBox="1"/>
          <p:nvPr/>
        </p:nvSpPr>
        <p:spPr>
          <a:xfrm>
            <a:off x="4557896" y="2243974"/>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S</a:t>
            </a:r>
          </a:p>
        </p:txBody>
      </p:sp>
      <p:sp>
        <p:nvSpPr>
          <p:cNvPr id="14" name="s50-text-12"/>
          <p:cNvSpPr txBox="1"/>
          <p:nvPr/>
        </p:nvSpPr>
        <p:spPr>
          <a:xfrm>
            <a:off x="4557896" y="2663064"/>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S</a:t>
            </a:r>
          </a:p>
        </p:txBody>
      </p:sp>
      <p:sp>
        <p:nvSpPr>
          <p:cNvPr id="15" name="s50-text-13"/>
          <p:cNvSpPr txBox="1"/>
          <p:nvPr/>
        </p:nvSpPr>
        <p:spPr>
          <a:xfrm>
            <a:off x="4557896" y="3082153"/>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S</a:t>
            </a:r>
          </a:p>
        </p:txBody>
      </p:sp>
      <p:sp>
        <p:nvSpPr>
          <p:cNvPr id="16" name="s50-text-14"/>
          <p:cNvSpPr txBox="1"/>
          <p:nvPr/>
        </p:nvSpPr>
        <p:spPr>
          <a:xfrm>
            <a:off x="4557896" y="3501243"/>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S</a:t>
            </a:r>
          </a:p>
        </p:txBody>
      </p:sp>
      <p:sp>
        <p:nvSpPr>
          <p:cNvPr id="17" name="s50-text-15"/>
          <p:cNvSpPr txBox="1"/>
          <p:nvPr/>
        </p:nvSpPr>
        <p:spPr>
          <a:xfrm>
            <a:off x="4557896" y="3920332"/>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S</a:t>
            </a:r>
          </a:p>
        </p:txBody>
      </p:sp>
      <p:sp>
        <p:nvSpPr>
          <p:cNvPr id="18" name="s50-text-16"/>
          <p:cNvSpPr txBox="1"/>
          <p:nvPr/>
        </p:nvSpPr>
        <p:spPr>
          <a:xfrm>
            <a:off x="4242488" y="4314023"/>
            <a:ext cx="74134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phase layer</a:t>
            </a:r>
          </a:p>
        </p:txBody>
      </p:sp>
      <p:sp>
        <p:nvSpPr>
          <p:cNvPr id="19" name="s50-text-17"/>
          <p:cNvSpPr txBox="1"/>
          <p:nvPr/>
        </p:nvSpPr>
        <p:spPr>
          <a:xfrm>
            <a:off x="5700868" y="2243974"/>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π</a:t>
            </a:r>
          </a:p>
        </p:txBody>
      </p:sp>
      <p:sp>
        <p:nvSpPr>
          <p:cNvPr id="20" name="s50-text-18"/>
          <p:cNvSpPr txBox="1"/>
          <p:nvPr/>
        </p:nvSpPr>
        <p:spPr>
          <a:xfrm>
            <a:off x="5700868" y="2663064"/>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π</a:t>
            </a:r>
          </a:p>
        </p:txBody>
      </p:sp>
      <p:sp>
        <p:nvSpPr>
          <p:cNvPr id="21" name="s50-text-19"/>
          <p:cNvSpPr txBox="1"/>
          <p:nvPr/>
        </p:nvSpPr>
        <p:spPr>
          <a:xfrm>
            <a:off x="5700868" y="3082153"/>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π</a:t>
            </a:r>
          </a:p>
        </p:txBody>
      </p:sp>
      <p:sp>
        <p:nvSpPr>
          <p:cNvPr id="22" name="s50-text-20"/>
          <p:cNvSpPr txBox="1"/>
          <p:nvPr/>
        </p:nvSpPr>
        <p:spPr>
          <a:xfrm>
            <a:off x="5700868" y="3501243"/>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π</a:t>
            </a:r>
          </a:p>
        </p:txBody>
      </p:sp>
      <p:sp>
        <p:nvSpPr>
          <p:cNvPr id="23" name="s50-text-21"/>
          <p:cNvSpPr txBox="1"/>
          <p:nvPr/>
        </p:nvSpPr>
        <p:spPr>
          <a:xfrm>
            <a:off x="5700868" y="3920332"/>
            <a:ext cx="110527"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π</a:t>
            </a:r>
          </a:p>
        </p:txBody>
      </p:sp>
      <p:sp>
        <p:nvSpPr>
          <p:cNvPr id="24" name="s50-text-22"/>
          <p:cNvSpPr txBox="1"/>
          <p:nvPr/>
        </p:nvSpPr>
        <p:spPr>
          <a:xfrm>
            <a:off x="5206919" y="4314023"/>
            <a:ext cx="109842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permutation layer</a:t>
            </a:r>
          </a:p>
        </p:txBody>
      </p:sp>
      <p:sp>
        <p:nvSpPr>
          <p:cNvPr id="25" name="s50-text-23"/>
          <p:cNvSpPr txBox="1"/>
          <p:nvPr/>
        </p:nvSpPr>
        <p:spPr>
          <a:xfrm>
            <a:off x="6798100" y="224397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CX</a:t>
            </a:r>
          </a:p>
        </p:txBody>
      </p:sp>
      <p:sp>
        <p:nvSpPr>
          <p:cNvPr id="26" name="s50-text-24"/>
          <p:cNvSpPr txBox="1"/>
          <p:nvPr/>
        </p:nvSpPr>
        <p:spPr>
          <a:xfrm>
            <a:off x="6798100" y="2663064"/>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CX</a:t>
            </a:r>
          </a:p>
        </p:txBody>
      </p:sp>
      <p:sp>
        <p:nvSpPr>
          <p:cNvPr id="27" name="s50-text-25"/>
          <p:cNvSpPr txBox="1"/>
          <p:nvPr/>
        </p:nvSpPr>
        <p:spPr>
          <a:xfrm>
            <a:off x="6798100" y="308215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CX</a:t>
            </a:r>
          </a:p>
        </p:txBody>
      </p:sp>
      <p:sp>
        <p:nvSpPr>
          <p:cNvPr id="28" name="s50-text-26"/>
          <p:cNvSpPr txBox="1"/>
          <p:nvPr/>
        </p:nvSpPr>
        <p:spPr>
          <a:xfrm>
            <a:off x="6798100" y="3501243"/>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CX</a:t>
            </a:r>
          </a:p>
        </p:txBody>
      </p:sp>
      <p:sp>
        <p:nvSpPr>
          <p:cNvPr id="29" name="s50-text-27"/>
          <p:cNvSpPr txBox="1"/>
          <p:nvPr/>
        </p:nvSpPr>
        <p:spPr>
          <a:xfrm>
            <a:off x="6798100" y="3920332"/>
            <a:ext cx="202004"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F5F5F7"/>
                </a:solidFill>
                <a:latin typeface="Courier New"/>
              </a:rPr>
              <a:t>CX</a:t>
            </a:r>
          </a:p>
        </p:txBody>
      </p:sp>
      <p:sp>
        <p:nvSpPr>
          <p:cNvPr id="30" name="s50-text-28"/>
          <p:cNvSpPr txBox="1"/>
          <p:nvPr/>
        </p:nvSpPr>
        <p:spPr>
          <a:xfrm>
            <a:off x="6522130" y="4314023"/>
            <a:ext cx="75394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CNOT layer</a:t>
            </a:r>
          </a:p>
        </p:txBody>
      </p:sp>
      <p:sp>
        <p:nvSpPr>
          <p:cNvPr id="31" name="s50-text-29"/>
          <p:cNvSpPr txBox="1"/>
          <p:nvPr/>
        </p:nvSpPr>
        <p:spPr>
          <a:xfrm>
            <a:off x="4816007" y="4726762"/>
            <a:ext cx="92777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 depth d</a:t>
            </a:r>
          </a:p>
        </p:txBody>
      </p:sp>
      <p:sp>
        <p:nvSpPr>
          <p:cNvPr id="32" name="s50-text-30"/>
          <p:cNvSpPr txBox="1"/>
          <p:nvPr/>
        </p:nvSpPr>
        <p:spPr>
          <a:xfrm>
            <a:off x="8425297" y="2847209"/>
            <a:ext cx="2344977"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seeded Clifford encoder</a:t>
            </a:r>
          </a:p>
        </p:txBody>
      </p:sp>
      <p:sp>
        <p:nvSpPr>
          <p:cNvPr id="33" name="s50-text-31"/>
          <p:cNvSpPr txBox="1"/>
          <p:nvPr/>
        </p:nvSpPr>
        <p:spPr>
          <a:xfrm>
            <a:off x="9106813" y="3132952"/>
            <a:ext cx="98194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polynomial cost</a:t>
            </a:r>
          </a:p>
        </p:txBody>
      </p:sp>
      <p:sp>
        <p:nvSpPr>
          <p:cNvPr id="34" name="s50-text-32"/>
          <p:cNvSpPr txBox="1"/>
          <p:nvPr/>
        </p:nvSpPr>
        <p:spPr>
          <a:xfrm>
            <a:off x="7720812" y="3806035"/>
            <a:ext cx="3753947"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18.5% of samples satisfy the exact QEC conditions</a:t>
            </a:r>
          </a:p>
        </p:txBody>
      </p:sp>
      <p:sp>
        <p:nvSpPr>
          <p:cNvPr id="35" name="s50-text-33"/>
          <p:cNvSpPr txBox="1"/>
          <p:nvPr/>
        </p:nvSpPr>
        <p:spPr>
          <a:xfrm>
            <a:off x="8237133" y="4060029"/>
            <a:ext cx="272130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vs Haar-random encoders: exponential cost</a:t>
            </a:r>
          </a:p>
        </p:txBody>
      </p:sp>
      <p:sp>
        <p:nvSpPr>
          <p:cNvPr id="36" name="!!sec"/>
          <p:cNvSpPr txBox="1"/>
          <p:nvPr/>
        </p:nvSpPr>
        <p:spPr>
          <a:xfrm>
            <a:off x="888978" y="6362541"/>
            <a:ext cx="132860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 · QEC audit</a:t>
            </a:r>
          </a:p>
        </p:txBody>
      </p:sp>
      <p:pic>
        <p:nvPicPr>
          <p:cNvPr id="37" name="s50-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38"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50</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93918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Results</a:t>
            </a:r>
          </a:p>
        </p:txBody>
      </p:sp>
      <p:sp>
        <p:nvSpPr>
          <p:cNvPr id="3" name="s51-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Fixed encoder: the adversary wins</a:t>
            </a:r>
          </a:p>
        </p:txBody>
      </p:sp>
      <p:pic>
        <p:nvPicPr>
          <p:cNvPr id="4" name="s51-image-01" descr="diagram"/>
          <p:cNvPicPr>
            <a:picLocks noChangeAspect="1"/>
          </p:cNvPicPr>
          <p:nvPr/>
        </p:nvPicPr>
        <p:blipFill>
          <a:blip r:embed="rId3"/>
          <a:stretch>
            <a:fillRect/>
          </a:stretch>
        </p:blipFill>
        <p:spPr>
          <a:xfrm>
            <a:off x="863578" y="1530312"/>
            <a:ext cx="6660983" cy="3359066"/>
          </a:xfrm>
          <a:prstGeom prst="rect">
            <a:avLst/>
          </a:prstGeom>
        </p:spPr>
      </p:pic>
      <p:pic>
        <p:nvPicPr>
          <p:cNvPr id="5" name="!!qe-0" descr="chart element"/>
          <p:cNvPicPr>
            <a:picLocks noChangeAspect="1"/>
          </p:cNvPicPr>
          <p:nvPr/>
        </p:nvPicPr>
        <p:blipFill>
          <a:blip r:embed="rId4"/>
          <a:stretch>
            <a:fillRect/>
          </a:stretch>
        </p:blipFill>
        <p:spPr>
          <a:xfrm>
            <a:off x="2597085" y="2298643"/>
            <a:ext cx="1733507" cy="2095448"/>
          </a:xfrm>
          <a:prstGeom prst="rect">
            <a:avLst/>
          </a:prstGeom>
        </p:spPr>
      </p:pic>
      <p:sp>
        <p:nvSpPr>
          <p:cNvPr id="6" name="!!qe-t-0"/>
          <p:cNvSpPr txBox="1"/>
          <p:nvPr/>
        </p:nvSpPr>
        <p:spPr>
          <a:xfrm>
            <a:off x="1531403" y="4275924"/>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0.00</a:t>
            </a:r>
          </a:p>
        </p:txBody>
      </p:sp>
      <p:sp>
        <p:nvSpPr>
          <p:cNvPr id="7" name="!!qe-t-5"/>
          <p:cNvSpPr txBox="1"/>
          <p:nvPr/>
        </p:nvSpPr>
        <p:spPr>
          <a:xfrm>
            <a:off x="1531403" y="3605660"/>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0.05</a:t>
            </a:r>
          </a:p>
        </p:txBody>
      </p:sp>
      <p:sp>
        <p:nvSpPr>
          <p:cNvPr id="8" name="!!qe-t-10"/>
          <p:cNvSpPr txBox="1"/>
          <p:nvPr/>
        </p:nvSpPr>
        <p:spPr>
          <a:xfrm>
            <a:off x="1531403" y="2935402"/>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0.10</a:t>
            </a:r>
          </a:p>
        </p:txBody>
      </p:sp>
      <p:sp>
        <p:nvSpPr>
          <p:cNvPr id="9" name="!!qe-t-15"/>
          <p:cNvSpPr txBox="1"/>
          <p:nvPr/>
        </p:nvSpPr>
        <p:spPr>
          <a:xfrm>
            <a:off x="1531403" y="2265138"/>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0.15</a:t>
            </a:r>
          </a:p>
        </p:txBody>
      </p:sp>
      <p:sp>
        <p:nvSpPr>
          <p:cNvPr id="10" name="!!qe-ylab"/>
          <p:cNvSpPr txBox="1"/>
          <p:nvPr/>
        </p:nvSpPr>
        <p:spPr>
          <a:xfrm>
            <a:off x="1142971" y="1583591"/>
            <a:ext cx="463171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mean accepted logical disturbance · [[5,1,3]] code · weight-one Pauli faults</a:t>
            </a:r>
          </a:p>
        </p:txBody>
      </p:sp>
      <p:sp>
        <p:nvSpPr>
          <p:cNvPr id="11" name="!!qe-0-v"/>
          <p:cNvSpPr txBox="1"/>
          <p:nvPr/>
        </p:nvSpPr>
        <p:spPr>
          <a:xfrm>
            <a:off x="3206422" y="2055594"/>
            <a:ext cx="5275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0.150</a:t>
            </a:r>
          </a:p>
        </p:txBody>
      </p:sp>
      <p:sp>
        <p:nvSpPr>
          <p:cNvPr id="12" name="!!qe-0-n"/>
          <p:cNvSpPr txBox="1"/>
          <p:nvPr/>
        </p:nvSpPr>
        <p:spPr>
          <a:xfrm>
            <a:off x="2726413" y="4453719"/>
            <a:ext cx="1489670"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fixed public encoder</a:t>
            </a:r>
          </a:p>
        </p:txBody>
      </p:sp>
      <p:sp>
        <p:nvSpPr>
          <p:cNvPr id="13" name="!!qe-0-s"/>
          <p:cNvSpPr txBox="1"/>
          <p:nvPr/>
        </p:nvSpPr>
        <p:spPr>
          <a:xfrm>
            <a:off x="2590884" y="4682313"/>
            <a:ext cx="17586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fault chosen after learning E</a:t>
            </a:r>
          </a:p>
        </p:txBody>
      </p:sp>
      <p:sp>
        <p:nvSpPr>
          <p:cNvPr id="14" name="s51-box-01"/>
          <p:cNvSpPr/>
          <p:nvPr/>
        </p:nvSpPr>
        <p:spPr>
          <a:xfrm>
            <a:off x="7746806" y="1988790"/>
            <a:ext cx="3555911" cy="1163212"/>
          </a:xfrm>
          <a:prstGeom prst="roundRect">
            <a:avLst>
              <a:gd name="adj" fmla="val 1310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51-text-11"/>
          <p:cNvSpPr txBox="1"/>
          <p:nvPr/>
        </p:nvSpPr>
        <p:spPr>
          <a:xfrm>
            <a:off x="7937302" y="2128487"/>
            <a:ext cx="3193970"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SETTING</a:t>
            </a:r>
          </a:p>
        </p:txBody>
      </p:sp>
      <p:sp>
        <p:nvSpPr>
          <p:cNvPr id="16" name="s51-text-12"/>
          <p:cNvSpPr txBox="1"/>
          <p:nvPr/>
        </p:nvSpPr>
        <p:spPr>
          <a:xfrm>
            <a:off x="7937302" y="2331682"/>
            <a:ext cx="3193970" cy="215895"/>
          </a:xfrm>
          <a:prstGeom prst="rect">
            <a:avLst/>
          </a:prstGeom>
          <a:noFill/>
        </p:spPr>
        <p:txBody>
          <a:bodyPr wrap="none" lIns="0" tIns="0" rIns="0" bIns="0" anchor="t">
            <a:noAutofit/>
          </a:bodyPr>
          <a:lstStyle/>
          <a:p>
            <a:pPr algn="l">
              <a:lnSpc>
                <a:spcPts val="1800"/>
              </a:lnSpc>
              <a:spcBef>
                <a:spcPts val="0"/>
              </a:spcBef>
              <a:spcAft>
                <a:spcPts val="0"/>
              </a:spcAft>
            </a:pPr>
            <a:r>
              <a:rPr sz="1500" b="1" i="0" spc="-22">
                <a:solidFill>
                  <a:srgbClr val="0B0B0F"/>
                </a:solidFill>
                <a:latin typeface="Arial"/>
              </a:rPr>
              <a:t>[[5,1,3]] code</a:t>
            </a:r>
          </a:p>
        </p:txBody>
      </p:sp>
      <p:sp>
        <p:nvSpPr>
          <p:cNvPr id="17" name="s51-text-13"/>
          <p:cNvSpPr txBox="1"/>
          <p:nvPr/>
        </p:nvSpPr>
        <p:spPr>
          <a:xfrm>
            <a:off x="7937302" y="2585675"/>
            <a:ext cx="3187620" cy="426630"/>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all 3n = 15 weight-one Paulis · adversary sees the encoder first</a:t>
            </a:r>
          </a:p>
        </p:txBody>
      </p:sp>
      <p:sp>
        <p:nvSpPr>
          <p:cNvPr id="18" name="s51-box-02"/>
          <p:cNvSpPr/>
          <p:nvPr/>
        </p:nvSpPr>
        <p:spPr>
          <a:xfrm>
            <a:off x="7746806" y="3266299"/>
            <a:ext cx="3555911" cy="1163212"/>
          </a:xfrm>
          <a:prstGeom prst="roundRect">
            <a:avLst>
              <a:gd name="adj" fmla="val 1310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51-text-14"/>
          <p:cNvSpPr txBox="1"/>
          <p:nvPr/>
        </p:nvSpPr>
        <p:spPr>
          <a:xfrm>
            <a:off x="7937302" y="3405995"/>
            <a:ext cx="3193970"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RESULT</a:t>
            </a:r>
          </a:p>
        </p:txBody>
      </p:sp>
      <p:sp>
        <p:nvSpPr>
          <p:cNvPr id="20" name="s51-text-15"/>
          <p:cNvSpPr txBox="1"/>
          <p:nvPr/>
        </p:nvSpPr>
        <p:spPr>
          <a:xfrm>
            <a:off x="7937302" y="3609190"/>
            <a:ext cx="3193970" cy="215895"/>
          </a:xfrm>
          <a:prstGeom prst="rect">
            <a:avLst/>
          </a:prstGeom>
          <a:noFill/>
        </p:spPr>
        <p:txBody>
          <a:bodyPr wrap="none" lIns="0" tIns="0" rIns="0" bIns="0" anchor="t">
            <a:noAutofit/>
          </a:bodyPr>
          <a:lstStyle/>
          <a:p>
            <a:pPr algn="l">
              <a:lnSpc>
                <a:spcPts val="1800"/>
              </a:lnSpc>
              <a:spcBef>
                <a:spcPts val="0"/>
              </a:spcBef>
              <a:spcAft>
                <a:spcPts val="0"/>
              </a:spcAft>
            </a:pPr>
            <a:r>
              <a:rPr sz="1500" b="1" i="0" spc="-22">
                <a:solidFill>
                  <a:srgbClr val="0B0B0F"/>
                </a:solidFill>
                <a:latin typeface="Arial"/>
              </a:rPr>
              <a:t>0.150</a:t>
            </a:r>
          </a:p>
        </p:txBody>
      </p:sp>
      <p:sp>
        <p:nvSpPr>
          <p:cNvPr id="21" name="s51-text-16"/>
          <p:cNvSpPr txBox="1"/>
          <p:nvPr/>
        </p:nvSpPr>
        <p:spPr>
          <a:xfrm>
            <a:off x="7937302" y="3863184"/>
            <a:ext cx="3187620" cy="426630"/>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mean accepted logical disturbance, fixed public encoder</a:t>
            </a:r>
          </a:p>
        </p:txBody>
      </p:sp>
      <p:sp>
        <p:nvSpPr>
          <p:cNvPr id="22" name="!!sec"/>
          <p:cNvSpPr txBox="1"/>
          <p:nvPr/>
        </p:nvSpPr>
        <p:spPr>
          <a:xfrm>
            <a:off x="888978" y="6362541"/>
            <a:ext cx="132860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 · QEC audit</a:t>
            </a:r>
          </a:p>
        </p:txBody>
      </p:sp>
      <p:pic>
        <p:nvPicPr>
          <p:cNvPr id="23" name="s51-image-03" descr="Texas Tech University Double T"/>
          <p:cNvPicPr>
            <a:picLocks noChangeAspect="1"/>
          </p:cNvPicPr>
          <p:nvPr/>
        </p:nvPicPr>
        <p:blipFill>
          <a:blip r:embed="rId5"/>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51</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93918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Results</a:t>
            </a:r>
          </a:p>
        </p:txBody>
      </p:sp>
      <p:sp>
        <p:nvSpPr>
          <p:cNvPr id="3" name="s52-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Reseeding removes 86.7% of the harm</a:t>
            </a:r>
          </a:p>
        </p:txBody>
      </p:sp>
      <p:pic>
        <p:nvPicPr>
          <p:cNvPr id="4" name="s52-image-01" descr="diagram"/>
          <p:cNvPicPr>
            <a:picLocks noChangeAspect="1"/>
          </p:cNvPicPr>
          <p:nvPr/>
        </p:nvPicPr>
        <p:blipFill>
          <a:blip r:embed="rId3"/>
          <a:stretch>
            <a:fillRect/>
          </a:stretch>
        </p:blipFill>
        <p:spPr>
          <a:xfrm>
            <a:off x="863578" y="1739857"/>
            <a:ext cx="6660983" cy="3359066"/>
          </a:xfrm>
          <a:prstGeom prst="rect">
            <a:avLst/>
          </a:prstGeom>
        </p:spPr>
      </p:pic>
      <p:pic>
        <p:nvPicPr>
          <p:cNvPr id="5" name="!!qe-0" descr="chart element"/>
          <p:cNvPicPr>
            <a:picLocks noChangeAspect="1"/>
          </p:cNvPicPr>
          <p:nvPr/>
        </p:nvPicPr>
        <p:blipFill>
          <a:blip r:embed="rId4"/>
          <a:stretch>
            <a:fillRect/>
          </a:stretch>
        </p:blipFill>
        <p:spPr>
          <a:xfrm>
            <a:off x="2597085" y="2508187"/>
            <a:ext cx="1733507" cy="2095448"/>
          </a:xfrm>
          <a:prstGeom prst="rect">
            <a:avLst/>
          </a:prstGeom>
        </p:spPr>
      </p:pic>
      <p:sp>
        <p:nvSpPr>
          <p:cNvPr id="6" name="!!qe-t-0"/>
          <p:cNvSpPr txBox="1"/>
          <p:nvPr/>
        </p:nvSpPr>
        <p:spPr>
          <a:xfrm>
            <a:off x="1531403" y="4484079"/>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0.00</a:t>
            </a:r>
          </a:p>
        </p:txBody>
      </p:sp>
      <p:sp>
        <p:nvSpPr>
          <p:cNvPr id="7" name="!!qe-t-5"/>
          <p:cNvSpPr txBox="1"/>
          <p:nvPr/>
        </p:nvSpPr>
        <p:spPr>
          <a:xfrm>
            <a:off x="1531403" y="3813815"/>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0.05</a:t>
            </a:r>
          </a:p>
        </p:txBody>
      </p:sp>
      <p:sp>
        <p:nvSpPr>
          <p:cNvPr id="8" name="!!qe-t-10"/>
          <p:cNvSpPr txBox="1"/>
          <p:nvPr/>
        </p:nvSpPr>
        <p:spPr>
          <a:xfrm>
            <a:off x="1531403" y="3143558"/>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0.10</a:t>
            </a:r>
          </a:p>
        </p:txBody>
      </p:sp>
      <p:sp>
        <p:nvSpPr>
          <p:cNvPr id="9" name="!!qe-t-15"/>
          <p:cNvSpPr txBox="1"/>
          <p:nvPr/>
        </p:nvSpPr>
        <p:spPr>
          <a:xfrm>
            <a:off x="1531403" y="2473294"/>
            <a:ext cx="2910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0.15</a:t>
            </a:r>
          </a:p>
        </p:txBody>
      </p:sp>
      <p:sp>
        <p:nvSpPr>
          <p:cNvPr id="10" name="!!qe-ylab"/>
          <p:cNvSpPr txBox="1"/>
          <p:nvPr/>
        </p:nvSpPr>
        <p:spPr>
          <a:xfrm>
            <a:off x="1142971" y="1791747"/>
            <a:ext cx="463171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mean accepted logical disturbance · [[5,1,3]] code · weight-one Pauli faults</a:t>
            </a:r>
          </a:p>
        </p:txBody>
      </p:sp>
      <p:sp>
        <p:nvSpPr>
          <p:cNvPr id="11" name="!!qe-0-v"/>
          <p:cNvSpPr txBox="1"/>
          <p:nvPr/>
        </p:nvSpPr>
        <p:spPr>
          <a:xfrm>
            <a:off x="3206422" y="2263749"/>
            <a:ext cx="5275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0.150</a:t>
            </a:r>
          </a:p>
        </p:txBody>
      </p:sp>
      <p:sp>
        <p:nvSpPr>
          <p:cNvPr id="12" name="!!qe-0-n"/>
          <p:cNvSpPr txBox="1"/>
          <p:nvPr/>
        </p:nvSpPr>
        <p:spPr>
          <a:xfrm>
            <a:off x="2726413" y="4661875"/>
            <a:ext cx="1489670"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fixed public encoder</a:t>
            </a:r>
          </a:p>
        </p:txBody>
      </p:sp>
      <p:sp>
        <p:nvSpPr>
          <p:cNvPr id="13" name="!!qe-0-s"/>
          <p:cNvSpPr txBox="1"/>
          <p:nvPr/>
        </p:nvSpPr>
        <p:spPr>
          <a:xfrm>
            <a:off x="2590884" y="4890469"/>
            <a:ext cx="175860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fault chosen after learning E</a:t>
            </a:r>
          </a:p>
        </p:txBody>
      </p:sp>
      <p:sp>
        <p:nvSpPr>
          <p:cNvPr id="14" name="!!qe-1-v"/>
          <p:cNvSpPr txBox="1"/>
          <p:nvPr/>
        </p:nvSpPr>
        <p:spPr>
          <a:xfrm>
            <a:off x="5428866" y="4006432"/>
            <a:ext cx="52753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0.020</a:t>
            </a:r>
          </a:p>
        </p:txBody>
      </p:sp>
      <p:sp>
        <p:nvSpPr>
          <p:cNvPr id="15" name="!!qe-1-n"/>
          <p:cNvSpPr txBox="1"/>
          <p:nvPr/>
        </p:nvSpPr>
        <p:spPr>
          <a:xfrm>
            <a:off x="5017615" y="4661875"/>
            <a:ext cx="1352144" cy="190495"/>
          </a:xfrm>
          <a:prstGeom prst="rect">
            <a:avLst/>
          </a:prstGeom>
          <a:noFill/>
        </p:spPr>
        <p:txBody>
          <a:bodyPr wrap="none" lIns="0" tIns="0" rIns="0" bIns="0" anchor="t">
            <a:noAutofit/>
          </a:bodyPr>
          <a:lstStyle/>
          <a:p>
            <a:pPr algn="l">
              <a:lnSpc>
                <a:spcPct val="100000"/>
              </a:lnSpc>
              <a:spcBef>
                <a:spcPts val="0"/>
              </a:spcBef>
              <a:spcAft>
                <a:spcPts val="0"/>
              </a:spcAft>
            </a:pPr>
            <a:r>
              <a:rPr sz="1300" b="0" i="0">
                <a:solidFill>
                  <a:srgbClr val="50505B"/>
                </a:solidFill>
                <a:latin typeface="Arial"/>
              </a:rPr>
              <a:t>reseeded encoder</a:t>
            </a:r>
          </a:p>
        </p:txBody>
      </p:sp>
      <p:sp>
        <p:nvSpPr>
          <p:cNvPr id="16" name="!!qe-1-s"/>
          <p:cNvSpPr txBox="1"/>
          <p:nvPr/>
        </p:nvSpPr>
        <p:spPr>
          <a:xfrm>
            <a:off x="4879307" y="4890469"/>
            <a:ext cx="162665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fault fixed before the seed</a:t>
            </a:r>
          </a:p>
        </p:txBody>
      </p:sp>
      <p:sp>
        <p:nvSpPr>
          <p:cNvPr id="17" name="s52-text-14"/>
          <p:cNvSpPr txBox="1"/>
          <p:nvPr/>
        </p:nvSpPr>
        <p:spPr>
          <a:xfrm>
            <a:off x="4110927" y="3099814"/>
            <a:ext cx="940967" cy="311142"/>
          </a:xfrm>
          <a:prstGeom prst="rect">
            <a:avLst/>
          </a:prstGeom>
          <a:noFill/>
        </p:spPr>
        <p:txBody>
          <a:bodyPr wrap="none" lIns="0" tIns="0" rIns="0" bIns="0" anchor="t">
            <a:noAutofit/>
          </a:bodyPr>
          <a:lstStyle/>
          <a:p>
            <a:pPr algn="l">
              <a:lnSpc>
                <a:spcPct val="100000"/>
              </a:lnSpc>
              <a:spcBef>
                <a:spcPts val="0"/>
              </a:spcBef>
              <a:spcAft>
                <a:spcPts val="0"/>
              </a:spcAft>
            </a:pPr>
            <a:r>
              <a:rPr sz="2200" b="1" i="0" spc="-44">
                <a:solidFill>
                  <a:srgbClr val="B00000"/>
                </a:solidFill>
                <a:latin typeface="Arial"/>
              </a:rPr>
              <a:t>−86.7%</a:t>
            </a:r>
          </a:p>
        </p:txBody>
      </p:sp>
      <p:sp>
        <p:nvSpPr>
          <p:cNvPr id="18" name="s52-box-01"/>
          <p:cNvSpPr/>
          <p:nvPr/>
        </p:nvSpPr>
        <p:spPr>
          <a:xfrm>
            <a:off x="7746806" y="1558192"/>
            <a:ext cx="3555911" cy="1163212"/>
          </a:xfrm>
          <a:prstGeom prst="roundRect">
            <a:avLst>
              <a:gd name="adj" fmla="val 1310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52-text-15"/>
          <p:cNvSpPr txBox="1"/>
          <p:nvPr/>
        </p:nvSpPr>
        <p:spPr>
          <a:xfrm>
            <a:off x="7937302" y="1697888"/>
            <a:ext cx="3193970"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RESULT</a:t>
            </a:r>
          </a:p>
        </p:txBody>
      </p:sp>
      <p:sp>
        <p:nvSpPr>
          <p:cNvPr id="20" name="s52-text-16"/>
          <p:cNvSpPr txBox="1"/>
          <p:nvPr/>
        </p:nvSpPr>
        <p:spPr>
          <a:xfrm>
            <a:off x="7937302" y="1901083"/>
            <a:ext cx="3193970" cy="215895"/>
          </a:xfrm>
          <a:prstGeom prst="rect">
            <a:avLst/>
          </a:prstGeom>
          <a:noFill/>
        </p:spPr>
        <p:txBody>
          <a:bodyPr wrap="none" lIns="0" tIns="0" rIns="0" bIns="0" anchor="t">
            <a:noAutofit/>
          </a:bodyPr>
          <a:lstStyle/>
          <a:p>
            <a:pPr algn="l">
              <a:lnSpc>
                <a:spcPts val="1800"/>
              </a:lnSpc>
              <a:spcBef>
                <a:spcPts val="0"/>
              </a:spcBef>
              <a:spcAft>
                <a:spcPts val="0"/>
              </a:spcAft>
            </a:pPr>
            <a:r>
              <a:rPr sz="1500" b="1" i="0" spc="-22">
                <a:solidFill>
                  <a:srgbClr val="0B0B0F"/>
                </a:solidFill>
                <a:latin typeface="Arial"/>
              </a:rPr>
              <a:t>0.150 → 0.020</a:t>
            </a:r>
          </a:p>
        </p:txBody>
      </p:sp>
      <p:sp>
        <p:nvSpPr>
          <p:cNvPr id="21" name="s52-text-17"/>
          <p:cNvSpPr txBox="1"/>
          <p:nvPr/>
        </p:nvSpPr>
        <p:spPr>
          <a:xfrm>
            <a:off x="7937302" y="2155077"/>
            <a:ext cx="3187620" cy="426630"/>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the pre-chosen fault is now caught by syndrome rejection</a:t>
            </a:r>
          </a:p>
        </p:txBody>
      </p:sp>
      <p:sp>
        <p:nvSpPr>
          <p:cNvPr id="22" name="s52-box-02"/>
          <p:cNvSpPr/>
          <p:nvPr/>
        </p:nvSpPr>
        <p:spPr>
          <a:xfrm>
            <a:off x="7746806" y="2835700"/>
            <a:ext cx="3555911" cy="1163212"/>
          </a:xfrm>
          <a:prstGeom prst="roundRect">
            <a:avLst>
              <a:gd name="adj" fmla="val 1310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52-text-18"/>
          <p:cNvSpPr txBox="1"/>
          <p:nvPr/>
        </p:nvSpPr>
        <p:spPr>
          <a:xfrm>
            <a:off x="7937302" y="2975397"/>
            <a:ext cx="3193970"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VALID ENCODERS</a:t>
            </a:r>
          </a:p>
        </p:txBody>
      </p:sp>
      <p:sp>
        <p:nvSpPr>
          <p:cNvPr id="24" name="s52-text-19"/>
          <p:cNvSpPr txBox="1"/>
          <p:nvPr/>
        </p:nvSpPr>
        <p:spPr>
          <a:xfrm>
            <a:off x="7937302" y="3178592"/>
            <a:ext cx="3193970" cy="215895"/>
          </a:xfrm>
          <a:prstGeom prst="rect">
            <a:avLst/>
          </a:prstGeom>
          <a:noFill/>
        </p:spPr>
        <p:txBody>
          <a:bodyPr wrap="none" lIns="0" tIns="0" rIns="0" bIns="0" anchor="t">
            <a:noAutofit/>
          </a:bodyPr>
          <a:lstStyle/>
          <a:p>
            <a:pPr algn="l">
              <a:lnSpc>
                <a:spcPts val="1800"/>
              </a:lnSpc>
              <a:spcBef>
                <a:spcPts val="0"/>
              </a:spcBef>
              <a:spcAft>
                <a:spcPts val="0"/>
              </a:spcAft>
            </a:pPr>
            <a:r>
              <a:rPr sz="1500" b="1" i="0" spc="-22">
                <a:solidFill>
                  <a:srgbClr val="0B0B0F"/>
                </a:solidFill>
                <a:latin typeface="Arial"/>
              </a:rPr>
              <a:t>18.5%</a:t>
            </a:r>
          </a:p>
        </p:txBody>
      </p:sp>
      <p:sp>
        <p:nvSpPr>
          <p:cNvPr id="25" name="s52-text-20"/>
          <p:cNvSpPr txBox="1"/>
          <p:nvPr/>
        </p:nvSpPr>
        <p:spPr>
          <a:xfrm>
            <a:off x="7937302" y="3432585"/>
            <a:ext cx="3187620" cy="426630"/>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of sampled HSE circuits meet the exact QEC conditions</a:t>
            </a:r>
          </a:p>
        </p:txBody>
      </p:sp>
      <p:sp>
        <p:nvSpPr>
          <p:cNvPr id="26" name="s52-box-03"/>
          <p:cNvSpPr/>
          <p:nvPr/>
        </p:nvSpPr>
        <p:spPr>
          <a:xfrm>
            <a:off x="7746806" y="4113209"/>
            <a:ext cx="3555911" cy="1163212"/>
          </a:xfrm>
          <a:prstGeom prst="roundRect">
            <a:avLst>
              <a:gd name="adj" fmla="val 1310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s52-text-21"/>
          <p:cNvSpPr txBox="1"/>
          <p:nvPr/>
        </p:nvSpPr>
        <p:spPr>
          <a:xfrm>
            <a:off x="7937302" y="4252905"/>
            <a:ext cx="3193970"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SCALING</a:t>
            </a:r>
          </a:p>
        </p:txBody>
      </p:sp>
      <p:sp>
        <p:nvSpPr>
          <p:cNvPr id="28" name="s52-text-22"/>
          <p:cNvSpPr txBox="1"/>
          <p:nvPr/>
        </p:nvSpPr>
        <p:spPr>
          <a:xfrm>
            <a:off x="7937302" y="4456100"/>
            <a:ext cx="3193970" cy="215895"/>
          </a:xfrm>
          <a:prstGeom prst="rect">
            <a:avLst/>
          </a:prstGeom>
          <a:noFill/>
        </p:spPr>
        <p:txBody>
          <a:bodyPr wrap="none" lIns="0" tIns="0" rIns="0" bIns="0" anchor="t">
            <a:noAutofit/>
          </a:bodyPr>
          <a:lstStyle/>
          <a:p>
            <a:pPr algn="l">
              <a:lnSpc>
                <a:spcPts val="1800"/>
              </a:lnSpc>
              <a:spcBef>
                <a:spcPts val="0"/>
              </a:spcBef>
              <a:spcAft>
                <a:spcPts val="0"/>
              </a:spcAft>
            </a:pPr>
            <a:r>
              <a:rPr sz="1500" b="1" i="0" spc="-22">
                <a:solidFill>
                  <a:srgbClr val="0B0B0F"/>
                </a:solidFill>
                <a:latin typeface="Arial"/>
              </a:rPr>
              <a:t>Stim · n = 17</a:t>
            </a:r>
          </a:p>
        </p:txBody>
      </p:sp>
      <p:sp>
        <p:nvSpPr>
          <p:cNvPr id="29" name="s52-text-23"/>
          <p:cNvSpPr txBox="1"/>
          <p:nvPr/>
        </p:nvSpPr>
        <p:spPr>
          <a:xfrm>
            <a:off x="7937302" y="4710094"/>
            <a:ext cx="3187620" cy="426630"/>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gate-level, p₁ = 10⁻³, p₂ = 10⁻² · trend confirmed</a:t>
            </a:r>
          </a:p>
        </p:txBody>
      </p:sp>
      <p:sp>
        <p:nvSpPr>
          <p:cNvPr id="30" name="!!sec"/>
          <p:cNvSpPr txBox="1"/>
          <p:nvPr/>
        </p:nvSpPr>
        <p:spPr>
          <a:xfrm>
            <a:off x="888978" y="6362541"/>
            <a:ext cx="132860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 · QEC audit</a:t>
            </a:r>
          </a:p>
        </p:txBody>
      </p:sp>
      <p:pic>
        <p:nvPicPr>
          <p:cNvPr id="31" name="s52-image-03" descr="Texas Tech University Double T"/>
          <p:cNvPicPr>
            <a:picLocks noChangeAspect="1"/>
          </p:cNvPicPr>
          <p:nvPr/>
        </p:nvPicPr>
        <p:blipFill>
          <a:blip r:embed="rId5"/>
          <a:stretch>
            <a:fillRect/>
          </a:stretch>
        </p:blipFill>
        <p:spPr>
          <a:xfrm>
            <a:off x="11055074" y="600060"/>
            <a:ext cx="190495" cy="222244"/>
          </a:xfrm>
          <a:prstGeom prst="rect">
            <a:avLst/>
          </a:prstGeom>
        </p:spPr>
      </p:pic>
      <p:sp>
        <p:nvSpPr>
          <p:cNvPr id="32"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52</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2252606"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Standards mapping</a:t>
            </a:r>
          </a:p>
        </p:txBody>
      </p:sp>
      <p:sp>
        <p:nvSpPr>
          <p:cNvPr id="3" name="s53-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Where the audit meets the standards</a:t>
            </a:r>
          </a:p>
        </p:txBody>
      </p:sp>
      <p:sp>
        <p:nvSpPr>
          <p:cNvPr id="4" name="s53-box-01"/>
          <p:cNvSpPr/>
          <p:nvPr/>
        </p:nvSpPr>
        <p:spPr>
          <a:xfrm>
            <a:off x="888978" y="1847109"/>
            <a:ext cx="1930451"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53-text-03"/>
          <p:cNvSpPr txBox="1"/>
          <p:nvPr/>
        </p:nvSpPr>
        <p:spPr>
          <a:xfrm>
            <a:off x="888978" y="1570891"/>
            <a:ext cx="1797104"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Standard</a:t>
            </a:r>
          </a:p>
        </p:txBody>
      </p:sp>
      <p:sp>
        <p:nvSpPr>
          <p:cNvPr id="6" name="s53-box-02"/>
          <p:cNvSpPr/>
          <p:nvPr/>
        </p:nvSpPr>
        <p:spPr>
          <a:xfrm>
            <a:off x="2819429" y="1847109"/>
            <a:ext cx="2842844"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53-text-04"/>
          <p:cNvSpPr txBox="1"/>
          <p:nvPr/>
        </p:nvSpPr>
        <p:spPr>
          <a:xfrm>
            <a:off x="2819429" y="1570891"/>
            <a:ext cx="2709497"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Governs today</a:t>
            </a:r>
          </a:p>
        </p:txBody>
      </p:sp>
      <p:sp>
        <p:nvSpPr>
          <p:cNvPr id="8" name="s53-box-03"/>
          <p:cNvSpPr/>
          <p:nvPr/>
        </p:nvSpPr>
        <p:spPr>
          <a:xfrm>
            <a:off x="5662273" y="1847109"/>
            <a:ext cx="564044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53-text-05"/>
          <p:cNvSpPr txBox="1"/>
          <p:nvPr/>
        </p:nvSpPr>
        <p:spPr>
          <a:xfrm>
            <a:off x="5662273" y="1570891"/>
            <a:ext cx="5507098"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What the QEC audit needs</a:t>
            </a:r>
          </a:p>
        </p:txBody>
      </p:sp>
      <p:sp>
        <p:nvSpPr>
          <p:cNvPr id="10" name="s53-box-04"/>
          <p:cNvSpPr/>
          <p:nvPr/>
        </p:nvSpPr>
        <p:spPr>
          <a:xfrm>
            <a:off x="888978" y="2310648"/>
            <a:ext cx="193045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53-text-06"/>
          <p:cNvSpPr txBox="1"/>
          <p:nvPr/>
        </p:nvSpPr>
        <p:spPr>
          <a:xfrm>
            <a:off x="888978" y="1980456"/>
            <a:ext cx="1797104" cy="203195"/>
          </a:xfrm>
          <a:prstGeom prst="rect">
            <a:avLst/>
          </a:prstGeom>
          <a:noFill/>
        </p:spPr>
        <p:txBody>
          <a:bodyPr wrap="none" lIns="0" tIns="0" rIns="0" bIns="0" anchor="t">
            <a:noAutofit/>
          </a:bodyPr>
          <a:lstStyle/>
          <a:p>
            <a:pPr algn="l">
              <a:lnSpc>
                <a:spcPts val="1680"/>
              </a:lnSpc>
              <a:spcBef>
                <a:spcPts val="0"/>
              </a:spcBef>
              <a:spcAft>
                <a:spcPts val="0"/>
              </a:spcAft>
            </a:pPr>
            <a:r>
              <a:rPr sz="1400" b="1" i="0">
                <a:solidFill>
                  <a:srgbClr val="0B0B0F"/>
                </a:solidFill>
                <a:latin typeface="Arial"/>
              </a:rPr>
              <a:t>FIPS 140-3</a:t>
            </a:r>
          </a:p>
        </p:txBody>
      </p:sp>
      <p:sp>
        <p:nvSpPr>
          <p:cNvPr id="12" name="s53-box-05"/>
          <p:cNvSpPr/>
          <p:nvPr/>
        </p:nvSpPr>
        <p:spPr>
          <a:xfrm>
            <a:off x="2819429" y="2310648"/>
            <a:ext cx="284284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53-text-07"/>
          <p:cNvSpPr txBox="1"/>
          <p:nvPr/>
        </p:nvSpPr>
        <p:spPr>
          <a:xfrm>
            <a:off x="2819429" y="1980456"/>
            <a:ext cx="2709497"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module boundary · self-tests</a:t>
            </a:r>
          </a:p>
        </p:txBody>
      </p:sp>
      <p:sp>
        <p:nvSpPr>
          <p:cNvPr id="14" name="s53-box-06"/>
          <p:cNvSpPr/>
          <p:nvPr/>
        </p:nvSpPr>
        <p:spPr>
          <a:xfrm>
            <a:off x="5662273" y="2310648"/>
            <a:ext cx="56404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53-text-08"/>
          <p:cNvSpPr txBox="1"/>
          <p:nvPr/>
        </p:nvSpPr>
        <p:spPr>
          <a:xfrm>
            <a:off x="5662273" y="1980456"/>
            <a:ext cx="550709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validated boundary around seed generation and encoder sampling</a:t>
            </a:r>
          </a:p>
        </p:txBody>
      </p:sp>
      <p:sp>
        <p:nvSpPr>
          <p:cNvPr id="16" name="s53-box-07"/>
          <p:cNvSpPr/>
          <p:nvPr/>
        </p:nvSpPr>
        <p:spPr>
          <a:xfrm>
            <a:off x="888978" y="2774186"/>
            <a:ext cx="193045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53-text-09"/>
          <p:cNvSpPr txBox="1"/>
          <p:nvPr/>
        </p:nvSpPr>
        <p:spPr>
          <a:xfrm>
            <a:off x="888978" y="2443994"/>
            <a:ext cx="1797104" cy="203195"/>
          </a:xfrm>
          <a:prstGeom prst="rect">
            <a:avLst/>
          </a:prstGeom>
          <a:noFill/>
        </p:spPr>
        <p:txBody>
          <a:bodyPr wrap="none" lIns="0" tIns="0" rIns="0" bIns="0" anchor="t">
            <a:noAutofit/>
          </a:bodyPr>
          <a:lstStyle/>
          <a:p>
            <a:pPr algn="l">
              <a:lnSpc>
                <a:spcPts val="1680"/>
              </a:lnSpc>
              <a:spcBef>
                <a:spcPts val="0"/>
              </a:spcBef>
              <a:spcAft>
                <a:spcPts val="0"/>
              </a:spcAft>
            </a:pPr>
            <a:r>
              <a:rPr sz="1400" b="1" i="0">
                <a:solidFill>
                  <a:srgbClr val="0B0B0F"/>
                </a:solidFill>
                <a:latin typeface="Arial"/>
              </a:rPr>
              <a:t>SP 800-90A</a:t>
            </a:r>
          </a:p>
        </p:txBody>
      </p:sp>
      <p:sp>
        <p:nvSpPr>
          <p:cNvPr id="18" name="s53-box-08"/>
          <p:cNvSpPr/>
          <p:nvPr/>
        </p:nvSpPr>
        <p:spPr>
          <a:xfrm>
            <a:off x="2819429" y="2774186"/>
            <a:ext cx="284284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53-text-10"/>
          <p:cNvSpPr txBox="1"/>
          <p:nvPr/>
        </p:nvSpPr>
        <p:spPr>
          <a:xfrm>
            <a:off x="2819429" y="2443994"/>
            <a:ext cx="2709497"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approved DRBGs</a:t>
            </a:r>
          </a:p>
        </p:txBody>
      </p:sp>
      <p:sp>
        <p:nvSpPr>
          <p:cNvPr id="20" name="s53-box-09"/>
          <p:cNvSpPr/>
          <p:nvPr/>
        </p:nvSpPr>
        <p:spPr>
          <a:xfrm>
            <a:off x="5662273" y="2774186"/>
            <a:ext cx="56404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53-text-11"/>
          <p:cNvSpPr txBox="1"/>
          <p:nvPr/>
        </p:nvSpPr>
        <p:spPr>
          <a:xfrm>
            <a:off x="5662273" y="2443994"/>
            <a:ext cx="550709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per-run HSE seed from an approved DRBG</a:t>
            </a:r>
          </a:p>
        </p:txBody>
      </p:sp>
      <p:sp>
        <p:nvSpPr>
          <p:cNvPr id="22" name="s53-box-10"/>
          <p:cNvSpPr/>
          <p:nvPr/>
        </p:nvSpPr>
        <p:spPr>
          <a:xfrm>
            <a:off x="888978" y="3237725"/>
            <a:ext cx="193045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53-text-12"/>
          <p:cNvSpPr txBox="1"/>
          <p:nvPr/>
        </p:nvSpPr>
        <p:spPr>
          <a:xfrm>
            <a:off x="888978" y="2907533"/>
            <a:ext cx="1797104" cy="203195"/>
          </a:xfrm>
          <a:prstGeom prst="rect">
            <a:avLst/>
          </a:prstGeom>
          <a:noFill/>
        </p:spPr>
        <p:txBody>
          <a:bodyPr wrap="none" lIns="0" tIns="0" rIns="0" bIns="0" anchor="t">
            <a:noAutofit/>
          </a:bodyPr>
          <a:lstStyle/>
          <a:p>
            <a:pPr algn="l">
              <a:lnSpc>
                <a:spcPts val="1680"/>
              </a:lnSpc>
              <a:spcBef>
                <a:spcPts val="0"/>
              </a:spcBef>
              <a:spcAft>
                <a:spcPts val="0"/>
              </a:spcAft>
            </a:pPr>
            <a:r>
              <a:rPr sz="1400" b="1" i="0">
                <a:solidFill>
                  <a:srgbClr val="0B0B0F"/>
                </a:solidFill>
                <a:latin typeface="Arial"/>
              </a:rPr>
              <a:t>FIPS 203 · ML-KEM</a:t>
            </a:r>
          </a:p>
        </p:txBody>
      </p:sp>
      <p:sp>
        <p:nvSpPr>
          <p:cNvPr id="24" name="s53-box-11"/>
          <p:cNvSpPr/>
          <p:nvPr/>
        </p:nvSpPr>
        <p:spPr>
          <a:xfrm>
            <a:off x="2819429" y="3237725"/>
            <a:ext cx="284284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53-text-13"/>
          <p:cNvSpPr txBox="1"/>
          <p:nvPr/>
        </p:nvSpPr>
        <p:spPr>
          <a:xfrm>
            <a:off x="2819429" y="2907533"/>
            <a:ext cx="2709497"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post-quantum key encapsulation</a:t>
            </a:r>
          </a:p>
        </p:txBody>
      </p:sp>
      <p:sp>
        <p:nvSpPr>
          <p:cNvPr id="26" name="s53-box-12"/>
          <p:cNvSpPr/>
          <p:nvPr/>
        </p:nvSpPr>
        <p:spPr>
          <a:xfrm>
            <a:off x="5662273" y="3237725"/>
            <a:ext cx="56404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s53-text-14"/>
          <p:cNvSpPr txBox="1"/>
          <p:nvPr/>
        </p:nvSpPr>
        <p:spPr>
          <a:xfrm>
            <a:off x="5662273" y="2907533"/>
            <a:ext cx="5507098"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seeds and jobs protected in transit</a:t>
            </a:r>
          </a:p>
        </p:txBody>
      </p:sp>
      <p:sp>
        <p:nvSpPr>
          <p:cNvPr id="28" name="s53-box-13"/>
          <p:cNvSpPr/>
          <p:nvPr/>
        </p:nvSpPr>
        <p:spPr>
          <a:xfrm>
            <a:off x="888978" y="3904458"/>
            <a:ext cx="193045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53-text-15"/>
          <p:cNvSpPr txBox="1"/>
          <p:nvPr/>
        </p:nvSpPr>
        <p:spPr>
          <a:xfrm>
            <a:off x="888978" y="3371071"/>
            <a:ext cx="1790754" cy="406390"/>
          </a:xfrm>
          <a:prstGeom prst="rect">
            <a:avLst/>
          </a:prstGeom>
          <a:noFill/>
        </p:spPr>
        <p:txBody>
          <a:bodyPr wrap="square" lIns="0" tIns="0" rIns="0" bIns="0" anchor="t">
            <a:noAutofit/>
          </a:bodyPr>
          <a:lstStyle/>
          <a:p>
            <a:pPr algn="l">
              <a:lnSpc>
                <a:spcPts val="1680"/>
              </a:lnSpc>
              <a:spcBef>
                <a:spcPts val="0"/>
              </a:spcBef>
              <a:spcAft>
                <a:spcPts val="0"/>
              </a:spcAft>
            </a:pPr>
            <a:r>
              <a:rPr sz="1400" b="1" i="0">
                <a:solidFill>
                  <a:srgbClr val="0B0B0F"/>
                </a:solidFill>
                <a:latin typeface="Arial"/>
              </a:rPr>
              <a:t>FIPS 204 · ML-DSA</a:t>
            </a:r>
          </a:p>
          <a:p>
            <a:pPr algn="l">
              <a:lnSpc>
                <a:spcPts val="1680"/>
              </a:lnSpc>
              <a:spcBef>
                <a:spcPts val="0"/>
              </a:spcBef>
              <a:spcAft>
                <a:spcPts val="0"/>
              </a:spcAft>
            </a:pPr>
            <a:r>
              <a:rPr sz="1400" b="1" i="0">
                <a:solidFill>
                  <a:srgbClr val="0B0B0F"/>
                </a:solidFill>
                <a:latin typeface="Arial"/>
              </a:rPr>
              <a:t>FIPS 205 · SLH-DSA</a:t>
            </a:r>
          </a:p>
        </p:txBody>
      </p:sp>
      <p:sp>
        <p:nvSpPr>
          <p:cNvPr id="30" name="s53-box-14"/>
          <p:cNvSpPr/>
          <p:nvPr/>
        </p:nvSpPr>
        <p:spPr>
          <a:xfrm>
            <a:off x="2819429" y="3904458"/>
            <a:ext cx="284284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53-text-16"/>
          <p:cNvSpPr txBox="1"/>
          <p:nvPr/>
        </p:nvSpPr>
        <p:spPr>
          <a:xfrm>
            <a:off x="2819429" y="3371071"/>
            <a:ext cx="2703147" cy="406390"/>
          </a:xfrm>
          <a:prstGeom prst="rect">
            <a:avLst/>
          </a:prstGeom>
          <a:noFill/>
        </p:spPr>
        <p:txBody>
          <a:bodyPr wrap="square" lIns="0" tIns="0" rIns="0" bIns="0" anchor="t">
            <a:noAutofit/>
          </a:bodyPr>
          <a:lstStyle/>
          <a:p>
            <a:pPr algn="l">
              <a:lnSpc>
                <a:spcPts val="1680"/>
              </a:lnSpc>
              <a:spcBef>
                <a:spcPts val="0"/>
              </a:spcBef>
              <a:spcAft>
                <a:spcPts val="0"/>
              </a:spcAft>
            </a:pPr>
            <a:r>
              <a:rPr sz="1400" b="0" i="0">
                <a:solidFill>
                  <a:srgbClr val="50505B"/>
                </a:solidFill>
                <a:latin typeface="Arial"/>
              </a:rPr>
              <a:t>post-quantum signatures</a:t>
            </a:r>
          </a:p>
        </p:txBody>
      </p:sp>
      <p:sp>
        <p:nvSpPr>
          <p:cNvPr id="32" name="s53-box-15"/>
          <p:cNvSpPr/>
          <p:nvPr/>
        </p:nvSpPr>
        <p:spPr>
          <a:xfrm>
            <a:off x="5662273" y="3904458"/>
            <a:ext cx="56404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s53-text-17"/>
          <p:cNvSpPr txBox="1"/>
          <p:nvPr/>
        </p:nvSpPr>
        <p:spPr>
          <a:xfrm>
            <a:off x="5662273" y="3371071"/>
            <a:ext cx="5500748" cy="406390"/>
          </a:xfrm>
          <a:prstGeom prst="rect">
            <a:avLst/>
          </a:prstGeom>
          <a:noFill/>
        </p:spPr>
        <p:txBody>
          <a:bodyPr wrap="square" lIns="0" tIns="0" rIns="0" bIns="0" anchor="t">
            <a:noAutofit/>
          </a:bodyPr>
          <a:lstStyle/>
          <a:p>
            <a:pPr algn="l">
              <a:lnSpc>
                <a:spcPts val="1680"/>
              </a:lnSpc>
              <a:spcBef>
                <a:spcPts val="0"/>
              </a:spcBef>
              <a:spcAft>
                <a:spcPts val="0"/>
              </a:spcAft>
            </a:pPr>
            <a:r>
              <a:rPr sz="1400" b="0" i="0">
                <a:solidFill>
                  <a:srgbClr val="50505B"/>
                </a:solidFill>
                <a:latin typeface="Arial"/>
              </a:rPr>
              <a:t>attest which encoder ran</a:t>
            </a:r>
          </a:p>
        </p:txBody>
      </p:sp>
      <p:sp>
        <p:nvSpPr>
          <p:cNvPr id="34"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53-text-18"/>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36"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37"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s53-text-20"/>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39"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40"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53-text-22"/>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42"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43"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s53-text-24"/>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45"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46" name="!!L5-bg"/>
          <p:cNvSpPr/>
          <p:nvPr/>
        </p:nvSpPr>
        <p:spPr>
          <a:xfrm>
            <a:off x="10522282" y="6311742"/>
            <a:ext cx="780435"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53-text-26"/>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05</a:t>
            </a:r>
          </a:p>
        </p:txBody>
      </p:sp>
      <p:sp>
        <p:nvSpPr>
          <p:cNvPr id="48"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Trust</a:t>
            </a:r>
          </a:p>
        </p:txBody>
      </p:sp>
      <p:sp>
        <p:nvSpPr>
          <p:cNvPr id="49" name="!!sec"/>
          <p:cNvSpPr txBox="1"/>
          <p:nvPr/>
        </p:nvSpPr>
        <p:spPr>
          <a:xfrm>
            <a:off x="888978" y="6362541"/>
            <a:ext cx="1328605"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 · QEC audit</a:t>
            </a:r>
          </a:p>
        </p:txBody>
      </p:sp>
      <p:pic>
        <p:nvPicPr>
          <p:cNvPr id="50" name="s53-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51"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53</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s54-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s54-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s54-text-01"/>
          <p:cNvSpPr txBox="1"/>
          <p:nvPr/>
        </p:nvSpPr>
        <p:spPr>
          <a:xfrm>
            <a:off x="888978" y="2364721"/>
            <a:ext cx="10432789"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Chapter VIII · RQ5 Trust</a:t>
            </a:r>
          </a:p>
        </p:txBody>
      </p:sp>
      <p:sp>
        <p:nvSpPr>
          <p:cNvPr id="5" name="s54-text-02"/>
          <p:cNvSpPr txBox="1"/>
          <p:nvPr/>
        </p:nvSpPr>
        <p:spPr>
          <a:xfrm>
            <a:off x="888978" y="2675863"/>
            <a:ext cx="7048125" cy="826670"/>
          </a:xfrm>
          <a:prstGeom prst="rect">
            <a:avLst/>
          </a:prstGeom>
          <a:noFill/>
        </p:spPr>
        <p:txBody>
          <a:bodyPr wrap="none" lIns="0" tIns="0" rIns="0" bIns="0" anchor="t">
            <a:noAutofit/>
          </a:bodyPr>
          <a:lstStyle/>
          <a:p>
            <a:pPr algn="l">
              <a:lnSpc>
                <a:spcPts val="6509"/>
              </a:lnSpc>
              <a:spcBef>
                <a:spcPts val="0"/>
              </a:spcBef>
              <a:spcAft>
                <a:spcPts val="0"/>
              </a:spcAft>
            </a:pPr>
            <a:r>
              <a:rPr sz="6200" b="1" i="0" spc="-217">
                <a:solidFill>
                  <a:srgbClr val="CC0000"/>
                </a:solidFill>
                <a:latin typeface="Arial"/>
              </a:rPr>
              <a:t>Post-quantum stack</a:t>
            </a:r>
          </a:p>
        </p:txBody>
      </p:sp>
      <p:sp>
        <p:nvSpPr>
          <p:cNvPr id="6" name="s54-text-03"/>
          <p:cNvSpPr txBox="1"/>
          <p:nvPr/>
        </p:nvSpPr>
        <p:spPr>
          <a:xfrm>
            <a:off x="888978" y="3654929"/>
            <a:ext cx="9537462" cy="685783"/>
          </a:xfrm>
          <a:prstGeom prst="rect">
            <a:avLst/>
          </a:prstGeom>
          <a:noFill/>
        </p:spPr>
        <p:txBody>
          <a:bodyPr wrap="square" lIns="0" tIns="0" rIns="0" bIns="0" anchor="t">
            <a:noAutofit/>
          </a:bodyPr>
          <a:lstStyle/>
          <a:p>
            <a:pPr algn="l">
              <a:lnSpc>
                <a:spcPts val="2700"/>
              </a:lnSpc>
              <a:spcBef>
                <a:spcPts val="0"/>
              </a:spcBef>
              <a:spcAft>
                <a:spcPts val="0"/>
              </a:spcAft>
            </a:pPr>
            <a:r>
              <a:rPr sz="2000" b="0" i="0">
                <a:solidFill>
                  <a:srgbClr val="50505B"/>
                </a:solidFill>
                <a:latin typeface="Arial"/>
              </a:rPr>
              <a:t>Toward a post-quantum-secure quantum stack</a:t>
            </a:r>
          </a:p>
          <a:p>
            <a:pPr algn="l">
              <a:lnSpc>
                <a:spcPts val="2700"/>
              </a:lnSpc>
              <a:spcBef>
                <a:spcPts val="0"/>
              </a:spcBef>
              <a:spcAft>
                <a:spcPts val="0"/>
              </a:spcAft>
            </a:pPr>
            <a:r>
              <a:rPr sz="1200" b="0" i="0">
                <a:solidFill>
                  <a:srgbClr val="7B7B86"/>
                </a:solidFill>
                <a:latin typeface="Arial"/>
              </a:rPr>
              <a:t>Light Rider Inc. QPC SDK v1.0.0 · Zenodo 10.5281/zenodo.21895102 · FIPS 140-3 post-quantum cryptography module with module search</a:t>
            </a:r>
          </a:p>
        </p:txBody>
      </p:sp>
      <p:sp>
        <p:nvSpPr>
          <p:cNvPr id="7"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54-text-04"/>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9"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10"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54-text-06"/>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12"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13"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54-text-08"/>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15"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16"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54-text-10"/>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18"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19" name="!!L5-bg"/>
          <p:cNvSpPr/>
          <p:nvPr/>
        </p:nvSpPr>
        <p:spPr>
          <a:xfrm>
            <a:off x="10522282" y="6311742"/>
            <a:ext cx="780435"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54-text-12"/>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05</a:t>
            </a:r>
          </a:p>
        </p:txBody>
      </p:sp>
      <p:sp>
        <p:nvSpPr>
          <p:cNvPr id="21"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Trust</a:t>
            </a:r>
          </a:p>
        </p:txBody>
      </p:sp>
      <p:sp>
        <p:nvSpPr>
          <p:cNvPr id="22" name="!!sec"/>
          <p:cNvSpPr txBox="1"/>
          <p:nvPr/>
        </p:nvSpPr>
        <p:spPr>
          <a:xfrm>
            <a:off x="888978" y="6362541"/>
            <a:ext cx="241462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VIII · Post-quantum stack</a:t>
            </a:r>
          </a:p>
        </p:txBody>
      </p:sp>
      <p:pic>
        <p:nvPicPr>
          <p:cNvPr id="23" name="s54-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4"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54</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4003972"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Why the quantum stack needs PQC</a:t>
            </a:r>
          </a:p>
        </p:txBody>
      </p:sp>
      <p:sp>
        <p:nvSpPr>
          <p:cNvPr id="3" name="s55-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Our machine breaks its own keys</a:t>
            </a:r>
          </a:p>
        </p:txBody>
      </p:sp>
      <p:sp>
        <p:nvSpPr>
          <p:cNvPr id="4" name="s55-box-01"/>
          <p:cNvSpPr/>
          <p:nvPr/>
        </p:nvSpPr>
        <p:spPr>
          <a:xfrm>
            <a:off x="888978" y="1634390"/>
            <a:ext cx="3352716" cy="2111719"/>
          </a:xfrm>
          <a:prstGeom prst="roundRect">
            <a:avLst>
              <a:gd name="adj" fmla="val 721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55-text-03"/>
          <p:cNvSpPr txBox="1"/>
          <p:nvPr/>
        </p:nvSpPr>
        <p:spPr>
          <a:xfrm>
            <a:off x="1142971" y="1862984"/>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THE THREAT</a:t>
            </a:r>
          </a:p>
        </p:txBody>
      </p:sp>
      <p:sp>
        <p:nvSpPr>
          <p:cNvPr id="6" name="s55-text-04"/>
          <p:cNvSpPr txBox="1"/>
          <p:nvPr/>
        </p:nvSpPr>
        <p:spPr>
          <a:xfrm>
            <a:off x="1142971" y="2161426"/>
            <a:ext cx="2863778"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Shor’s algorithm</a:t>
            </a:r>
          </a:p>
        </p:txBody>
      </p:sp>
      <p:sp>
        <p:nvSpPr>
          <p:cNvPr id="7" name="s55-text-05"/>
          <p:cNvSpPr txBox="1"/>
          <p:nvPr/>
        </p:nvSpPr>
        <p:spPr>
          <a:xfrm>
            <a:off x="1142971" y="2504318"/>
            <a:ext cx="2857429" cy="746503"/>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2048-bit RSA in ≈8 h with 20 M noisy qubits (Gidney–Ekerå). This stack builds toward that machine.</a:t>
            </a:r>
          </a:p>
        </p:txBody>
      </p:sp>
      <p:sp>
        <p:nvSpPr>
          <p:cNvPr id="8" name="s55-box-02"/>
          <p:cNvSpPr/>
          <p:nvPr/>
        </p:nvSpPr>
        <p:spPr>
          <a:xfrm>
            <a:off x="4419490" y="1634390"/>
            <a:ext cx="3352716" cy="2111719"/>
          </a:xfrm>
          <a:prstGeom prst="roundRect">
            <a:avLst>
              <a:gd name="adj" fmla="val 721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55-text-06"/>
          <p:cNvSpPr txBox="1"/>
          <p:nvPr/>
        </p:nvSpPr>
        <p:spPr>
          <a:xfrm>
            <a:off x="4673483" y="1862984"/>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THE CHANNEL</a:t>
            </a:r>
          </a:p>
        </p:txBody>
      </p:sp>
      <p:sp>
        <p:nvSpPr>
          <p:cNvPr id="10" name="s55-text-07"/>
          <p:cNvSpPr txBox="1"/>
          <p:nvPr/>
        </p:nvSpPr>
        <p:spPr>
          <a:xfrm>
            <a:off x="4673483" y="2161426"/>
            <a:ext cx="2857429" cy="533387"/>
          </a:xfrm>
          <a:prstGeom prst="rect">
            <a:avLst/>
          </a:prstGeom>
          <a:noFill/>
        </p:spPr>
        <p:txBody>
          <a:bodyPr wrap="square" lIns="0" tIns="0" rIns="0" bIns="0" anchor="t">
            <a:noAutofit/>
          </a:bodyPr>
          <a:lstStyle/>
          <a:p>
            <a:pPr algn="l">
              <a:lnSpc>
                <a:spcPts val="2160"/>
              </a:lnSpc>
              <a:spcBef>
                <a:spcPts val="0"/>
              </a:spcBef>
              <a:spcAft>
                <a:spcPts val="0"/>
              </a:spcAft>
            </a:pPr>
            <a:r>
              <a:rPr sz="1800" b="1" i="0" spc="-27">
                <a:solidFill>
                  <a:srgbClr val="0B0B0F"/>
                </a:solidFill>
                <a:latin typeface="Arial"/>
              </a:rPr>
              <a:t>Cloud QPU jobs are classical traffic</a:t>
            </a:r>
          </a:p>
        </p:txBody>
      </p:sp>
      <p:sp>
        <p:nvSpPr>
          <p:cNvPr id="11" name="s55-text-08"/>
          <p:cNvSpPr txBox="1"/>
          <p:nvPr/>
        </p:nvSpPr>
        <p:spPr>
          <a:xfrm>
            <a:off x="4673483" y="2771011"/>
            <a:ext cx="2857429" cy="746503"/>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Circuits, seeds, results travel classically to IBM, IonQ, HPC — harvest now, decrypt later</a:t>
            </a:r>
          </a:p>
        </p:txBody>
      </p:sp>
      <p:sp>
        <p:nvSpPr>
          <p:cNvPr id="12" name="s55-box-03"/>
          <p:cNvSpPr/>
          <p:nvPr/>
        </p:nvSpPr>
        <p:spPr>
          <a:xfrm>
            <a:off x="7950001" y="1634390"/>
            <a:ext cx="3352716" cy="2111719"/>
          </a:xfrm>
          <a:prstGeom prst="roundRect">
            <a:avLst>
              <a:gd name="adj" fmla="val 7216"/>
            </a:avLst>
          </a:prstGeom>
          <a:solidFill>
            <a:srgbClr val="000000">
              <a:alpha val="11000"/>
            </a:srgbClr>
          </a:solidFill>
          <a:ln w="6350">
            <a:solidFill>
              <a:srgbClr val="000000">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55-text-09"/>
          <p:cNvSpPr txBox="1"/>
          <p:nvPr/>
        </p:nvSpPr>
        <p:spPr>
          <a:xfrm>
            <a:off x="8203995" y="1862984"/>
            <a:ext cx="2863778"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THE LINK TO CHAPTER VII</a:t>
            </a:r>
          </a:p>
        </p:txBody>
      </p:sp>
      <p:sp>
        <p:nvSpPr>
          <p:cNvPr id="14" name="s55-text-10"/>
          <p:cNvSpPr txBox="1"/>
          <p:nvPr/>
        </p:nvSpPr>
        <p:spPr>
          <a:xfrm>
            <a:off x="8203995" y="2161426"/>
            <a:ext cx="2857429" cy="533387"/>
          </a:xfrm>
          <a:prstGeom prst="rect">
            <a:avLst/>
          </a:prstGeom>
          <a:noFill/>
        </p:spPr>
        <p:txBody>
          <a:bodyPr wrap="square" lIns="0" tIns="0" rIns="0" bIns="0" anchor="t">
            <a:noAutofit/>
          </a:bodyPr>
          <a:lstStyle/>
          <a:p>
            <a:pPr algn="l">
              <a:lnSpc>
                <a:spcPts val="2160"/>
              </a:lnSpc>
              <a:spcBef>
                <a:spcPts val="0"/>
              </a:spcBef>
              <a:spcAft>
                <a:spcPts val="0"/>
              </a:spcAft>
            </a:pPr>
            <a:r>
              <a:rPr sz="1800" b="1" i="0" spc="-27">
                <a:solidFill>
                  <a:srgbClr val="0B0B0F"/>
                </a:solidFill>
                <a:latin typeface="Arial"/>
              </a:rPr>
              <a:t>Seeds need a validated source</a:t>
            </a:r>
          </a:p>
        </p:txBody>
      </p:sp>
      <p:sp>
        <p:nvSpPr>
          <p:cNvPr id="15" name="s55-text-11"/>
          <p:cNvSpPr txBox="1"/>
          <p:nvPr/>
        </p:nvSpPr>
        <p:spPr>
          <a:xfrm>
            <a:off x="8203995" y="2771011"/>
            <a:ext cx="2857429" cy="746503"/>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Approved DRBG (SP 800-90A) inside a FIPS 140-3 boundary · attestable encoder</a:t>
            </a:r>
          </a:p>
        </p:txBody>
      </p:sp>
      <p:sp>
        <p:nvSpPr>
          <p:cNvPr id="16" name="!!sec"/>
          <p:cNvSpPr txBox="1"/>
          <p:nvPr/>
        </p:nvSpPr>
        <p:spPr>
          <a:xfrm>
            <a:off x="888978" y="6362541"/>
            <a:ext cx="241462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VIII · Post-quantum stack</a:t>
            </a:r>
          </a:p>
        </p:txBody>
      </p:sp>
      <p:pic>
        <p:nvPicPr>
          <p:cNvPr id="17" name="s55-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18"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55</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933129"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QPC SDK</a:t>
            </a:r>
          </a:p>
        </p:txBody>
      </p:sp>
      <p:sp>
        <p:nvSpPr>
          <p:cNvPr id="3" name="s56-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One boundary for keys and seeds</a:t>
            </a:r>
          </a:p>
        </p:txBody>
      </p:sp>
      <p:pic>
        <p:nvPicPr>
          <p:cNvPr id="4" name="s56-image-01" descr="diagram"/>
          <p:cNvPicPr>
            <a:picLocks noChangeAspect="1"/>
          </p:cNvPicPr>
          <p:nvPr/>
        </p:nvPicPr>
        <p:blipFill>
          <a:blip r:embed="rId3"/>
          <a:stretch>
            <a:fillRect/>
          </a:stretch>
        </p:blipFill>
        <p:spPr>
          <a:xfrm>
            <a:off x="863578" y="1530312"/>
            <a:ext cx="10470888" cy="3486063"/>
          </a:xfrm>
          <a:prstGeom prst="rect">
            <a:avLst/>
          </a:prstGeom>
        </p:spPr>
      </p:pic>
      <p:sp>
        <p:nvSpPr>
          <p:cNvPr id="5" name="s56-text-03"/>
          <p:cNvSpPr txBox="1"/>
          <p:nvPr/>
        </p:nvSpPr>
        <p:spPr>
          <a:xfrm>
            <a:off x="1333467" y="1945532"/>
            <a:ext cx="5664455"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FIPS 140-3 module boundary · Light Rider QPC SDK v1.0.0</a:t>
            </a:r>
          </a:p>
        </p:txBody>
      </p:sp>
      <p:sp>
        <p:nvSpPr>
          <p:cNvPr id="6" name="s56-text-04"/>
          <p:cNvSpPr txBox="1"/>
          <p:nvPr/>
        </p:nvSpPr>
        <p:spPr>
          <a:xfrm>
            <a:off x="1333467" y="2218575"/>
            <a:ext cx="346959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Linux x86_64 · 1.1 MB · CC-BY-4.0 · Zenodo, Aug 2026</a:t>
            </a:r>
          </a:p>
        </p:txBody>
      </p:sp>
      <p:sp>
        <p:nvSpPr>
          <p:cNvPr id="7" name="s56-text-05"/>
          <p:cNvSpPr txBox="1"/>
          <p:nvPr/>
        </p:nvSpPr>
        <p:spPr>
          <a:xfrm>
            <a:off x="1911401" y="2764661"/>
            <a:ext cx="83163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ML-KEM</a:t>
            </a:r>
          </a:p>
        </p:txBody>
      </p:sp>
      <p:sp>
        <p:nvSpPr>
          <p:cNvPr id="8" name="s56-text-06"/>
          <p:cNvSpPr txBox="1"/>
          <p:nvPr/>
        </p:nvSpPr>
        <p:spPr>
          <a:xfrm>
            <a:off x="1405250" y="3050404"/>
            <a:ext cx="184393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FIPS 203 · key encapsulation</a:t>
            </a:r>
          </a:p>
        </p:txBody>
      </p:sp>
      <p:sp>
        <p:nvSpPr>
          <p:cNvPr id="9" name="s56-text-07"/>
          <p:cNvSpPr txBox="1"/>
          <p:nvPr/>
        </p:nvSpPr>
        <p:spPr>
          <a:xfrm>
            <a:off x="4145107" y="2764661"/>
            <a:ext cx="80910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ML-DSA</a:t>
            </a:r>
          </a:p>
        </p:txBody>
      </p:sp>
      <p:sp>
        <p:nvSpPr>
          <p:cNvPr id="10" name="s56-text-08"/>
          <p:cNvSpPr txBox="1"/>
          <p:nvPr/>
        </p:nvSpPr>
        <p:spPr>
          <a:xfrm>
            <a:off x="3662717" y="3050404"/>
            <a:ext cx="177388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FIPS 204 · lattice signatures</a:t>
            </a:r>
          </a:p>
        </p:txBody>
      </p:sp>
      <p:sp>
        <p:nvSpPr>
          <p:cNvPr id="11" name="s56-text-09"/>
          <p:cNvSpPr txBox="1"/>
          <p:nvPr/>
        </p:nvSpPr>
        <p:spPr>
          <a:xfrm>
            <a:off x="6311048" y="2764661"/>
            <a:ext cx="922116"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SLH-DSA</a:t>
            </a:r>
          </a:p>
        </p:txBody>
      </p:sp>
      <p:sp>
        <p:nvSpPr>
          <p:cNvPr id="12" name="s56-text-10"/>
          <p:cNvSpPr txBox="1"/>
          <p:nvPr/>
        </p:nvSpPr>
        <p:spPr>
          <a:xfrm>
            <a:off x="5916167" y="3050404"/>
            <a:ext cx="1711878"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FIPS 205 · hash signatures</a:t>
            </a:r>
          </a:p>
        </p:txBody>
      </p:sp>
      <p:sp>
        <p:nvSpPr>
          <p:cNvPr id="13" name="s56-text-11"/>
          <p:cNvSpPr txBox="1"/>
          <p:nvPr/>
        </p:nvSpPr>
        <p:spPr>
          <a:xfrm>
            <a:off x="2018555" y="3907633"/>
            <a:ext cx="61732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DRBG</a:t>
            </a:r>
          </a:p>
        </p:txBody>
      </p:sp>
      <p:sp>
        <p:nvSpPr>
          <p:cNvPr id="14" name="s56-text-12"/>
          <p:cNvSpPr txBox="1"/>
          <p:nvPr/>
        </p:nvSpPr>
        <p:spPr>
          <a:xfrm>
            <a:off x="1697640" y="4193376"/>
            <a:ext cx="125915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SP 800-90A · seeds</a:t>
            </a:r>
          </a:p>
        </p:txBody>
      </p:sp>
      <p:sp>
        <p:nvSpPr>
          <p:cNvPr id="15" name="s56-text-13"/>
          <p:cNvSpPr txBox="1"/>
          <p:nvPr/>
        </p:nvSpPr>
        <p:spPr>
          <a:xfrm>
            <a:off x="4094060" y="3907633"/>
            <a:ext cx="911202"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self-tests</a:t>
            </a:r>
          </a:p>
        </p:txBody>
      </p:sp>
      <p:sp>
        <p:nvSpPr>
          <p:cNvPr id="16" name="s56-text-14"/>
          <p:cNvSpPr txBox="1"/>
          <p:nvPr/>
        </p:nvSpPr>
        <p:spPr>
          <a:xfrm>
            <a:off x="3829550" y="4193376"/>
            <a:ext cx="144022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power-up &amp; conditional</a:t>
            </a:r>
          </a:p>
        </p:txBody>
      </p:sp>
      <p:sp>
        <p:nvSpPr>
          <p:cNvPr id="17" name="s56-text-15"/>
          <p:cNvSpPr txBox="1"/>
          <p:nvPr/>
        </p:nvSpPr>
        <p:spPr>
          <a:xfrm>
            <a:off x="6045495" y="3907633"/>
            <a:ext cx="145322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module search</a:t>
            </a:r>
          </a:p>
        </p:txBody>
      </p:sp>
      <p:sp>
        <p:nvSpPr>
          <p:cNvPr id="18" name="s56-text-16"/>
          <p:cNvSpPr txBox="1"/>
          <p:nvPr/>
        </p:nvSpPr>
        <p:spPr>
          <a:xfrm>
            <a:off x="5893000" y="4193376"/>
            <a:ext cx="1758212"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discover &amp; select algorithms</a:t>
            </a:r>
          </a:p>
        </p:txBody>
      </p:sp>
      <p:sp>
        <p:nvSpPr>
          <p:cNvPr id="19" name="s56-text-17"/>
          <p:cNvSpPr txBox="1"/>
          <p:nvPr/>
        </p:nvSpPr>
        <p:spPr>
          <a:xfrm>
            <a:off x="8763773" y="3907633"/>
            <a:ext cx="217601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seeds → HSE encoder</a:t>
            </a:r>
          </a:p>
        </p:txBody>
      </p:sp>
      <p:sp>
        <p:nvSpPr>
          <p:cNvPr id="20" name="s56-text-18"/>
          <p:cNvSpPr txBox="1"/>
          <p:nvPr/>
        </p:nvSpPr>
        <p:spPr>
          <a:xfrm>
            <a:off x="8960965" y="4193376"/>
            <a:ext cx="1781627"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reseeded QEC (Chapter VII)</a:t>
            </a:r>
          </a:p>
        </p:txBody>
      </p:sp>
      <p:sp>
        <p:nvSpPr>
          <p:cNvPr id="21" name="s56-text-19"/>
          <p:cNvSpPr txBox="1"/>
          <p:nvPr/>
        </p:nvSpPr>
        <p:spPr>
          <a:xfrm>
            <a:off x="9277763" y="2764661"/>
            <a:ext cx="114803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signed jobs</a:t>
            </a:r>
          </a:p>
        </p:txBody>
      </p:sp>
      <p:sp>
        <p:nvSpPr>
          <p:cNvPr id="22" name="s56-text-20"/>
          <p:cNvSpPr txBox="1"/>
          <p:nvPr/>
        </p:nvSpPr>
        <p:spPr>
          <a:xfrm>
            <a:off x="8603787" y="3050404"/>
            <a:ext cx="2495984"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encapsulated · cloud QPU · HPC center</a:t>
            </a:r>
          </a:p>
        </p:txBody>
      </p:sp>
      <p:sp>
        <p:nvSpPr>
          <p:cNvPr id="23" name="s56-text-21"/>
          <p:cNvSpPr txBox="1"/>
          <p:nvPr/>
        </p:nvSpPr>
        <p:spPr>
          <a:xfrm>
            <a:off x="9500652" y="1939182"/>
            <a:ext cx="702253"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consumers</a:t>
            </a:r>
          </a:p>
        </p:txBody>
      </p:sp>
      <p:sp>
        <p:nvSpPr>
          <p:cNvPr id="24" name="!!sec"/>
          <p:cNvSpPr txBox="1"/>
          <p:nvPr/>
        </p:nvSpPr>
        <p:spPr>
          <a:xfrm>
            <a:off x="888978" y="6362541"/>
            <a:ext cx="241462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VIII · Post-quantum stack</a:t>
            </a:r>
          </a:p>
        </p:txBody>
      </p:sp>
      <p:pic>
        <p:nvPicPr>
          <p:cNvPr id="25" name="s56-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26"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56</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511957"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NIST timeline</a:t>
            </a:r>
          </a:p>
        </p:txBody>
      </p:sp>
      <p:sp>
        <p:nvSpPr>
          <p:cNvPr id="3" name="s57-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The standards this stack builds on</a:t>
            </a:r>
          </a:p>
        </p:txBody>
      </p:sp>
      <p:pic>
        <p:nvPicPr>
          <p:cNvPr id="4" name="s57-image-01" descr="diagram"/>
          <p:cNvPicPr>
            <a:picLocks noChangeAspect="1"/>
          </p:cNvPicPr>
          <p:nvPr/>
        </p:nvPicPr>
        <p:blipFill>
          <a:blip r:embed="rId3"/>
          <a:stretch>
            <a:fillRect/>
          </a:stretch>
        </p:blipFill>
        <p:spPr>
          <a:xfrm>
            <a:off x="863578" y="1606510"/>
            <a:ext cx="10470888" cy="3105072"/>
          </a:xfrm>
          <a:prstGeom prst="rect">
            <a:avLst/>
          </a:prstGeom>
        </p:spPr>
      </p:pic>
      <p:sp>
        <p:nvSpPr>
          <p:cNvPr id="5" name="s57-text-03"/>
          <p:cNvSpPr txBox="1"/>
          <p:nvPr/>
        </p:nvSpPr>
        <p:spPr>
          <a:xfrm>
            <a:off x="1950445" y="2129677"/>
            <a:ext cx="384860"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2015</a:t>
            </a:r>
          </a:p>
        </p:txBody>
      </p:sp>
      <p:sp>
        <p:nvSpPr>
          <p:cNvPr id="6" name="s57-text-04"/>
          <p:cNvSpPr txBox="1"/>
          <p:nvPr/>
        </p:nvSpPr>
        <p:spPr>
          <a:xfrm>
            <a:off x="819528" y="2288423"/>
            <a:ext cx="2646693"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SP 800-90A Rev. 1 · DRBGs</a:t>
            </a:r>
          </a:p>
        </p:txBody>
      </p:sp>
      <p:sp>
        <p:nvSpPr>
          <p:cNvPr id="7" name="s57-text-05"/>
          <p:cNvSpPr txBox="1"/>
          <p:nvPr/>
        </p:nvSpPr>
        <p:spPr>
          <a:xfrm>
            <a:off x="1261140" y="2548767"/>
            <a:ext cx="1763470"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NIST PQC workshops begin</a:t>
            </a:r>
          </a:p>
        </p:txBody>
      </p:sp>
      <p:sp>
        <p:nvSpPr>
          <p:cNvPr id="8" name="s57-text-06"/>
          <p:cNvSpPr txBox="1"/>
          <p:nvPr/>
        </p:nvSpPr>
        <p:spPr>
          <a:xfrm>
            <a:off x="4706968" y="4034630"/>
            <a:ext cx="384860"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2019</a:t>
            </a:r>
          </a:p>
        </p:txBody>
      </p:sp>
      <p:sp>
        <p:nvSpPr>
          <p:cNvPr id="9" name="s57-text-07"/>
          <p:cNvSpPr txBox="1"/>
          <p:nvPr/>
        </p:nvSpPr>
        <p:spPr>
          <a:xfrm>
            <a:off x="4375982" y="4193376"/>
            <a:ext cx="1046831"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FIPS 140-3</a:t>
            </a:r>
          </a:p>
        </p:txBody>
      </p:sp>
      <p:sp>
        <p:nvSpPr>
          <p:cNvPr id="10" name="s57-text-08"/>
          <p:cNvSpPr txBox="1"/>
          <p:nvPr/>
        </p:nvSpPr>
        <p:spPr>
          <a:xfrm>
            <a:off x="3973660" y="4453719"/>
            <a:ext cx="1851475"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module security requirements</a:t>
            </a:r>
          </a:p>
        </p:txBody>
      </p:sp>
      <p:sp>
        <p:nvSpPr>
          <p:cNvPr id="11" name="s57-text-09"/>
          <p:cNvSpPr txBox="1"/>
          <p:nvPr/>
        </p:nvSpPr>
        <p:spPr>
          <a:xfrm>
            <a:off x="8383191" y="2129677"/>
            <a:ext cx="750670"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Aug 2024</a:t>
            </a:r>
          </a:p>
        </p:txBody>
      </p:sp>
      <p:sp>
        <p:nvSpPr>
          <p:cNvPr id="12" name="s57-text-10"/>
          <p:cNvSpPr txBox="1"/>
          <p:nvPr/>
        </p:nvSpPr>
        <p:spPr>
          <a:xfrm>
            <a:off x="7805852" y="2288423"/>
            <a:ext cx="1905349"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FIPS 203 · 204 · 205</a:t>
            </a:r>
          </a:p>
        </p:txBody>
      </p:sp>
      <p:sp>
        <p:nvSpPr>
          <p:cNvPr id="13" name="s57-text-11"/>
          <p:cNvSpPr txBox="1"/>
          <p:nvPr/>
        </p:nvSpPr>
        <p:spPr>
          <a:xfrm>
            <a:off x="7790374" y="2548767"/>
            <a:ext cx="1938332"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ML-KEM · ML-DSA · SLH-DSA</a:t>
            </a:r>
          </a:p>
        </p:txBody>
      </p:sp>
      <p:sp>
        <p:nvSpPr>
          <p:cNvPr id="14" name="s57-text-12"/>
          <p:cNvSpPr txBox="1"/>
          <p:nvPr/>
        </p:nvSpPr>
        <p:spPr>
          <a:xfrm>
            <a:off x="9944330" y="4034630"/>
            <a:ext cx="384860" cy="171446"/>
          </a:xfrm>
          <a:prstGeom prst="rect">
            <a:avLst/>
          </a:prstGeom>
          <a:noFill/>
        </p:spPr>
        <p:txBody>
          <a:bodyPr wrap="none" lIns="0" tIns="0" rIns="0" bIns="0" anchor="t">
            <a:noAutofit/>
          </a:bodyPr>
          <a:lstStyle/>
          <a:p>
            <a:pPr algn="l">
              <a:lnSpc>
                <a:spcPct val="100000"/>
              </a:lnSpc>
              <a:spcBef>
                <a:spcPts val="0"/>
              </a:spcBef>
              <a:spcAft>
                <a:spcPts val="0"/>
              </a:spcAft>
            </a:pPr>
            <a:r>
              <a:rPr sz="1200" b="0" i="0">
                <a:solidFill>
                  <a:srgbClr val="7B7B86"/>
                </a:solidFill>
                <a:latin typeface="Courier New"/>
              </a:rPr>
              <a:t>2026</a:t>
            </a:r>
          </a:p>
        </p:txBody>
      </p:sp>
      <p:sp>
        <p:nvSpPr>
          <p:cNvPr id="15" name="s57-text-13"/>
          <p:cNvSpPr txBox="1"/>
          <p:nvPr/>
        </p:nvSpPr>
        <p:spPr>
          <a:xfrm>
            <a:off x="9681258" y="4193376"/>
            <a:ext cx="912294" cy="228594"/>
          </a:xfrm>
          <a:prstGeom prst="rect">
            <a:avLst/>
          </a:prstGeom>
          <a:noFill/>
        </p:spPr>
        <p:txBody>
          <a:bodyPr wrap="none" lIns="0" tIns="0" rIns="0" bIns="0" anchor="t">
            <a:noAutofit/>
          </a:bodyPr>
          <a:lstStyle/>
          <a:p>
            <a:pPr algn="l">
              <a:lnSpc>
                <a:spcPct val="100000"/>
              </a:lnSpc>
              <a:spcBef>
                <a:spcPts val="0"/>
              </a:spcBef>
              <a:spcAft>
                <a:spcPts val="0"/>
              </a:spcAft>
            </a:pPr>
            <a:r>
              <a:rPr sz="1600" b="1" i="0">
                <a:solidFill>
                  <a:srgbClr val="0B0B0F"/>
                </a:solidFill>
                <a:latin typeface="Arial"/>
              </a:rPr>
              <a:t>this work</a:t>
            </a:r>
          </a:p>
        </p:txBody>
      </p:sp>
      <p:sp>
        <p:nvSpPr>
          <p:cNvPr id="16" name="s57-text-14"/>
          <p:cNvSpPr txBox="1"/>
          <p:nvPr/>
        </p:nvSpPr>
        <p:spPr>
          <a:xfrm>
            <a:off x="8815050" y="4453719"/>
            <a:ext cx="2643419"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QEC randomness audit · QPC SDK v1.0.0</a:t>
            </a:r>
          </a:p>
        </p:txBody>
      </p:sp>
      <p:sp>
        <p:nvSpPr>
          <p:cNvPr id="17" name="s57-text-15"/>
          <p:cNvSpPr txBox="1"/>
          <p:nvPr/>
        </p:nvSpPr>
        <p:spPr>
          <a:xfrm>
            <a:off x="9787685" y="3437745"/>
            <a:ext cx="772101" cy="158746"/>
          </a:xfrm>
          <a:prstGeom prst="rect">
            <a:avLst/>
          </a:prstGeom>
          <a:noFill/>
        </p:spPr>
        <p:txBody>
          <a:bodyPr wrap="none" lIns="0" tIns="0" rIns="0" bIns="0" anchor="t">
            <a:noAutofit/>
          </a:bodyPr>
          <a:lstStyle/>
          <a:p>
            <a:pPr algn="l">
              <a:lnSpc>
                <a:spcPct val="100000"/>
              </a:lnSpc>
              <a:spcBef>
                <a:spcPts val="0"/>
              </a:spcBef>
              <a:spcAft>
                <a:spcPts val="0"/>
              </a:spcAft>
            </a:pPr>
            <a:r>
              <a:rPr sz="1100" b="0" i="0">
                <a:solidFill>
                  <a:srgbClr val="7B7B86"/>
                </a:solidFill>
                <a:latin typeface="Arial"/>
              </a:rPr>
              <a:t>→ migration</a:t>
            </a:r>
          </a:p>
        </p:txBody>
      </p:sp>
      <p:sp>
        <p:nvSpPr>
          <p:cNvPr id="18" name="s57-text-16"/>
          <p:cNvSpPr txBox="1"/>
          <p:nvPr/>
        </p:nvSpPr>
        <p:spPr>
          <a:xfrm>
            <a:off x="888978" y="5900292"/>
            <a:ext cx="8908827" cy="195555"/>
          </a:xfrm>
          <a:prstGeom prst="rect">
            <a:avLst/>
          </a:prstGeom>
          <a:noFill/>
        </p:spPr>
        <p:txBody>
          <a:bodyPr wrap="none" lIns="0" tIns="0" rIns="0" bIns="0" anchor="t">
            <a:noAutofit/>
          </a:bodyPr>
          <a:lstStyle/>
          <a:p>
            <a:pPr algn="l">
              <a:lnSpc>
                <a:spcPts val="1540"/>
              </a:lnSpc>
              <a:spcBef>
                <a:spcPts val="0"/>
              </a:spcBef>
              <a:spcAft>
                <a:spcPts val="0"/>
              </a:spcAft>
            </a:pPr>
            <a:r>
              <a:rPr sz="1100" b="0" i="0">
                <a:solidFill>
                  <a:srgbClr val="7B7B86"/>
                </a:solidFill>
                <a:latin typeface="Arial"/>
              </a:rPr>
              <a:t>Tracked automatically by gzquse/quantum_news-NIST.</a:t>
            </a:r>
          </a:p>
        </p:txBody>
      </p:sp>
      <p:sp>
        <p:nvSpPr>
          <p:cNvPr id="19" name="!!L1-bg"/>
          <p:cNvSpPr/>
          <p:nvPr/>
        </p:nvSpPr>
        <p:spPr>
          <a:xfrm>
            <a:off x="5579824" y="6311742"/>
            <a:ext cx="1119656"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57-text-17"/>
          <p:cNvSpPr txBox="1"/>
          <p:nvPr/>
        </p:nvSpPr>
        <p:spPr>
          <a:xfrm>
            <a:off x="5706821"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01</a:t>
            </a:r>
          </a:p>
        </p:txBody>
      </p:sp>
      <p:sp>
        <p:nvSpPr>
          <p:cNvPr id="21" name="!!L1-t"/>
          <p:cNvSpPr txBox="1"/>
          <p:nvPr/>
        </p:nvSpPr>
        <p:spPr>
          <a:xfrm>
            <a:off x="5920235" y="6362541"/>
            <a:ext cx="67129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Simulation</a:t>
            </a:r>
          </a:p>
        </p:txBody>
      </p:sp>
      <p:sp>
        <p:nvSpPr>
          <p:cNvPr id="22" name="!!L2-bg"/>
          <p:cNvSpPr/>
          <p:nvPr/>
        </p:nvSpPr>
        <p:spPr>
          <a:xfrm>
            <a:off x="6762978" y="6311742"/>
            <a:ext cx="1127295"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57-text-19"/>
          <p:cNvSpPr txBox="1"/>
          <p:nvPr/>
        </p:nvSpPr>
        <p:spPr>
          <a:xfrm>
            <a:off x="6889975"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02</a:t>
            </a:r>
          </a:p>
        </p:txBody>
      </p:sp>
      <p:sp>
        <p:nvSpPr>
          <p:cNvPr id="24" name="!!L2-t"/>
          <p:cNvSpPr txBox="1"/>
          <p:nvPr/>
        </p:nvSpPr>
        <p:spPr>
          <a:xfrm>
            <a:off x="7103389" y="6362541"/>
            <a:ext cx="67893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Algorithms</a:t>
            </a:r>
          </a:p>
        </p:txBody>
      </p:sp>
      <p:sp>
        <p:nvSpPr>
          <p:cNvPr id="25" name="!!L3-bg"/>
          <p:cNvSpPr/>
          <p:nvPr/>
        </p:nvSpPr>
        <p:spPr>
          <a:xfrm>
            <a:off x="7953771" y="6311742"/>
            <a:ext cx="1368391"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s57-text-21"/>
          <p:cNvSpPr txBox="1"/>
          <p:nvPr/>
        </p:nvSpPr>
        <p:spPr>
          <a:xfrm>
            <a:off x="8080768"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03</a:t>
            </a:r>
          </a:p>
        </p:txBody>
      </p:sp>
      <p:sp>
        <p:nvSpPr>
          <p:cNvPr id="27" name="!!L3-t"/>
          <p:cNvSpPr txBox="1"/>
          <p:nvPr/>
        </p:nvSpPr>
        <p:spPr>
          <a:xfrm>
            <a:off x="8294182" y="6362541"/>
            <a:ext cx="920032"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Data encoding</a:t>
            </a:r>
          </a:p>
        </p:txBody>
      </p:sp>
      <p:sp>
        <p:nvSpPr>
          <p:cNvPr id="28" name="!!L4-bg"/>
          <p:cNvSpPr/>
          <p:nvPr/>
        </p:nvSpPr>
        <p:spPr>
          <a:xfrm>
            <a:off x="9385661" y="6311742"/>
            <a:ext cx="1073123" cy="266693"/>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57-text-23"/>
          <p:cNvSpPr txBox="1"/>
          <p:nvPr/>
        </p:nvSpPr>
        <p:spPr>
          <a:xfrm>
            <a:off x="9512657"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7B7B86"/>
                </a:solidFill>
                <a:latin typeface="Courier New"/>
              </a:rPr>
              <a:t>04</a:t>
            </a:r>
          </a:p>
        </p:txBody>
      </p:sp>
      <p:sp>
        <p:nvSpPr>
          <p:cNvPr id="30" name="!!L4-t"/>
          <p:cNvSpPr txBox="1"/>
          <p:nvPr/>
        </p:nvSpPr>
        <p:spPr>
          <a:xfrm>
            <a:off x="9726072" y="6362541"/>
            <a:ext cx="624765"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50505B"/>
                </a:solidFill>
                <a:latin typeface="Arial"/>
              </a:rPr>
              <a:t>Synthesis</a:t>
            </a:r>
          </a:p>
        </p:txBody>
      </p:sp>
      <p:sp>
        <p:nvSpPr>
          <p:cNvPr id="31" name="!!L5-bg"/>
          <p:cNvSpPr/>
          <p:nvPr/>
        </p:nvSpPr>
        <p:spPr>
          <a:xfrm>
            <a:off x="10522282" y="6311742"/>
            <a:ext cx="780435" cy="266693"/>
          </a:xfrm>
          <a:prstGeom prst="roundRect">
            <a:avLst>
              <a:gd name="adj" fmla="val 50000"/>
            </a:avLst>
          </a:prstGeom>
          <a:solidFill>
            <a:srgbClr val="000000">
              <a:alpha val="11000"/>
            </a:srgbClr>
          </a:solidFill>
          <a:ln w="6350">
            <a:solidFill>
              <a:srgbClr val="B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s57-text-25"/>
          <p:cNvSpPr txBox="1"/>
          <p:nvPr/>
        </p:nvSpPr>
        <p:spPr>
          <a:xfrm>
            <a:off x="10649279" y="6381590"/>
            <a:ext cx="156266" cy="126997"/>
          </a:xfrm>
          <a:prstGeom prst="rect">
            <a:avLst/>
          </a:prstGeom>
          <a:noFill/>
        </p:spPr>
        <p:txBody>
          <a:bodyPr wrap="none" lIns="0" tIns="0" rIns="0" bIns="0" anchor="t">
            <a:noAutofit/>
          </a:bodyPr>
          <a:lstStyle/>
          <a:p>
            <a:pPr algn="l">
              <a:lnSpc>
                <a:spcPts val="1080"/>
              </a:lnSpc>
              <a:spcBef>
                <a:spcPts val="0"/>
              </a:spcBef>
              <a:spcAft>
                <a:spcPts val="0"/>
              </a:spcAft>
            </a:pPr>
            <a:r>
              <a:rPr sz="900" b="0" i="0">
                <a:solidFill>
                  <a:srgbClr val="B00000"/>
                </a:solidFill>
                <a:latin typeface="Courier New"/>
              </a:rPr>
              <a:t>05</a:t>
            </a:r>
          </a:p>
        </p:txBody>
      </p:sp>
      <p:sp>
        <p:nvSpPr>
          <p:cNvPr id="33" name="!!L5-t"/>
          <p:cNvSpPr txBox="1"/>
          <p:nvPr/>
        </p:nvSpPr>
        <p:spPr>
          <a:xfrm>
            <a:off x="10862693" y="6362541"/>
            <a:ext cx="332077" cy="165096"/>
          </a:xfrm>
          <a:prstGeom prst="rect">
            <a:avLst/>
          </a:prstGeom>
          <a:noFill/>
        </p:spPr>
        <p:txBody>
          <a:bodyPr wrap="none" lIns="0" tIns="0" rIns="0" bIns="0" anchor="t">
            <a:noAutofit/>
          </a:bodyPr>
          <a:lstStyle/>
          <a:p>
            <a:pPr algn="l">
              <a:lnSpc>
                <a:spcPts val="1320"/>
              </a:lnSpc>
              <a:spcBef>
                <a:spcPts val="0"/>
              </a:spcBef>
              <a:spcAft>
                <a:spcPts val="0"/>
              </a:spcAft>
            </a:pPr>
            <a:r>
              <a:rPr sz="1100" b="0" i="0">
                <a:solidFill>
                  <a:srgbClr val="0B0B0F"/>
                </a:solidFill>
                <a:latin typeface="Arial"/>
              </a:rPr>
              <a:t>Trust</a:t>
            </a:r>
          </a:p>
        </p:txBody>
      </p:sp>
      <p:sp>
        <p:nvSpPr>
          <p:cNvPr id="34" name="!!sec"/>
          <p:cNvSpPr txBox="1"/>
          <p:nvPr/>
        </p:nvSpPr>
        <p:spPr>
          <a:xfrm>
            <a:off x="888978" y="6362541"/>
            <a:ext cx="2414626"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VIII · Post-quantum stack</a:t>
            </a:r>
          </a:p>
        </p:txBody>
      </p:sp>
      <p:pic>
        <p:nvPicPr>
          <p:cNvPr id="35" name="s57-image-02" descr="Texas Tech University Double T"/>
          <p:cNvPicPr>
            <a:picLocks noChangeAspect="1"/>
          </p:cNvPicPr>
          <p:nvPr/>
        </p:nvPicPr>
        <p:blipFill>
          <a:blip r:embed="rId4"/>
          <a:stretch>
            <a:fillRect/>
          </a:stretch>
        </p:blipFill>
        <p:spPr>
          <a:xfrm>
            <a:off x="11055074" y="600060"/>
            <a:ext cx="190495" cy="222244"/>
          </a:xfrm>
          <a:prstGeom prst="rect">
            <a:avLst/>
          </a:prstGeom>
        </p:spPr>
      </p:pic>
      <p:sp>
        <p:nvSpPr>
          <p:cNvPr id="36"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57</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360057"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Conclusion</a:t>
            </a:r>
          </a:p>
        </p:txBody>
      </p:sp>
      <p:sp>
        <p:nvSpPr>
          <p:cNvPr id="3" name="s58-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dirty="0">
                <a:solidFill>
                  <a:srgbClr val="0B0B0F"/>
                </a:solidFill>
                <a:latin typeface="Arial"/>
              </a:rPr>
              <a:t>Five questions, five answers</a:t>
            </a:r>
          </a:p>
        </p:txBody>
      </p:sp>
      <p:sp>
        <p:nvSpPr>
          <p:cNvPr id="4" name="!!L1-bg"/>
          <p:cNvSpPr/>
          <p:nvPr/>
        </p:nvSpPr>
        <p:spPr>
          <a:xfrm>
            <a:off x="888978" y="1596291"/>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58-text-03"/>
          <p:cNvSpPr txBox="1"/>
          <p:nvPr/>
        </p:nvSpPr>
        <p:spPr>
          <a:xfrm>
            <a:off x="1104872" y="1812185"/>
            <a:ext cx="154807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01 · RQ1 · Scale</a:t>
            </a:r>
          </a:p>
        </p:txBody>
      </p:sp>
      <p:sp>
        <p:nvSpPr>
          <p:cNvPr id="6" name="!!L1-t"/>
          <p:cNvSpPr txBox="1"/>
          <p:nvPr/>
        </p:nvSpPr>
        <p:spPr>
          <a:xfrm>
            <a:off x="1104872" y="2116978"/>
            <a:ext cx="1279295" cy="285743"/>
          </a:xfrm>
          <a:prstGeom prst="rect">
            <a:avLst/>
          </a:prstGeom>
          <a:noFill/>
        </p:spPr>
        <p:txBody>
          <a:bodyPr wrap="none" lIns="0" tIns="0" rIns="0" bIns="0" anchor="t">
            <a:noAutofit/>
          </a:bodyPr>
          <a:lstStyle/>
          <a:p>
            <a:pPr algn="l">
              <a:lnSpc>
                <a:spcPts val="2400"/>
              </a:lnSpc>
              <a:spcBef>
                <a:spcPts val="0"/>
              </a:spcBef>
              <a:spcAft>
                <a:spcPts val="0"/>
              </a:spcAft>
            </a:pPr>
            <a:r>
              <a:rPr sz="2000" b="1" i="0" spc="-30" dirty="0">
                <a:solidFill>
                  <a:srgbClr val="0B0B0F"/>
                </a:solidFill>
                <a:latin typeface="Arial"/>
              </a:rPr>
              <a:t>Simulation</a:t>
            </a:r>
          </a:p>
        </p:txBody>
      </p:sp>
      <p:sp>
        <p:nvSpPr>
          <p:cNvPr id="7" name="s58-text-05"/>
          <p:cNvSpPr txBox="1"/>
          <p:nvPr/>
        </p:nvSpPr>
        <p:spPr>
          <a:xfrm>
            <a:off x="1104872" y="3963690"/>
            <a:ext cx="1541722" cy="693224"/>
          </a:xfrm>
          <a:prstGeom prst="rect">
            <a:avLst/>
          </a:prstGeom>
          <a:noFill/>
        </p:spPr>
        <p:txBody>
          <a:bodyPr wrap="square" lIns="0" tIns="0" rIns="0" bIns="0" anchor="t">
            <a:noAutofit/>
          </a:bodyPr>
          <a:lstStyle/>
          <a:p>
            <a:pPr algn="l">
              <a:lnSpc>
                <a:spcPts val="1820"/>
              </a:lnSpc>
              <a:spcBef>
                <a:spcPts val="0"/>
              </a:spcBef>
              <a:spcAft>
                <a:spcPts val="0"/>
              </a:spcAft>
            </a:pPr>
            <a:r>
              <a:rPr sz="1300" b="1" i="0">
                <a:solidFill>
                  <a:srgbClr val="50505B"/>
                </a:solidFill>
                <a:latin typeface="Arial"/>
              </a:rPr>
              <a:t>42 qubits</a:t>
            </a:r>
            <a:r>
              <a:rPr sz="1300" b="0" i="0">
                <a:solidFill>
                  <a:srgbClr val="50505B"/>
                </a:solidFill>
                <a:latin typeface="Arial"/>
              </a:rPr>
              <a:t> on 1,024 A100s · ≈400× · Qiskit unchanged</a:t>
            </a:r>
          </a:p>
        </p:txBody>
      </p:sp>
      <p:sp>
        <p:nvSpPr>
          <p:cNvPr id="8" name="!!L2-bg"/>
          <p:cNvSpPr/>
          <p:nvPr/>
        </p:nvSpPr>
        <p:spPr>
          <a:xfrm>
            <a:off x="3002185" y="1596291"/>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58-text-06"/>
          <p:cNvSpPr txBox="1"/>
          <p:nvPr/>
        </p:nvSpPr>
        <p:spPr>
          <a:xfrm>
            <a:off x="3218080" y="1812185"/>
            <a:ext cx="154807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02 · RQ2 · Noise</a:t>
            </a:r>
          </a:p>
        </p:txBody>
      </p:sp>
      <p:sp>
        <p:nvSpPr>
          <p:cNvPr id="10" name="!!L2-t"/>
          <p:cNvSpPr txBox="1"/>
          <p:nvPr/>
        </p:nvSpPr>
        <p:spPr>
          <a:xfrm>
            <a:off x="3218080" y="2116978"/>
            <a:ext cx="1321561" cy="285743"/>
          </a:xfrm>
          <a:prstGeom prst="rect">
            <a:avLst/>
          </a:prstGeom>
          <a:noFill/>
        </p:spPr>
        <p:txBody>
          <a:bodyPr wrap="none" lIns="0" tIns="0" rIns="0" bIns="0" anchor="t">
            <a:noAutofit/>
          </a:bodyPr>
          <a:lstStyle/>
          <a:p>
            <a:pPr algn="l">
              <a:lnSpc>
                <a:spcPts val="2400"/>
              </a:lnSpc>
              <a:spcBef>
                <a:spcPts val="0"/>
              </a:spcBef>
              <a:spcAft>
                <a:spcPts val="0"/>
              </a:spcAft>
            </a:pPr>
            <a:r>
              <a:rPr sz="2000" b="1" i="0" spc="-30">
                <a:solidFill>
                  <a:srgbClr val="0B0B0F"/>
                </a:solidFill>
                <a:latin typeface="Arial"/>
              </a:rPr>
              <a:t>Algorithms</a:t>
            </a:r>
          </a:p>
        </p:txBody>
      </p:sp>
      <p:sp>
        <p:nvSpPr>
          <p:cNvPr id="11" name="s58-text-08"/>
          <p:cNvSpPr txBox="1"/>
          <p:nvPr/>
        </p:nvSpPr>
        <p:spPr>
          <a:xfrm>
            <a:off x="3218080" y="3732615"/>
            <a:ext cx="1541722" cy="924299"/>
          </a:xfrm>
          <a:prstGeom prst="rect">
            <a:avLst/>
          </a:prstGeom>
          <a:noFill/>
        </p:spPr>
        <p:txBody>
          <a:bodyPr wrap="square" lIns="0" tIns="0" rIns="0" bIns="0" anchor="t">
            <a:noAutofit/>
          </a:bodyPr>
          <a:lstStyle/>
          <a:p>
            <a:pPr algn="l">
              <a:lnSpc>
                <a:spcPts val="1820"/>
              </a:lnSpc>
              <a:spcBef>
                <a:spcPts val="0"/>
              </a:spcBef>
              <a:spcAft>
                <a:spcPts val="0"/>
              </a:spcAft>
            </a:pPr>
            <a:r>
              <a:rPr sz="1300" b="1" i="0">
                <a:solidFill>
                  <a:srgbClr val="50505B"/>
                </a:solidFill>
                <a:latin typeface="Arial"/>
              </a:rPr>
              <a:t>Structure beats search</a:t>
            </a:r>
            <a:r>
              <a:rPr sz="1300" b="0" i="0">
                <a:solidFill>
                  <a:srgbClr val="50505B"/>
                </a:solidFill>
                <a:latin typeface="Arial"/>
              </a:rPr>
              <a:t> · +14.81 pts · 7 layers for 9 · O(n) oracle</a:t>
            </a:r>
          </a:p>
        </p:txBody>
      </p:sp>
      <p:sp>
        <p:nvSpPr>
          <p:cNvPr id="12" name="!!L3-bg"/>
          <p:cNvSpPr/>
          <p:nvPr/>
        </p:nvSpPr>
        <p:spPr>
          <a:xfrm>
            <a:off x="5115392" y="1596291"/>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58-text-09"/>
          <p:cNvSpPr txBox="1"/>
          <p:nvPr/>
        </p:nvSpPr>
        <p:spPr>
          <a:xfrm>
            <a:off x="5331287" y="1812185"/>
            <a:ext cx="154807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03 · RQ3 · Data</a:t>
            </a:r>
          </a:p>
        </p:txBody>
      </p:sp>
      <p:sp>
        <p:nvSpPr>
          <p:cNvPr id="14" name="!!L3-t"/>
          <p:cNvSpPr txBox="1"/>
          <p:nvPr/>
        </p:nvSpPr>
        <p:spPr>
          <a:xfrm>
            <a:off x="5331287" y="2116978"/>
            <a:ext cx="1541722" cy="571486"/>
          </a:xfrm>
          <a:prstGeom prst="rect">
            <a:avLst/>
          </a:prstGeom>
          <a:noFill/>
        </p:spPr>
        <p:txBody>
          <a:bodyPr wrap="square" lIns="0" tIns="0" rIns="0" bIns="0" anchor="t">
            <a:noAutofit/>
          </a:bodyPr>
          <a:lstStyle/>
          <a:p>
            <a:pPr algn="l">
              <a:lnSpc>
                <a:spcPts val="2400"/>
              </a:lnSpc>
              <a:spcBef>
                <a:spcPts val="0"/>
              </a:spcBef>
              <a:spcAft>
                <a:spcPts val="0"/>
              </a:spcAft>
            </a:pPr>
            <a:r>
              <a:rPr sz="2000" b="1" i="0" spc="-30">
                <a:solidFill>
                  <a:srgbClr val="0B0B0F"/>
                </a:solidFill>
                <a:latin typeface="Arial"/>
              </a:rPr>
              <a:t>Data encoding</a:t>
            </a:r>
          </a:p>
        </p:txBody>
      </p:sp>
      <p:sp>
        <p:nvSpPr>
          <p:cNvPr id="15" name="s58-text-11"/>
          <p:cNvSpPr txBox="1"/>
          <p:nvPr/>
        </p:nvSpPr>
        <p:spPr>
          <a:xfrm>
            <a:off x="5331287" y="3732615"/>
            <a:ext cx="1541722" cy="924299"/>
          </a:xfrm>
          <a:prstGeom prst="rect">
            <a:avLst/>
          </a:prstGeom>
          <a:noFill/>
        </p:spPr>
        <p:txBody>
          <a:bodyPr wrap="square" lIns="0" tIns="0" rIns="0" bIns="0" anchor="t">
            <a:noAutofit/>
          </a:bodyPr>
          <a:lstStyle/>
          <a:p>
            <a:pPr algn="l">
              <a:lnSpc>
                <a:spcPts val="1820"/>
              </a:lnSpc>
              <a:spcBef>
                <a:spcPts val="0"/>
              </a:spcBef>
              <a:spcAft>
                <a:spcPts val="0"/>
              </a:spcAft>
            </a:pPr>
            <a:r>
              <a:rPr sz="1300" b="1" i="0">
                <a:solidFill>
                  <a:srgbClr val="50505B"/>
                </a:solidFill>
                <a:latin typeface="Arial"/>
              </a:rPr>
              <a:t>One vectorized encoding</a:t>
            </a:r>
            <a:r>
              <a:rPr sz="1300" b="0" i="0">
                <a:solidFill>
                  <a:srgbClr val="50505B"/>
                </a:solidFill>
                <a:latin typeface="Arial"/>
              </a:rPr>
              <a:t> → shot-efficient, hardware-compatible, trainable</a:t>
            </a:r>
          </a:p>
        </p:txBody>
      </p:sp>
      <p:sp>
        <p:nvSpPr>
          <p:cNvPr id="16" name="!!L4-bg"/>
          <p:cNvSpPr/>
          <p:nvPr/>
        </p:nvSpPr>
        <p:spPr>
          <a:xfrm>
            <a:off x="7228600" y="1596291"/>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58-text-12"/>
          <p:cNvSpPr txBox="1"/>
          <p:nvPr/>
        </p:nvSpPr>
        <p:spPr>
          <a:xfrm>
            <a:off x="7444494" y="1812185"/>
            <a:ext cx="154807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04 · RQ4 · Synthesis</a:t>
            </a:r>
          </a:p>
        </p:txBody>
      </p:sp>
      <p:sp>
        <p:nvSpPr>
          <p:cNvPr id="18" name="!!L4-t"/>
          <p:cNvSpPr txBox="1"/>
          <p:nvPr/>
        </p:nvSpPr>
        <p:spPr>
          <a:xfrm>
            <a:off x="7444494" y="2116978"/>
            <a:ext cx="1184741" cy="285743"/>
          </a:xfrm>
          <a:prstGeom prst="rect">
            <a:avLst/>
          </a:prstGeom>
          <a:noFill/>
        </p:spPr>
        <p:txBody>
          <a:bodyPr wrap="none" lIns="0" tIns="0" rIns="0" bIns="0" anchor="t">
            <a:noAutofit/>
          </a:bodyPr>
          <a:lstStyle/>
          <a:p>
            <a:pPr algn="l">
              <a:lnSpc>
                <a:spcPts val="2400"/>
              </a:lnSpc>
              <a:spcBef>
                <a:spcPts val="0"/>
              </a:spcBef>
              <a:spcAft>
                <a:spcPts val="0"/>
              </a:spcAft>
            </a:pPr>
            <a:r>
              <a:rPr sz="2000" b="1" i="0" spc="-30">
                <a:solidFill>
                  <a:srgbClr val="0B0B0F"/>
                </a:solidFill>
                <a:latin typeface="Arial"/>
              </a:rPr>
              <a:t>Synthesis</a:t>
            </a:r>
          </a:p>
        </p:txBody>
      </p:sp>
      <p:sp>
        <p:nvSpPr>
          <p:cNvPr id="19" name="s58-text-14"/>
          <p:cNvSpPr txBox="1"/>
          <p:nvPr/>
        </p:nvSpPr>
        <p:spPr>
          <a:xfrm>
            <a:off x="7444494" y="3732615"/>
            <a:ext cx="1541722" cy="924299"/>
          </a:xfrm>
          <a:prstGeom prst="rect">
            <a:avLst/>
          </a:prstGeom>
          <a:noFill/>
        </p:spPr>
        <p:txBody>
          <a:bodyPr wrap="square" lIns="0" tIns="0" rIns="0" bIns="0" anchor="t">
            <a:noAutofit/>
          </a:bodyPr>
          <a:lstStyle/>
          <a:p>
            <a:pPr algn="l">
              <a:lnSpc>
                <a:spcPts val="1820"/>
              </a:lnSpc>
              <a:spcBef>
                <a:spcPts val="0"/>
              </a:spcBef>
              <a:spcAft>
                <a:spcPts val="0"/>
              </a:spcAft>
            </a:pPr>
            <a:r>
              <a:rPr sz="1300" b="1" i="0">
                <a:solidFill>
                  <a:srgbClr val="50505B"/>
                </a:solidFill>
                <a:latin typeface="Arial"/>
              </a:rPr>
              <a:t>Grounded RL</a:t>
            </a:r>
            <a:r>
              <a:rPr sz="1300" b="0" i="0">
                <a:solidFill>
                  <a:srgbClr val="50505B"/>
                </a:solidFill>
                <a:latin typeface="Arial"/>
              </a:rPr>
              <a:t> · 3.31× T-gate compression · honest budgets</a:t>
            </a:r>
          </a:p>
        </p:txBody>
      </p:sp>
      <p:sp>
        <p:nvSpPr>
          <p:cNvPr id="20" name="!!L5-bg"/>
          <p:cNvSpPr/>
          <p:nvPr/>
        </p:nvSpPr>
        <p:spPr>
          <a:xfrm>
            <a:off x="9341807" y="1596291"/>
            <a:ext cx="1960811" cy="3301917"/>
          </a:xfrm>
          <a:prstGeom prst="roundRect">
            <a:avLst>
              <a:gd name="adj" fmla="val 7772"/>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58-text-15"/>
          <p:cNvSpPr txBox="1"/>
          <p:nvPr/>
        </p:nvSpPr>
        <p:spPr>
          <a:xfrm>
            <a:off x="9557702" y="1812185"/>
            <a:ext cx="154807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05 · RQ5 · Trust</a:t>
            </a:r>
          </a:p>
        </p:txBody>
      </p:sp>
      <p:sp>
        <p:nvSpPr>
          <p:cNvPr id="22" name="!!L5-t"/>
          <p:cNvSpPr txBox="1"/>
          <p:nvPr/>
        </p:nvSpPr>
        <p:spPr>
          <a:xfrm>
            <a:off x="9557702" y="2116978"/>
            <a:ext cx="620995" cy="285743"/>
          </a:xfrm>
          <a:prstGeom prst="rect">
            <a:avLst/>
          </a:prstGeom>
          <a:noFill/>
        </p:spPr>
        <p:txBody>
          <a:bodyPr wrap="none" lIns="0" tIns="0" rIns="0" bIns="0" anchor="t">
            <a:noAutofit/>
          </a:bodyPr>
          <a:lstStyle/>
          <a:p>
            <a:pPr algn="l">
              <a:lnSpc>
                <a:spcPts val="2400"/>
              </a:lnSpc>
              <a:spcBef>
                <a:spcPts val="0"/>
              </a:spcBef>
              <a:spcAft>
                <a:spcPts val="0"/>
              </a:spcAft>
            </a:pPr>
            <a:r>
              <a:rPr sz="2000" b="1" i="0" spc="-30">
                <a:solidFill>
                  <a:srgbClr val="0B0B0F"/>
                </a:solidFill>
                <a:latin typeface="Arial"/>
              </a:rPr>
              <a:t>Trust</a:t>
            </a:r>
          </a:p>
        </p:txBody>
      </p:sp>
      <p:sp>
        <p:nvSpPr>
          <p:cNvPr id="23" name="s58-text-17"/>
          <p:cNvSpPr txBox="1"/>
          <p:nvPr/>
        </p:nvSpPr>
        <p:spPr>
          <a:xfrm>
            <a:off x="9557702" y="3963690"/>
            <a:ext cx="1541722" cy="693224"/>
          </a:xfrm>
          <a:prstGeom prst="rect">
            <a:avLst/>
          </a:prstGeom>
          <a:noFill/>
        </p:spPr>
        <p:txBody>
          <a:bodyPr wrap="square" lIns="0" tIns="0" rIns="0" bIns="0" anchor="t">
            <a:noAutofit/>
          </a:bodyPr>
          <a:lstStyle/>
          <a:p>
            <a:pPr algn="l">
              <a:lnSpc>
                <a:spcPts val="1820"/>
              </a:lnSpc>
              <a:spcBef>
                <a:spcPts val="0"/>
              </a:spcBef>
              <a:spcAft>
                <a:spcPts val="0"/>
              </a:spcAft>
            </a:pPr>
            <a:r>
              <a:rPr sz="1300" b="1" i="0">
                <a:solidFill>
                  <a:srgbClr val="50505B"/>
                </a:solidFill>
                <a:latin typeface="Arial"/>
              </a:rPr>
              <a:t>Reseeding</a:t>
            </a:r>
            <a:r>
              <a:rPr sz="1300" b="0" i="0">
                <a:solidFill>
                  <a:srgbClr val="50505B"/>
                </a:solidFill>
                <a:latin typeface="Arial"/>
              </a:rPr>
              <a:t> −86.7% disturbance · FIPS 140-3 PQC module</a:t>
            </a:r>
          </a:p>
        </p:txBody>
      </p:sp>
      <p:sp>
        <p:nvSpPr>
          <p:cNvPr id="24" name="!!sec"/>
          <p:cNvSpPr txBox="1"/>
          <p:nvPr/>
        </p:nvSpPr>
        <p:spPr>
          <a:xfrm>
            <a:off x="888978" y="6362541"/>
            <a:ext cx="146572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IX · Conclusion</a:t>
            </a:r>
          </a:p>
        </p:txBody>
      </p:sp>
      <p:pic>
        <p:nvPicPr>
          <p:cNvPr id="25" name="s58-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6"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58</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3" name="s59-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lang="en-US" sz="4400" b="1" i="0" spc="-123" dirty="0">
                <a:solidFill>
                  <a:srgbClr val="0B0B0F"/>
                </a:solidFill>
                <a:latin typeface="Arial"/>
              </a:rPr>
              <a:t>Summary</a:t>
            </a:r>
            <a:endParaRPr sz="4400" b="1" i="0" spc="-123" dirty="0">
              <a:solidFill>
                <a:srgbClr val="0B0B0F"/>
              </a:solidFill>
              <a:latin typeface="Arial"/>
            </a:endParaRPr>
          </a:p>
        </p:txBody>
      </p:sp>
      <p:sp>
        <p:nvSpPr>
          <p:cNvPr id="4" name="s59-box-01"/>
          <p:cNvSpPr/>
          <p:nvPr/>
        </p:nvSpPr>
        <p:spPr>
          <a:xfrm>
            <a:off x="888978" y="180151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59-text-03"/>
          <p:cNvSpPr txBox="1"/>
          <p:nvPr/>
        </p:nvSpPr>
        <p:spPr>
          <a:xfrm>
            <a:off x="1219170" y="1659789"/>
            <a:ext cx="10096248" cy="617125"/>
          </a:xfrm>
          <a:prstGeom prst="rect">
            <a:avLst/>
          </a:prstGeom>
          <a:noFill/>
        </p:spPr>
        <p:txBody>
          <a:bodyPr wrap="square" lIns="0" tIns="0" rIns="0" bIns="0" anchor="t">
            <a:noAutofit/>
          </a:bodyPr>
          <a:lstStyle/>
          <a:p>
            <a:pPr algn="l">
              <a:lnSpc>
                <a:spcPts val="2430"/>
              </a:lnSpc>
              <a:spcBef>
                <a:spcPts val="0"/>
              </a:spcBef>
              <a:spcAft>
                <a:spcPts val="0"/>
              </a:spcAft>
            </a:pPr>
            <a:r>
              <a:rPr lang="en-US" sz="1800" b="1" i="0" dirty="0">
                <a:solidFill>
                  <a:srgbClr val="0B0B0F"/>
                </a:solidFill>
                <a:latin typeface="Arial"/>
              </a:rPr>
              <a:t>Large scale quantum circuit simulation to understand </a:t>
            </a:r>
            <a:r>
              <a:rPr lang="en-US" b="1" dirty="0">
                <a:solidFill>
                  <a:srgbClr val="0B0B0F"/>
                </a:solidFill>
                <a:latin typeface="Arial"/>
              </a:rPr>
              <a:t>f</a:t>
            </a:r>
            <a:r>
              <a:rPr lang="en-US" sz="1800" b="1" i="0" dirty="0">
                <a:solidFill>
                  <a:srgbClr val="0B0B0F"/>
                </a:solidFill>
                <a:latin typeface="Arial"/>
              </a:rPr>
              <a:t>ault tolerant quan</a:t>
            </a:r>
            <a:r>
              <a:rPr lang="en-US" b="1" dirty="0">
                <a:solidFill>
                  <a:srgbClr val="0B0B0F"/>
                </a:solidFill>
                <a:latin typeface="Arial"/>
              </a:rPr>
              <a:t>tum qubits </a:t>
            </a:r>
            <a:endParaRPr sz="1800" b="0" i="0" dirty="0">
              <a:solidFill>
                <a:srgbClr val="50505B"/>
              </a:solidFill>
              <a:latin typeface="Arial"/>
            </a:endParaRPr>
          </a:p>
        </p:txBody>
      </p:sp>
      <p:sp>
        <p:nvSpPr>
          <p:cNvPr id="6" name="s59-box-02"/>
          <p:cNvSpPr/>
          <p:nvPr/>
        </p:nvSpPr>
        <p:spPr>
          <a:xfrm>
            <a:off x="888978" y="2558339"/>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59-text-04"/>
          <p:cNvSpPr txBox="1"/>
          <p:nvPr/>
        </p:nvSpPr>
        <p:spPr>
          <a:xfrm>
            <a:off x="1219170" y="2416611"/>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lang="en-US" sz="1800" b="1" i="0" dirty="0">
                <a:solidFill>
                  <a:srgbClr val="0B0B0F"/>
                </a:solidFill>
                <a:latin typeface="Arial"/>
              </a:rPr>
              <a:t>Introduce current real quantum processing units (QPU) results </a:t>
            </a:r>
            <a:endParaRPr sz="1800" b="0" i="0" dirty="0">
              <a:solidFill>
                <a:srgbClr val="50505B"/>
              </a:solidFill>
              <a:latin typeface="Arial"/>
            </a:endParaRPr>
          </a:p>
        </p:txBody>
      </p:sp>
      <p:sp>
        <p:nvSpPr>
          <p:cNvPr id="8" name="s59-box-03"/>
          <p:cNvSpPr/>
          <p:nvPr/>
        </p:nvSpPr>
        <p:spPr>
          <a:xfrm>
            <a:off x="888978" y="3006598"/>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59-text-05"/>
          <p:cNvSpPr txBox="1"/>
          <p:nvPr/>
        </p:nvSpPr>
        <p:spPr>
          <a:xfrm>
            <a:off x="1219170" y="2864870"/>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lang="en-US" sz="1800" b="1" i="0" dirty="0">
                <a:solidFill>
                  <a:srgbClr val="0B0B0F"/>
                </a:solidFill>
                <a:latin typeface="Arial"/>
              </a:rPr>
              <a:t>Showed Useful and </a:t>
            </a:r>
            <a:r>
              <a:rPr lang="en-US" b="1" dirty="0">
                <a:solidFill>
                  <a:srgbClr val="0B0B0F"/>
                </a:solidFill>
                <a:latin typeface="Arial"/>
              </a:rPr>
              <a:t>current application using </a:t>
            </a:r>
            <a:r>
              <a:rPr lang="en-US" sz="1800" b="1" i="0" dirty="0">
                <a:solidFill>
                  <a:srgbClr val="0B0B0F"/>
                </a:solidFill>
                <a:latin typeface="Arial"/>
              </a:rPr>
              <a:t>Quantum </a:t>
            </a:r>
            <a:r>
              <a:rPr lang="en-US" sz="1800" b="1" i="0" dirty="0" err="1">
                <a:solidFill>
                  <a:srgbClr val="0B0B0F"/>
                </a:solidFill>
                <a:latin typeface="Arial"/>
              </a:rPr>
              <a:t>arithemetic</a:t>
            </a:r>
            <a:r>
              <a:rPr lang="en-US" sz="1800" b="1" i="0" dirty="0">
                <a:solidFill>
                  <a:srgbClr val="0B0B0F"/>
                </a:solidFill>
                <a:latin typeface="Arial"/>
              </a:rPr>
              <a:t> Algorithms</a:t>
            </a:r>
            <a:endParaRPr sz="1800" b="0" i="0" dirty="0">
              <a:solidFill>
                <a:srgbClr val="50505B"/>
              </a:solidFill>
              <a:latin typeface="Arial"/>
            </a:endParaRPr>
          </a:p>
        </p:txBody>
      </p:sp>
      <p:sp>
        <p:nvSpPr>
          <p:cNvPr id="10" name="s59-box-04"/>
          <p:cNvSpPr/>
          <p:nvPr/>
        </p:nvSpPr>
        <p:spPr>
          <a:xfrm>
            <a:off x="888978" y="3454857"/>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59-text-06"/>
          <p:cNvSpPr txBox="1"/>
          <p:nvPr/>
        </p:nvSpPr>
        <p:spPr>
          <a:xfrm>
            <a:off x="1219170" y="3313129"/>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lang="en-US" b="1" dirty="0">
                <a:solidFill>
                  <a:srgbClr val="0B0B0F"/>
                </a:solidFill>
                <a:latin typeface="Arial"/>
              </a:rPr>
              <a:t>Demonstrated Large </a:t>
            </a:r>
            <a:r>
              <a:rPr lang="en-US" b="1" dirty="0" err="1">
                <a:solidFill>
                  <a:srgbClr val="0B0B0F"/>
                </a:solidFill>
                <a:latin typeface="Arial"/>
              </a:rPr>
              <a:t>Lanagague</a:t>
            </a:r>
            <a:r>
              <a:rPr lang="en-US" b="1" dirty="0">
                <a:solidFill>
                  <a:srgbClr val="0B0B0F"/>
                </a:solidFill>
                <a:latin typeface="Arial"/>
              </a:rPr>
              <a:t> Models (LLMs) for quantum circuit synthesis</a:t>
            </a:r>
            <a:endParaRPr sz="1800" b="0" i="0" dirty="0">
              <a:solidFill>
                <a:srgbClr val="50505B"/>
              </a:solidFill>
              <a:latin typeface="Arial"/>
            </a:endParaRPr>
          </a:p>
        </p:txBody>
      </p:sp>
      <p:sp>
        <p:nvSpPr>
          <p:cNvPr id="12" name="s59-box-05"/>
          <p:cNvSpPr/>
          <p:nvPr/>
        </p:nvSpPr>
        <p:spPr>
          <a:xfrm>
            <a:off x="888978" y="3903116"/>
            <a:ext cx="139697" cy="1905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59-text-07"/>
          <p:cNvSpPr txBox="1"/>
          <p:nvPr/>
        </p:nvSpPr>
        <p:spPr>
          <a:xfrm>
            <a:off x="1219170" y="3761388"/>
            <a:ext cx="10102597" cy="308563"/>
          </a:xfrm>
          <a:prstGeom prst="rect">
            <a:avLst/>
          </a:prstGeom>
          <a:noFill/>
        </p:spPr>
        <p:txBody>
          <a:bodyPr wrap="none" lIns="0" tIns="0" rIns="0" bIns="0" anchor="t">
            <a:noAutofit/>
          </a:bodyPr>
          <a:lstStyle/>
          <a:p>
            <a:pPr algn="l">
              <a:lnSpc>
                <a:spcPts val="2430"/>
              </a:lnSpc>
              <a:spcBef>
                <a:spcPts val="0"/>
              </a:spcBef>
              <a:spcAft>
                <a:spcPts val="0"/>
              </a:spcAft>
            </a:pPr>
            <a:r>
              <a:rPr lang="en-US" b="1" dirty="0">
                <a:solidFill>
                  <a:srgbClr val="0B0B0F"/>
                </a:solidFill>
                <a:latin typeface="Arial"/>
              </a:rPr>
              <a:t>Quantum Error Correction for Cloud Security</a:t>
            </a:r>
            <a:endParaRPr sz="1800" b="0" i="0" dirty="0">
              <a:solidFill>
                <a:srgbClr val="50505B"/>
              </a:solidFill>
              <a:latin typeface="Arial"/>
            </a:endParaRPr>
          </a:p>
        </p:txBody>
      </p:sp>
      <p:sp>
        <p:nvSpPr>
          <p:cNvPr id="14" name="!!sec"/>
          <p:cNvSpPr txBox="1"/>
          <p:nvPr/>
        </p:nvSpPr>
        <p:spPr>
          <a:xfrm>
            <a:off x="888978" y="6362541"/>
            <a:ext cx="146572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IX · Conclusion</a:t>
            </a:r>
          </a:p>
        </p:txBody>
      </p:sp>
      <p:pic>
        <p:nvPicPr>
          <p:cNvPr id="15" name="s59-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16"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59</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51136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Future work</a:t>
            </a:r>
          </a:p>
        </p:txBody>
      </p:sp>
      <p:sp>
        <p:nvSpPr>
          <p:cNvPr id="3" name="s60-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Next steps for each layer</a:t>
            </a:r>
          </a:p>
        </p:txBody>
      </p:sp>
      <p:sp>
        <p:nvSpPr>
          <p:cNvPr id="4" name="!!L1-bg"/>
          <p:cNvSpPr/>
          <p:nvPr/>
        </p:nvSpPr>
        <p:spPr>
          <a:xfrm>
            <a:off x="888978" y="1583591"/>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60-text-03"/>
          <p:cNvSpPr txBox="1"/>
          <p:nvPr/>
        </p:nvSpPr>
        <p:spPr>
          <a:xfrm>
            <a:off x="1142971" y="1732812"/>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III</a:t>
            </a:r>
          </a:p>
        </p:txBody>
      </p:sp>
      <p:sp>
        <p:nvSpPr>
          <p:cNvPr id="6" name="!!L1-t"/>
          <p:cNvSpPr txBox="1"/>
          <p:nvPr/>
        </p:nvSpPr>
        <p:spPr>
          <a:xfrm>
            <a:off x="2285943" y="1678838"/>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Simulation</a:t>
            </a:r>
          </a:p>
        </p:txBody>
      </p:sp>
      <p:sp>
        <p:nvSpPr>
          <p:cNvPr id="7" name="s60-text-05"/>
          <p:cNvSpPr txBox="1"/>
          <p:nvPr/>
        </p:nvSpPr>
        <p:spPr>
          <a:xfrm>
            <a:off x="5079873" y="1687768"/>
            <a:ext cx="5374545"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a:solidFill>
                  <a:srgbClr val="50505B"/>
                </a:solidFill>
                <a:latin typeface="Arial"/>
              </a:rPr>
              <a:t>more Qiskit gates · tensor-network backends · Perlmutter successor</a:t>
            </a:r>
          </a:p>
        </p:txBody>
      </p:sp>
      <p:sp>
        <p:nvSpPr>
          <p:cNvPr id="8" name="!!L2-bg"/>
          <p:cNvSpPr/>
          <p:nvPr/>
        </p:nvSpPr>
        <p:spPr>
          <a:xfrm>
            <a:off x="888978" y="2104278"/>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60-text-06"/>
          <p:cNvSpPr txBox="1"/>
          <p:nvPr/>
        </p:nvSpPr>
        <p:spPr>
          <a:xfrm>
            <a:off x="1142971" y="2253499"/>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IV</a:t>
            </a:r>
          </a:p>
        </p:txBody>
      </p:sp>
      <p:sp>
        <p:nvSpPr>
          <p:cNvPr id="10" name="!!L2-t"/>
          <p:cNvSpPr txBox="1"/>
          <p:nvPr/>
        </p:nvSpPr>
        <p:spPr>
          <a:xfrm>
            <a:off x="2285943" y="2199525"/>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Algorithms</a:t>
            </a:r>
          </a:p>
        </p:txBody>
      </p:sp>
      <p:sp>
        <p:nvSpPr>
          <p:cNvPr id="11" name="s60-text-08"/>
          <p:cNvSpPr txBox="1"/>
          <p:nvPr/>
        </p:nvSpPr>
        <p:spPr>
          <a:xfrm>
            <a:off x="5079873" y="2208455"/>
            <a:ext cx="4692830"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a:solidFill>
                  <a:srgbClr val="50505B"/>
                </a:solidFill>
                <a:latin typeface="Arial"/>
              </a:rPr>
              <a:t>larger QUBOs · dynamic circuits · oracles beyond portfolios</a:t>
            </a:r>
          </a:p>
        </p:txBody>
      </p:sp>
      <p:sp>
        <p:nvSpPr>
          <p:cNvPr id="12" name="!!L3-bg"/>
          <p:cNvSpPr/>
          <p:nvPr/>
        </p:nvSpPr>
        <p:spPr>
          <a:xfrm>
            <a:off x="888978" y="2624965"/>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60-text-09"/>
          <p:cNvSpPr txBox="1"/>
          <p:nvPr/>
        </p:nvSpPr>
        <p:spPr>
          <a:xfrm>
            <a:off x="1142971" y="2774186"/>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V</a:t>
            </a:r>
          </a:p>
        </p:txBody>
      </p:sp>
      <p:sp>
        <p:nvSpPr>
          <p:cNvPr id="14" name="!!L3-t"/>
          <p:cNvSpPr txBox="1"/>
          <p:nvPr/>
        </p:nvSpPr>
        <p:spPr>
          <a:xfrm>
            <a:off x="2285943" y="2720212"/>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Data encoding</a:t>
            </a:r>
          </a:p>
        </p:txBody>
      </p:sp>
      <p:sp>
        <p:nvSpPr>
          <p:cNvPr id="15" name="s60-text-11"/>
          <p:cNvSpPr txBox="1"/>
          <p:nvPr/>
        </p:nvSpPr>
        <p:spPr>
          <a:xfrm>
            <a:off x="5079873" y="2729142"/>
            <a:ext cx="5342201"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a:solidFill>
                  <a:srgbClr val="50505B"/>
                </a:solidFill>
                <a:latin typeface="Arial"/>
              </a:rPr>
              <a:t>longer VQT contexts · higher-degree NNQA · calibration-aware cuts</a:t>
            </a:r>
          </a:p>
        </p:txBody>
      </p:sp>
      <p:sp>
        <p:nvSpPr>
          <p:cNvPr id="16" name="!!L4-bg"/>
          <p:cNvSpPr/>
          <p:nvPr/>
        </p:nvSpPr>
        <p:spPr>
          <a:xfrm>
            <a:off x="888978" y="3145652"/>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60-text-12"/>
          <p:cNvSpPr txBox="1"/>
          <p:nvPr/>
        </p:nvSpPr>
        <p:spPr>
          <a:xfrm>
            <a:off x="1142971" y="3294873"/>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VI</a:t>
            </a:r>
          </a:p>
        </p:txBody>
      </p:sp>
      <p:sp>
        <p:nvSpPr>
          <p:cNvPr id="18" name="!!L4-t"/>
          <p:cNvSpPr txBox="1"/>
          <p:nvPr/>
        </p:nvSpPr>
        <p:spPr>
          <a:xfrm>
            <a:off x="2285943" y="3240899"/>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Synthesis</a:t>
            </a:r>
          </a:p>
        </p:txBody>
      </p:sp>
      <p:sp>
        <p:nvSpPr>
          <p:cNvPr id="19" name="s60-text-14"/>
          <p:cNvSpPr txBox="1"/>
          <p:nvPr/>
        </p:nvSpPr>
        <p:spPr>
          <a:xfrm>
            <a:off x="5079873" y="3249829"/>
            <a:ext cx="5454315"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a:solidFill>
                  <a:srgbClr val="50505B"/>
                </a:solidFill>
                <a:latin typeface="Arial"/>
              </a:rPr>
              <a:t>QEC-aware rubrics · a coherent, measurement-free nonlinear update</a:t>
            </a:r>
          </a:p>
        </p:txBody>
      </p:sp>
      <p:sp>
        <p:nvSpPr>
          <p:cNvPr id="20" name="!!L5-bg"/>
          <p:cNvSpPr/>
          <p:nvPr/>
        </p:nvSpPr>
        <p:spPr>
          <a:xfrm>
            <a:off x="888978" y="3666339"/>
            <a:ext cx="10413740" cy="457189"/>
          </a:xfrm>
          <a:prstGeom prst="roundRect">
            <a:avLst>
              <a:gd name="adj" fmla="val 3333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60-text-15"/>
          <p:cNvSpPr txBox="1"/>
          <p:nvPr/>
        </p:nvSpPr>
        <p:spPr>
          <a:xfrm>
            <a:off x="1142971" y="3815560"/>
            <a:ext cx="908027"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VII–VIII</a:t>
            </a:r>
          </a:p>
        </p:txBody>
      </p:sp>
      <p:sp>
        <p:nvSpPr>
          <p:cNvPr id="22" name="!!L5-t"/>
          <p:cNvSpPr txBox="1"/>
          <p:nvPr/>
        </p:nvSpPr>
        <p:spPr>
          <a:xfrm>
            <a:off x="2285943" y="3761586"/>
            <a:ext cx="2558986" cy="266693"/>
          </a:xfrm>
          <a:prstGeom prst="rect">
            <a:avLst/>
          </a:prstGeom>
          <a:noFill/>
        </p:spPr>
        <p:txBody>
          <a:bodyPr wrap="none" lIns="0" tIns="0" rIns="0" bIns="0" anchor="t">
            <a:noAutofit/>
          </a:bodyPr>
          <a:lstStyle/>
          <a:p>
            <a:pPr algn="l">
              <a:lnSpc>
                <a:spcPts val="2160"/>
              </a:lnSpc>
              <a:spcBef>
                <a:spcPts val="0"/>
              </a:spcBef>
              <a:spcAft>
                <a:spcPts val="0"/>
              </a:spcAft>
            </a:pPr>
            <a:r>
              <a:rPr sz="1800" b="1" i="0" spc="-27">
                <a:solidFill>
                  <a:srgbClr val="0B0B0F"/>
                </a:solidFill>
                <a:latin typeface="Arial"/>
              </a:rPr>
              <a:t>Trust</a:t>
            </a:r>
          </a:p>
        </p:txBody>
      </p:sp>
      <p:sp>
        <p:nvSpPr>
          <p:cNvPr id="23" name="s60-text-17"/>
          <p:cNvSpPr txBox="1"/>
          <p:nvPr/>
        </p:nvSpPr>
        <p:spPr>
          <a:xfrm>
            <a:off x="5079873" y="3770516"/>
            <a:ext cx="5815462"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a:solidFill>
                  <a:srgbClr val="50505B"/>
                </a:solidFill>
                <a:latin typeface="Arial"/>
              </a:rPr>
              <a:t>surface &amp; bivariate-bicycle codes · correlated faults · audit ∘ PQC module</a:t>
            </a:r>
          </a:p>
        </p:txBody>
      </p:sp>
      <p:sp>
        <p:nvSpPr>
          <p:cNvPr id="24" name="!!sec"/>
          <p:cNvSpPr txBox="1"/>
          <p:nvPr/>
        </p:nvSpPr>
        <p:spPr>
          <a:xfrm>
            <a:off x="888978" y="6362541"/>
            <a:ext cx="146572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IX · Conclusion</a:t>
            </a:r>
          </a:p>
        </p:txBody>
      </p:sp>
      <p:pic>
        <p:nvPicPr>
          <p:cNvPr id="25" name="s60-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6"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60</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522474"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Publications</a:t>
            </a:r>
          </a:p>
        </p:txBody>
      </p:sp>
      <p:sp>
        <p:nvSpPr>
          <p:cNvPr id="3" name="s61-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Ten papers, one software release</a:t>
            </a:r>
          </a:p>
        </p:txBody>
      </p:sp>
      <p:sp>
        <p:nvSpPr>
          <p:cNvPr id="4" name="s61-box-01"/>
          <p:cNvSpPr/>
          <p:nvPr/>
        </p:nvSpPr>
        <p:spPr>
          <a:xfrm>
            <a:off x="888978" y="1739162"/>
            <a:ext cx="317492"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61-text-03"/>
          <p:cNvSpPr txBox="1"/>
          <p:nvPr/>
        </p:nvSpPr>
        <p:spPr>
          <a:xfrm>
            <a:off x="888978" y="1545492"/>
            <a:ext cx="184145" cy="130172"/>
          </a:xfrm>
          <a:prstGeom prst="rect">
            <a:avLst/>
          </a:prstGeom>
          <a:noFill/>
        </p:spPr>
        <p:txBody>
          <a:bodyPr wrap="none" lIns="0" tIns="0" rIns="0" bIns="0" anchor="t">
            <a:noAutofit/>
          </a:bodyPr>
          <a:lstStyle/>
          <a:p>
            <a:pPr algn="l">
              <a:lnSpc>
                <a:spcPts val="1080"/>
              </a:lnSpc>
              <a:spcBef>
                <a:spcPts val="0"/>
              </a:spcBef>
              <a:spcAft>
                <a:spcPts val="0"/>
              </a:spcAft>
            </a:pPr>
            <a:r>
              <a:rPr sz="900" b="1" i="0" cap="all" spc="90">
                <a:solidFill>
                  <a:srgbClr val="7B7B86"/>
                </a:solidFill>
                <a:latin typeface="Arial"/>
              </a:rPr>
              <a:t>#</a:t>
            </a:r>
          </a:p>
        </p:txBody>
      </p:sp>
      <p:sp>
        <p:nvSpPr>
          <p:cNvPr id="6" name="s61-box-02"/>
          <p:cNvSpPr/>
          <p:nvPr/>
        </p:nvSpPr>
        <p:spPr>
          <a:xfrm>
            <a:off x="1206470" y="1739162"/>
            <a:ext cx="5079873"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61-text-04"/>
          <p:cNvSpPr txBox="1"/>
          <p:nvPr/>
        </p:nvSpPr>
        <p:spPr>
          <a:xfrm>
            <a:off x="1206470" y="1545492"/>
            <a:ext cx="4946526" cy="130172"/>
          </a:xfrm>
          <a:prstGeom prst="rect">
            <a:avLst/>
          </a:prstGeom>
          <a:noFill/>
        </p:spPr>
        <p:txBody>
          <a:bodyPr wrap="none" lIns="0" tIns="0" rIns="0" bIns="0" anchor="t">
            <a:noAutofit/>
          </a:bodyPr>
          <a:lstStyle/>
          <a:p>
            <a:pPr algn="l">
              <a:lnSpc>
                <a:spcPts val="1080"/>
              </a:lnSpc>
              <a:spcBef>
                <a:spcPts val="0"/>
              </a:spcBef>
              <a:spcAft>
                <a:spcPts val="0"/>
              </a:spcAft>
            </a:pPr>
            <a:r>
              <a:rPr sz="900" b="1" i="0" cap="all" spc="90">
                <a:solidFill>
                  <a:srgbClr val="7B7B86"/>
                </a:solidFill>
                <a:latin typeface="Arial"/>
              </a:rPr>
              <a:t>Title</a:t>
            </a:r>
          </a:p>
        </p:txBody>
      </p:sp>
      <p:sp>
        <p:nvSpPr>
          <p:cNvPr id="8" name="s61-box-03"/>
          <p:cNvSpPr/>
          <p:nvPr/>
        </p:nvSpPr>
        <p:spPr>
          <a:xfrm>
            <a:off x="6286343" y="1739162"/>
            <a:ext cx="2730432"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61-text-05"/>
          <p:cNvSpPr txBox="1"/>
          <p:nvPr/>
        </p:nvSpPr>
        <p:spPr>
          <a:xfrm>
            <a:off x="6286343" y="1545492"/>
            <a:ext cx="2597085" cy="130172"/>
          </a:xfrm>
          <a:prstGeom prst="rect">
            <a:avLst/>
          </a:prstGeom>
          <a:noFill/>
        </p:spPr>
        <p:txBody>
          <a:bodyPr wrap="none" lIns="0" tIns="0" rIns="0" bIns="0" anchor="t">
            <a:noAutofit/>
          </a:bodyPr>
          <a:lstStyle/>
          <a:p>
            <a:pPr algn="l">
              <a:lnSpc>
                <a:spcPts val="1080"/>
              </a:lnSpc>
              <a:spcBef>
                <a:spcPts val="0"/>
              </a:spcBef>
              <a:spcAft>
                <a:spcPts val="0"/>
              </a:spcAft>
            </a:pPr>
            <a:r>
              <a:rPr sz="900" b="1" i="0" cap="all" spc="90">
                <a:solidFill>
                  <a:srgbClr val="7B7B86"/>
                </a:solidFill>
                <a:latin typeface="Arial"/>
              </a:rPr>
              <a:t>Authors</a:t>
            </a:r>
          </a:p>
        </p:txBody>
      </p:sp>
      <p:sp>
        <p:nvSpPr>
          <p:cNvPr id="10" name="s61-box-04"/>
          <p:cNvSpPr/>
          <p:nvPr/>
        </p:nvSpPr>
        <p:spPr>
          <a:xfrm>
            <a:off x="9016775" y="1739162"/>
            <a:ext cx="2285943"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61-text-06"/>
          <p:cNvSpPr txBox="1"/>
          <p:nvPr/>
        </p:nvSpPr>
        <p:spPr>
          <a:xfrm>
            <a:off x="9016775" y="1545492"/>
            <a:ext cx="2152596" cy="130172"/>
          </a:xfrm>
          <a:prstGeom prst="rect">
            <a:avLst/>
          </a:prstGeom>
          <a:noFill/>
        </p:spPr>
        <p:txBody>
          <a:bodyPr wrap="none" lIns="0" tIns="0" rIns="0" bIns="0" anchor="t">
            <a:noAutofit/>
          </a:bodyPr>
          <a:lstStyle/>
          <a:p>
            <a:pPr algn="l">
              <a:lnSpc>
                <a:spcPts val="1080"/>
              </a:lnSpc>
              <a:spcBef>
                <a:spcPts val="0"/>
              </a:spcBef>
              <a:spcAft>
                <a:spcPts val="0"/>
              </a:spcAft>
            </a:pPr>
            <a:r>
              <a:rPr sz="900" b="1" i="0" cap="all" spc="90">
                <a:solidFill>
                  <a:srgbClr val="7B7B86"/>
                </a:solidFill>
                <a:latin typeface="Arial"/>
              </a:rPr>
              <a:t>Venue</a:t>
            </a:r>
          </a:p>
        </p:txBody>
      </p:sp>
      <p:sp>
        <p:nvSpPr>
          <p:cNvPr id="12" name="s61-box-05"/>
          <p:cNvSpPr/>
          <p:nvPr/>
        </p:nvSpPr>
        <p:spPr>
          <a:xfrm>
            <a:off x="888978" y="2007740"/>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61-text-07"/>
          <p:cNvSpPr txBox="1"/>
          <p:nvPr/>
        </p:nvSpPr>
        <p:spPr>
          <a:xfrm>
            <a:off x="888978" y="1789961"/>
            <a:ext cx="234944"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1</a:t>
            </a:r>
          </a:p>
        </p:txBody>
      </p:sp>
      <p:sp>
        <p:nvSpPr>
          <p:cNvPr id="14" name="s61-box-06"/>
          <p:cNvSpPr/>
          <p:nvPr/>
        </p:nvSpPr>
        <p:spPr>
          <a:xfrm>
            <a:off x="1206470" y="2007740"/>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61-text-08"/>
          <p:cNvSpPr txBox="1"/>
          <p:nvPr/>
        </p:nvSpPr>
        <p:spPr>
          <a:xfrm>
            <a:off x="1206470" y="1789961"/>
            <a:ext cx="499732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Q-GEAR: improving quantum simulation framework</a:t>
            </a:r>
          </a:p>
        </p:txBody>
      </p:sp>
      <p:sp>
        <p:nvSpPr>
          <p:cNvPr id="16" name="s61-box-07"/>
          <p:cNvSpPr/>
          <p:nvPr/>
        </p:nvSpPr>
        <p:spPr>
          <a:xfrm>
            <a:off x="6286343" y="2007740"/>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61-text-09"/>
          <p:cNvSpPr txBox="1"/>
          <p:nvPr/>
        </p:nvSpPr>
        <p:spPr>
          <a:xfrm>
            <a:off x="6286343" y="1789961"/>
            <a:ext cx="2647884"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Guo, Balewski, Pan</a:t>
            </a:r>
          </a:p>
        </p:txBody>
      </p:sp>
      <p:sp>
        <p:nvSpPr>
          <p:cNvPr id="18" name="s61-box-08"/>
          <p:cNvSpPr/>
          <p:nvPr/>
        </p:nvSpPr>
        <p:spPr>
          <a:xfrm>
            <a:off x="9016775" y="2007740"/>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61-text-10"/>
          <p:cNvSpPr txBox="1"/>
          <p:nvPr/>
        </p:nvSpPr>
        <p:spPr>
          <a:xfrm>
            <a:off x="9016775" y="1789961"/>
            <a:ext cx="220339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ACM ICPP 2025 · arXiv:2504.03967</a:t>
            </a:r>
          </a:p>
        </p:txBody>
      </p:sp>
      <p:sp>
        <p:nvSpPr>
          <p:cNvPr id="20" name="s61-box-09"/>
          <p:cNvSpPr/>
          <p:nvPr/>
        </p:nvSpPr>
        <p:spPr>
          <a:xfrm>
            <a:off x="888978" y="2449650"/>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61-text-11"/>
          <p:cNvSpPr txBox="1"/>
          <p:nvPr/>
        </p:nvSpPr>
        <p:spPr>
          <a:xfrm>
            <a:off x="888978" y="2058539"/>
            <a:ext cx="228594" cy="346662"/>
          </a:xfrm>
          <a:prstGeom prst="rect">
            <a:avLst/>
          </a:prstGeom>
          <a:noFill/>
        </p:spPr>
        <p:txBody>
          <a:bodyPr wrap="square" lIns="0" tIns="0" rIns="0" bIns="0" anchor="t">
            <a:noAutofit/>
          </a:bodyPr>
          <a:lstStyle/>
          <a:p>
            <a:pPr algn="l">
              <a:lnSpc>
                <a:spcPts val="1365"/>
              </a:lnSpc>
              <a:spcBef>
                <a:spcPts val="0"/>
              </a:spcBef>
              <a:spcAft>
                <a:spcPts val="0"/>
              </a:spcAft>
            </a:pPr>
            <a:r>
              <a:rPr sz="1050" b="1" i="0">
                <a:solidFill>
                  <a:srgbClr val="0B0B0F"/>
                </a:solidFill>
                <a:latin typeface="Arial"/>
              </a:rPr>
              <a:t>2</a:t>
            </a:r>
          </a:p>
        </p:txBody>
      </p:sp>
      <p:sp>
        <p:nvSpPr>
          <p:cNvPr id="22" name="s61-box-10"/>
          <p:cNvSpPr/>
          <p:nvPr/>
        </p:nvSpPr>
        <p:spPr>
          <a:xfrm>
            <a:off x="1206470" y="2449650"/>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61-text-12"/>
          <p:cNvSpPr txBox="1"/>
          <p:nvPr/>
        </p:nvSpPr>
        <p:spPr>
          <a:xfrm>
            <a:off x="1206470" y="2058539"/>
            <a:ext cx="4990975"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QPIE: quantum parallel information exchange network with transfer learning</a:t>
            </a:r>
          </a:p>
        </p:txBody>
      </p:sp>
      <p:sp>
        <p:nvSpPr>
          <p:cNvPr id="24" name="s61-box-11"/>
          <p:cNvSpPr/>
          <p:nvPr/>
        </p:nvSpPr>
        <p:spPr>
          <a:xfrm>
            <a:off x="6286343" y="2449650"/>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61-text-13"/>
          <p:cNvSpPr txBox="1"/>
          <p:nvPr/>
        </p:nvSpPr>
        <p:spPr>
          <a:xfrm>
            <a:off x="6286343" y="2058539"/>
            <a:ext cx="2641534"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Guo, Khan, Sheng, Jabeen, Pan</a:t>
            </a:r>
          </a:p>
        </p:txBody>
      </p:sp>
      <p:sp>
        <p:nvSpPr>
          <p:cNvPr id="26" name="s61-box-12"/>
          <p:cNvSpPr/>
          <p:nvPr/>
        </p:nvSpPr>
        <p:spPr>
          <a:xfrm>
            <a:off x="9016775" y="2449650"/>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s61-text-14"/>
          <p:cNvSpPr txBox="1"/>
          <p:nvPr/>
        </p:nvSpPr>
        <p:spPr>
          <a:xfrm>
            <a:off x="9016775" y="2058539"/>
            <a:ext cx="2197045"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Quantum Sci. Technol. 10 (2025) · arXiv:2504.04235</a:t>
            </a:r>
          </a:p>
        </p:txBody>
      </p:sp>
      <p:sp>
        <p:nvSpPr>
          <p:cNvPr id="28" name="s61-box-13"/>
          <p:cNvSpPr/>
          <p:nvPr/>
        </p:nvSpPr>
        <p:spPr>
          <a:xfrm>
            <a:off x="888978" y="2718228"/>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61-text-15"/>
          <p:cNvSpPr txBox="1"/>
          <p:nvPr/>
        </p:nvSpPr>
        <p:spPr>
          <a:xfrm>
            <a:off x="888978" y="2500448"/>
            <a:ext cx="234944"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3</a:t>
            </a:r>
          </a:p>
        </p:txBody>
      </p:sp>
      <p:sp>
        <p:nvSpPr>
          <p:cNvPr id="30" name="s61-box-14"/>
          <p:cNvSpPr/>
          <p:nvPr/>
        </p:nvSpPr>
        <p:spPr>
          <a:xfrm>
            <a:off x="1206470" y="2718228"/>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61-text-16"/>
          <p:cNvSpPr txBox="1"/>
          <p:nvPr/>
        </p:nvSpPr>
        <p:spPr>
          <a:xfrm>
            <a:off x="1206470" y="2500448"/>
            <a:ext cx="499732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DEAL: direct entanglement ansatz learning with ZNE on superconducting qubits</a:t>
            </a:r>
          </a:p>
        </p:txBody>
      </p:sp>
      <p:sp>
        <p:nvSpPr>
          <p:cNvPr id="32" name="s61-box-15"/>
          <p:cNvSpPr/>
          <p:nvPr/>
        </p:nvSpPr>
        <p:spPr>
          <a:xfrm>
            <a:off x="6286343" y="2718228"/>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s61-text-17"/>
          <p:cNvSpPr txBox="1"/>
          <p:nvPr/>
        </p:nvSpPr>
        <p:spPr>
          <a:xfrm>
            <a:off x="6286343" y="2500448"/>
            <a:ext cx="2647884"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Guo, Rayan, Hu, Pan</a:t>
            </a:r>
          </a:p>
        </p:txBody>
      </p:sp>
      <p:sp>
        <p:nvSpPr>
          <p:cNvPr id="34" name="s61-box-16"/>
          <p:cNvSpPr/>
          <p:nvPr/>
        </p:nvSpPr>
        <p:spPr>
          <a:xfrm>
            <a:off x="9016775" y="2718228"/>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61-text-18"/>
          <p:cNvSpPr txBox="1"/>
          <p:nvPr/>
        </p:nvSpPr>
        <p:spPr>
          <a:xfrm>
            <a:off x="9016775" y="2500448"/>
            <a:ext cx="220339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IEEE QCE 2025 · arXiv:2504.04021</a:t>
            </a:r>
          </a:p>
        </p:txBody>
      </p:sp>
      <p:sp>
        <p:nvSpPr>
          <p:cNvPr id="36" name="s61-box-17"/>
          <p:cNvSpPr/>
          <p:nvPr/>
        </p:nvSpPr>
        <p:spPr>
          <a:xfrm>
            <a:off x="888978" y="3160137"/>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61-text-19"/>
          <p:cNvSpPr txBox="1"/>
          <p:nvPr/>
        </p:nvSpPr>
        <p:spPr>
          <a:xfrm>
            <a:off x="888978" y="2769027"/>
            <a:ext cx="228594" cy="346662"/>
          </a:xfrm>
          <a:prstGeom prst="rect">
            <a:avLst/>
          </a:prstGeom>
          <a:noFill/>
        </p:spPr>
        <p:txBody>
          <a:bodyPr wrap="square" lIns="0" tIns="0" rIns="0" bIns="0" anchor="t">
            <a:noAutofit/>
          </a:bodyPr>
          <a:lstStyle/>
          <a:p>
            <a:pPr algn="l">
              <a:lnSpc>
                <a:spcPts val="1365"/>
              </a:lnSpc>
              <a:spcBef>
                <a:spcPts val="0"/>
              </a:spcBef>
              <a:spcAft>
                <a:spcPts val="0"/>
              </a:spcAft>
            </a:pPr>
            <a:r>
              <a:rPr sz="1050" b="1" i="0">
                <a:solidFill>
                  <a:srgbClr val="0B0B0F"/>
                </a:solidFill>
                <a:latin typeface="Arial"/>
              </a:rPr>
              <a:t>4</a:t>
            </a:r>
          </a:p>
        </p:txBody>
      </p:sp>
      <p:sp>
        <p:nvSpPr>
          <p:cNvPr id="38" name="s61-box-18"/>
          <p:cNvSpPr/>
          <p:nvPr/>
        </p:nvSpPr>
        <p:spPr>
          <a:xfrm>
            <a:off x="1206470" y="3160137"/>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s61-text-20"/>
          <p:cNvSpPr txBox="1"/>
          <p:nvPr/>
        </p:nvSpPr>
        <p:spPr>
          <a:xfrm>
            <a:off x="1206470" y="2769027"/>
            <a:ext cx="4990975"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VQT: vectorized attention with learnable encoding for quantum transformer</a:t>
            </a:r>
          </a:p>
        </p:txBody>
      </p:sp>
      <p:sp>
        <p:nvSpPr>
          <p:cNvPr id="40" name="s61-box-19"/>
          <p:cNvSpPr/>
          <p:nvPr/>
        </p:nvSpPr>
        <p:spPr>
          <a:xfrm>
            <a:off x="6286343" y="3160137"/>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61-text-21"/>
          <p:cNvSpPr txBox="1"/>
          <p:nvPr/>
        </p:nvSpPr>
        <p:spPr>
          <a:xfrm>
            <a:off x="6286343" y="2769027"/>
            <a:ext cx="2641534"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Guo, Pan, Khan, Balewski</a:t>
            </a:r>
          </a:p>
        </p:txBody>
      </p:sp>
      <p:sp>
        <p:nvSpPr>
          <p:cNvPr id="42" name="s61-box-20"/>
          <p:cNvSpPr/>
          <p:nvPr/>
        </p:nvSpPr>
        <p:spPr>
          <a:xfrm>
            <a:off x="9016775" y="3160137"/>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61-text-22"/>
          <p:cNvSpPr txBox="1"/>
          <p:nvPr/>
        </p:nvSpPr>
        <p:spPr>
          <a:xfrm>
            <a:off x="9016775" y="2769027"/>
            <a:ext cx="2197045"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AAAI Symposium Series 7 (2025) · arXiv:2508.18464</a:t>
            </a:r>
          </a:p>
        </p:txBody>
      </p:sp>
      <p:sp>
        <p:nvSpPr>
          <p:cNvPr id="44" name="s61-box-21"/>
          <p:cNvSpPr/>
          <p:nvPr/>
        </p:nvSpPr>
        <p:spPr>
          <a:xfrm>
            <a:off x="888978" y="3428716"/>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61-text-23"/>
          <p:cNvSpPr txBox="1"/>
          <p:nvPr/>
        </p:nvSpPr>
        <p:spPr>
          <a:xfrm>
            <a:off x="888978" y="3210936"/>
            <a:ext cx="234944"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5</a:t>
            </a:r>
          </a:p>
        </p:txBody>
      </p:sp>
      <p:sp>
        <p:nvSpPr>
          <p:cNvPr id="46" name="s61-box-22"/>
          <p:cNvSpPr/>
          <p:nvPr/>
        </p:nvSpPr>
        <p:spPr>
          <a:xfrm>
            <a:off x="1206470" y="3428716"/>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61-text-24"/>
          <p:cNvSpPr txBox="1"/>
          <p:nvPr/>
        </p:nvSpPr>
        <p:spPr>
          <a:xfrm>
            <a:off x="1206470" y="3210936"/>
            <a:ext cx="499732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ShardQ: quantum data representation via circuit partitioning and reintegration</a:t>
            </a:r>
          </a:p>
        </p:txBody>
      </p:sp>
      <p:sp>
        <p:nvSpPr>
          <p:cNvPr id="48" name="s61-box-23"/>
          <p:cNvSpPr/>
          <p:nvPr/>
        </p:nvSpPr>
        <p:spPr>
          <a:xfrm>
            <a:off x="6286343" y="3428716"/>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61-text-25"/>
          <p:cNvSpPr txBox="1"/>
          <p:nvPr/>
        </p:nvSpPr>
        <p:spPr>
          <a:xfrm>
            <a:off x="6286343" y="3210936"/>
            <a:ext cx="2647884"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Guo, Balewski, Xiao, Pan</a:t>
            </a:r>
          </a:p>
        </p:txBody>
      </p:sp>
      <p:sp>
        <p:nvSpPr>
          <p:cNvPr id="50" name="s61-box-24"/>
          <p:cNvSpPr/>
          <p:nvPr/>
        </p:nvSpPr>
        <p:spPr>
          <a:xfrm>
            <a:off x="9016775" y="3428716"/>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61-text-26"/>
          <p:cNvSpPr txBox="1"/>
          <p:nvPr/>
        </p:nvSpPr>
        <p:spPr>
          <a:xfrm>
            <a:off x="9016775" y="3210936"/>
            <a:ext cx="2203395" cy="173331"/>
          </a:xfrm>
          <a:prstGeom prst="rect">
            <a:avLst/>
          </a:prstGeom>
          <a:noFill/>
        </p:spPr>
        <p:txBody>
          <a:bodyPr wrap="none" lIns="0" tIns="0" rIns="0" bIns="0" anchor="t">
            <a:noAutofit/>
          </a:bodyPr>
          <a:lstStyle/>
          <a:p>
            <a:pPr algn="l">
              <a:lnSpc>
                <a:spcPts val="1365"/>
              </a:lnSpc>
              <a:spcBef>
                <a:spcPts val="0"/>
              </a:spcBef>
              <a:spcAft>
                <a:spcPts val="0"/>
              </a:spcAft>
            </a:pPr>
            <a:r>
              <a:rPr lang="en-US" sz="1050" b="0" i="0" dirty="0">
                <a:solidFill>
                  <a:srgbClr val="50505B"/>
                </a:solidFill>
                <a:latin typeface="Arial"/>
              </a:rPr>
              <a:t>IEEE transaction on Quantum </a:t>
            </a:r>
            <a:r>
              <a:rPr lang="en-US" sz="1050" dirty="0">
                <a:solidFill>
                  <a:srgbClr val="50505B"/>
                </a:solidFill>
                <a:latin typeface="Arial"/>
              </a:rPr>
              <a:t>Engineering</a:t>
            </a:r>
            <a:r>
              <a:rPr sz="1050" b="0" i="0" dirty="0">
                <a:solidFill>
                  <a:srgbClr val="50505B"/>
                </a:solidFill>
                <a:latin typeface="Arial"/>
              </a:rPr>
              <a:t> (2025)</a:t>
            </a:r>
          </a:p>
        </p:txBody>
      </p:sp>
      <p:sp>
        <p:nvSpPr>
          <p:cNvPr id="52" name="s61-box-25"/>
          <p:cNvSpPr/>
          <p:nvPr/>
        </p:nvSpPr>
        <p:spPr>
          <a:xfrm>
            <a:off x="888978" y="3697294"/>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s61-text-27"/>
          <p:cNvSpPr txBox="1"/>
          <p:nvPr/>
        </p:nvSpPr>
        <p:spPr>
          <a:xfrm>
            <a:off x="888978" y="3479515"/>
            <a:ext cx="234944"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6</a:t>
            </a:r>
          </a:p>
        </p:txBody>
      </p:sp>
      <p:sp>
        <p:nvSpPr>
          <p:cNvPr id="54" name="s61-box-26"/>
          <p:cNvSpPr/>
          <p:nvPr/>
        </p:nvSpPr>
        <p:spPr>
          <a:xfrm>
            <a:off x="1206470" y="3697294"/>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61-text-28"/>
          <p:cNvSpPr txBox="1"/>
          <p:nvPr/>
        </p:nvSpPr>
        <p:spPr>
          <a:xfrm>
            <a:off x="1206470" y="3479515"/>
            <a:ext cx="499732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QAWA: quantum approximate walk algorithm</a:t>
            </a:r>
          </a:p>
        </p:txBody>
      </p:sp>
      <p:sp>
        <p:nvSpPr>
          <p:cNvPr id="56" name="s61-box-27"/>
          <p:cNvSpPr/>
          <p:nvPr/>
        </p:nvSpPr>
        <p:spPr>
          <a:xfrm>
            <a:off x="6286343" y="3697294"/>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s61-text-29"/>
          <p:cNvSpPr txBox="1"/>
          <p:nvPr/>
        </p:nvSpPr>
        <p:spPr>
          <a:xfrm>
            <a:off x="6286343" y="3479515"/>
            <a:ext cx="2647884"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Guo, Balewski, Hu, Khan, Pan</a:t>
            </a:r>
          </a:p>
        </p:txBody>
      </p:sp>
      <p:sp>
        <p:nvSpPr>
          <p:cNvPr id="58" name="s61-box-28"/>
          <p:cNvSpPr/>
          <p:nvPr/>
        </p:nvSpPr>
        <p:spPr>
          <a:xfrm>
            <a:off x="9016775" y="3697294"/>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s61-text-30"/>
          <p:cNvSpPr txBox="1"/>
          <p:nvPr/>
        </p:nvSpPr>
        <p:spPr>
          <a:xfrm>
            <a:off x="9016775" y="3479515"/>
            <a:ext cx="220339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arXiv:2511.07676 (2025)</a:t>
            </a:r>
          </a:p>
        </p:txBody>
      </p:sp>
      <p:sp>
        <p:nvSpPr>
          <p:cNvPr id="60" name="s61-box-29"/>
          <p:cNvSpPr/>
          <p:nvPr/>
        </p:nvSpPr>
        <p:spPr>
          <a:xfrm>
            <a:off x="888978" y="3965873"/>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s61-text-31"/>
          <p:cNvSpPr txBox="1"/>
          <p:nvPr/>
        </p:nvSpPr>
        <p:spPr>
          <a:xfrm>
            <a:off x="888978" y="3748093"/>
            <a:ext cx="234944"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7</a:t>
            </a:r>
          </a:p>
        </p:txBody>
      </p:sp>
      <p:sp>
        <p:nvSpPr>
          <p:cNvPr id="62" name="s61-box-30"/>
          <p:cNvSpPr/>
          <p:nvPr/>
        </p:nvSpPr>
        <p:spPr>
          <a:xfrm>
            <a:off x="1206470" y="3965873"/>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s61-text-32"/>
          <p:cNvSpPr txBox="1"/>
          <p:nvPr/>
        </p:nvSpPr>
        <p:spPr>
          <a:xfrm>
            <a:off x="1206470" y="3748093"/>
            <a:ext cx="499732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NNQA: Neural-native quantum arithmetic for end-to-end polynomial synthesis</a:t>
            </a:r>
          </a:p>
        </p:txBody>
      </p:sp>
      <p:sp>
        <p:nvSpPr>
          <p:cNvPr id="64" name="s61-box-31"/>
          <p:cNvSpPr/>
          <p:nvPr/>
        </p:nvSpPr>
        <p:spPr>
          <a:xfrm>
            <a:off x="6286343" y="3965873"/>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s61-text-33"/>
          <p:cNvSpPr txBox="1"/>
          <p:nvPr/>
        </p:nvSpPr>
        <p:spPr>
          <a:xfrm>
            <a:off x="6286343" y="3748093"/>
            <a:ext cx="2647884"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Guo, Li, Chen, Pan</a:t>
            </a:r>
          </a:p>
        </p:txBody>
      </p:sp>
      <p:sp>
        <p:nvSpPr>
          <p:cNvPr id="66" name="s61-box-32"/>
          <p:cNvSpPr/>
          <p:nvPr/>
        </p:nvSpPr>
        <p:spPr>
          <a:xfrm>
            <a:off x="9016775" y="3965873"/>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s61-text-34"/>
          <p:cNvSpPr txBox="1"/>
          <p:nvPr/>
        </p:nvSpPr>
        <p:spPr>
          <a:xfrm>
            <a:off x="9016775" y="3748093"/>
            <a:ext cx="220339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arXiv:2603.27297 (2026)</a:t>
            </a:r>
          </a:p>
        </p:txBody>
      </p:sp>
      <p:sp>
        <p:nvSpPr>
          <p:cNvPr id="68" name="s61-box-33"/>
          <p:cNvSpPr/>
          <p:nvPr/>
        </p:nvSpPr>
        <p:spPr>
          <a:xfrm>
            <a:off x="888978" y="4407782"/>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s61-text-35"/>
          <p:cNvSpPr txBox="1"/>
          <p:nvPr/>
        </p:nvSpPr>
        <p:spPr>
          <a:xfrm>
            <a:off x="888978" y="4016671"/>
            <a:ext cx="228594" cy="346662"/>
          </a:xfrm>
          <a:prstGeom prst="rect">
            <a:avLst/>
          </a:prstGeom>
          <a:noFill/>
        </p:spPr>
        <p:txBody>
          <a:bodyPr wrap="square" lIns="0" tIns="0" rIns="0" bIns="0" anchor="t">
            <a:noAutofit/>
          </a:bodyPr>
          <a:lstStyle/>
          <a:p>
            <a:pPr algn="l">
              <a:lnSpc>
                <a:spcPts val="1365"/>
              </a:lnSpc>
              <a:spcBef>
                <a:spcPts val="0"/>
              </a:spcBef>
              <a:spcAft>
                <a:spcPts val="0"/>
              </a:spcAft>
            </a:pPr>
            <a:r>
              <a:rPr sz="1050" b="1" i="0">
                <a:solidFill>
                  <a:srgbClr val="0B0B0F"/>
                </a:solidFill>
                <a:latin typeface="Arial"/>
              </a:rPr>
              <a:t>8</a:t>
            </a:r>
          </a:p>
        </p:txBody>
      </p:sp>
      <p:sp>
        <p:nvSpPr>
          <p:cNvPr id="70" name="s61-box-34"/>
          <p:cNvSpPr/>
          <p:nvPr/>
        </p:nvSpPr>
        <p:spPr>
          <a:xfrm>
            <a:off x="1206470" y="4407782"/>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s61-text-36"/>
          <p:cNvSpPr txBox="1"/>
          <p:nvPr/>
        </p:nvSpPr>
        <p:spPr>
          <a:xfrm>
            <a:off x="1206470" y="4016671"/>
            <a:ext cx="4990975"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RubriQ: Rubric-guided GRPO for constraint-aware quantum circuit synthesis</a:t>
            </a:r>
          </a:p>
        </p:txBody>
      </p:sp>
      <p:sp>
        <p:nvSpPr>
          <p:cNvPr id="72" name="s61-box-35"/>
          <p:cNvSpPr/>
          <p:nvPr/>
        </p:nvSpPr>
        <p:spPr>
          <a:xfrm>
            <a:off x="6286343" y="4407782"/>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s61-text-37"/>
          <p:cNvSpPr txBox="1"/>
          <p:nvPr/>
        </p:nvSpPr>
        <p:spPr>
          <a:xfrm>
            <a:off x="6286343" y="4016671"/>
            <a:ext cx="2641534"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Guo, Pan</a:t>
            </a:r>
          </a:p>
        </p:txBody>
      </p:sp>
      <p:sp>
        <p:nvSpPr>
          <p:cNvPr id="74" name="s61-box-36"/>
          <p:cNvSpPr/>
          <p:nvPr/>
        </p:nvSpPr>
        <p:spPr>
          <a:xfrm>
            <a:off x="9016775" y="4407782"/>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s61-text-38"/>
          <p:cNvSpPr txBox="1"/>
          <p:nvPr/>
        </p:nvSpPr>
        <p:spPr>
          <a:xfrm>
            <a:off x="9016775" y="4016671"/>
            <a:ext cx="2197045"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arXiv:2607.07554 (2026) · under review, npj Quantum Information</a:t>
            </a:r>
          </a:p>
        </p:txBody>
      </p:sp>
      <p:sp>
        <p:nvSpPr>
          <p:cNvPr id="76" name="s61-box-37"/>
          <p:cNvSpPr/>
          <p:nvPr/>
        </p:nvSpPr>
        <p:spPr>
          <a:xfrm>
            <a:off x="888978" y="4849691"/>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s61-text-39"/>
          <p:cNvSpPr txBox="1"/>
          <p:nvPr/>
        </p:nvSpPr>
        <p:spPr>
          <a:xfrm>
            <a:off x="888978" y="4458581"/>
            <a:ext cx="228594" cy="346662"/>
          </a:xfrm>
          <a:prstGeom prst="rect">
            <a:avLst/>
          </a:prstGeom>
          <a:noFill/>
        </p:spPr>
        <p:txBody>
          <a:bodyPr wrap="square" lIns="0" tIns="0" rIns="0" bIns="0" anchor="t">
            <a:noAutofit/>
          </a:bodyPr>
          <a:lstStyle/>
          <a:p>
            <a:pPr algn="l">
              <a:lnSpc>
                <a:spcPts val="1365"/>
              </a:lnSpc>
              <a:spcBef>
                <a:spcPts val="0"/>
              </a:spcBef>
              <a:spcAft>
                <a:spcPts val="0"/>
              </a:spcAft>
            </a:pPr>
            <a:r>
              <a:rPr sz="1050" b="1" i="0">
                <a:solidFill>
                  <a:srgbClr val="0B0B0F"/>
                </a:solidFill>
                <a:latin typeface="Arial"/>
              </a:rPr>
              <a:t>9</a:t>
            </a:r>
          </a:p>
        </p:txBody>
      </p:sp>
      <p:sp>
        <p:nvSpPr>
          <p:cNvPr id="78" name="s61-box-38"/>
          <p:cNvSpPr/>
          <p:nvPr/>
        </p:nvSpPr>
        <p:spPr>
          <a:xfrm>
            <a:off x="1206470" y="4849691"/>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s61-text-40"/>
          <p:cNvSpPr txBox="1"/>
          <p:nvPr/>
        </p:nvSpPr>
        <p:spPr>
          <a:xfrm>
            <a:off x="1206470" y="4458581"/>
            <a:ext cx="4990975"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Measurement and reload costs in direct quantum simulation of nonlinear waves</a:t>
            </a:r>
          </a:p>
        </p:txBody>
      </p:sp>
      <p:sp>
        <p:nvSpPr>
          <p:cNvPr id="80" name="s61-box-39"/>
          <p:cNvSpPr/>
          <p:nvPr/>
        </p:nvSpPr>
        <p:spPr>
          <a:xfrm>
            <a:off x="6286343" y="4849691"/>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s61-text-41"/>
          <p:cNvSpPr txBox="1"/>
          <p:nvPr/>
        </p:nvSpPr>
        <p:spPr>
          <a:xfrm>
            <a:off x="6286343" y="4458581"/>
            <a:ext cx="2641534"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Guo, Dsouza, Khan, Chopra, Lineswala, Pan</a:t>
            </a:r>
          </a:p>
        </p:txBody>
      </p:sp>
      <p:sp>
        <p:nvSpPr>
          <p:cNvPr id="82" name="s61-box-40"/>
          <p:cNvSpPr/>
          <p:nvPr/>
        </p:nvSpPr>
        <p:spPr>
          <a:xfrm>
            <a:off x="9016775" y="4849691"/>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s61-text-42"/>
          <p:cNvSpPr txBox="1"/>
          <p:nvPr/>
        </p:nvSpPr>
        <p:spPr>
          <a:xfrm>
            <a:off x="9016775" y="4458581"/>
            <a:ext cx="2197045"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arXiv:2608.21647 (2026)</a:t>
            </a:r>
          </a:p>
        </p:txBody>
      </p:sp>
      <p:sp>
        <p:nvSpPr>
          <p:cNvPr id="84" name="s61-box-41"/>
          <p:cNvSpPr/>
          <p:nvPr/>
        </p:nvSpPr>
        <p:spPr>
          <a:xfrm>
            <a:off x="888978" y="5118270"/>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s61-text-43"/>
          <p:cNvSpPr txBox="1"/>
          <p:nvPr/>
        </p:nvSpPr>
        <p:spPr>
          <a:xfrm>
            <a:off x="888978" y="4900490"/>
            <a:ext cx="234944"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10</a:t>
            </a:r>
          </a:p>
        </p:txBody>
      </p:sp>
      <p:sp>
        <p:nvSpPr>
          <p:cNvPr id="86" name="s61-box-42"/>
          <p:cNvSpPr/>
          <p:nvPr/>
        </p:nvSpPr>
        <p:spPr>
          <a:xfrm>
            <a:off x="1206470" y="5118270"/>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s61-text-44"/>
          <p:cNvSpPr txBox="1"/>
          <p:nvPr/>
        </p:nvSpPr>
        <p:spPr>
          <a:xfrm>
            <a:off x="1206470" y="4900490"/>
            <a:ext cx="499732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Auditing structured randomness for QEC under a bounded cloud fault model</a:t>
            </a:r>
          </a:p>
        </p:txBody>
      </p:sp>
      <p:sp>
        <p:nvSpPr>
          <p:cNvPr id="88" name="s61-box-43"/>
          <p:cNvSpPr/>
          <p:nvPr/>
        </p:nvSpPr>
        <p:spPr>
          <a:xfrm>
            <a:off x="6286343" y="5118270"/>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s61-text-45"/>
          <p:cNvSpPr txBox="1"/>
          <p:nvPr/>
        </p:nvSpPr>
        <p:spPr>
          <a:xfrm>
            <a:off x="6286343" y="4900490"/>
            <a:ext cx="2647884"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Guo, Lawrence, Wang, Kuang, Pan</a:t>
            </a:r>
          </a:p>
        </p:txBody>
      </p:sp>
      <p:sp>
        <p:nvSpPr>
          <p:cNvPr id="90" name="s61-box-44"/>
          <p:cNvSpPr/>
          <p:nvPr/>
        </p:nvSpPr>
        <p:spPr>
          <a:xfrm>
            <a:off x="9016775" y="5118270"/>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s61-text-46"/>
          <p:cNvSpPr txBox="1"/>
          <p:nvPr/>
        </p:nvSpPr>
        <p:spPr>
          <a:xfrm>
            <a:off x="9016775" y="4900490"/>
            <a:ext cx="2203395"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arXiv:2608.26600 (2026)</a:t>
            </a:r>
          </a:p>
        </p:txBody>
      </p:sp>
      <p:sp>
        <p:nvSpPr>
          <p:cNvPr id="92" name="s61-box-45"/>
          <p:cNvSpPr/>
          <p:nvPr/>
        </p:nvSpPr>
        <p:spPr>
          <a:xfrm>
            <a:off x="888978" y="5560179"/>
            <a:ext cx="31749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s61-text-47"/>
          <p:cNvSpPr txBox="1"/>
          <p:nvPr/>
        </p:nvSpPr>
        <p:spPr>
          <a:xfrm>
            <a:off x="888978" y="5169068"/>
            <a:ext cx="228594" cy="346662"/>
          </a:xfrm>
          <a:prstGeom prst="rect">
            <a:avLst/>
          </a:prstGeom>
          <a:noFill/>
        </p:spPr>
        <p:txBody>
          <a:bodyPr wrap="square" lIns="0" tIns="0" rIns="0" bIns="0" anchor="t">
            <a:noAutofit/>
          </a:bodyPr>
          <a:lstStyle/>
          <a:p>
            <a:pPr algn="l">
              <a:lnSpc>
                <a:spcPts val="1365"/>
              </a:lnSpc>
              <a:spcBef>
                <a:spcPts val="0"/>
              </a:spcBef>
              <a:spcAft>
                <a:spcPts val="0"/>
              </a:spcAft>
            </a:pPr>
            <a:r>
              <a:rPr sz="1050" b="1" i="0">
                <a:solidFill>
                  <a:srgbClr val="0B0B0F"/>
                </a:solidFill>
                <a:latin typeface="Arial"/>
              </a:rPr>
              <a:t>11</a:t>
            </a:r>
          </a:p>
        </p:txBody>
      </p:sp>
      <p:sp>
        <p:nvSpPr>
          <p:cNvPr id="94" name="s61-box-46"/>
          <p:cNvSpPr/>
          <p:nvPr/>
        </p:nvSpPr>
        <p:spPr>
          <a:xfrm>
            <a:off x="1206470" y="5560179"/>
            <a:ext cx="507987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s61-text-48"/>
          <p:cNvSpPr txBox="1"/>
          <p:nvPr/>
        </p:nvSpPr>
        <p:spPr>
          <a:xfrm>
            <a:off x="1206470" y="5169068"/>
            <a:ext cx="4990975"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Light Rider Inc. QPC SDK v1.0.0 (software)</a:t>
            </a:r>
          </a:p>
        </p:txBody>
      </p:sp>
      <p:sp>
        <p:nvSpPr>
          <p:cNvPr id="96" name="s61-box-47"/>
          <p:cNvSpPr/>
          <p:nvPr/>
        </p:nvSpPr>
        <p:spPr>
          <a:xfrm>
            <a:off x="6286343" y="5560179"/>
            <a:ext cx="273043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s61-text-49"/>
          <p:cNvSpPr txBox="1"/>
          <p:nvPr/>
        </p:nvSpPr>
        <p:spPr>
          <a:xfrm>
            <a:off x="6286343" y="5169068"/>
            <a:ext cx="2641534"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Guo</a:t>
            </a:r>
          </a:p>
        </p:txBody>
      </p:sp>
      <p:sp>
        <p:nvSpPr>
          <p:cNvPr id="98" name="s61-box-48"/>
          <p:cNvSpPr/>
          <p:nvPr/>
        </p:nvSpPr>
        <p:spPr>
          <a:xfrm>
            <a:off x="9016775" y="5560179"/>
            <a:ext cx="2285943"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s61-text-50"/>
          <p:cNvSpPr txBox="1"/>
          <p:nvPr/>
        </p:nvSpPr>
        <p:spPr>
          <a:xfrm>
            <a:off x="9016775" y="5169068"/>
            <a:ext cx="2197045" cy="346662"/>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50505B"/>
                </a:solidFill>
                <a:latin typeface="Arial"/>
              </a:rPr>
              <a:t>Zenodo 10.5281/zenodo.21895102 (2026)</a:t>
            </a:r>
          </a:p>
        </p:txBody>
      </p:sp>
      <p:sp>
        <p:nvSpPr>
          <p:cNvPr id="100" name="!!sec"/>
          <p:cNvSpPr txBox="1"/>
          <p:nvPr/>
        </p:nvSpPr>
        <p:spPr>
          <a:xfrm>
            <a:off x="888978" y="6362541"/>
            <a:ext cx="146572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IX · Conclusion</a:t>
            </a:r>
          </a:p>
        </p:txBody>
      </p:sp>
      <p:pic>
        <p:nvPicPr>
          <p:cNvPr id="101" name="s61-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102"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61</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2163411"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Acknowledgments</a:t>
            </a:r>
          </a:p>
        </p:txBody>
      </p:sp>
      <p:sp>
        <p:nvSpPr>
          <p:cNvPr id="3" name="s62-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This work had many hands</a:t>
            </a:r>
          </a:p>
        </p:txBody>
      </p:sp>
      <p:sp>
        <p:nvSpPr>
          <p:cNvPr id="4" name="s62-box-01"/>
          <p:cNvSpPr/>
          <p:nvPr/>
        </p:nvSpPr>
        <p:spPr>
          <a:xfrm>
            <a:off x="888978" y="1596291"/>
            <a:ext cx="5117972" cy="980356"/>
          </a:xfrm>
          <a:prstGeom prst="roundRect">
            <a:avLst>
              <a:gd name="adj" fmla="val 15544"/>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62-text-03"/>
          <p:cNvSpPr txBox="1"/>
          <p:nvPr/>
        </p:nvSpPr>
        <p:spPr>
          <a:xfrm>
            <a:off x="1079473" y="1735987"/>
            <a:ext cx="475603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ADVISOR · CHAIR</a:t>
            </a:r>
          </a:p>
        </p:txBody>
      </p:sp>
      <p:sp>
        <p:nvSpPr>
          <p:cNvPr id="6" name="s62-text-04"/>
          <p:cNvSpPr txBox="1"/>
          <p:nvPr/>
        </p:nvSpPr>
        <p:spPr>
          <a:xfrm>
            <a:off x="1079473" y="1939182"/>
            <a:ext cx="4756031" cy="215895"/>
          </a:xfrm>
          <a:prstGeom prst="rect">
            <a:avLst/>
          </a:prstGeom>
          <a:noFill/>
        </p:spPr>
        <p:txBody>
          <a:bodyPr wrap="none" lIns="0" tIns="0" rIns="0" bIns="0" anchor="t">
            <a:noAutofit/>
          </a:bodyPr>
          <a:lstStyle/>
          <a:p>
            <a:pPr algn="l">
              <a:lnSpc>
                <a:spcPts val="1800"/>
              </a:lnSpc>
              <a:spcBef>
                <a:spcPts val="0"/>
              </a:spcBef>
              <a:spcAft>
                <a:spcPts val="0"/>
              </a:spcAft>
            </a:pPr>
            <a:r>
              <a:rPr sz="1500" b="1" i="0" spc="-22">
                <a:solidFill>
                  <a:srgbClr val="0B0B0F"/>
                </a:solidFill>
                <a:latin typeface="Arial"/>
              </a:rPr>
              <a:t>Dr. Ziwen Pan</a:t>
            </a:r>
          </a:p>
        </p:txBody>
      </p:sp>
      <p:sp>
        <p:nvSpPr>
          <p:cNvPr id="7" name="s62-text-05"/>
          <p:cNvSpPr txBox="1"/>
          <p:nvPr/>
        </p:nvSpPr>
        <p:spPr>
          <a:xfrm>
            <a:off x="1079473" y="2193176"/>
            <a:ext cx="4756031" cy="213315"/>
          </a:xfrm>
          <a:prstGeom prst="rect">
            <a:avLst/>
          </a:prstGeom>
          <a:noFill/>
        </p:spPr>
        <p:txBody>
          <a:bodyPr wrap="none" lIns="0" tIns="0" rIns="0" bIns="0" anchor="t">
            <a:noAutofit/>
          </a:bodyPr>
          <a:lstStyle/>
          <a:p>
            <a:pPr algn="l">
              <a:lnSpc>
                <a:spcPts val="1680"/>
              </a:lnSpc>
              <a:spcBef>
                <a:spcPts val="0"/>
              </a:spcBef>
              <a:spcAft>
                <a:spcPts val="0"/>
              </a:spcAft>
            </a:pPr>
            <a:r>
              <a:rPr sz="1200" b="0" i="0">
                <a:solidFill>
                  <a:srgbClr val="50505B"/>
                </a:solidFill>
                <a:latin typeface="Arial"/>
              </a:rPr>
              <a:t>Computer Science, Texas Tech University</a:t>
            </a:r>
          </a:p>
        </p:txBody>
      </p:sp>
      <p:sp>
        <p:nvSpPr>
          <p:cNvPr id="8" name="s62-box-02"/>
          <p:cNvSpPr/>
          <p:nvPr/>
        </p:nvSpPr>
        <p:spPr>
          <a:xfrm>
            <a:off x="888978" y="2690944"/>
            <a:ext cx="5117972" cy="980356"/>
          </a:xfrm>
          <a:prstGeom prst="roundRect">
            <a:avLst>
              <a:gd name="adj" fmla="val 15544"/>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62-text-06"/>
          <p:cNvSpPr txBox="1"/>
          <p:nvPr/>
        </p:nvSpPr>
        <p:spPr>
          <a:xfrm>
            <a:off x="1079473" y="2830640"/>
            <a:ext cx="475603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COMMITTEE</a:t>
            </a:r>
          </a:p>
        </p:txBody>
      </p:sp>
      <p:sp>
        <p:nvSpPr>
          <p:cNvPr id="10" name="s62-text-07"/>
          <p:cNvSpPr txBox="1"/>
          <p:nvPr/>
        </p:nvSpPr>
        <p:spPr>
          <a:xfrm>
            <a:off x="1079473" y="3033835"/>
            <a:ext cx="4756031" cy="215895"/>
          </a:xfrm>
          <a:prstGeom prst="rect">
            <a:avLst/>
          </a:prstGeom>
          <a:noFill/>
        </p:spPr>
        <p:txBody>
          <a:bodyPr wrap="none" lIns="0" tIns="0" rIns="0" bIns="0" anchor="t">
            <a:noAutofit/>
          </a:bodyPr>
          <a:lstStyle/>
          <a:p>
            <a:pPr algn="l">
              <a:lnSpc>
                <a:spcPts val="1800"/>
              </a:lnSpc>
              <a:spcBef>
                <a:spcPts val="0"/>
              </a:spcBef>
              <a:spcAft>
                <a:spcPts val="0"/>
              </a:spcAft>
            </a:pPr>
            <a:r>
              <a:rPr sz="1500" b="1" i="0" spc="-22">
                <a:solidFill>
                  <a:srgbClr val="0B0B0F"/>
                </a:solidFill>
                <a:latin typeface="Arial"/>
              </a:rPr>
              <a:t>Dr. Zihao Zhan · Dr. Susan Mengel · Dr. Lu Wei</a:t>
            </a:r>
          </a:p>
        </p:txBody>
      </p:sp>
      <p:sp>
        <p:nvSpPr>
          <p:cNvPr id="11" name="s62-text-08"/>
          <p:cNvSpPr txBox="1"/>
          <p:nvPr/>
        </p:nvSpPr>
        <p:spPr>
          <a:xfrm>
            <a:off x="1079473" y="3287829"/>
            <a:ext cx="4756031" cy="213315"/>
          </a:xfrm>
          <a:prstGeom prst="rect">
            <a:avLst/>
          </a:prstGeom>
          <a:noFill/>
        </p:spPr>
        <p:txBody>
          <a:bodyPr wrap="none" lIns="0" tIns="0" rIns="0" bIns="0" anchor="t">
            <a:noAutofit/>
          </a:bodyPr>
          <a:lstStyle/>
          <a:p>
            <a:pPr algn="l">
              <a:lnSpc>
                <a:spcPts val="1680"/>
              </a:lnSpc>
              <a:spcBef>
                <a:spcPts val="0"/>
              </a:spcBef>
              <a:spcAft>
                <a:spcPts val="0"/>
              </a:spcAft>
            </a:pPr>
            <a:r>
              <a:rPr sz="1200" b="0" i="0">
                <a:solidFill>
                  <a:srgbClr val="50505B"/>
                </a:solidFill>
                <a:latin typeface="Arial"/>
              </a:rPr>
              <a:t>Dean’s representative: Dr. Anne E. V. Gorden</a:t>
            </a:r>
          </a:p>
        </p:txBody>
      </p:sp>
      <p:sp>
        <p:nvSpPr>
          <p:cNvPr id="12" name="s62-box-03"/>
          <p:cNvSpPr/>
          <p:nvPr/>
        </p:nvSpPr>
        <p:spPr>
          <a:xfrm>
            <a:off x="888978" y="3785597"/>
            <a:ext cx="5117972" cy="980356"/>
          </a:xfrm>
          <a:prstGeom prst="roundRect">
            <a:avLst>
              <a:gd name="adj" fmla="val 15544"/>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62-text-09"/>
          <p:cNvSpPr txBox="1"/>
          <p:nvPr/>
        </p:nvSpPr>
        <p:spPr>
          <a:xfrm>
            <a:off x="1079473" y="3925293"/>
            <a:ext cx="475603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NERSC / LBNL</a:t>
            </a:r>
          </a:p>
        </p:txBody>
      </p:sp>
      <p:sp>
        <p:nvSpPr>
          <p:cNvPr id="14" name="s62-text-10"/>
          <p:cNvSpPr txBox="1"/>
          <p:nvPr/>
        </p:nvSpPr>
        <p:spPr>
          <a:xfrm>
            <a:off x="1079473" y="4128488"/>
            <a:ext cx="4756031" cy="215895"/>
          </a:xfrm>
          <a:prstGeom prst="rect">
            <a:avLst/>
          </a:prstGeom>
          <a:noFill/>
        </p:spPr>
        <p:txBody>
          <a:bodyPr wrap="none" lIns="0" tIns="0" rIns="0" bIns="0" anchor="t">
            <a:noAutofit/>
          </a:bodyPr>
          <a:lstStyle/>
          <a:p>
            <a:pPr algn="l">
              <a:lnSpc>
                <a:spcPts val="1800"/>
              </a:lnSpc>
              <a:spcBef>
                <a:spcPts val="0"/>
              </a:spcBef>
              <a:spcAft>
                <a:spcPts val="0"/>
              </a:spcAft>
            </a:pPr>
            <a:r>
              <a:rPr sz="1500" b="1" i="0" spc="-22">
                <a:solidFill>
                  <a:srgbClr val="0B0B0F"/>
                </a:solidFill>
                <a:latin typeface="Arial"/>
              </a:rPr>
              <a:t>Jan Balewski</a:t>
            </a:r>
          </a:p>
        </p:txBody>
      </p:sp>
      <p:sp>
        <p:nvSpPr>
          <p:cNvPr id="15" name="s62-text-11"/>
          <p:cNvSpPr txBox="1"/>
          <p:nvPr/>
        </p:nvSpPr>
        <p:spPr>
          <a:xfrm>
            <a:off x="1079473" y="4382482"/>
            <a:ext cx="4756031" cy="213315"/>
          </a:xfrm>
          <a:prstGeom prst="rect">
            <a:avLst/>
          </a:prstGeom>
          <a:noFill/>
        </p:spPr>
        <p:txBody>
          <a:bodyPr wrap="none" lIns="0" tIns="0" rIns="0" bIns="0" anchor="t">
            <a:noAutofit/>
          </a:bodyPr>
          <a:lstStyle/>
          <a:p>
            <a:pPr algn="l">
              <a:lnSpc>
                <a:spcPts val="1680"/>
              </a:lnSpc>
              <a:spcBef>
                <a:spcPts val="0"/>
              </a:spcBef>
              <a:spcAft>
                <a:spcPts val="0"/>
              </a:spcAft>
            </a:pPr>
            <a:r>
              <a:rPr sz="1200" b="0" i="0">
                <a:solidFill>
                  <a:srgbClr val="50505B"/>
                </a:solidFill>
                <a:latin typeface="Arial"/>
              </a:rPr>
              <a:t>HPC deployment · QCrank · Perlmutter allocations</a:t>
            </a:r>
          </a:p>
        </p:txBody>
      </p:sp>
      <p:sp>
        <p:nvSpPr>
          <p:cNvPr id="16" name="s62-box-04"/>
          <p:cNvSpPr/>
          <p:nvPr/>
        </p:nvSpPr>
        <p:spPr>
          <a:xfrm>
            <a:off x="6184745" y="1596291"/>
            <a:ext cx="5117972" cy="1335848"/>
          </a:xfrm>
          <a:prstGeom prst="roundRect">
            <a:avLst>
              <a:gd name="adj" fmla="val 11408"/>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62-text-12"/>
          <p:cNvSpPr txBox="1"/>
          <p:nvPr/>
        </p:nvSpPr>
        <p:spPr>
          <a:xfrm>
            <a:off x="6375241" y="1735987"/>
            <a:ext cx="475603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COAUTHORS</a:t>
            </a:r>
          </a:p>
        </p:txBody>
      </p:sp>
      <p:sp>
        <p:nvSpPr>
          <p:cNvPr id="18" name="s62-text-13"/>
          <p:cNvSpPr txBox="1"/>
          <p:nvPr/>
        </p:nvSpPr>
        <p:spPr>
          <a:xfrm>
            <a:off x="6375241" y="1939182"/>
            <a:ext cx="4749681" cy="853260"/>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Alex Khan · Wenshuo Hu · Victor S. Sheng · Jie Li · Yong Chen · Steven Rayan · Kewen Xiao · Shabnam Jabeen · Anthony Lawrence · Renyu Wang · Randy Kuang · Viraj Dsouza · Abhishek Chopra · Rut Lineswala</a:t>
            </a:r>
          </a:p>
        </p:txBody>
      </p:sp>
      <p:sp>
        <p:nvSpPr>
          <p:cNvPr id="19" name="s62-box-05"/>
          <p:cNvSpPr/>
          <p:nvPr/>
        </p:nvSpPr>
        <p:spPr>
          <a:xfrm>
            <a:off x="6184745" y="3046436"/>
            <a:ext cx="5117972" cy="909218"/>
          </a:xfrm>
          <a:prstGeom prst="roundRect">
            <a:avLst>
              <a:gd name="adj" fmla="val 1676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62-text-14"/>
          <p:cNvSpPr txBox="1"/>
          <p:nvPr/>
        </p:nvSpPr>
        <p:spPr>
          <a:xfrm>
            <a:off x="6375241" y="3186132"/>
            <a:ext cx="475603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FUNDING &amp; FACILITIES</a:t>
            </a:r>
          </a:p>
        </p:txBody>
      </p:sp>
      <p:sp>
        <p:nvSpPr>
          <p:cNvPr id="21" name="s62-text-15"/>
          <p:cNvSpPr txBox="1"/>
          <p:nvPr/>
        </p:nvSpPr>
        <p:spPr>
          <a:xfrm>
            <a:off x="6375241" y="3389327"/>
            <a:ext cx="4749681" cy="426630"/>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DOE Office of Science · NERSC DDR-ERCAP0034486 / 0034385 · TTU HPCC · UMD QLab · Xanadu</a:t>
            </a:r>
          </a:p>
        </p:txBody>
      </p:sp>
      <p:sp>
        <p:nvSpPr>
          <p:cNvPr id="22" name="s62-box-06"/>
          <p:cNvSpPr/>
          <p:nvPr/>
        </p:nvSpPr>
        <p:spPr>
          <a:xfrm>
            <a:off x="6184745" y="4069951"/>
            <a:ext cx="5117972" cy="695903"/>
          </a:xfrm>
          <a:prstGeom prst="roundRect">
            <a:avLst>
              <a:gd name="adj" fmla="val 21899"/>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62-text-16"/>
          <p:cNvSpPr txBox="1"/>
          <p:nvPr/>
        </p:nvSpPr>
        <p:spPr>
          <a:xfrm>
            <a:off x="6375241" y="4209647"/>
            <a:ext cx="4756031"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HARDWARE ACCESS</a:t>
            </a:r>
          </a:p>
        </p:txBody>
      </p:sp>
      <p:sp>
        <p:nvSpPr>
          <p:cNvPr id="24" name="s62-text-17"/>
          <p:cNvSpPr txBox="1"/>
          <p:nvPr/>
        </p:nvSpPr>
        <p:spPr>
          <a:xfrm>
            <a:off x="6375241" y="4412842"/>
            <a:ext cx="4756031" cy="213315"/>
          </a:xfrm>
          <a:prstGeom prst="rect">
            <a:avLst/>
          </a:prstGeom>
          <a:noFill/>
        </p:spPr>
        <p:txBody>
          <a:bodyPr wrap="none" lIns="0" tIns="0" rIns="0" bIns="0" anchor="t">
            <a:noAutofit/>
          </a:bodyPr>
          <a:lstStyle/>
          <a:p>
            <a:pPr algn="l">
              <a:lnSpc>
                <a:spcPts val="1680"/>
              </a:lnSpc>
              <a:spcBef>
                <a:spcPts val="0"/>
              </a:spcBef>
              <a:spcAft>
                <a:spcPts val="0"/>
              </a:spcAft>
            </a:pPr>
            <a:r>
              <a:rPr sz="1200" b="0" i="0">
                <a:solidFill>
                  <a:srgbClr val="50505B"/>
                </a:solidFill>
                <a:latin typeface="Arial"/>
              </a:rPr>
              <a:t>IBM Quantum · IonQ · Amazon Braket · NVIDIA A100 (NERSC, TTU)</a:t>
            </a:r>
          </a:p>
        </p:txBody>
      </p:sp>
      <p:sp>
        <p:nvSpPr>
          <p:cNvPr id="25" name="!!sec"/>
          <p:cNvSpPr txBox="1"/>
          <p:nvPr/>
        </p:nvSpPr>
        <p:spPr>
          <a:xfrm>
            <a:off x="888978" y="6362541"/>
            <a:ext cx="1465722"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IX · Conclusion</a:t>
            </a:r>
          </a:p>
        </p:txBody>
      </p:sp>
      <p:pic>
        <p:nvPicPr>
          <p:cNvPr id="26" name="s62-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27"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62</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s63-glow-01"/>
          <p:cNvSpPr/>
          <p:nvPr/>
        </p:nvSpPr>
        <p:spPr>
          <a:xfrm>
            <a:off x="-2158946" y="-2476438"/>
            <a:ext cx="6857829" cy="6857829"/>
          </a:xfrm>
          <a:prstGeom prst="ellipse">
            <a:avLst/>
          </a:prstGeom>
          <a:gradFill rotWithShape="1">
            <a:gsLst>
              <a:gs pos="0">
                <a:srgbClr val="CC0000">
                  <a:alpha val="13000"/>
                </a:srgbClr>
              </a:gs>
              <a:gs pos="70000">
                <a:srgbClr val="CC0000">
                  <a:alpha val="0"/>
                </a:srgbClr>
              </a:gs>
              <a:gs pos="100000">
                <a:srgbClr val="CC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s63-glow-02"/>
          <p:cNvSpPr/>
          <p:nvPr/>
        </p:nvSpPr>
        <p:spPr>
          <a:xfrm>
            <a:off x="7429314" y="2730432"/>
            <a:ext cx="7619809" cy="7619809"/>
          </a:xfrm>
          <a:prstGeom prst="ellipse">
            <a:avLst/>
          </a:prstGeom>
          <a:gradFill rotWithShape="1">
            <a:gsLst>
              <a:gs pos="0">
                <a:srgbClr val="000000">
                  <a:alpha val="9000"/>
                </a:srgbClr>
              </a:gs>
              <a:gs pos="70000">
                <a:srgbClr val="000000">
                  <a:alpha val="0"/>
                </a:srgbClr>
              </a:gs>
              <a:gs pos="100000">
                <a:srgbClr val="000000">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s63-text-01"/>
          <p:cNvSpPr txBox="1"/>
          <p:nvPr/>
        </p:nvSpPr>
        <p:spPr>
          <a:xfrm>
            <a:off x="4244770" y="2432684"/>
            <a:ext cx="3708407" cy="826670"/>
          </a:xfrm>
          <a:prstGeom prst="rect">
            <a:avLst/>
          </a:prstGeom>
          <a:noFill/>
        </p:spPr>
        <p:txBody>
          <a:bodyPr wrap="none" lIns="0" tIns="0" rIns="0" bIns="0" anchor="t">
            <a:noAutofit/>
          </a:bodyPr>
          <a:lstStyle/>
          <a:p>
            <a:pPr algn="ctr">
              <a:lnSpc>
                <a:spcPts val="6509"/>
              </a:lnSpc>
              <a:spcBef>
                <a:spcPts val="0"/>
              </a:spcBef>
              <a:spcAft>
                <a:spcPts val="0"/>
              </a:spcAft>
            </a:pPr>
            <a:r>
              <a:rPr sz="6200" b="1" i="0" spc="-217">
                <a:solidFill>
                  <a:srgbClr val="CC0000"/>
                </a:solidFill>
                <a:latin typeface="Arial"/>
              </a:rPr>
              <a:t>Thank you</a:t>
            </a:r>
          </a:p>
        </p:txBody>
      </p:sp>
      <p:sp>
        <p:nvSpPr>
          <p:cNvPr id="5" name="s63-text-02"/>
          <p:cNvSpPr txBox="1"/>
          <p:nvPr/>
        </p:nvSpPr>
        <p:spPr>
          <a:xfrm>
            <a:off x="5447072" y="3449849"/>
            <a:ext cx="1303900" cy="342891"/>
          </a:xfrm>
          <a:prstGeom prst="rect">
            <a:avLst/>
          </a:prstGeom>
          <a:noFill/>
        </p:spPr>
        <p:txBody>
          <a:bodyPr wrap="none" lIns="0" tIns="0" rIns="0" bIns="0" anchor="t">
            <a:noAutofit/>
          </a:bodyPr>
          <a:lstStyle/>
          <a:p>
            <a:pPr algn="ctr">
              <a:lnSpc>
                <a:spcPts val="2700"/>
              </a:lnSpc>
              <a:spcBef>
                <a:spcPts val="0"/>
              </a:spcBef>
              <a:spcAft>
                <a:spcPts val="0"/>
              </a:spcAft>
            </a:pPr>
            <a:r>
              <a:rPr sz="2000" b="0" i="0">
                <a:solidFill>
                  <a:srgbClr val="50505B"/>
                </a:solidFill>
                <a:latin typeface="Arial"/>
              </a:rPr>
              <a:t>Questions?</a:t>
            </a:r>
          </a:p>
        </p:txBody>
      </p:sp>
      <p:sp>
        <p:nvSpPr>
          <p:cNvPr id="6" name="s63-text-03"/>
          <p:cNvSpPr txBox="1"/>
          <p:nvPr/>
        </p:nvSpPr>
        <p:spPr>
          <a:xfrm>
            <a:off x="3318189" y="4173731"/>
            <a:ext cx="5561568" cy="213315"/>
          </a:xfrm>
          <a:prstGeom prst="rect">
            <a:avLst/>
          </a:prstGeom>
          <a:noFill/>
        </p:spPr>
        <p:txBody>
          <a:bodyPr wrap="none" lIns="0" tIns="0" rIns="0" bIns="0" anchor="t">
            <a:noAutofit/>
          </a:bodyPr>
          <a:lstStyle/>
          <a:p>
            <a:pPr algn="ctr">
              <a:lnSpc>
                <a:spcPts val="1680"/>
              </a:lnSpc>
              <a:spcBef>
                <a:spcPts val="0"/>
              </a:spcBef>
              <a:spcAft>
                <a:spcPts val="0"/>
              </a:spcAft>
            </a:pPr>
            <a:r>
              <a:rPr sz="1200" b="0" i="0">
                <a:solidFill>
                  <a:srgbClr val="7B7B86"/>
                </a:solidFill>
                <a:latin typeface="Arial"/>
              </a:rPr>
              <a:t>Ziqing Guo · ziqguo@ttu.edu · github.com/gzquse · ORCID 0009-0006-3999-2221</a:t>
            </a:r>
          </a:p>
        </p:txBody>
      </p:sp>
      <p:sp>
        <p:nvSpPr>
          <p:cNvPr id="7" name="!!sec"/>
          <p:cNvSpPr txBox="1"/>
          <p:nvPr/>
        </p:nvSpPr>
        <p:spPr>
          <a:xfrm>
            <a:off x="888978" y="6362541"/>
            <a:ext cx="992758"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Questions</a:t>
            </a:r>
          </a:p>
        </p:txBody>
      </p:sp>
      <p:pic>
        <p:nvPicPr>
          <p:cNvPr id="8" name="s63-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9"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63</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33436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Backup · B1</a:t>
            </a:r>
          </a:p>
        </p:txBody>
      </p:sp>
      <p:sp>
        <p:nvSpPr>
          <p:cNvPr id="3" name="s64-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Hardware used in this dissertation</a:t>
            </a:r>
          </a:p>
        </p:txBody>
      </p:sp>
      <p:sp>
        <p:nvSpPr>
          <p:cNvPr id="4" name="s64-box-01"/>
          <p:cNvSpPr/>
          <p:nvPr/>
        </p:nvSpPr>
        <p:spPr>
          <a:xfrm>
            <a:off x="888978" y="1739162"/>
            <a:ext cx="1453221"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64-text-03"/>
          <p:cNvSpPr txBox="1"/>
          <p:nvPr/>
        </p:nvSpPr>
        <p:spPr>
          <a:xfrm>
            <a:off x="888978" y="1545492"/>
            <a:ext cx="1319874" cy="130172"/>
          </a:xfrm>
          <a:prstGeom prst="rect">
            <a:avLst/>
          </a:prstGeom>
          <a:noFill/>
        </p:spPr>
        <p:txBody>
          <a:bodyPr wrap="none" lIns="0" tIns="0" rIns="0" bIns="0" anchor="t">
            <a:noAutofit/>
          </a:bodyPr>
          <a:lstStyle/>
          <a:p>
            <a:pPr algn="l">
              <a:lnSpc>
                <a:spcPts val="1080"/>
              </a:lnSpc>
              <a:spcBef>
                <a:spcPts val="0"/>
              </a:spcBef>
              <a:spcAft>
                <a:spcPts val="0"/>
              </a:spcAft>
            </a:pPr>
            <a:r>
              <a:rPr sz="900" b="1" i="0" cap="all" spc="90">
                <a:solidFill>
                  <a:srgbClr val="7B7B86"/>
                </a:solidFill>
                <a:latin typeface="Arial"/>
              </a:rPr>
              <a:t>Device</a:t>
            </a:r>
          </a:p>
        </p:txBody>
      </p:sp>
      <p:sp>
        <p:nvSpPr>
          <p:cNvPr id="6" name="s64-box-02"/>
          <p:cNvSpPr/>
          <p:nvPr/>
        </p:nvSpPr>
        <p:spPr>
          <a:xfrm>
            <a:off x="2342198" y="1739162"/>
            <a:ext cx="1896618"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64-text-04"/>
          <p:cNvSpPr txBox="1"/>
          <p:nvPr/>
        </p:nvSpPr>
        <p:spPr>
          <a:xfrm>
            <a:off x="2342198" y="1545492"/>
            <a:ext cx="1763272" cy="130172"/>
          </a:xfrm>
          <a:prstGeom prst="rect">
            <a:avLst/>
          </a:prstGeom>
          <a:noFill/>
        </p:spPr>
        <p:txBody>
          <a:bodyPr wrap="none" lIns="0" tIns="0" rIns="0" bIns="0" anchor="t">
            <a:noAutofit/>
          </a:bodyPr>
          <a:lstStyle/>
          <a:p>
            <a:pPr algn="l">
              <a:lnSpc>
                <a:spcPts val="1080"/>
              </a:lnSpc>
              <a:spcBef>
                <a:spcPts val="0"/>
              </a:spcBef>
              <a:spcAft>
                <a:spcPts val="0"/>
              </a:spcAft>
            </a:pPr>
            <a:r>
              <a:rPr sz="900" b="1" i="0" cap="all" spc="90">
                <a:solidFill>
                  <a:srgbClr val="7B7B86"/>
                </a:solidFill>
                <a:latin typeface="Arial"/>
              </a:rPr>
              <a:t>Type</a:t>
            </a:r>
          </a:p>
        </p:txBody>
      </p:sp>
      <p:sp>
        <p:nvSpPr>
          <p:cNvPr id="8" name="s64-box-03"/>
          <p:cNvSpPr/>
          <p:nvPr/>
        </p:nvSpPr>
        <p:spPr>
          <a:xfrm>
            <a:off x="4238817" y="1739162"/>
            <a:ext cx="886597"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64-text-05"/>
          <p:cNvSpPr txBox="1"/>
          <p:nvPr/>
        </p:nvSpPr>
        <p:spPr>
          <a:xfrm>
            <a:off x="4391213" y="1545492"/>
            <a:ext cx="575454" cy="130172"/>
          </a:xfrm>
          <a:prstGeom prst="rect">
            <a:avLst/>
          </a:prstGeom>
          <a:noFill/>
        </p:spPr>
        <p:txBody>
          <a:bodyPr wrap="none" lIns="0" tIns="0" rIns="0" bIns="0" anchor="t">
            <a:noAutofit/>
          </a:bodyPr>
          <a:lstStyle/>
          <a:p>
            <a:pPr algn="r">
              <a:lnSpc>
                <a:spcPts val="1080"/>
              </a:lnSpc>
              <a:spcBef>
                <a:spcPts val="0"/>
              </a:spcBef>
              <a:spcAft>
                <a:spcPts val="0"/>
              </a:spcAft>
            </a:pPr>
            <a:r>
              <a:rPr sz="900" b="1" i="0" cap="all" spc="90">
                <a:solidFill>
                  <a:srgbClr val="7B7B86"/>
                </a:solidFill>
                <a:latin typeface="Arial"/>
              </a:rPr>
              <a:t>Qubits</a:t>
            </a:r>
          </a:p>
        </p:txBody>
      </p:sp>
      <p:sp>
        <p:nvSpPr>
          <p:cNvPr id="10" name="s64-box-04"/>
          <p:cNvSpPr/>
          <p:nvPr/>
        </p:nvSpPr>
        <p:spPr>
          <a:xfrm>
            <a:off x="5125413" y="1739162"/>
            <a:ext cx="253001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64-text-06"/>
          <p:cNvSpPr txBox="1"/>
          <p:nvPr/>
        </p:nvSpPr>
        <p:spPr>
          <a:xfrm>
            <a:off x="5125413" y="1545492"/>
            <a:ext cx="2396668" cy="130172"/>
          </a:xfrm>
          <a:prstGeom prst="rect">
            <a:avLst/>
          </a:prstGeom>
          <a:noFill/>
        </p:spPr>
        <p:txBody>
          <a:bodyPr wrap="none" lIns="0" tIns="0" rIns="0" bIns="0" anchor="t">
            <a:noAutofit/>
          </a:bodyPr>
          <a:lstStyle/>
          <a:p>
            <a:pPr algn="l">
              <a:lnSpc>
                <a:spcPts val="1080"/>
              </a:lnSpc>
              <a:spcBef>
                <a:spcPts val="0"/>
              </a:spcBef>
              <a:spcAft>
                <a:spcPts val="0"/>
              </a:spcAft>
            </a:pPr>
            <a:r>
              <a:rPr sz="900" b="1" i="0" cap="all" spc="90">
                <a:solidFill>
                  <a:srgbClr val="7B7B86"/>
                </a:solidFill>
                <a:latin typeface="Arial"/>
              </a:rPr>
              <a:t>Calibration figure reported</a:t>
            </a:r>
          </a:p>
        </p:txBody>
      </p:sp>
      <p:sp>
        <p:nvSpPr>
          <p:cNvPr id="12" name="s64-box-05"/>
          <p:cNvSpPr/>
          <p:nvPr/>
        </p:nvSpPr>
        <p:spPr>
          <a:xfrm>
            <a:off x="7655428" y="1739162"/>
            <a:ext cx="3647289"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64-text-07"/>
          <p:cNvSpPr txBox="1"/>
          <p:nvPr/>
        </p:nvSpPr>
        <p:spPr>
          <a:xfrm>
            <a:off x="7655428" y="1545492"/>
            <a:ext cx="3513943" cy="130172"/>
          </a:xfrm>
          <a:prstGeom prst="rect">
            <a:avLst/>
          </a:prstGeom>
          <a:noFill/>
        </p:spPr>
        <p:txBody>
          <a:bodyPr wrap="none" lIns="0" tIns="0" rIns="0" bIns="0" anchor="t">
            <a:noAutofit/>
          </a:bodyPr>
          <a:lstStyle/>
          <a:p>
            <a:pPr algn="l">
              <a:lnSpc>
                <a:spcPts val="1080"/>
              </a:lnSpc>
              <a:spcBef>
                <a:spcPts val="0"/>
              </a:spcBef>
              <a:spcAft>
                <a:spcPts val="0"/>
              </a:spcAft>
            </a:pPr>
            <a:r>
              <a:rPr sz="900" b="1" i="0" cap="all" spc="90">
                <a:solidFill>
                  <a:srgbClr val="7B7B86"/>
                </a:solidFill>
                <a:latin typeface="Arial"/>
              </a:rPr>
              <a:t>Used in</a:t>
            </a:r>
          </a:p>
        </p:txBody>
      </p:sp>
      <p:sp>
        <p:nvSpPr>
          <p:cNvPr id="14" name="s64-box-06"/>
          <p:cNvSpPr/>
          <p:nvPr/>
        </p:nvSpPr>
        <p:spPr>
          <a:xfrm>
            <a:off x="888978" y="2007740"/>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64-text-08"/>
          <p:cNvSpPr txBox="1"/>
          <p:nvPr/>
        </p:nvSpPr>
        <p:spPr>
          <a:xfrm>
            <a:off x="888978" y="1789961"/>
            <a:ext cx="1370673"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IBM Torino</a:t>
            </a:r>
          </a:p>
        </p:txBody>
      </p:sp>
      <p:sp>
        <p:nvSpPr>
          <p:cNvPr id="16" name="s64-box-07"/>
          <p:cNvSpPr/>
          <p:nvPr/>
        </p:nvSpPr>
        <p:spPr>
          <a:xfrm>
            <a:off x="2342198" y="2007740"/>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64-text-09"/>
          <p:cNvSpPr txBox="1"/>
          <p:nvPr/>
        </p:nvSpPr>
        <p:spPr>
          <a:xfrm>
            <a:off x="2342198" y="1789961"/>
            <a:ext cx="1814070"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Heron-1, superconducting</a:t>
            </a:r>
          </a:p>
        </p:txBody>
      </p:sp>
      <p:sp>
        <p:nvSpPr>
          <p:cNvPr id="18" name="s64-box-08"/>
          <p:cNvSpPr/>
          <p:nvPr/>
        </p:nvSpPr>
        <p:spPr>
          <a:xfrm>
            <a:off x="4238817" y="2007740"/>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64-text-10"/>
          <p:cNvSpPr txBox="1"/>
          <p:nvPr/>
        </p:nvSpPr>
        <p:spPr>
          <a:xfrm>
            <a:off x="4238817" y="1789961"/>
            <a:ext cx="804049" cy="173331"/>
          </a:xfrm>
          <a:prstGeom prst="rect">
            <a:avLst/>
          </a:prstGeom>
          <a:noFill/>
        </p:spPr>
        <p:txBody>
          <a:bodyPr wrap="none" lIns="0" tIns="0" rIns="0" bIns="0" anchor="t">
            <a:noAutofit/>
          </a:bodyPr>
          <a:lstStyle/>
          <a:p>
            <a:pPr algn="r">
              <a:lnSpc>
                <a:spcPts val="1365"/>
              </a:lnSpc>
              <a:spcBef>
                <a:spcPts val="0"/>
              </a:spcBef>
              <a:spcAft>
                <a:spcPts val="0"/>
              </a:spcAft>
            </a:pPr>
            <a:r>
              <a:rPr sz="1050" b="0" i="0">
                <a:solidFill>
                  <a:srgbClr val="50505B"/>
                </a:solidFill>
                <a:latin typeface="Arial"/>
              </a:rPr>
              <a:t>133</a:t>
            </a:r>
          </a:p>
        </p:txBody>
      </p:sp>
      <p:sp>
        <p:nvSpPr>
          <p:cNvPr id="20" name="s64-box-09"/>
          <p:cNvSpPr/>
          <p:nvPr/>
        </p:nvSpPr>
        <p:spPr>
          <a:xfrm>
            <a:off x="5125413" y="2007740"/>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64-text-11"/>
          <p:cNvSpPr txBox="1"/>
          <p:nvPr/>
        </p:nvSpPr>
        <p:spPr>
          <a:xfrm>
            <a:off x="5125413" y="1789961"/>
            <a:ext cx="2447467"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22" name="s64-box-10"/>
          <p:cNvSpPr/>
          <p:nvPr/>
        </p:nvSpPr>
        <p:spPr>
          <a:xfrm>
            <a:off x="7655428" y="2007740"/>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64-text-12"/>
          <p:cNvSpPr txBox="1"/>
          <p:nvPr/>
        </p:nvSpPr>
        <p:spPr>
          <a:xfrm>
            <a:off x="7655428" y="1789961"/>
            <a:ext cx="3564741"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DEAL (Ch. IV)</a:t>
            </a:r>
          </a:p>
        </p:txBody>
      </p:sp>
      <p:sp>
        <p:nvSpPr>
          <p:cNvPr id="24" name="s64-box-11"/>
          <p:cNvSpPr/>
          <p:nvPr/>
        </p:nvSpPr>
        <p:spPr>
          <a:xfrm>
            <a:off x="888978" y="2276319"/>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64-text-13"/>
          <p:cNvSpPr txBox="1"/>
          <p:nvPr/>
        </p:nvSpPr>
        <p:spPr>
          <a:xfrm>
            <a:off x="888978" y="2058539"/>
            <a:ext cx="1370673"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IBM Marrakesh</a:t>
            </a:r>
          </a:p>
        </p:txBody>
      </p:sp>
      <p:sp>
        <p:nvSpPr>
          <p:cNvPr id="26" name="s64-box-12"/>
          <p:cNvSpPr/>
          <p:nvPr/>
        </p:nvSpPr>
        <p:spPr>
          <a:xfrm>
            <a:off x="2342198" y="2276319"/>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s64-text-14"/>
          <p:cNvSpPr txBox="1"/>
          <p:nvPr/>
        </p:nvSpPr>
        <p:spPr>
          <a:xfrm>
            <a:off x="2342198" y="2058539"/>
            <a:ext cx="1814070"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Heron-2, superconducting</a:t>
            </a:r>
          </a:p>
        </p:txBody>
      </p:sp>
      <p:sp>
        <p:nvSpPr>
          <p:cNvPr id="28" name="s64-box-13"/>
          <p:cNvSpPr/>
          <p:nvPr/>
        </p:nvSpPr>
        <p:spPr>
          <a:xfrm>
            <a:off x="4238817" y="2276319"/>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64-text-15"/>
          <p:cNvSpPr txBox="1"/>
          <p:nvPr/>
        </p:nvSpPr>
        <p:spPr>
          <a:xfrm>
            <a:off x="4238817" y="2058539"/>
            <a:ext cx="804049" cy="173331"/>
          </a:xfrm>
          <a:prstGeom prst="rect">
            <a:avLst/>
          </a:prstGeom>
          <a:noFill/>
        </p:spPr>
        <p:txBody>
          <a:bodyPr wrap="none" lIns="0" tIns="0" rIns="0" bIns="0" anchor="t">
            <a:noAutofit/>
          </a:bodyPr>
          <a:lstStyle/>
          <a:p>
            <a:pPr algn="r">
              <a:lnSpc>
                <a:spcPts val="1365"/>
              </a:lnSpc>
              <a:spcBef>
                <a:spcPts val="0"/>
              </a:spcBef>
              <a:spcAft>
                <a:spcPts val="0"/>
              </a:spcAft>
            </a:pPr>
            <a:r>
              <a:rPr sz="1050" b="0" i="0">
                <a:solidFill>
                  <a:srgbClr val="50505B"/>
                </a:solidFill>
                <a:latin typeface="Arial"/>
              </a:rPr>
              <a:t>156</a:t>
            </a:r>
          </a:p>
        </p:txBody>
      </p:sp>
      <p:sp>
        <p:nvSpPr>
          <p:cNvPr id="30" name="s64-box-14"/>
          <p:cNvSpPr/>
          <p:nvPr/>
        </p:nvSpPr>
        <p:spPr>
          <a:xfrm>
            <a:off x="5125413" y="2276319"/>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64-text-16"/>
          <p:cNvSpPr txBox="1"/>
          <p:nvPr/>
        </p:nvSpPr>
        <p:spPr>
          <a:xfrm>
            <a:off x="5125413" y="2058539"/>
            <a:ext cx="2447467"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32" name="s64-box-15"/>
          <p:cNvSpPr/>
          <p:nvPr/>
        </p:nvSpPr>
        <p:spPr>
          <a:xfrm>
            <a:off x="7655428" y="2276319"/>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s64-text-17"/>
          <p:cNvSpPr txBox="1"/>
          <p:nvPr/>
        </p:nvSpPr>
        <p:spPr>
          <a:xfrm>
            <a:off x="7655428" y="2058539"/>
            <a:ext cx="3564741"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DEAL (Ch. IV), ShardQ (Ch. V)</a:t>
            </a:r>
          </a:p>
        </p:txBody>
      </p:sp>
      <p:sp>
        <p:nvSpPr>
          <p:cNvPr id="34" name="s64-box-16"/>
          <p:cNvSpPr/>
          <p:nvPr/>
        </p:nvSpPr>
        <p:spPr>
          <a:xfrm>
            <a:off x="888978" y="2544897"/>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64-text-18"/>
          <p:cNvSpPr txBox="1"/>
          <p:nvPr/>
        </p:nvSpPr>
        <p:spPr>
          <a:xfrm>
            <a:off x="888978" y="2327118"/>
            <a:ext cx="1370673"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IBM Pittsburgh</a:t>
            </a:r>
          </a:p>
        </p:txBody>
      </p:sp>
      <p:sp>
        <p:nvSpPr>
          <p:cNvPr id="36" name="s64-box-17"/>
          <p:cNvSpPr/>
          <p:nvPr/>
        </p:nvSpPr>
        <p:spPr>
          <a:xfrm>
            <a:off x="2342198" y="2544897"/>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64-text-19"/>
          <p:cNvSpPr txBox="1"/>
          <p:nvPr/>
        </p:nvSpPr>
        <p:spPr>
          <a:xfrm>
            <a:off x="2342198" y="2327118"/>
            <a:ext cx="1814070"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Heron-3, superconducting</a:t>
            </a:r>
          </a:p>
        </p:txBody>
      </p:sp>
      <p:sp>
        <p:nvSpPr>
          <p:cNvPr id="38" name="s64-box-18"/>
          <p:cNvSpPr/>
          <p:nvPr/>
        </p:nvSpPr>
        <p:spPr>
          <a:xfrm>
            <a:off x="4238817" y="2544897"/>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s64-text-20"/>
          <p:cNvSpPr txBox="1"/>
          <p:nvPr/>
        </p:nvSpPr>
        <p:spPr>
          <a:xfrm>
            <a:off x="4238817" y="2327118"/>
            <a:ext cx="804049" cy="173331"/>
          </a:xfrm>
          <a:prstGeom prst="rect">
            <a:avLst/>
          </a:prstGeom>
          <a:noFill/>
        </p:spPr>
        <p:txBody>
          <a:bodyPr wrap="none" lIns="0" tIns="0" rIns="0" bIns="0" anchor="t">
            <a:noAutofit/>
          </a:bodyPr>
          <a:lstStyle/>
          <a:p>
            <a:pPr algn="r">
              <a:lnSpc>
                <a:spcPts val="1365"/>
              </a:lnSpc>
              <a:spcBef>
                <a:spcPts val="0"/>
              </a:spcBef>
              <a:spcAft>
                <a:spcPts val="0"/>
              </a:spcAft>
            </a:pPr>
            <a:r>
              <a:rPr sz="1050" b="0" i="0">
                <a:solidFill>
                  <a:srgbClr val="50505B"/>
                </a:solidFill>
                <a:latin typeface="Arial"/>
              </a:rPr>
              <a:t>156</a:t>
            </a:r>
          </a:p>
        </p:txBody>
      </p:sp>
      <p:sp>
        <p:nvSpPr>
          <p:cNvPr id="40" name="s64-box-19"/>
          <p:cNvSpPr/>
          <p:nvPr/>
        </p:nvSpPr>
        <p:spPr>
          <a:xfrm>
            <a:off x="5125413" y="2544897"/>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64-text-21"/>
          <p:cNvSpPr txBox="1"/>
          <p:nvPr/>
        </p:nvSpPr>
        <p:spPr>
          <a:xfrm>
            <a:off x="5125413" y="2327118"/>
            <a:ext cx="2447467"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1.46 × 10⁻³ median CZ error</a:t>
            </a:r>
          </a:p>
        </p:txBody>
      </p:sp>
      <p:sp>
        <p:nvSpPr>
          <p:cNvPr id="42" name="s64-box-20"/>
          <p:cNvSpPr/>
          <p:nvPr/>
        </p:nvSpPr>
        <p:spPr>
          <a:xfrm>
            <a:off x="7655428" y="2544897"/>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64-text-22"/>
          <p:cNvSpPr txBox="1"/>
          <p:nvPr/>
        </p:nvSpPr>
        <p:spPr>
          <a:xfrm>
            <a:off x="7655428" y="2327118"/>
            <a:ext cx="3564741"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QAWA (Ch. IV), ShardQ (Ch. V)</a:t>
            </a:r>
          </a:p>
        </p:txBody>
      </p:sp>
      <p:sp>
        <p:nvSpPr>
          <p:cNvPr id="44" name="s64-box-21"/>
          <p:cNvSpPr/>
          <p:nvPr/>
        </p:nvSpPr>
        <p:spPr>
          <a:xfrm>
            <a:off x="888978" y="2813476"/>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64-text-23"/>
          <p:cNvSpPr txBox="1"/>
          <p:nvPr/>
        </p:nvSpPr>
        <p:spPr>
          <a:xfrm>
            <a:off x="888978" y="2595696"/>
            <a:ext cx="1370673"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IBM Boston</a:t>
            </a:r>
          </a:p>
        </p:txBody>
      </p:sp>
      <p:sp>
        <p:nvSpPr>
          <p:cNvPr id="46" name="s64-box-22"/>
          <p:cNvSpPr/>
          <p:nvPr/>
        </p:nvSpPr>
        <p:spPr>
          <a:xfrm>
            <a:off x="2342198" y="2813476"/>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64-text-24"/>
          <p:cNvSpPr txBox="1"/>
          <p:nvPr/>
        </p:nvSpPr>
        <p:spPr>
          <a:xfrm>
            <a:off x="2342198" y="2595696"/>
            <a:ext cx="1814070"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Heron-3, superconducting</a:t>
            </a:r>
          </a:p>
        </p:txBody>
      </p:sp>
      <p:sp>
        <p:nvSpPr>
          <p:cNvPr id="48" name="s64-box-23"/>
          <p:cNvSpPr/>
          <p:nvPr/>
        </p:nvSpPr>
        <p:spPr>
          <a:xfrm>
            <a:off x="4238817" y="2813476"/>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64-text-25"/>
          <p:cNvSpPr txBox="1"/>
          <p:nvPr/>
        </p:nvSpPr>
        <p:spPr>
          <a:xfrm>
            <a:off x="4238817" y="2595696"/>
            <a:ext cx="804049" cy="173331"/>
          </a:xfrm>
          <a:prstGeom prst="rect">
            <a:avLst/>
          </a:prstGeom>
          <a:noFill/>
        </p:spPr>
        <p:txBody>
          <a:bodyPr wrap="none" lIns="0" tIns="0" rIns="0" bIns="0" anchor="t">
            <a:noAutofit/>
          </a:bodyPr>
          <a:lstStyle/>
          <a:p>
            <a:pPr algn="r">
              <a:lnSpc>
                <a:spcPts val="1365"/>
              </a:lnSpc>
              <a:spcBef>
                <a:spcPts val="0"/>
              </a:spcBef>
              <a:spcAft>
                <a:spcPts val="0"/>
              </a:spcAft>
            </a:pPr>
            <a:r>
              <a:rPr sz="1050" b="0" i="0">
                <a:solidFill>
                  <a:srgbClr val="50505B"/>
                </a:solidFill>
                <a:latin typeface="Arial"/>
              </a:rPr>
              <a:t>156</a:t>
            </a:r>
          </a:p>
        </p:txBody>
      </p:sp>
      <p:sp>
        <p:nvSpPr>
          <p:cNvPr id="50" name="s64-box-24"/>
          <p:cNvSpPr/>
          <p:nvPr/>
        </p:nvSpPr>
        <p:spPr>
          <a:xfrm>
            <a:off x="5125413" y="2813476"/>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64-text-26"/>
          <p:cNvSpPr txBox="1"/>
          <p:nvPr/>
        </p:nvSpPr>
        <p:spPr>
          <a:xfrm>
            <a:off x="5125413" y="2595696"/>
            <a:ext cx="2447467"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52" name="s64-box-25"/>
          <p:cNvSpPr/>
          <p:nvPr/>
        </p:nvSpPr>
        <p:spPr>
          <a:xfrm>
            <a:off x="7655428" y="2813476"/>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s64-text-27"/>
          <p:cNvSpPr txBox="1"/>
          <p:nvPr/>
        </p:nvSpPr>
        <p:spPr>
          <a:xfrm>
            <a:off x="7655428" y="2595696"/>
            <a:ext cx="3564741"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NNQA (Ch. V)</a:t>
            </a:r>
          </a:p>
        </p:txBody>
      </p:sp>
      <p:sp>
        <p:nvSpPr>
          <p:cNvPr id="54" name="s64-box-26"/>
          <p:cNvSpPr/>
          <p:nvPr/>
        </p:nvSpPr>
        <p:spPr>
          <a:xfrm>
            <a:off x="888978" y="3082054"/>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64-text-28"/>
          <p:cNvSpPr txBox="1"/>
          <p:nvPr/>
        </p:nvSpPr>
        <p:spPr>
          <a:xfrm>
            <a:off x="888978" y="2864274"/>
            <a:ext cx="1370673"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IBM Kingston</a:t>
            </a:r>
          </a:p>
        </p:txBody>
      </p:sp>
      <p:sp>
        <p:nvSpPr>
          <p:cNvPr id="56" name="s64-box-27"/>
          <p:cNvSpPr/>
          <p:nvPr/>
        </p:nvSpPr>
        <p:spPr>
          <a:xfrm>
            <a:off x="2342198" y="3082054"/>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s64-text-29"/>
          <p:cNvSpPr txBox="1"/>
          <p:nvPr/>
        </p:nvSpPr>
        <p:spPr>
          <a:xfrm>
            <a:off x="2342198" y="2864274"/>
            <a:ext cx="1814070"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Heron, superconducting</a:t>
            </a:r>
          </a:p>
        </p:txBody>
      </p:sp>
      <p:sp>
        <p:nvSpPr>
          <p:cNvPr id="58" name="s64-box-28"/>
          <p:cNvSpPr/>
          <p:nvPr/>
        </p:nvSpPr>
        <p:spPr>
          <a:xfrm>
            <a:off x="4238817" y="3082054"/>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s64-text-30"/>
          <p:cNvSpPr txBox="1"/>
          <p:nvPr/>
        </p:nvSpPr>
        <p:spPr>
          <a:xfrm>
            <a:off x="4238817" y="2864274"/>
            <a:ext cx="804049" cy="173331"/>
          </a:xfrm>
          <a:prstGeom prst="rect">
            <a:avLst/>
          </a:prstGeom>
          <a:noFill/>
        </p:spPr>
        <p:txBody>
          <a:bodyPr wrap="none" lIns="0" tIns="0" rIns="0" bIns="0" anchor="t">
            <a:noAutofit/>
          </a:bodyPr>
          <a:lstStyle/>
          <a:p>
            <a:pPr algn="r">
              <a:lnSpc>
                <a:spcPts val="1365"/>
              </a:lnSpc>
              <a:spcBef>
                <a:spcPts val="0"/>
              </a:spcBef>
              <a:spcAft>
                <a:spcPts val="0"/>
              </a:spcAft>
            </a:pPr>
            <a:r>
              <a:rPr sz="1050" b="0" i="0">
                <a:solidFill>
                  <a:srgbClr val="50505B"/>
                </a:solidFill>
                <a:latin typeface="Arial"/>
              </a:rPr>
              <a:t>—</a:t>
            </a:r>
          </a:p>
        </p:txBody>
      </p:sp>
      <p:sp>
        <p:nvSpPr>
          <p:cNvPr id="60" name="s64-box-29"/>
          <p:cNvSpPr/>
          <p:nvPr/>
        </p:nvSpPr>
        <p:spPr>
          <a:xfrm>
            <a:off x="5125413" y="3082054"/>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s64-text-31"/>
          <p:cNvSpPr txBox="1"/>
          <p:nvPr/>
        </p:nvSpPr>
        <p:spPr>
          <a:xfrm>
            <a:off x="5125413" y="2864274"/>
            <a:ext cx="2447467"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62" name="s64-box-30"/>
          <p:cNvSpPr/>
          <p:nvPr/>
        </p:nvSpPr>
        <p:spPr>
          <a:xfrm>
            <a:off x="7655428" y="3082054"/>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s64-text-32"/>
          <p:cNvSpPr txBox="1"/>
          <p:nvPr/>
        </p:nvSpPr>
        <p:spPr>
          <a:xfrm>
            <a:off x="7655428" y="2864274"/>
            <a:ext cx="3564741"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VQT (Ch. V), NNQA</a:t>
            </a:r>
          </a:p>
        </p:txBody>
      </p:sp>
      <p:sp>
        <p:nvSpPr>
          <p:cNvPr id="64" name="s64-box-31"/>
          <p:cNvSpPr/>
          <p:nvPr/>
        </p:nvSpPr>
        <p:spPr>
          <a:xfrm>
            <a:off x="888978" y="3350633"/>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s64-text-33"/>
          <p:cNvSpPr txBox="1"/>
          <p:nvPr/>
        </p:nvSpPr>
        <p:spPr>
          <a:xfrm>
            <a:off x="888978" y="3132853"/>
            <a:ext cx="1370673"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IBM Miami</a:t>
            </a:r>
          </a:p>
        </p:txBody>
      </p:sp>
      <p:sp>
        <p:nvSpPr>
          <p:cNvPr id="66" name="s64-box-32"/>
          <p:cNvSpPr/>
          <p:nvPr/>
        </p:nvSpPr>
        <p:spPr>
          <a:xfrm>
            <a:off x="2342198" y="3350633"/>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s64-text-34"/>
          <p:cNvSpPr txBox="1"/>
          <p:nvPr/>
        </p:nvSpPr>
        <p:spPr>
          <a:xfrm>
            <a:off x="2342198" y="3132853"/>
            <a:ext cx="1814070"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Nighthawk, superconducting</a:t>
            </a:r>
          </a:p>
        </p:txBody>
      </p:sp>
      <p:sp>
        <p:nvSpPr>
          <p:cNvPr id="68" name="s64-box-33"/>
          <p:cNvSpPr/>
          <p:nvPr/>
        </p:nvSpPr>
        <p:spPr>
          <a:xfrm>
            <a:off x="4238817" y="3350633"/>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s64-text-35"/>
          <p:cNvSpPr txBox="1"/>
          <p:nvPr/>
        </p:nvSpPr>
        <p:spPr>
          <a:xfrm>
            <a:off x="4238817" y="3132853"/>
            <a:ext cx="804049" cy="173331"/>
          </a:xfrm>
          <a:prstGeom prst="rect">
            <a:avLst/>
          </a:prstGeom>
          <a:noFill/>
        </p:spPr>
        <p:txBody>
          <a:bodyPr wrap="none" lIns="0" tIns="0" rIns="0" bIns="0" anchor="t">
            <a:noAutofit/>
          </a:bodyPr>
          <a:lstStyle/>
          <a:p>
            <a:pPr algn="r">
              <a:lnSpc>
                <a:spcPts val="1365"/>
              </a:lnSpc>
              <a:spcBef>
                <a:spcPts val="0"/>
              </a:spcBef>
              <a:spcAft>
                <a:spcPts val="0"/>
              </a:spcAft>
            </a:pPr>
            <a:r>
              <a:rPr sz="1050" b="0" i="0">
                <a:solidFill>
                  <a:srgbClr val="50505B"/>
                </a:solidFill>
                <a:latin typeface="Arial"/>
              </a:rPr>
              <a:t>—</a:t>
            </a:r>
          </a:p>
        </p:txBody>
      </p:sp>
      <p:sp>
        <p:nvSpPr>
          <p:cNvPr id="70" name="s64-box-34"/>
          <p:cNvSpPr/>
          <p:nvPr/>
        </p:nvSpPr>
        <p:spPr>
          <a:xfrm>
            <a:off x="5125413" y="3350633"/>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s64-text-36"/>
          <p:cNvSpPr txBox="1"/>
          <p:nvPr/>
        </p:nvSpPr>
        <p:spPr>
          <a:xfrm>
            <a:off x="5125413" y="3132853"/>
            <a:ext cx="2447467"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72" name="s64-box-35"/>
          <p:cNvSpPr/>
          <p:nvPr/>
        </p:nvSpPr>
        <p:spPr>
          <a:xfrm>
            <a:off x="7655428" y="3350633"/>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s64-text-37"/>
          <p:cNvSpPr txBox="1"/>
          <p:nvPr/>
        </p:nvSpPr>
        <p:spPr>
          <a:xfrm>
            <a:off x="7655428" y="3132853"/>
            <a:ext cx="3564741"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NNQA (Ch. V)</a:t>
            </a:r>
          </a:p>
        </p:txBody>
      </p:sp>
      <p:sp>
        <p:nvSpPr>
          <p:cNvPr id="74" name="s64-box-36"/>
          <p:cNvSpPr/>
          <p:nvPr/>
        </p:nvSpPr>
        <p:spPr>
          <a:xfrm>
            <a:off x="888978" y="3619211"/>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s64-text-38"/>
          <p:cNvSpPr txBox="1"/>
          <p:nvPr/>
        </p:nvSpPr>
        <p:spPr>
          <a:xfrm>
            <a:off x="888978" y="3401431"/>
            <a:ext cx="1370673"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IonQ Aria-1</a:t>
            </a:r>
          </a:p>
        </p:txBody>
      </p:sp>
      <p:sp>
        <p:nvSpPr>
          <p:cNvPr id="76" name="s64-box-37"/>
          <p:cNvSpPr/>
          <p:nvPr/>
        </p:nvSpPr>
        <p:spPr>
          <a:xfrm>
            <a:off x="2342198" y="3619211"/>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s64-text-39"/>
          <p:cNvSpPr txBox="1"/>
          <p:nvPr/>
        </p:nvSpPr>
        <p:spPr>
          <a:xfrm>
            <a:off x="2342198" y="3401431"/>
            <a:ext cx="1814070"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trapped ion</a:t>
            </a:r>
          </a:p>
        </p:txBody>
      </p:sp>
      <p:sp>
        <p:nvSpPr>
          <p:cNvPr id="78" name="s64-box-38"/>
          <p:cNvSpPr/>
          <p:nvPr/>
        </p:nvSpPr>
        <p:spPr>
          <a:xfrm>
            <a:off x="4238817" y="3619211"/>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s64-text-40"/>
          <p:cNvSpPr txBox="1"/>
          <p:nvPr/>
        </p:nvSpPr>
        <p:spPr>
          <a:xfrm>
            <a:off x="4238817" y="3401431"/>
            <a:ext cx="804049" cy="173331"/>
          </a:xfrm>
          <a:prstGeom prst="rect">
            <a:avLst/>
          </a:prstGeom>
          <a:noFill/>
        </p:spPr>
        <p:txBody>
          <a:bodyPr wrap="none" lIns="0" tIns="0" rIns="0" bIns="0" anchor="t">
            <a:noAutofit/>
          </a:bodyPr>
          <a:lstStyle/>
          <a:p>
            <a:pPr algn="r">
              <a:lnSpc>
                <a:spcPts val="1365"/>
              </a:lnSpc>
              <a:spcBef>
                <a:spcPts val="0"/>
              </a:spcBef>
              <a:spcAft>
                <a:spcPts val="0"/>
              </a:spcAft>
            </a:pPr>
            <a:r>
              <a:rPr sz="1050" b="0" i="0">
                <a:solidFill>
                  <a:srgbClr val="50505B"/>
                </a:solidFill>
                <a:latin typeface="Arial"/>
              </a:rPr>
              <a:t>—</a:t>
            </a:r>
          </a:p>
        </p:txBody>
      </p:sp>
      <p:sp>
        <p:nvSpPr>
          <p:cNvPr id="80" name="s64-box-39"/>
          <p:cNvSpPr/>
          <p:nvPr/>
        </p:nvSpPr>
        <p:spPr>
          <a:xfrm>
            <a:off x="5125413" y="3619211"/>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s64-text-41"/>
          <p:cNvSpPr txBox="1"/>
          <p:nvPr/>
        </p:nvSpPr>
        <p:spPr>
          <a:xfrm>
            <a:off x="5125413" y="3401431"/>
            <a:ext cx="2447467"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82" name="s64-box-40"/>
          <p:cNvSpPr/>
          <p:nvPr/>
        </p:nvSpPr>
        <p:spPr>
          <a:xfrm>
            <a:off x="7655428" y="3619211"/>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s64-text-42"/>
          <p:cNvSpPr txBox="1"/>
          <p:nvPr/>
        </p:nvSpPr>
        <p:spPr>
          <a:xfrm>
            <a:off x="7655428" y="3401431"/>
            <a:ext cx="3564741"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QPIE, VQT (Ch. V)</a:t>
            </a:r>
          </a:p>
        </p:txBody>
      </p:sp>
      <p:sp>
        <p:nvSpPr>
          <p:cNvPr id="84" name="s64-box-41"/>
          <p:cNvSpPr/>
          <p:nvPr/>
        </p:nvSpPr>
        <p:spPr>
          <a:xfrm>
            <a:off x="888978" y="3887790"/>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s64-text-43"/>
          <p:cNvSpPr txBox="1"/>
          <p:nvPr/>
        </p:nvSpPr>
        <p:spPr>
          <a:xfrm>
            <a:off x="888978" y="3670010"/>
            <a:ext cx="1370673"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IonQ Forte / Forte-1</a:t>
            </a:r>
          </a:p>
        </p:txBody>
      </p:sp>
      <p:sp>
        <p:nvSpPr>
          <p:cNvPr id="86" name="s64-box-42"/>
          <p:cNvSpPr/>
          <p:nvPr/>
        </p:nvSpPr>
        <p:spPr>
          <a:xfrm>
            <a:off x="2342198" y="3887790"/>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s64-text-44"/>
          <p:cNvSpPr txBox="1"/>
          <p:nvPr/>
        </p:nvSpPr>
        <p:spPr>
          <a:xfrm>
            <a:off x="2342198" y="3670010"/>
            <a:ext cx="1814070"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trapped ion</a:t>
            </a:r>
          </a:p>
        </p:txBody>
      </p:sp>
      <p:sp>
        <p:nvSpPr>
          <p:cNvPr id="88" name="s64-box-43"/>
          <p:cNvSpPr/>
          <p:nvPr/>
        </p:nvSpPr>
        <p:spPr>
          <a:xfrm>
            <a:off x="4238817" y="3887790"/>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s64-text-45"/>
          <p:cNvSpPr txBox="1"/>
          <p:nvPr/>
        </p:nvSpPr>
        <p:spPr>
          <a:xfrm>
            <a:off x="4238817" y="3670010"/>
            <a:ext cx="804049" cy="173331"/>
          </a:xfrm>
          <a:prstGeom prst="rect">
            <a:avLst/>
          </a:prstGeom>
          <a:noFill/>
        </p:spPr>
        <p:txBody>
          <a:bodyPr wrap="none" lIns="0" tIns="0" rIns="0" bIns="0" anchor="t">
            <a:noAutofit/>
          </a:bodyPr>
          <a:lstStyle/>
          <a:p>
            <a:pPr algn="r">
              <a:lnSpc>
                <a:spcPts val="1365"/>
              </a:lnSpc>
              <a:spcBef>
                <a:spcPts val="0"/>
              </a:spcBef>
              <a:spcAft>
                <a:spcPts val="0"/>
              </a:spcAft>
            </a:pPr>
            <a:r>
              <a:rPr sz="1050" b="0" i="0">
                <a:solidFill>
                  <a:srgbClr val="50505B"/>
                </a:solidFill>
                <a:latin typeface="Arial"/>
              </a:rPr>
              <a:t>36</a:t>
            </a:r>
          </a:p>
        </p:txBody>
      </p:sp>
      <p:sp>
        <p:nvSpPr>
          <p:cNvPr id="90" name="s64-box-44"/>
          <p:cNvSpPr/>
          <p:nvPr/>
        </p:nvSpPr>
        <p:spPr>
          <a:xfrm>
            <a:off x="5125413" y="3887790"/>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s64-text-46"/>
          <p:cNvSpPr txBox="1"/>
          <p:nvPr/>
        </p:nvSpPr>
        <p:spPr>
          <a:xfrm>
            <a:off x="5125413" y="3670010"/>
            <a:ext cx="2447467"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92" name="s64-box-45"/>
          <p:cNvSpPr/>
          <p:nvPr/>
        </p:nvSpPr>
        <p:spPr>
          <a:xfrm>
            <a:off x="7655428" y="3887790"/>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s64-text-47"/>
          <p:cNvSpPr txBox="1"/>
          <p:nvPr/>
        </p:nvSpPr>
        <p:spPr>
          <a:xfrm>
            <a:off x="7655428" y="3670010"/>
            <a:ext cx="3564741"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NNQA, RubriQ validation (Ch. V, VI)</a:t>
            </a:r>
          </a:p>
        </p:txBody>
      </p:sp>
      <p:sp>
        <p:nvSpPr>
          <p:cNvPr id="94" name="s64-box-46"/>
          <p:cNvSpPr/>
          <p:nvPr/>
        </p:nvSpPr>
        <p:spPr>
          <a:xfrm>
            <a:off x="888978" y="4156368"/>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s64-text-48"/>
          <p:cNvSpPr txBox="1"/>
          <p:nvPr/>
        </p:nvSpPr>
        <p:spPr>
          <a:xfrm>
            <a:off x="888978" y="3938588"/>
            <a:ext cx="1370673"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Amazon Braket SV1</a:t>
            </a:r>
          </a:p>
        </p:txBody>
      </p:sp>
      <p:sp>
        <p:nvSpPr>
          <p:cNvPr id="96" name="s64-box-47"/>
          <p:cNvSpPr/>
          <p:nvPr/>
        </p:nvSpPr>
        <p:spPr>
          <a:xfrm>
            <a:off x="2342198" y="4156368"/>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s64-text-49"/>
          <p:cNvSpPr txBox="1"/>
          <p:nvPr/>
        </p:nvSpPr>
        <p:spPr>
          <a:xfrm>
            <a:off x="2342198" y="3938588"/>
            <a:ext cx="1814070"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state-vector simulator</a:t>
            </a:r>
          </a:p>
        </p:txBody>
      </p:sp>
      <p:sp>
        <p:nvSpPr>
          <p:cNvPr id="98" name="s64-box-48"/>
          <p:cNvSpPr/>
          <p:nvPr/>
        </p:nvSpPr>
        <p:spPr>
          <a:xfrm>
            <a:off x="4238817" y="4156368"/>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s64-text-50"/>
          <p:cNvSpPr txBox="1"/>
          <p:nvPr/>
        </p:nvSpPr>
        <p:spPr>
          <a:xfrm>
            <a:off x="4238817" y="3938588"/>
            <a:ext cx="804049" cy="173331"/>
          </a:xfrm>
          <a:prstGeom prst="rect">
            <a:avLst/>
          </a:prstGeom>
          <a:noFill/>
        </p:spPr>
        <p:txBody>
          <a:bodyPr wrap="none" lIns="0" tIns="0" rIns="0" bIns="0" anchor="t">
            <a:noAutofit/>
          </a:bodyPr>
          <a:lstStyle/>
          <a:p>
            <a:pPr algn="r">
              <a:lnSpc>
                <a:spcPts val="1365"/>
              </a:lnSpc>
              <a:spcBef>
                <a:spcPts val="0"/>
              </a:spcBef>
              <a:spcAft>
                <a:spcPts val="0"/>
              </a:spcAft>
            </a:pPr>
            <a:r>
              <a:rPr sz="1050" b="0" i="0">
                <a:solidFill>
                  <a:srgbClr val="50505B"/>
                </a:solidFill>
                <a:latin typeface="Arial"/>
              </a:rPr>
              <a:t>—</a:t>
            </a:r>
          </a:p>
        </p:txBody>
      </p:sp>
      <p:sp>
        <p:nvSpPr>
          <p:cNvPr id="100" name="s64-box-49"/>
          <p:cNvSpPr/>
          <p:nvPr/>
        </p:nvSpPr>
        <p:spPr>
          <a:xfrm>
            <a:off x="5125413" y="4156368"/>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s64-text-51"/>
          <p:cNvSpPr txBox="1"/>
          <p:nvPr/>
        </p:nvSpPr>
        <p:spPr>
          <a:xfrm>
            <a:off x="5125413" y="3938588"/>
            <a:ext cx="2447467"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102" name="s64-box-50"/>
          <p:cNvSpPr/>
          <p:nvPr/>
        </p:nvSpPr>
        <p:spPr>
          <a:xfrm>
            <a:off x="7655428" y="4156368"/>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s64-text-52"/>
          <p:cNvSpPr txBox="1"/>
          <p:nvPr/>
        </p:nvSpPr>
        <p:spPr>
          <a:xfrm>
            <a:off x="7655428" y="3938588"/>
            <a:ext cx="3564741"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QPIE (Ch. V)</a:t>
            </a:r>
          </a:p>
        </p:txBody>
      </p:sp>
      <p:sp>
        <p:nvSpPr>
          <p:cNvPr id="104" name="s64-box-51"/>
          <p:cNvSpPr/>
          <p:nvPr/>
        </p:nvSpPr>
        <p:spPr>
          <a:xfrm>
            <a:off x="888978" y="4424946"/>
            <a:ext cx="1453221"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s64-text-53"/>
          <p:cNvSpPr txBox="1"/>
          <p:nvPr/>
        </p:nvSpPr>
        <p:spPr>
          <a:xfrm>
            <a:off x="888978" y="4207167"/>
            <a:ext cx="1370673" cy="173331"/>
          </a:xfrm>
          <a:prstGeom prst="rect">
            <a:avLst/>
          </a:prstGeom>
          <a:noFill/>
        </p:spPr>
        <p:txBody>
          <a:bodyPr wrap="none" lIns="0" tIns="0" rIns="0" bIns="0" anchor="t">
            <a:noAutofit/>
          </a:bodyPr>
          <a:lstStyle/>
          <a:p>
            <a:pPr algn="l">
              <a:lnSpc>
                <a:spcPts val="1365"/>
              </a:lnSpc>
              <a:spcBef>
                <a:spcPts val="0"/>
              </a:spcBef>
              <a:spcAft>
                <a:spcPts val="0"/>
              </a:spcAft>
            </a:pPr>
            <a:r>
              <a:rPr sz="1050" b="1" i="0">
                <a:solidFill>
                  <a:srgbClr val="0B0B0F"/>
                </a:solidFill>
                <a:latin typeface="Arial"/>
              </a:rPr>
              <a:t>NERSC Perlmutter</a:t>
            </a:r>
          </a:p>
        </p:txBody>
      </p:sp>
      <p:sp>
        <p:nvSpPr>
          <p:cNvPr id="106" name="s64-box-52"/>
          <p:cNvSpPr/>
          <p:nvPr/>
        </p:nvSpPr>
        <p:spPr>
          <a:xfrm>
            <a:off x="2342198" y="4424946"/>
            <a:ext cx="189661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s64-text-54"/>
          <p:cNvSpPr txBox="1"/>
          <p:nvPr/>
        </p:nvSpPr>
        <p:spPr>
          <a:xfrm>
            <a:off x="2342198" y="4207167"/>
            <a:ext cx="1814070"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A100 40 GB / 80 GB nodes</a:t>
            </a:r>
          </a:p>
        </p:txBody>
      </p:sp>
      <p:sp>
        <p:nvSpPr>
          <p:cNvPr id="108" name="s64-box-53"/>
          <p:cNvSpPr/>
          <p:nvPr/>
        </p:nvSpPr>
        <p:spPr>
          <a:xfrm>
            <a:off x="4238817" y="4424946"/>
            <a:ext cx="88659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s64-text-55"/>
          <p:cNvSpPr txBox="1"/>
          <p:nvPr/>
        </p:nvSpPr>
        <p:spPr>
          <a:xfrm>
            <a:off x="4238817" y="4207167"/>
            <a:ext cx="804049" cy="173331"/>
          </a:xfrm>
          <a:prstGeom prst="rect">
            <a:avLst/>
          </a:prstGeom>
          <a:noFill/>
        </p:spPr>
        <p:txBody>
          <a:bodyPr wrap="none" lIns="0" tIns="0" rIns="0" bIns="0" anchor="t">
            <a:noAutofit/>
          </a:bodyPr>
          <a:lstStyle/>
          <a:p>
            <a:pPr algn="r">
              <a:lnSpc>
                <a:spcPts val="1365"/>
              </a:lnSpc>
              <a:spcBef>
                <a:spcPts val="0"/>
              </a:spcBef>
              <a:spcAft>
                <a:spcPts val="0"/>
              </a:spcAft>
            </a:pPr>
            <a:r>
              <a:rPr sz="1050" b="0" i="0">
                <a:solidFill>
                  <a:srgbClr val="50505B"/>
                </a:solidFill>
                <a:latin typeface="Arial"/>
              </a:rPr>
              <a:t>—</a:t>
            </a:r>
          </a:p>
        </p:txBody>
      </p:sp>
      <p:sp>
        <p:nvSpPr>
          <p:cNvPr id="110" name="s64-box-54"/>
          <p:cNvSpPr/>
          <p:nvPr/>
        </p:nvSpPr>
        <p:spPr>
          <a:xfrm>
            <a:off x="5125413" y="4424946"/>
            <a:ext cx="253001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s64-text-56"/>
          <p:cNvSpPr txBox="1"/>
          <p:nvPr/>
        </p:nvSpPr>
        <p:spPr>
          <a:xfrm>
            <a:off x="5125413" y="4207167"/>
            <a:ext cx="2447467"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a:t>
            </a:r>
          </a:p>
        </p:txBody>
      </p:sp>
      <p:sp>
        <p:nvSpPr>
          <p:cNvPr id="112" name="s64-box-55"/>
          <p:cNvSpPr/>
          <p:nvPr/>
        </p:nvSpPr>
        <p:spPr>
          <a:xfrm>
            <a:off x="7655428" y="4424946"/>
            <a:ext cx="364728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s64-text-57"/>
          <p:cNvSpPr txBox="1"/>
          <p:nvPr/>
        </p:nvSpPr>
        <p:spPr>
          <a:xfrm>
            <a:off x="7655428" y="4207167"/>
            <a:ext cx="3564741" cy="173331"/>
          </a:xfrm>
          <a:prstGeom prst="rect">
            <a:avLst/>
          </a:prstGeom>
          <a:noFill/>
        </p:spPr>
        <p:txBody>
          <a:bodyPr wrap="none" lIns="0" tIns="0" rIns="0" bIns="0" anchor="t">
            <a:noAutofit/>
          </a:bodyPr>
          <a:lstStyle/>
          <a:p>
            <a:pPr algn="l">
              <a:lnSpc>
                <a:spcPts val="1365"/>
              </a:lnSpc>
              <a:spcBef>
                <a:spcPts val="0"/>
              </a:spcBef>
              <a:spcAft>
                <a:spcPts val="0"/>
              </a:spcAft>
            </a:pPr>
            <a:r>
              <a:rPr sz="1050" b="0" i="0">
                <a:solidFill>
                  <a:srgbClr val="50505B"/>
                </a:solidFill>
                <a:latin typeface="Arial"/>
              </a:rPr>
              <a:t>Q-GEAR, ShardQ, NNQA training, RubriQ (Ch. III, V, VI)</a:t>
            </a:r>
          </a:p>
        </p:txBody>
      </p:sp>
      <p:sp>
        <p:nvSpPr>
          <p:cNvPr id="114" name="s64-text-58"/>
          <p:cNvSpPr txBox="1"/>
          <p:nvPr/>
        </p:nvSpPr>
        <p:spPr>
          <a:xfrm>
            <a:off x="888978" y="4510669"/>
            <a:ext cx="10432789" cy="186626"/>
          </a:xfrm>
          <a:prstGeom prst="rect">
            <a:avLst/>
          </a:prstGeom>
          <a:noFill/>
        </p:spPr>
        <p:txBody>
          <a:bodyPr wrap="none" lIns="0" tIns="0" rIns="0" bIns="0" anchor="t">
            <a:noAutofit/>
          </a:bodyPr>
          <a:lstStyle/>
          <a:p>
            <a:pPr algn="l">
              <a:lnSpc>
                <a:spcPts val="1470"/>
              </a:lnSpc>
              <a:spcBef>
                <a:spcPts val="0"/>
              </a:spcBef>
              <a:spcAft>
                <a:spcPts val="0"/>
              </a:spcAft>
            </a:pPr>
            <a:r>
              <a:rPr sz="1050" b="0" i="0">
                <a:solidFill>
                  <a:srgbClr val="7B7B86"/>
                </a:solidFill>
                <a:latin typeface="Arial"/>
              </a:rPr>
              <a:t>Per-device T1/T2 and error tables are in the individual papers; dashes mark values not reproduced here.</a:t>
            </a:r>
          </a:p>
        </p:txBody>
      </p:sp>
      <p:sp>
        <p:nvSpPr>
          <p:cNvPr id="115" name="!!sec"/>
          <p:cNvSpPr txBox="1"/>
          <p:nvPr/>
        </p:nvSpPr>
        <p:spPr>
          <a:xfrm>
            <a:off x="888978" y="6362541"/>
            <a:ext cx="717234"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Backup</a:t>
            </a:r>
          </a:p>
        </p:txBody>
      </p:sp>
      <p:pic>
        <p:nvPicPr>
          <p:cNvPr id="116" name="s64-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117"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64</a:t>
            </a:r>
            <a:r>
              <a:rPr sz="1100" b="0" i="0" spc="66">
                <a:solidFill>
                  <a:srgbClr val="7B7B86"/>
                </a:solidFill>
                <a:latin typeface="Courier New"/>
              </a:rPr>
              <a:t> / 68</a:t>
            </a:r>
          </a:p>
        </p:txBody>
      </p:sp>
    </p:spTree>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33436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Backup · B2</a:t>
            </a:r>
          </a:p>
        </p:txBody>
      </p:sp>
      <p:sp>
        <p:nvSpPr>
          <p:cNvPr id="3" name="s65-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Q-GEAR gate mapping</a:t>
            </a:r>
          </a:p>
        </p:txBody>
      </p:sp>
      <p:sp>
        <p:nvSpPr>
          <p:cNvPr id="4" name="s65-box-01"/>
          <p:cNvSpPr/>
          <p:nvPr/>
        </p:nvSpPr>
        <p:spPr>
          <a:xfrm>
            <a:off x="888978" y="1821710"/>
            <a:ext cx="1310845"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65-text-03"/>
          <p:cNvSpPr txBox="1"/>
          <p:nvPr/>
        </p:nvSpPr>
        <p:spPr>
          <a:xfrm>
            <a:off x="888978" y="1545492"/>
            <a:ext cx="1177499"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Qiskit gate</a:t>
            </a:r>
          </a:p>
        </p:txBody>
      </p:sp>
      <p:sp>
        <p:nvSpPr>
          <p:cNvPr id="6" name="s65-box-02"/>
          <p:cNvSpPr/>
          <p:nvPr/>
        </p:nvSpPr>
        <p:spPr>
          <a:xfrm>
            <a:off x="2199823" y="1821710"/>
            <a:ext cx="1389722"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65-text-04"/>
          <p:cNvSpPr txBox="1"/>
          <p:nvPr/>
        </p:nvSpPr>
        <p:spPr>
          <a:xfrm>
            <a:off x="2199823" y="1545492"/>
            <a:ext cx="1256376"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Parameters</a:t>
            </a:r>
          </a:p>
        </p:txBody>
      </p:sp>
      <p:sp>
        <p:nvSpPr>
          <p:cNvPr id="8" name="s65-box-03"/>
          <p:cNvSpPr/>
          <p:nvPr/>
        </p:nvSpPr>
        <p:spPr>
          <a:xfrm>
            <a:off x="3589545" y="1821710"/>
            <a:ext cx="2760296"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65-text-05"/>
          <p:cNvSpPr txBox="1"/>
          <p:nvPr/>
        </p:nvSpPr>
        <p:spPr>
          <a:xfrm>
            <a:off x="3589545" y="1545492"/>
            <a:ext cx="2626949"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CUDA-Q kernel operation</a:t>
            </a:r>
          </a:p>
        </p:txBody>
      </p:sp>
      <p:sp>
        <p:nvSpPr>
          <p:cNvPr id="10" name="s65-box-04"/>
          <p:cNvSpPr/>
          <p:nvPr/>
        </p:nvSpPr>
        <p:spPr>
          <a:xfrm>
            <a:off x="888978" y="2158252"/>
            <a:ext cx="13108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65-text-06"/>
          <p:cNvSpPr txBox="1"/>
          <p:nvPr/>
        </p:nvSpPr>
        <p:spPr>
          <a:xfrm>
            <a:off x="888978" y="1904258"/>
            <a:ext cx="1215598" cy="177796"/>
          </a:xfrm>
          <a:prstGeom prst="rect">
            <a:avLst/>
          </a:prstGeom>
          <a:noFill/>
        </p:spPr>
        <p:txBody>
          <a:bodyPr wrap="none" lIns="0" tIns="0" rIns="0" bIns="0" anchor="t">
            <a:noAutofit/>
          </a:bodyPr>
          <a:lstStyle/>
          <a:p>
            <a:pPr algn="l">
              <a:lnSpc>
                <a:spcPts val="1324"/>
              </a:lnSpc>
              <a:spcBef>
                <a:spcPts val="0"/>
              </a:spcBef>
              <a:spcAft>
                <a:spcPts val="0"/>
              </a:spcAft>
            </a:pPr>
            <a:r>
              <a:rPr sz="1104" b="1" i="0">
                <a:solidFill>
                  <a:srgbClr val="0B0B0F"/>
                </a:solidFill>
                <a:latin typeface="Courier New"/>
              </a:rPr>
              <a:t>h</a:t>
            </a:r>
          </a:p>
        </p:txBody>
      </p:sp>
      <p:sp>
        <p:nvSpPr>
          <p:cNvPr id="12" name="s65-box-05"/>
          <p:cNvSpPr/>
          <p:nvPr/>
        </p:nvSpPr>
        <p:spPr>
          <a:xfrm>
            <a:off x="2199823" y="2158252"/>
            <a:ext cx="13897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65-text-07"/>
          <p:cNvSpPr txBox="1"/>
          <p:nvPr/>
        </p:nvSpPr>
        <p:spPr>
          <a:xfrm>
            <a:off x="2199823" y="1904258"/>
            <a:ext cx="1294475" cy="177796"/>
          </a:xfrm>
          <a:prstGeom prst="rect">
            <a:avLst/>
          </a:prstGeom>
          <a:noFill/>
        </p:spPr>
        <p:txBody>
          <a:bodyPr wrap="none" lIns="0" tIns="0" rIns="0" bIns="0" anchor="t">
            <a:noAutofit/>
          </a:bodyPr>
          <a:lstStyle/>
          <a:p>
            <a:pPr algn="l">
              <a:lnSpc>
                <a:spcPts val="1439"/>
              </a:lnSpc>
              <a:spcBef>
                <a:spcPts val="0"/>
              </a:spcBef>
              <a:spcAft>
                <a:spcPts val="0"/>
              </a:spcAft>
            </a:pPr>
            <a:r>
              <a:rPr sz="1200" b="0" i="0">
                <a:solidFill>
                  <a:srgbClr val="50505B"/>
                </a:solidFill>
                <a:latin typeface="Arial"/>
              </a:rPr>
              <a:t>—</a:t>
            </a:r>
          </a:p>
        </p:txBody>
      </p:sp>
      <p:sp>
        <p:nvSpPr>
          <p:cNvPr id="14" name="s65-box-06"/>
          <p:cNvSpPr/>
          <p:nvPr/>
        </p:nvSpPr>
        <p:spPr>
          <a:xfrm>
            <a:off x="3589545" y="2158252"/>
            <a:ext cx="2760296"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65-text-08"/>
          <p:cNvSpPr txBox="1"/>
          <p:nvPr/>
        </p:nvSpPr>
        <p:spPr>
          <a:xfrm>
            <a:off x="3589545" y="1904258"/>
            <a:ext cx="2665048" cy="177796"/>
          </a:xfrm>
          <a:prstGeom prst="rect">
            <a:avLst/>
          </a:prstGeom>
          <a:noFill/>
        </p:spPr>
        <p:txBody>
          <a:bodyPr wrap="none" lIns="0" tIns="0" rIns="0" bIns="0" anchor="t">
            <a:noAutofit/>
          </a:bodyPr>
          <a:lstStyle/>
          <a:p>
            <a:pPr algn="l">
              <a:lnSpc>
                <a:spcPts val="1324"/>
              </a:lnSpc>
              <a:spcBef>
                <a:spcPts val="0"/>
              </a:spcBef>
              <a:spcAft>
                <a:spcPts val="0"/>
              </a:spcAft>
            </a:pPr>
            <a:r>
              <a:rPr sz="1104" b="0" i="0">
                <a:solidFill>
                  <a:srgbClr val="50505B"/>
                </a:solidFill>
                <a:latin typeface="Courier New"/>
              </a:rPr>
              <a:t>h(q)</a:t>
            </a:r>
          </a:p>
        </p:txBody>
      </p:sp>
      <p:sp>
        <p:nvSpPr>
          <p:cNvPr id="16" name="s65-box-07"/>
          <p:cNvSpPr/>
          <p:nvPr/>
        </p:nvSpPr>
        <p:spPr>
          <a:xfrm>
            <a:off x="888978" y="2494793"/>
            <a:ext cx="13108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65-text-09"/>
          <p:cNvSpPr txBox="1"/>
          <p:nvPr/>
        </p:nvSpPr>
        <p:spPr>
          <a:xfrm>
            <a:off x="888978" y="2240799"/>
            <a:ext cx="1215598" cy="177796"/>
          </a:xfrm>
          <a:prstGeom prst="rect">
            <a:avLst/>
          </a:prstGeom>
          <a:noFill/>
        </p:spPr>
        <p:txBody>
          <a:bodyPr wrap="none" lIns="0" tIns="0" rIns="0" bIns="0" anchor="t">
            <a:noAutofit/>
          </a:bodyPr>
          <a:lstStyle/>
          <a:p>
            <a:pPr algn="l">
              <a:lnSpc>
                <a:spcPts val="1324"/>
              </a:lnSpc>
              <a:spcBef>
                <a:spcPts val="0"/>
              </a:spcBef>
              <a:spcAft>
                <a:spcPts val="0"/>
              </a:spcAft>
            </a:pPr>
            <a:r>
              <a:rPr sz="1104" b="1" i="0">
                <a:solidFill>
                  <a:srgbClr val="0B0B0F"/>
                </a:solidFill>
                <a:latin typeface="Courier New"/>
              </a:rPr>
              <a:t>ry</a:t>
            </a:r>
          </a:p>
        </p:txBody>
      </p:sp>
      <p:sp>
        <p:nvSpPr>
          <p:cNvPr id="18" name="s65-box-08"/>
          <p:cNvSpPr/>
          <p:nvPr/>
        </p:nvSpPr>
        <p:spPr>
          <a:xfrm>
            <a:off x="2199823" y="2494793"/>
            <a:ext cx="13897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65-text-10"/>
          <p:cNvSpPr txBox="1"/>
          <p:nvPr/>
        </p:nvSpPr>
        <p:spPr>
          <a:xfrm>
            <a:off x="2199823" y="2240799"/>
            <a:ext cx="1294475" cy="177796"/>
          </a:xfrm>
          <a:prstGeom prst="rect">
            <a:avLst/>
          </a:prstGeom>
          <a:noFill/>
        </p:spPr>
        <p:txBody>
          <a:bodyPr wrap="none" lIns="0" tIns="0" rIns="0" bIns="0" anchor="t">
            <a:noAutofit/>
          </a:bodyPr>
          <a:lstStyle/>
          <a:p>
            <a:pPr algn="l">
              <a:lnSpc>
                <a:spcPts val="1439"/>
              </a:lnSpc>
              <a:spcBef>
                <a:spcPts val="0"/>
              </a:spcBef>
              <a:spcAft>
                <a:spcPts val="0"/>
              </a:spcAft>
            </a:pPr>
            <a:r>
              <a:rPr sz="1200" b="0" i="0">
                <a:solidFill>
                  <a:srgbClr val="50505B"/>
                </a:solidFill>
                <a:latin typeface="Arial"/>
              </a:rPr>
              <a:t>θ</a:t>
            </a:r>
          </a:p>
        </p:txBody>
      </p:sp>
      <p:sp>
        <p:nvSpPr>
          <p:cNvPr id="20" name="s65-box-09"/>
          <p:cNvSpPr/>
          <p:nvPr/>
        </p:nvSpPr>
        <p:spPr>
          <a:xfrm>
            <a:off x="3589545" y="2494793"/>
            <a:ext cx="2760296"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65-text-11"/>
          <p:cNvSpPr txBox="1"/>
          <p:nvPr/>
        </p:nvSpPr>
        <p:spPr>
          <a:xfrm>
            <a:off x="3589545" y="2240799"/>
            <a:ext cx="2665048" cy="177796"/>
          </a:xfrm>
          <a:prstGeom prst="rect">
            <a:avLst/>
          </a:prstGeom>
          <a:noFill/>
        </p:spPr>
        <p:txBody>
          <a:bodyPr wrap="none" lIns="0" tIns="0" rIns="0" bIns="0" anchor="t">
            <a:noAutofit/>
          </a:bodyPr>
          <a:lstStyle/>
          <a:p>
            <a:pPr algn="l">
              <a:lnSpc>
                <a:spcPts val="1324"/>
              </a:lnSpc>
              <a:spcBef>
                <a:spcPts val="0"/>
              </a:spcBef>
              <a:spcAft>
                <a:spcPts val="0"/>
              </a:spcAft>
            </a:pPr>
            <a:r>
              <a:rPr sz="1104" b="0" i="0">
                <a:solidFill>
                  <a:srgbClr val="50505B"/>
                </a:solidFill>
                <a:latin typeface="Courier New"/>
              </a:rPr>
              <a:t>ry(θ, q)</a:t>
            </a:r>
          </a:p>
        </p:txBody>
      </p:sp>
      <p:sp>
        <p:nvSpPr>
          <p:cNvPr id="22" name="s65-box-10"/>
          <p:cNvSpPr/>
          <p:nvPr/>
        </p:nvSpPr>
        <p:spPr>
          <a:xfrm>
            <a:off x="888978" y="2831335"/>
            <a:ext cx="13108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65-text-12"/>
          <p:cNvSpPr txBox="1"/>
          <p:nvPr/>
        </p:nvSpPr>
        <p:spPr>
          <a:xfrm>
            <a:off x="888978" y="2577341"/>
            <a:ext cx="1215598" cy="177796"/>
          </a:xfrm>
          <a:prstGeom prst="rect">
            <a:avLst/>
          </a:prstGeom>
          <a:noFill/>
        </p:spPr>
        <p:txBody>
          <a:bodyPr wrap="none" lIns="0" tIns="0" rIns="0" bIns="0" anchor="t">
            <a:noAutofit/>
          </a:bodyPr>
          <a:lstStyle/>
          <a:p>
            <a:pPr algn="l">
              <a:lnSpc>
                <a:spcPts val="1324"/>
              </a:lnSpc>
              <a:spcBef>
                <a:spcPts val="0"/>
              </a:spcBef>
              <a:spcAft>
                <a:spcPts val="0"/>
              </a:spcAft>
            </a:pPr>
            <a:r>
              <a:rPr sz="1104" b="1" i="0">
                <a:solidFill>
                  <a:srgbClr val="0B0B0F"/>
                </a:solidFill>
                <a:latin typeface="Courier New"/>
              </a:rPr>
              <a:t>rz</a:t>
            </a:r>
          </a:p>
        </p:txBody>
      </p:sp>
      <p:sp>
        <p:nvSpPr>
          <p:cNvPr id="24" name="s65-box-11"/>
          <p:cNvSpPr/>
          <p:nvPr/>
        </p:nvSpPr>
        <p:spPr>
          <a:xfrm>
            <a:off x="2199823" y="2831335"/>
            <a:ext cx="13897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65-text-13"/>
          <p:cNvSpPr txBox="1"/>
          <p:nvPr/>
        </p:nvSpPr>
        <p:spPr>
          <a:xfrm>
            <a:off x="2199823" y="2577341"/>
            <a:ext cx="1294475" cy="177796"/>
          </a:xfrm>
          <a:prstGeom prst="rect">
            <a:avLst/>
          </a:prstGeom>
          <a:noFill/>
        </p:spPr>
        <p:txBody>
          <a:bodyPr wrap="none" lIns="0" tIns="0" rIns="0" bIns="0" anchor="t">
            <a:noAutofit/>
          </a:bodyPr>
          <a:lstStyle/>
          <a:p>
            <a:pPr algn="l">
              <a:lnSpc>
                <a:spcPts val="1439"/>
              </a:lnSpc>
              <a:spcBef>
                <a:spcPts val="0"/>
              </a:spcBef>
              <a:spcAft>
                <a:spcPts val="0"/>
              </a:spcAft>
            </a:pPr>
            <a:r>
              <a:rPr sz="1200" b="0" i="0">
                <a:solidFill>
                  <a:srgbClr val="50505B"/>
                </a:solidFill>
                <a:latin typeface="Arial"/>
              </a:rPr>
              <a:t>φ</a:t>
            </a:r>
          </a:p>
        </p:txBody>
      </p:sp>
      <p:sp>
        <p:nvSpPr>
          <p:cNvPr id="26" name="s65-box-12"/>
          <p:cNvSpPr/>
          <p:nvPr/>
        </p:nvSpPr>
        <p:spPr>
          <a:xfrm>
            <a:off x="3589545" y="2831335"/>
            <a:ext cx="2760296"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s65-text-14"/>
          <p:cNvSpPr txBox="1"/>
          <p:nvPr/>
        </p:nvSpPr>
        <p:spPr>
          <a:xfrm>
            <a:off x="3589545" y="2577341"/>
            <a:ext cx="2665048" cy="177796"/>
          </a:xfrm>
          <a:prstGeom prst="rect">
            <a:avLst/>
          </a:prstGeom>
          <a:noFill/>
        </p:spPr>
        <p:txBody>
          <a:bodyPr wrap="none" lIns="0" tIns="0" rIns="0" bIns="0" anchor="t">
            <a:noAutofit/>
          </a:bodyPr>
          <a:lstStyle/>
          <a:p>
            <a:pPr algn="l">
              <a:lnSpc>
                <a:spcPts val="1324"/>
              </a:lnSpc>
              <a:spcBef>
                <a:spcPts val="0"/>
              </a:spcBef>
              <a:spcAft>
                <a:spcPts val="0"/>
              </a:spcAft>
            </a:pPr>
            <a:r>
              <a:rPr sz="1104" b="0" i="0">
                <a:solidFill>
                  <a:srgbClr val="50505B"/>
                </a:solidFill>
                <a:latin typeface="Courier New"/>
              </a:rPr>
              <a:t>rz(φ, q)</a:t>
            </a:r>
          </a:p>
        </p:txBody>
      </p:sp>
      <p:sp>
        <p:nvSpPr>
          <p:cNvPr id="28" name="s65-box-13"/>
          <p:cNvSpPr/>
          <p:nvPr/>
        </p:nvSpPr>
        <p:spPr>
          <a:xfrm>
            <a:off x="888978" y="3167876"/>
            <a:ext cx="13108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65-text-15"/>
          <p:cNvSpPr txBox="1"/>
          <p:nvPr/>
        </p:nvSpPr>
        <p:spPr>
          <a:xfrm>
            <a:off x="888978" y="2913883"/>
            <a:ext cx="1215598" cy="177796"/>
          </a:xfrm>
          <a:prstGeom prst="rect">
            <a:avLst/>
          </a:prstGeom>
          <a:noFill/>
        </p:spPr>
        <p:txBody>
          <a:bodyPr wrap="none" lIns="0" tIns="0" rIns="0" bIns="0" anchor="t">
            <a:noAutofit/>
          </a:bodyPr>
          <a:lstStyle/>
          <a:p>
            <a:pPr algn="l">
              <a:lnSpc>
                <a:spcPts val="1324"/>
              </a:lnSpc>
              <a:spcBef>
                <a:spcPts val="0"/>
              </a:spcBef>
              <a:spcAft>
                <a:spcPts val="0"/>
              </a:spcAft>
            </a:pPr>
            <a:r>
              <a:rPr sz="1104" b="1" i="0">
                <a:solidFill>
                  <a:srgbClr val="0B0B0F"/>
                </a:solidFill>
                <a:latin typeface="Courier New"/>
              </a:rPr>
              <a:t>u3</a:t>
            </a:r>
          </a:p>
        </p:txBody>
      </p:sp>
      <p:sp>
        <p:nvSpPr>
          <p:cNvPr id="30" name="s65-box-14"/>
          <p:cNvSpPr/>
          <p:nvPr/>
        </p:nvSpPr>
        <p:spPr>
          <a:xfrm>
            <a:off x="2199823" y="3167876"/>
            <a:ext cx="13897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65-text-16"/>
          <p:cNvSpPr txBox="1"/>
          <p:nvPr/>
        </p:nvSpPr>
        <p:spPr>
          <a:xfrm>
            <a:off x="2199823" y="2913883"/>
            <a:ext cx="1294475" cy="177796"/>
          </a:xfrm>
          <a:prstGeom prst="rect">
            <a:avLst/>
          </a:prstGeom>
          <a:noFill/>
        </p:spPr>
        <p:txBody>
          <a:bodyPr wrap="none" lIns="0" tIns="0" rIns="0" bIns="0" anchor="t">
            <a:noAutofit/>
          </a:bodyPr>
          <a:lstStyle/>
          <a:p>
            <a:pPr algn="l">
              <a:lnSpc>
                <a:spcPts val="1439"/>
              </a:lnSpc>
              <a:spcBef>
                <a:spcPts val="0"/>
              </a:spcBef>
              <a:spcAft>
                <a:spcPts val="0"/>
              </a:spcAft>
            </a:pPr>
            <a:r>
              <a:rPr sz="1200" b="0" i="0">
                <a:solidFill>
                  <a:srgbClr val="50505B"/>
                </a:solidFill>
                <a:latin typeface="Arial"/>
              </a:rPr>
              <a:t>θ, φ, λ</a:t>
            </a:r>
          </a:p>
        </p:txBody>
      </p:sp>
      <p:sp>
        <p:nvSpPr>
          <p:cNvPr id="32" name="s65-box-15"/>
          <p:cNvSpPr/>
          <p:nvPr/>
        </p:nvSpPr>
        <p:spPr>
          <a:xfrm>
            <a:off x="3589545" y="3167876"/>
            <a:ext cx="2760296"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s65-text-17"/>
          <p:cNvSpPr txBox="1"/>
          <p:nvPr/>
        </p:nvSpPr>
        <p:spPr>
          <a:xfrm>
            <a:off x="3589545" y="2913883"/>
            <a:ext cx="2665048" cy="177796"/>
          </a:xfrm>
          <a:prstGeom prst="rect">
            <a:avLst/>
          </a:prstGeom>
          <a:noFill/>
        </p:spPr>
        <p:txBody>
          <a:bodyPr wrap="none" lIns="0" tIns="0" rIns="0" bIns="0" anchor="t">
            <a:noAutofit/>
          </a:bodyPr>
          <a:lstStyle/>
          <a:p>
            <a:pPr algn="l">
              <a:lnSpc>
                <a:spcPts val="1324"/>
              </a:lnSpc>
              <a:spcBef>
                <a:spcPts val="0"/>
              </a:spcBef>
              <a:spcAft>
                <a:spcPts val="0"/>
              </a:spcAft>
            </a:pPr>
            <a:r>
              <a:rPr sz="1104" b="0" i="0">
                <a:solidFill>
                  <a:srgbClr val="50505B"/>
                </a:solidFill>
                <a:latin typeface="Courier New"/>
              </a:rPr>
              <a:t>u3(θ, φ, λ, q)</a:t>
            </a:r>
          </a:p>
        </p:txBody>
      </p:sp>
      <p:sp>
        <p:nvSpPr>
          <p:cNvPr id="34" name="s65-box-16"/>
          <p:cNvSpPr/>
          <p:nvPr/>
        </p:nvSpPr>
        <p:spPr>
          <a:xfrm>
            <a:off x="888978" y="3504418"/>
            <a:ext cx="13108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65-text-18"/>
          <p:cNvSpPr txBox="1"/>
          <p:nvPr/>
        </p:nvSpPr>
        <p:spPr>
          <a:xfrm>
            <a:off x="888978" y="3250424"/>
            <a:ext cx="1215598" cy="177796"/>
          </a:xfrm>
          <a:prstGeom prst="rect">
            <a:avLst/>
          </a:prstGeom>
          <a:noFill/>
        </p:spPr>
        <p:txBody>
          <a:bodyPr wrap="none" lIns="0" tIns="0" rIns="0" bIns="0" anchor="t">
            <a:noAutofit/>
          </a:bodyPr>
          <a:lstStyle/>
          <a:p>
            <a:pPr algn="l">
              <a:lnSpc>
                <a:spcPts val="1324"/>
              </a:lnSpc>
              <a:spcBef>
                <a:spcPts val="0"/>
              </a:spcBef>
              <a:spcAft>
                <a:spcPts val="0"/>
              </a:spcAft>
            </a:pPr>
            <a:r>
              <a:rPr sz="1104" b="1" i="0">
                <a:solidFill>
                  <a:srgbClr val="0B0B0F"/>
                </a:solidFill>
                <a:latin typeface="Courier New"/>
              </a:rPr>
              <a:t>cx</a:t>
            </a:r>
          </a:p>
        </p:txBody>
      </p:sp>
      <p:sp>
        <p:nvSpPr>
          <p:cNvPr id="36" name="s65-box-17"/>
          <p:cNvSpPr/>
          <p:nvPr/>
        </p:nvSpPr>
        <p:spPr>
          <a:xfrm>
            <a:off x="2199823" y="3504418"/>
            <a:ext cx="13897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65-text-19"/>
          <p:cNvSpPr txBox="1"/>
          <p:nvPr/>
        </p:nvSpPr>
        <p:spPr>
          <a:xfrm>
            <a:off x="2199823" y="3250424"/>
            <a:ext cx="1294475" cy="177796"/>
          </a:xfrm>
          <a:prstGeom prst="rect">
            <a:avLst/>
          </a:prstGeom>
          <a:noFill/>
        </p:spPr>
        <p:txBody>
          <a:bodyPr wrap="none" lIns="0" tIns="0" rIns="0" bIns="0" anchor="t">
            <a:noAutofit/>
          </a:bodyPr>
          <a:lstStyle/>
          <a:p>
            <a:pPr algn="l">
              <a:lnSpc>
                <a:spcPts val="1439"/>
              </a:lnSpc>
              <a:spcBef>
                <a:spcPts val="0"/>
              </a:spcBef>
              <a:spcAft>
                <a:spcPts val="0"/>
              </a:spcAft>
            </a:pPr>
            <a:r>
              <a:rPr sz="1200" b="0" i="0">
                <a:solidFill>
                  <a:srgbClr val="50505B"/>
                </a:solidFill>
                <a:latin typeface="Arial"/>
              </a:rPr>
              <a:t>—</a:t>
            </a:r>
          </a:p>
        </p:txBody>
      </p:sp>
      <p:sp>
        <p:nvSpPr>
          <p:cNvPr id="38" name="s65-box-18"/>
          <p:cNvSpPr/>
          <p:nvPr/>
        </p:nvSpPr>
        <p:spPr>
          <a:xfrm>
            <a:off x="3589545" y="3504418"/>
            <a:ext cx="2760296"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s65-text-20"/>
          <p:cNvSpPr txBox="1"/>
          <p:nvPr/>
        </p:nvSpPr>
        <p:spPr>
          <a:xfrm>
            <a:off x="3589545" y="3250424"/>
            <a:ext cx="2665048" cy="177796"/>
          </a:xfrm>
          <a:prstGeom prst="rect">
            <a:avLst/>
          </a:prstGeom>
          <a:noFill/>
        </p:spPr>
        <p:txBody>
          <a:bodyPr wrap="none" lIns="0" tIns="0" rIns="0" bIns="0" anchor="t">
            <a:noAutofit/>
          </a:bodyPr>
          <a:lstStyle/>
          <a:p>
            <a:pPr algn="l">
              <a:lnSpc>
                <a:spcPts val="1324"/>
              </a:lnSpc>
              <a:spcBef>
                <a:spcPts val="0"/>
              </a:spcBef>
              <a:spcAft>
                <a:spcPts val="0"/>
              </a:spcAft>
            </a:pPr>
            <a:r>
              <a:rPr sz="1104" b="0" i="0">
                <a:solidFill>
                  <a:srgbClr val="50505B"/>
                </a:solidFill>
                <a:latin typeface="Courier New"/>
              </a:rPr>
              <a:t>x.ctrl(c, t)</a:t>
            </a:r>
          </a:p>
        </p:txBody>
      </p:sp>
      <p:sp>
        <p:nvSpPr>
          <p:cNvPr id="40" name="s65-box-19"/>
          <p:cNvSpPr/>
          <p:nvPr/>
        </p:nvSpPr>
        <p:spPr>
          <a:xfrm>
            <a:off x="888978" y="3840959"/>
            <a:ext cx="13108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65-text-21"/>
          <p:cNvSpPr txBox="1"/>
          <p:nvPr/>
        </p:nvSpPr>
        <p:spPr>
          <a:xfrm>
            <a:off x="888978" y="3586966"/>
            <a:ext cx="1215598" cy="177796"/>
          </a:xfrm>
          <a:prstGeom prst="rect">
            <a:avLst/>
          </a:prstGeom>
          <a:noFill/>
        </p:spPr>
        <p:txBody>
          <a:bodyPr wrap="none" lIns="0" tIns="0" rIns="0" bIns="0" anchor="t">
            <a:noAutofit/>
          </a:bodyPr>
          <a:lstStyle/>
          <a:p>
            <a:pPr algn="l">
              <a:lnSpc>
                <a:spcPts val="1324"/>
              </a:lnSpc>
              <a:spcBef>
                <a:spcPts val="0"/>
              </a:spcBef>
              <a:spcAft>
                <a:spcPts val="0"/>
              </a:spcAft>
            </a:pPr>
            <a:r>
              <a:rPr sz="1104" b="1" i="0">
                <a:solidFill>
                  <a:srgbClr val="0B0B0F"/>
                </a:solidFill>
                <a:latin typeface="Courier New"/>
              </a:rPr>
              <a:t>cp</a:t>
            </a:r>
          </a:p>
        </p:txBody>
      </p:sp>
      <p:sp>
        <p:nvSpPr>
          <p:cNvPr id="42" name="s65-box-20"/>
          <p:cNvSpPr/>
          <p:nvPr/>
        </p:nvSpPr>
        <p:spPr>
          <a:xfrm>
            <a:off x="2199823" y="3840959"/>
            <a:ext cx="13897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65-text-22"/>
          <p:cNvSpPr txBox="1"/>
          <p:nvPr/>
        </p:nvSpPr>
        <p:spPr>
          <a:xfrm>
            <a:off x="2199823" y="3586966"/>
            <a:ext cx="1294475" cy="177796"/>
          </a:xfrm>
          <a:prstGeom prst="rect">
            <a:avLst/>
          </a:prstGeom>
          <a:noFill/>
        </p:spPr>
        <p:txBody>
          <a:bodyPr wrap="none" lIns="0" tIns="0" rIns="0" bIns="0" anchor="t">
            <a:noAutofit/>
          </a:bodyPr>
          <a:lstStyle/>
          <a:p>
            <a:pPr algn="l">
              <a:lnSpc>
                <a:spcPts val="1439"/>
              </a:lnSpc>
              <a:spcBef>
                <a:spcPts val="0"/>
              </a:spcBef>
              <a:spcAft>
                <a:spcPts val="0"/>
              </a:spcAft>
            </a:pPr>
            <a:r>
              <a:rPr sz="1200" b="0" i="0">
                <a:solidFill>
                  <a:srgbClr val="50505B"/>
                </a:solidFill>
                <a:latin typeface="Arial"/>
              </a:rPr>
              <a:t>λ</a:t>
            </a:r>
          </a:p>
        </p:txBody>
      </p:sp>
      <p:sp>
        <p:nvSpPr>
          <p:cNvPr id="44" name="s65-box-21"/>
          <p:cNvSpPr/>
          <p:nvPr/>
        </p:nvSpPr>
        <p:spPr>
          <a:xfrm>
            <a:off x="3589545" y="3840959"/>
            <a:ext cx="2760296"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65-text-23"/>
          <p:cNvSpPr txBox="1"/>
          <p:nvPr/>
        </p:nvSpPr>
        <p:spPr>
          <a:xfrm>
            <a:off x="3589545" y="3586966"/>
            <a:ext cx="2665048" cy="177796"/>
          </a:xfrm>
          <a:prstGeom prst="rect">
            <a:avLst/>
          </a:prstGeom>
          <a:noFill/>
        </p:spPr>
        <p:txBody>
          <a:bodyPr wrap="none" lIns="0" tIns="0" rIns="0" bIns="0" anchor="t">
            <a:noAutofit/>
          </a:bodyPr>
          <a:lstStyle/>
          <a:p>
            <a:pPr algn="l">
              <a:lnSpc>
                <a:spcPts val="1324"/>
              </a:lnSpc>
              <a:spcBef>
                <a:spcPts val="0"/>
              </a:spcBef>
              <a:spcAft>
                <a:spcPts val="0"/>
              </a:spcAft>
            </a:pPr>
            <a:r>
              <a:rPr sz="1104" b="0" i="0">
                <a:solidFill>
                  <a:srgbClr val="50505B"/>
                </a:solidFill>
                <a:latin typeface="Courier New"/>
              </a:rPr>
              <a:t>r1.ctrl(λ, c, t)</a:t>
            </a:r>
          </a:p>
        </p:txBody>
      </p:sp>
      <p:sp>
        <p:nvSpPr>
          <p:cNvPr id="46" name="s65-box-22"/>
          <p:cNvSpPr/>
          <p:nvPr/>
        </p:nvSpPr>
        <p:spPr>
          <a:xfrm>
            <a:off x="888978" y="4177501"/>
            <a:ext cx="13108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65-text-24"/>
          <p:cNvSpPr txBox="1"/>
          <p:nvPr/>
        </p:nvSpPr>
        <p:spPr>
          <a:xfrm>
            <a:off x="888978" y="3923507"/>
            <a:ext cx="1215598" cy="177796"/>
          </a:xfrm>
          <a:prstGeom prst="rect">
            <a:avLst/>
          </a:prstGeom>
          <a:noFill/>
        </p:spPr>
        <p:txBody>
          <a:bodyPr wrap="none" lIns="0" tIns="0" rIns="0" bIns="0" anchor="t">
            <a:noAutofit/>
          </a:bodyPr>
          <a:lstStyle/>
          <a:p>
            <a:pPr algn="l">
              <a:lnSpc>
                <a:spcPts val="1324"/>
              </a:lnSpc>
              <a:spcBef>
                <a:spcPts val="0"/>
              </a:spcBef>
              <a:spcAft>
                <a:spcPts val="0"/>
              </a:spcAft>
            </a:pPr>
            <a:r>
              <a:rPr sz="1104" b="1" i="0">
                <a:solidFill>
                  <a:srgbClr val="0B0B0F"/>
                </a:solidFill>
                <a:latin typeface="Courier New"/>
              </a:rPr>
              <a:t>swap</a:t>
            </a:r>
          </a:p>
        </p:txBody>
      </p:sp>
      <p:sp>
        <p:nvSpPr>
          <p:cNvPr id="48" name="s65-box-23"/>
          <p:cNvSpPr/>
          <p:nvPr/>
        </p:nvSpPr>
        <p:spPr>
          <a:xfrm>
            <a:off x="2199823" y="4177501"/>
            <a:ext cx="13897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65-text-25"/>
          <p:cNvSpPr txBox="1"/>
          <p:nvPr/>
        </p:nvSpPr>
        <p:spPr>
          <a:xfrm>
            <a:off x="2199823" y="3923507"/>
            <a:ext cx="1294475" cy="177796"/>
          </a:xfrm>
          <a:prstGeom prst="rect">
            <a:avLst/>
          </a:prstGeom>
          <a:noFill/>
        </p:spPr>
        <p:txBody>
          <a:bodyPr wrap="none" lIns="0" tIns="0" rIns="0" bIns="0" anchor="t">
            <a:noAutofit/>
          </a:bodyPr>
          <a:lstStyle/>
          <a:p>
            <a:pPr algn="l">
              <a:lnSpc>
                <a:spcPts val="1439"/>
              </a:lnSpc>
              <a:spcBef>
                <a:spcPts val="0"/>
              </a:spcBef>
              <a:spcAft>
                <a:spcPts val="0"/>
              </a:spcAft>
            </a:pPr>
            <a:r>
              <a:rPr sz="1200" b="0" i="0">
                <a:solidFill>
                  <a:srgbClr val="50505B"/>
                </a:solidFill>
                <a:latin typeface="Arial"/>
              </a:rPr>
              <a:t>—</a:t>
            </a:r>
          </a:p>
        </p:txBody>
      </p:sp>
      <p:sp>
        <p:nvSpPr>
          <p:cNvPr id="50" name="s65-box-24"/>
          <p:cNvSpPr/>
          <p:nvPr/>
        </p:nvSpPr>
        <p:spPr>
          <a:xfrm>
            <a:off x="3589545" y="4177501"/>
            <a:ext cx="2760296"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65-text-26"/>
          <p:cNvSpPr txBox="1"/>
          <p:nvPr/>
        </p:nvSpPr>
        <p:spPr>
          <a:xfrm>
            <a:off x="3589545" y="3923507"/>
            <a:ext cx="2665048" cy="177796"/>
          </a:xfrm>
          <a:prstGeom prst="rect">
            <a:avLst/>
          </a:prstGeom>
          <a:noFill/>
        </p:spPr>
        <p:txBody>
          <a:bodyPr wrap="none" lIns="0" tIns="0" rIns="0" bIns="0" anchor="t">
            <a:noAutofit/>
          </a:bodyPr>
          <a:lstStyle/>
          <a:p>
            <a:pPr algn="l">
              <a:lnSpc>
                <a:spcPts val="1324"/>
              </a:lnSpc>
              <a:spcBef>
                <a:spcPts val="0"/>
              </a:spcBef>
              <a:spcAft>
                <a:spcPts val="0"/>
              </a:spcAft>
            </a:pPr>
            <a:r>
              <a:rPr sz="1104" b="0" i="0">
                <a:solidFill>
                  <a:srgbClr val="50505B"/>
                </a:solidFill>
                <a:latin typeface="Courier New"/>
              </a:rPr>
              <a:t>swap(a, b)</a:t>
            </a:r>
          </a:p>
        </p:txBody>
      </p:sp>
      <p:sp>
        <p:nvSpPr>
          <p:cNvPr id="52" name="s65-box-25"/>
          <p:cNvSpPr/>
          <p:nvPr/>
        </p:nvSpPr>
        <p:spPr>
          <a:xfrm>
            <a:off x="888978" y="4514043"/>
            <a:ext cx="1310845"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s65-text-27"/>
          <p:cNvSpPr txBox="1"/>
          <p:nvPr/>
        </p:nvSpPr>
        <p:spPr>
          <a:xfrm>
            <a:off x="888978" y="4260049"/>
            <a:ext cx="1215598" cy="177796"/>
          </a:xfrm>
          <a:prstGeom prst="rect">
            <a:avLst/>
          </a:prstGeom>
          <a:noFill/>
        </p:spPr>
        <p:txBody>
          <a:bodyPr wrap="none" lIns="0" tIns="0" rIns="0" bIns="0" anchor="t">
            <a:noAutofit/>
          </a:bodyPr>
          <a:lstStyle/>
          <a:p>
            <a:pPr algn="l">
              <a:lnSpc>
                <a:spcPts val="1324"/>
              </a:lnSpc>
              <a:spcBef>
                <a:spcPts val="0"/>
              </a:spcBef>
              <a:spcAft>
                <a:spcPts val="0"/>
              </a:spcAft>
            </a:pPr>
            <a:r>
              <a:rPr sz="1104" b="1" i="0">
                <a:solidFill>
                  <a:srgbClr val="0B0B0F"/>
                </a:solidFill>
                <a:latin typeface="Courier New"/>
              </a:rPr>
              <a:t>measure</a:t>
            </a:r>
          </a:p>
        </p:txBody>
      </p:sp>
      <p:sp>
        <p:nvSpPr>
          <p:cNvPr id="54" name="s65-box-26"/>
          <p:cNvSpPr/>
          <p:nvPr/>
        </p:nvSpPr>
        <p:spPr>
          <a:xfrm>
            <a:off x="2199823" y="4514043"/>
            <a:ext cx="13897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65-text-28"/>
          <p:cNvSpPr txBox="1"/>
          <p:nvPr/>
        </p:nvSpPr>
        <p:spPr>
          <a:xfrm>
            <a:off x="2199823" y="4260049"/>
            <a:ext cx="1294475" cy="177796"/>
          </a:xfrm>
          <a:prstGeom prst="rect">
            <a:avLst/>
          </a:prstGeom>
          <a:noFill/>
        </p:spPr>
        <p:txBody>
          <a:bodyPr wrap="none" lIns="0" tIns="0" rIns="0" bIns="0" anchor="t">
            <a:noAutofit/>
          </a:bodyPr>
          <a:lstStyle/>
          <a:p>
            <a:pPr algn="l">
              <a:lnSpc>
                <a:spcPts val="1439"/>
              </a:lnSpc>
              <a:spcBef>
                <a:spcPts val="0"/>
              </a:spcBef>
              <a:spcAft>
                <a:spcPts val="0"/>
              </a:spcAft>
            </a:pPr>
            <a:r>
              <a:rPr sz="1200" b="0" i="0">
                <a:solidFill>
                  <a:srgbClr val="50505B"/>
                </a:solidFill>
                <a:latin typeface="Arial"/>
              </a:rPr>
              <a:t>—</a:t>
            </a:r>
          </a:p>
        </p:txBody>
      </p:sp>
      <p:sp>
        <p:nvSpPr>
          <p:cNvPr id="56" name="s65-box-27"/>
          <p:cNvSpPr/>
          <p:nvPr/>
        </p:nvSpPr>
        <p:spPr>
          <a:xfrm>
            <a:off x="3589545" y="4514043"/>
            <a:ext cx="2760296"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s65-text-29"/>
          <p:cNvSpPr txBox="1"/>
          <p:nvPr/>
        </p:nvSpPr>
        <p:spPr>
          <a:xfrm>
            <a:off x="3589545" y="4260049"/>
            <a:ext cx="2665048" cy="177796"/>
          </a:xfrm>
          <a:prstGeom prst="rect">
            <a:avLst/>
          </a:prstGeom>
          <a:noFill/>
        </p:spPr>
        <p:txBody>
          <a:bodyPr wrap="none" lIns="0" tIns="0" rIns="0" bIns="0" anchor="t">
            <a:noAutofit/>
          </a:bodyPr>
          <a:lstStyle/>
          <a:p>
            <a:pPr algn="l">
              <a:lnSpc>
                <a:spcPts val="1324"/>
              </a:lnSpc>
              <a:spcBef>
                <a:spcPts val="0"/>
              </a:spcBef>
              <a:spcAft>
                <a:spcPts val="0"/>
              </a:spcAft>
            </a:pPr>
            <a:r>
              <a:rPr sz="1104" b="0" i="0">
                <a:solidFill>
                  <a:srgbClr val="50505B"/>
                </a:solidFill>
                <a:latin typeface="Courier New"/>
              </a:rPr>
              <a:t>mz(q)</a:t>
            </a:r>
          </a:p>
        </p:txBody>
      </p:sp>
      <p:sp>
        <p:nvSpPr>
          <p:cNvPr id="58" name="s65-box-28"/>
          <p:cNvSpPr/>
          <p:nvPr/>
        </p:nvSpPr>
        <p:spPr>
          <a:xfrm>
            <a:off x="6603835" y="1545492"/>
            <a:ext cx="4698883" cy="1122533"/>
          </a:xfrm>
          <a:prstGeom prst="roundRect">
            <a:avLst>
              <a:gd name="adj" fmla="val 1357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s65-text-30"/>
          <p:cNvSpPr txBox="1"/>
          <p:nvPr/>
        </p:nvSpPr>
        <p:spPr>
          <a:xfrm>
            <a:off x="6794330" y="1685188"/>
            <a:ext cx="4336942"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ENCODING</a:t>
            </a:r>
          </a:p>
        </p:txBody>
      </p:sp>
      <p:sp>
        <p:nvSpPr>
          <p:cNvPr id="60" name="s65-text-31"/>
          <p:cNvSpPr txBox="1"/>
          <p:nvPr/>
        </p:nvSpPr>
        <p:spPr>
          <a:xfrm>
            <a:off x="6794330" y="1888383"/>
            <a:ext cx="4330592" cy="639945"/>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Each gate becomes one row across the three tensors: gate id, qubit indices (control, target), and parameters. Unused parameter slots are left empty.</a:t>
            </a:r>
          </a:p>
        </p:txBody>
      </p:sp>
      <p:sp>
        <p:nvSpPr>
          <p:cNvPr id="61" name="s65-box-29"/>
          <p:cNvSpPr/>
          <p:nvPr/>
        </p:nvSpPr>
        <p:spPr>
          <a:xfrm>
            <a:off x="6603835" y="2782322"/>
            <a:ext cx="4698883" cy="1122533"/>
          </a:xfrm>
          <a:prstGeom prst="roundRect">
            <a:avLst>
              <a:gd name="adj" fmla="val 13576"/>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s65-text-32"/>
          <p:cNvSpPr txBox="1"/>
          <p:nvPr/>
        </p:nvSpPr>
        <p:spPr>
          <a:xfrm>
            <a:off x="6794330" y="2922018"/>
            <a:ext cx="4336942"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STORAGE</a:t>
            </a:r>
          </a:p>
        </p:txBody>
      </p:sp>
      <p:sp>
        <p:nvSpPr>
          <p:cNvPr id="63" name="s65-text-33"/>
          <p:cNvSpPr txBox="1"/>
          <p:nvPr/>
        </p:nvSpPr>
        <p:spPr>
          <a:xfrm>
            <a:off x="6794330" y="3125213"/>
            <a:ext cx="4330592" cy="639945"/>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Tensors are written to HDF5 with the circuit metadata (qubit count, shots, seed) so a run is reproducible on CPU, one GPU or 1,024 GPUs.</a:t>
            </a:r>
          </a:p>
        </p:txBody>
      </p:sp>
      <p:sp>
        <p:nvSpPr>
          <p:cNvPr id="64" name="s65-box-30"/>
          <p:cNvSpPr/>
          <p:nvPr/>
        </p:nvSpPr>
        <p:spPr>
          <a:xfrm>
            <a:off x="6603835" y="4019152"/>
            <a:ext cx="4698883" cy="909218"/>
          </a:xfrm>
          <a:prstGeom prst="roundRect">
            <a:avLst>
              <a:gd name="adj" fmla="val 1676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s65-text-34"/>
          <p:cNvSpPr txBox="1"/>
          <p:nvPr/>
        </p:nvSpPr>
        <p:spPr>
          <a:xfrm>
            <a:off x="6794330" y="4158848"/>
            <a:ext cx="4336942" cy="139697"/>
          </a:xfrm>
          <a:prstGeom prst="rect">
            <a:avLst/>
          </a:prstGeom>
          <a:noFill/>
        </p:spPr>
        <p:txBody>
          <a:bodyPr wrap="none" lIns="0" tIns="0" rIns="0" bIns="0" anchor="t">
            <a:noAutofit/>
          </a:bodyPr>
          <a:lstStyle/>
          <a:p>
            <a:pPr algn="l">
              <a:lnSpc>
                <a:spcPts val="1140"/>
              </a:lnSpc>
              <a:spcBef>
                <a:spcPts val="0"/>
              </a:spcBef>
              <a:spcAft>
                <a:spcPts val="0"/>
              </a:spcAft>
            </a:pPr>
            <a:r>
              <a:rPr sz="950" b="0" i="0" spc="57">
                <a:solidFill>
                  <a:srgbClr val="7B7B86"/>
                </a:solidFill>
                <a:latin typeface="Courier New"/>
              </a:rPr>
              <a:t>NOTE</a:t>
            </a:r>
          </a:p>
        </p:txBody>
      </p:sp>
      <p:sp>
        <p:nvSpPr>
          <p:cNvPr id="66" name="s65-text-35"/>
          <p:cNvSpPr txBox="1"/>
          <p:nvPr/>
        </p:nvSpPr>
        <p:spPr>
          <a:xfrm>
            <a:off x="6794330" y="4362043"/>
            <a:ext cx="4330592" cy="426630"/>
          </a:xfrm>
          <a:prstGeom prst="rect">
            <a:avLst/>
          </a:prstGeom>
          <a:noFill/>
        </p:spPr>
        <p:txBody>
          <a:bodyPr wrap="square" lIns="0" tIns="0" rIns="0" bIns="0" anchor="t">
            <a:noAutofit/>
          </a:bodyPr>
          <a:lstStyle/>
          <a:p>
            <a:pPr algn="l">
              <a:lnSpc>
                <a:spcPts val="1680"/>
              </a:lnSpc>
              <a:spcBef>
                <a:spcPts val="0"/>
              </a:spcBef>
              <a:spcAft>
                <a:spcPts val="0"/>
              </a:spcAft>
            </a:pPr>
            <a:r>
              <a:rPr sz="1200" b="0" i="0">
                <a:solidFill>
                  <a:srgbClr val="50505B"/>
                </a:solidFill>
                <a:latin typeface="Arial"/>
              </a:rPr>
              <a:t>Operation names follow the CUDA-Q Python API; the exact emitted code is in the qgear repository.</a:t>
            </a:r>
          </a:p>
        </p:txBody>
      </p:sp>
      <p:sp>
        <p:nvSpPr>
          <p:cNvPr id="67" name="!!sec"/>
          <p:cNvSpPr txBox="1"/>
          <p:nvPr/>
        </p:nvSpPr>
        <p:spPr>
          <a:xfrm>
            <a:off x="888978" y="6362541"/>
            <a:ext cx="717234"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Backup</a:t>
            </a:r>
          </a:p>
        </p:txBody>
      </p:sp>
      <p:pic>
        <p:nvPicPr>
          <p:cNvPr id="68" name="s65-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69"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65</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33436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Backup · B3</a:t>
            </a:r>
          </a:p>
        </p:txBody>
      </p:sp>
      <p:sp>
        <p:nvSpPr>
          <p:cNvPr id="3" name="s66-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DEAL, in pseudo-code</a:t>
            </a:r>
          </a:p>
        </p:txBody>
      </p:sp>
      <p:sp>
        <p:nvSpPr>
          <p:cNvPr id="4" name="s66-box-01"/>
          <p:cNvSpPr/>
          <p:nvPr/>
        </p:nvSpPr>
        <p:spPr>
          <a:xfrm>
            <a:off x="888978" y="1545492"/>
            <a:ext cx="7111822" cy="3070148"/>
          </a:xfrm>
          <a:prstGeom prst="roundRect">
            <a:avLst>
              <a:gd name="adj" fmla="val 496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66-text-03"/>
          <p:cNvSpPr txBox="1"/>
          <p:nvPr/>
        </p:nvSpPr>
        <p:spPr>
          <a:xfrm>
            <a:off x="1174721" y="1780436"/>
            <a:ext cx="6559386" cy="2600260"/>
          </a:xfrm>
          <a:prstGeom prst="rect">
            <a:avLst/>
          </a:prstGeom>
          <a:noFill/>
        </p:spPr>
        <p:txBody>
          <a:bodyPr wrap="none" lIns="0" tIns="0" rIns="0" bIns="0" anchor="t">
            <a:noAutofit/>
          </a:bodyPr>
          <a:lstStyle/>
          <a:p>
            <a:pPr algn="l">
              <a:lnSpc>
                <a:spcPts val="1575"/>
              </a:lnSpc>
              <a:spcBef>
                <a:spcPts val="0"/>
              </a:spcBef>
              <a:spcAft>
                <a:spcPts val="0"/>
              </a:spcAft>
            </a:pPr>
            <a:r>
              <a:rPr sz="1050" b="0" i="0">
                <a:solidFill>
                  <a:srgbClr val="7B7B86"/>
                </a:solidFill>
                <a:latin typeface="Courier New"/>
              </a:rPr>
              <a:t># Direct Entanglement Ansatz Learning (DEAL) — sketch</a:t>
            </a:r>
          </a:p>
          <a:p>
            <a:pPr algn="l">
              <a:lnSpc>
                <a:spcPts val="1575"/>
              </a:lnSpc>
              <a:spcBef>
                <a:spcPts val="0"/>
              </a:spcBef>
              <a:spcAft>
                <a:spcPts val="0"/>
              </a:spcAft>
            </a:pPr>
            <a:r>
              <a:rPr sz="1050" b="0" i="0">
                <a:solidFill>
                  <a:srgbClr val="A30000"/>
                </a:solidFill>
                <a:latin typeface="Courier New"/>
              </a:rPr>
              <a:t>input</a:t>
            </a:r>
            <a:r>
              <a:rPr sz="1050" b="0" i="0">
                <a:solidFill>
                  <a:srgbClr val="0B0B0F"/>
                </a:solidFill>
                <a:latin typeface="Courier New"/>
              </a:rPr>
              <a:t>  QUBO matrix Q (n = 20), device coupling map, CZ budget ≈ 41–43</a:t>
            </a:r>
          </a:p>
          <a:p>
            <a:pPr algn="l">
              <a:lnSpc>
                <a:spcPts val="1575"/>
              </a:lnSpc>
              <a:spcBef>
                <a:spcPts val="0"/>
              </a:spcBef>
              <a:spcAft>
                <a:spcPts val="0"/>
              </a:spcAft>
            </a:pPr>
            <a:r>
              <a:rPr sz="1050" b="0" i="0">
                <a:solidFill>
                  <a:srgbClr val="A30000"/>
                </a:solidFill>
                <a:latin typeface="Courier New"/>
              </a:rPr>
              <a:t>output</a:t>
            </a:r>
            <a:r>
              <a:rPr sz="1050" b="0" i="0">
                <a:solidFill>
                  <a:srgbClr val="0B0B0F"/>
                </a:solidFill>
                <a:latin typeface="Courier New"/>
              </a:rPr>
              <a:t> bitstring x*, energy E*</a:t>
            </a:r>
          </a:p>
          <a:p>
            <a:pPr algn="l">
              <a:lnSpc>
                <a:spcPts val="1575"/>
              </a:lnSpc>
              <a:spcBef>
                <a:spcPts val="0"/>
              </a:spcBef>
              <a:spcAft>
                <a:spcPts val="0"/>
              </a:spcAft>
            </a:pPr>
            <a:endParaRPr sz="1050" b="0" i="0">
              <a:solidFill>
                <a:srgbClr val="0B0B0F"/>
              </a:solidFill>
              <a:latin typeface="Courier New"/>
            </a:endParaRPr>
          </a:p>
          <a:p>
            <a:pPr algn="l">
              <a:lnSpc>
                <a:spcPts val="1575"/>
              </a:lnSpc>
              <a:spcBef>
                <a:spcPts val="0"/>
              </a:spcBef>
              <a:spcAft>
                <a:spcPts val="0"/>
              </a:spcAft>
            </a:pPr>
            <a:r>
              <a:rPr sz="1050" b="0" i="0">
                <a:solidFill>
                  <a:srgbClr val="0B0B0F"/>
                </a:solidFill>
                <a:latin typeface="Courier New"/>
              </a:rPr>
              <a:t>γ, β ← </a:t>
            </a:r>
            <a:r>
              <a:rPr sz="1050" b="0" i="0">
                <a:solidFill>
                  <a:srgbClr val="2A78D6"/>
                </a:solidFill>
                <a:latin typeface="Courier New"/>
              </a:rPr>
              <a:t>direct_map</a:t>
            </a:r>
            <a:r>
              <a:rPr sz="1050" b="0" i="0">
                <a:solidFill>
                  <a:srgbClr val="0B0B0F"/>
                </a:solidFill>
                <a:latin typeface="Courier New"/>
              </a:rPr>
              <a:t>(Q)           </a:t>
            </a:r>
            <a:r>
              <a:rPr sz="1050" b="0" i="0">
                <a:solidFill>
                  <a:srgbClr val="7B7B86"/>
                </a:solidFill>
                <a:latin typeface="Courier New"/>
              </a:rPr>
              <a:t># angles from Qᵢᵢ, Qᵢⱼ; no optimizer</a:t>
            </a:r>
          </a:p>
          <a:p>
            <a:pPr algn="l">
              <a:lnSpc>
                <a:spcPts val="1575"/>
              </a:lnSpc>
              <a:spcBef>
                <a:spcPts val="0"/>
              </a:spcBef>
              <a:spcAft>
                <a:spcPts val="0"/>
              </a:spcAft>
            </a:pPr>
            <a:r>
              <a:rPr sz="1050" b="0" i="0">
                <a:solidFill>
                  <a:srgbClr val="0B0B0F"/>
                </a:solidFill>
                <a:latin typeface="Courier New"/>
              </a:rPr>
              <a:t>p   ← </a:t>
            </a:r>
            <a:r>
              <a:rPr sz="1050" b="0" i="0">
                <a:solidFill>
                  <a:srgbClr val="2A78D6"/>
                </a:solidFill>
                <a:latin typeface="Courier New"/>
              </a:rPr>
              <a:t>bayes_select_layers</a:t>
            </a:r>
            <a:r>
              <a:rPr sz="1050" b="0" i="0">
                <a:solidFill>
                  <a:srgbClr val="0B0B0F"/>
                </a:solidFill>
                <a:latin typeface="Courier New"/>
              </a:rPr>
              <a:t>(Q, budget)   </a:t>
            </a:r>
            <a:r>
              <a:rPr sz="1050" b="0" i="0">
                <a:solidFill>
                  <a:srgbClr val="7B7B86"/>
                </a:solidFill>
                <a:latin typeface="Courier New"/>
              </a:rPr>
              <a:t># 7 layers ≈ QAOA at 9</a:t>
            </a:r>
          </a:p>
          <a:p>
            <a:pPr algn="l">
              <a:lnSpc>
                <a:spcPts val="1575"/>
              </a:lnSpc>
              <a:spcBef>
                <a:spcPts val="0"/>
              </a:spcBef>
              <a:spcAft>
                <a:spcPts val="0"/>
              </a:spcAft>
            </a:pPr>
            <a:r>
              <a:rPr sz="1050" b="0" i="0">
                <a:solidFill>
                  <a:srgbClr val="A30000"/>
                </a:solidFill>
                <a:latin typeface="Courier New"/>
              </a:rPr>
              <a:t>for</a:t>
            </a:r>
            <a:r>
              <a:rPr sz="1050" b="0" i="0">
                <a:solidFill>
                  <a:srgbClr val="0B0B0F"/>
                </a:solidFill>
                <a:latin typeface="Courier New"/>
              </a:rPr>
              <a:t> λ </a:t>
            </a:r>
            <a:r>
              <a:rPr sz="1050" b="0" i="0">
                <a:solidFill>
                  <a:srgbClr val="A30000"/>
                </a:solidFill>
                <a:latin typeface="Courier New"/>
              </a:rPr>
              <a:t>in</a:t>
            </a:r>
            <a:r>
              <a:rPr sz="1050" b="0" i="0">
                <a:solidFill>
                  <a:srgbClr val="0B0B0F"/>
                </a:solidFill>
                <a:latin typeface="Courier New"/>
              </a:rPr>
              <a:t> noise_scales:                  </a:t>
            </a:r>
            <a:r>
              <a:rPr sz="1050" b="0" i="0">
                <a:solidFill>
                  <a:srgbClr val="7B7B86"/>
                </a:solidFill>
                <a:latin typeface="Courier New"/>
              </a:rPr>
              <a:t># adaptive digital ZNE</a:t>
            </a:r>
          </a:p>
          <a:p>
            <a:pPr algn="l">
              <a:lnSpc>
                <a:spcPts val="1575"/>
              </a:lnSpc>
              <a:spcBef>
                <a:spcPts val="0"/>
              </a:spcBef>
              <a:spcAft>
                <a:spcPts val="0"/>
              </a:spcAft>
            </a:pPr>
            <a:r>
              <a:rPr sz="1050" b="0" i="0">
                <a:solidFill>
                  <a:srgbClr val="0B0B0F"/>
                </a:solidFill>
                <a:latin typeface="Courier New"/>
              </a:rPr>
              <a:t>    C ← </a:t>
            </a:r>
            <a:r>
              <a:rPr sz="1050" b="0" i="0">
                <a:solidFill>
                  <a:srgbClr val="2A78D6"/>
                </a:solidFill>
                <a:latin typeface="Courier New"/>
              </a:rPr>
              <a:t>entangling_ansatz</a:t>
            </a:r>
            <a:r>
              <a:rPr sz="1050" b="0" i="0">
                <a:solidFill>
                  <a:srgbClr val="0B0B0F"/>
                </a:solidFill>
                <a:latin typeface="Courier New"/>
              </a:rPr>
              <a:t>(γ, β, p, coupling_map)   </a:t>
            </a:r>
            <a:r>
              <a:rPr sz="1050" b="0" i="0">
                <a:solidFill>
                  <a:srgbClr val="7B7B86"/>
                </a:solidFill>
                <a:latin typeface="Courier New"/>
              </a:rPr>
              <a:t># echoed cross-resonance</a:t>
            </a:r>
          </a:p>
          <a:p>
            <a:pPr algn="l">
              <a:lnSpc>
                <a:spcPts val="1575"/>
              </a:lnSpc>
              <a:spcBef>
                <a:spcPts val="0"/>
              </a:spcBef>
              <a:spcAft>
                <a:spcPts val="0"/>
              </a:spcAft>
            </a:pPr>
            <a:r>
              <a:rPr sz="1050" b="0" i="0">
                <a:solidFill>
                  <a:srgbClr val="0B0B0F"/>
                </a:solidFill>
                <a:latin typeface="Courier New"/>
              </a:rPr>
              <a:t>    C ← </a:t>
            </a:r>
            <a:r>
              <a:rPr sz="1050" b="0" i="0">
                <a:solidFill>
                  <a:srgbClr val="2A78D6"/>
                </a:solidFill>
                <a:latin typeface="Courier New"/>
              </a:rPr>
              <a:t>insert_delays</a:t>
            </a:r>
            <a:r>
              <a:rPr sz="1050" b="0" i="0">
                <a:solidFill>
                  <a:srgbClr val="0B0B0F"/>
                </a:solidFill>
                <a:latin typeface="Courier New"/>
              </a:rPr>
              <a:t>(C, λ)               </a:t>
            </a:r>
            <a:r>
              <a:rPr sz="1050" b="0" i="0">
                <a:solidFill>
                  <a:srgbClr val="7B7B86"/>
                </a:solidFill>
                <a:latin typeface="Courier New"/>
              </a:rPr>
              <a:t># crosstalk / coherence control</a:t>
            </a:r>
          </a:p>
          <a:p>
            <a:pPr algn="l">
              <a:lnSpc>
                <a:spcPts val="1575"/>
              </a:lnSpc>
              <a:spcBef>
                <a:spcPts val="0"/>
              </a:spcBef>
              <a:spcAft>
                <a:spcPts val="0"/>
              </a:spcAft>
            </a:pPr>
            <a:r>
              <a:rPr sz="1050" b="0" i="0">
                <a:solidFill>
                  <a:srgbClr val="0B0B0F"/>
                </a:solidFill>
                <a:latin typeface="Courier New"/>
              </a:rPr>
              <a:t>    E[λ] ← </a:t>
            </a:r>
            <a:r>
              <a:rPr sz="1050" b="0" i="0">
                <a:solidFill>
                  <a:srgbClr val="2A78D6"/>
                </a:solidFill>
                <a:latin typeface="Courier New"/>
              </a:rPr>
              <a:t>run</a:t>
            </a:r>
            <a:r>
              <a:rPr sz="1050" b="0" i="0">
                <a:solidFill>
                  <a:srgbClr val="0B0B0F"/>
                </a:solidFill>
                <a:latin typeface="Courier New"/>
              </a:rPr>
              <a:t>(C, shots)</a:t>
            </a:r>
          </a:p>
          <a:p>
            <a:pPr algn="l">
              <a:lnSpc>
                <a:spcPts val="1575"/>
              </a:lnSpc>
              <a:spcBef>
                <a:spcPts val="0"/>
              </a:spcBef>
              <a:spcAft>
                <a:spcPts val="0"/>
              </a:spcAft>
            </a:pPr>
            <a:r>
              <a:rPr sz="1050" b="0" i="0">
                <a:solidFill>
                  <a:srgbClr val="0B0B0F"/>
                </a:solidFill>
                <a:latin typeface="Courier New"/>
              </a:rPr>
              <a:t>E*  ← </a:t>
            </a:r>
            <a:r>
              <a:rPr sz="1050" b="0" i="0">
                <a:solidFill>
                  <a:srgbClr val="2A78D6"/>
                </a:solidFill>
                <a:latin typeface="Courier New"/>
              </a:rPr>
              <a:t>extrapolate</a:t>
            </a:r>
            <a:r>
              <a:rPr sz="1050" b="0" i="0">
                <a:solidFill>
                  <a:srgbClr val="0B0B0F"/>
                </a:solidFill>
                <a:latin typeface="Courier New"/>
              </a:rPr>
              <a:t>(E, λ → 0)</a:t>
            </a:r>
          </a:p>
          <a:p>
            <a:pPr algn="l">
              <a:lnSpc>
                <a:spcPts val="1575"/>
              </a:lnSpc>
              <a:spcBef>
                <a:spcPts val="0"/>
              </a:spcBef>
              <a:spcAft>
                <a:spcPts val="0"/>
              </a:spcAft>
            </a:pPr>
            <a:r>
              <a:rPr sz="1050" b="0" i="0">
                <a:solidFill>
                  <a:srgbClr val="0B0B0F"/>
                </a:solidFill>
                <a:latin typeface="Courier New"/>
              </a:rPr>
              <a:t>x*  ← </a:t>
            </a:r>
            <a:r>
              <a:rPr sz="1050" b="0" i="0">
                <a:solidFill>
                  <a:srgbClr val="2A78D6"/>
                </a:solidFill>
                <a:latin typeface="Courier New"/>
              </a:rPr>
              <a:t>argmin_sample</a:t>
            </a:r>
            <a:r>
              <a:rPr sz="1050" b="0" i="0">
                <a:solidFill>
                  <a:srgbClr val="0B0B0F"/>
                </a:solidFill>
                <a:latin typeface="Courier New"/>
              </a:rPr>
              <a:t>(C)</a:t>
            </a:r>
          </a:p>
          <a:p>
            <a:pPr algn="l">
              <a:lnSpc>
                <a:spcPts val="1575"/>
              </a:lnSpc>
              <a:spcBef>
                <a:spcPts val="0"/>
              </a:spcBef>
              <a:spcAft>
                <a:spcPts val="0"/>
              </a:spcAft>
            </a:pPr>
            <a:r>
              <a:rPr sz="1050" b="0" i="0">
                <a:solidFill>
                  <a:srgbClr val="0B0B0F"/>
                </a:solidFill>
                <a:latin typeface="Courier New"/>
              </a:rPr>
              <a:t>QNRE ← |E* − E_exact| / noise_limit           </a:t>
            </a:r>
            <a:r>
              <a:rPr sz="1050" b="0" i="0">
                <a:solidFill>
                  <a:srgbClr val="7B7B86"/>
                </a:solidFill>
                <a:latin typeface="Courier New"/>
              </a:rPr>
              <a:t># reported metric</a:t>
            </a:r>
          </a:p>
        </p:txBody>
      </p:sp>
      <p:sp>
        <p:nvSpPr>
          <p:cNvPr id="6" name="s66-box-02"/>
          <p:cNvSpPr/>
          <p:nvPr/>
        </p:nvSpPr>
        <p:spPr>
          <a:xfrm>
            <a:off x="8254794" y="1545492"/>
            <a:ext cx="3047924" cy="1750969"/>
          </a:xfrm>
          <a:prstGeom prst="roundRect">
            <a:avLst>
              <a:gd name="adj" fmla="val 870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66-text-04"/>
          <p:cNvSpPr txBox="1"/>
          <p:nvPr/>
        </p:nvSpPr>
        <p:spPr>
          <a:xfrm>
            <a:off x="8508787" y="1774086"/>
            <a:ext cx="2558986"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INSTANCES</a:t>
            </a:r>
          </a:p>
        </p:txBody>
      </p:sp>
      <p:sp>
        <p:nvSpPr>
          <p:cNvPr id="8" name="s66-text-05"/>
          <p:cNvSpPr txBox="1"/>
          <p:nvPr/>
        </p:nvSpPr>
        <p:spPr>
          <a:xfrm>
            <a:off x="8508787" y="2072529"/>
            <a:ext cx="2552636" cy="995338"/>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Travelling salesman, knapsack and MaxCut; Table II optima 8.795 / 7.468, 39.167 and 14.184.</a:t>
            </a:r>
          </a:p>
        </p:txBody>
      </p:sp>
      <p:sp>
        <p:nvSpPr>
          <p:cNvPr id="9" name="s66-box-03"/>
          <p:cNvSpPr/>
          <p:nvPr/>
        </p:nvSpPr>
        <p:spPr>
          <a:xfrm>
            <a:off x="8254794" y="3410758"/>
            <a:ext cx="3047924" cy="1750969"/>
          </a:xfrm>
          <a:prstGeom prst="roundRect">
            <a:avLst>
              <a:gd name="adj" fmla="val 8703"/>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s66-text-06"/>
          <p:cNvSpPr txBox="1"/>
          <p:nvPr/>
        </p:nvSpPr>
        <p:spPr>
          <a:xfrm>
            <a:off x="8508787" y="3639352"/>
            <a:ext cx="2558986"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VALIDATION</a:t>
            </a:r>
          </a:p>
        </p:txBody>
      </p:sp>
      <p:sp>
        <p:nvSpPr>
          <p:cNvPr id="11" name="s66-text-07"/>
          <p:cNvSpPr txBox="1"/>
          <p:nvPr/>
        </p:nvSpPr>
        <p:spPr>
          <a:xfrm>
            <a:off x="8508787" y="3937795"/>
            <a:ext cx="2552636" cy="995338"/>
          </a:xfrm>
          <a:prstGeom prst="rect">
            <a:avLst/>
          </a:prstGeom>
          <a:noFill/>
        </p:spPr>
        <p:txBody>
          <a:bodyPr wrap="square" lIns="0" tIns="0" rIns="0" bIns="0" anchor="t">
            <a:noAutofit/>
          </a:bodyPr>
          <a:lstStyle/>
          <a:p>
            <a:pPr algn="l">
              <a:lnSpc>
                <a:spcPts val="1960"/>
              </a:lnSpc>
              <a:spcBef>
                <a:spcPts val="0"/>
              </a:spcBef>
              <a:spcAft>
                <a:spcPts val="0"/>
              </a:spcAft>
            </a:pPr>
            <a:r>
              <a:rPr sz="1400" b="0" i="0">
                <a:solidFill>
                  <a:srgbClr val="50505B"/>
                </a:solidFill>
                <a:latin typeface="Arial"/>
              </a:rPr>
              <a:t>20-qubit circuits were simulated with the Q-GEAR GPU path before submission to IBM Torino and Marrakesh.</a:t>
            </a:r>
          </a:p>
        </p:txBody>
      </p:sp>
      <p:sp>
        <p:nvSpPr>
          <p:cNvPr id="12" name="s66-box-04"/>
          <p:cNvSpPr/>
          <p:nvPr/>
        </p:nvSpPr>
        <p:spPr>
          <a:xfrm>
            <a:off x="8254794" y="5276024"/>
            <a:ext cx="3047924" cy="1004466"/>
          </a:xfrm>
          <a:prstGeom prst="roundRect">
            <a:avLst>
              <a:gd name="adj" fmla="val 15171"/>
            </a:avLst>
          </a:prstGeom>
          <a:solidFill>
            <a:srgbClr val="000000">
              <a:alpha val="35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66-text-08"/>
          <p:cNvSpPr txBox="1"/>
          <p:nvPr/>
        </p:nvSpPr>
        <p:spPr>
          <a:xfrm>
            <a:off x="8508787" y="5504618"/>
            <a:ext cx="2558986" cy="158746"/>
          </a:xfrm>
          <a:prstGeom prst="rect">
            <a:avLst/>
          </a:prstGeom>
          <a:noFill/>
        </p:spPr>
        <p:txBody>
          <a:bodyPr wrap="none" lIns="0" tIns="0" rIns="0" bIns="0" anchor="t">
            <a:noAutofit/>
          </a:bodyPr>
          <a:lstStyle/>
          <a:p>
            <a:pPr algn="l">
              <a:lnSpc>
                <a:spcPts val="1320"/>
              </a:lnSpc>
              <a:spcBef>
                <a:spcPts val="0"/>
              </a:spcBef>
              <a:spcAft>
                <a:spcPts val="0"/>
              </a:spcAft>
            </a:pPr>
            <a:r>
              <a:rPr sz="1100" b="0" i="0" spc="66">
                <a:solidFill>
                  <a:srgbClr val="7B7B86"/>
                </a:solidFill>
                <a:latin typeface="Courier New"/>
              </a:rPr>
              <a:t>CODE</a:t>
            </a:r>
          </a:p>
        </p:txBody>
      </p:sp>
      <p:sp>
        <p:nvSpPr>
          <p:cNvPr id="14" name="s66-text-09"/>
          <p:cNvSpPr txBox="1"/>
          <p:nvPr/>
        </p:nvSpPr>
        <p:spPr>
          <a:xfrm>
            <a:off x="8508787" y="5803060"/>
            <a:ext cx="2558986" cy="248834"/>
          </a:xfrm>
          <a:prstGeom prst="rect">
            <a:avLst/>
          </a:prstGeom>
          <a:noFill/>
        </p:spPr>
        <p:txBody>
          <a:bodyPr wrap="none" lIns="0" tIns="0" rIns="0" bIns="0" anchor="t">
            <a:noAutofit/>
          </a:bodyPr>
          <a:lstStyle/>
          <a:p>
            <a:pPr algn="l">
              <a:lnSpc>
                <a:spcPts val="1960"/>
              </a:lnSpc>
              <a:spcBef>
                <a:spcPts val="0"/>
              </a:spcBef>
              <a:spcAft>
                <a:spcPts val="0"/>
              </a:spcAft>
            </a:pPr>
            <a:r>
              <a:rPr sz="1400" b="0" i="0">
                <a:solidFill>
                  <a:srgbClr val="50505B"/>
                </a:solidFill>
                <a:latin typeface="Courier New"/>
              </a:rPr>
              <a:t>github.com/gzquse/DEAL_QUBO</a:t>
            </a:r>
          </a:p>
        </p:txBody>
      </p:sp>
      <p:sp>
        <p:nvSpPr>
          <p:cNvPr id="15" name="!!sec"/>
          <p:cNvSpPr txBox="1"/>
          <p:nvPr/>
        </p:nvSpPr>
        <p:spPr>
          <a:xfrm>
            <a:off x="888978" y="6362541"/>
            <a:ext cx="717234"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Backup</a:t>
            </a:r>
          </a:p>
        </p:txBody>
      </p:sp>
      <p:pic>
        <p:nvPicPr>
          <p:cNvPr id="16" name="s66-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17"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66</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33436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Backup · B4</a:t>
            </a:r>
          </a:p>
        </p:txBody>
      </p:sp>
      <p:sp>
        <p:nvSpPr>
          <p:cNvPr id="3" name="s67-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VQT hardware configurations</a:t>
            </a:r>
          </a:p>
        </p:txBody>
      </p:sp>
      <p:sp>
        <p:nvSpPr>
          <p:cNvPr id="4" name="s67-box-01"/>
          <p:cNvSpPr/>
          <p:nvPr/>
        </p:nvSpPr>
        <p:spPr>
          <a:xfrm>
            <a:off x="888978" y="1821710"/>
            <a:ext cx="1792838"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67-text-03"/>
          <p:cNvSpPr txBox="1"/>
          <p:nvPr/>
        </p:nvSpPr>
        <p:spPr>
          <a:xfrm>
            <a:off x="888978" y="1545492"/>
            <a:ext cx="1659491"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Backend</a:t>
            </a:r>
          </a:p>
        </p:txBody>
      </p:sp>
      <p:sp>
        <p:nvSpPr>
          <p:cNvPr id="6" name="s67-box-02"/>
          <p:cNvSpPr/>
          <p:nvPr/>
        </p:nvSpPr>
        <p:spPr>
          <a:xfrm>
            <a:off x="2681816" y="1821710"/>
            <a:ext cx="2599169"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67-text-04"/>
          <p:cNvSpPr txBox="1"/>
          <p:nvPr/>
        </p:nvSpPr>
        <p:spPr>
          <a:xfrm>
            <a:off x="2681816" y="1545492"/>
            <a:ext cx="2465822"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Type</a:t>
            </a:r>
          </a:p>
        </p:txBody>
      </p:sp>
      <p:sp>
        <p:nvSpPr>
          <p:cNvPr id="8" name="s67-box-03"/>
          <p:cNvSpPr/>
          <p:nvPr/>
        </p:nvSpPr>
        <p:spPr>
          <a:xfrm>
            <a:off x="5280984" y="1821710"/>
            <a:ext cx="1119259"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67-text-05"/>
          <p:cNvSpPr txBox="1"/>
          <p:nvPr/>
        </p:nvSpPr>
        <p:spPr>
          <a:xfrm>
            <a:off x="5433381" y="1545492"/>
            <a:ext cx="808117" cy="161921"/>
          </a:xfrm>
          <a:prstGeom prst="rect">
            <a:avLst/>
          </a:prstGeom>
          <a:noFill/>
        </p:spPr>
        <p:txBody>
          <a:bodyPr wrap="none" lIns="0" tIns="0" rIns="0" bIns="0" anchor="t">
            <a:noAutofit/>
          </a:bodyPr>
          <a:lstStyle/>
          <a:p>
            <a:pPr algn="r">
              <a:lnSpc>
                <a:spcPts val="1320"/>
              </a:lnSpc>
              <a:spcBef>
                <a:spcPts val="0"/>
              </a:spcBef>
              <a:spcAft>
                <a:spcPts val="0"/>
              </a:spcAft>
            </a:pPr>
            <a:r>
              <a:rPr sz="1100" b="1" i="0" cap="all" spc="110">
                <a:solidFill>
                  <a:srgbClr val="7B7B86"/>
                </a:solidFill>
                <a:latin typeface="Arial"/>
              </a:rPr>
              <a:t>Batch</a:t>
            </a:r>
          </a:p>
        </p:txBody>
      </p:sp>
      <p:sp>
        <p:nvSpPr>
          <p:cNvPr id="10" name="s67-box-04"/>
          <p:cNvSpPr/>
          <p:nvPr/>
        </p:nvSpPr>
        <p:spPr>
          <a:xfrm>
            <a:off x="6400243" y="1821710"/>
            <a:ext cx="1006152"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67-text-06"/>
          <p:cNvSpPr txBox="1"/>
          <p:nvPr/>
        </p:nvSpPr>
        <p:spPr>
          <a:xfrm>
            <a:off x="6552639" y="1545492"/>
            <a:ext cx="695010" cy="161921"/>
          </a:xfrm>
          <a:prstGeom prst="rect">
            <a:avLst/>
          </a:prstGeom>
          <a:noFill/>
        </p:spPr>
        <p:txBody>
          <a:bodyPr wrap="none" lIns="0" tIns="0" rIns="0" bIns="0" anchor="t">
            <a:noAutofit/>
          </a:bodyPr>
          <a:lstStyle/>
          <a:p>
            <a:pPr algn="r">
              <a:lnSpc>
                <a:spcPts val="1320"/>
              </a:lnSpc>
              <a:spcBef>
                <a:spcPts val="0"/>
              </a:spcBef>
              <a:spcAft>
                <a:spcPts val="0"/>
              </a:spcAft>
            </a:pPr>
            <a:r>
              <a:rPr sz="1100" b="1" i="0" cap="all" spc="110">
                <a:solidFill>
                  <a:srgbClr val="7B7B86"/>
                </a:solidFill>
                <a:latin typeface="Arial"/>
              </a:rPr>
              <a:t>RMSE</a:t>
            </a:r>
          </a:p>
        </p:txBody>
      </p:sp>
      <p:sp>
        <p:nvSpPr>
          <p:cNvPr id="12" name="s67-box-05"/>
          <p:cNvSpPr/>
          <p:nvPr/>
        </p:nvSpPr>
        <p:spPr>
          <a:xfrm>
            <a:off x="7406395" y="1821710"/>
            <a:ext cx="3896322"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67-text-07"/>
          <p:cNvSpPr txBox="1"/>
          <p:nvPr/>
        </p:nvSpPr>
        <p:spPr>
          <a:xfrm>
            <a:off x="7406395" y="1545492"/>
            <a:ext cx="3762975"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Notes</a:t>
            </a:r>
          </a:p>
        </p:txBody>
      </p:sp>
      <p:sp>
        <p:nvSpPr>
          <p:cNvPr id="14" name="s67-box-06"/>
          <p:cNvSpPr/>
          <p:nvPr/>
        </p:nvSpPr>
        <p:spPr>
          <a:xfrm>
            <a:off x="888978" y="2285248"/>
            <a:ext cx="179283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67-text-08"/>
          <p:cNvSpPr txBox="1"/>
          <p:nvPr/>
        </p:nvSpPr>
        <p:spPr>
          <a:xfrm>
            <a:off x="888978" y="1955057"/>
            <a:ext cx="1659491" cy="203195"/>
          </a:xfrm>
          <a:prstGeom prst="rect">
            <a:avLst/>
          </a:prstGeom>
          <a:noFill/>
        </p:spPr>
        <p:txBody>
          <a:bodyPr wrap="none" lIns="0" tIns="0" rIns="0" bIns="0" anchor="t">
            <a:noAutofit/>
          </a:bodyPr>
          <a:lstStyle/>
          <a:p>
            <a:pPr algn="l">
              <a:lnSpc>
                <a:spcPts val="1680"/>
              </a:lnSpc>
              <a:spcBef>
                <a:spcPts val="0"/>
              </a:spcBef>
              <a:spcAft>
                <a:spcPts val="0"/>
              </a:spcAft>
            </a:pPr>
            <a:r>
              <a:rPr sz="1400" b="1" i="0">
                <a:solidFill>
                  <a:srgbClr val="0B0B0F"/>
                </a:solidFill>
                <a:latin typeface="Arial"/>
              </a:rPr>
              <a:t>Ideal simulator</a:t>
            </a:r>
          </a:p>
        </p:txBody>
      </p:sp>
      <p:sp>
        <p:nvSpPr>
          <p:cNvPr id="16" name="s67-box-07"/>
          <p:cNvSpPr/>
          <p:nvPr/>
        </p:nvSpPr>
        <p:spPr>
          <a:xfrm>
            <a:off x="2681816" y="2285248"/>
            <a:ext cx="25991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67-text-09"/>
          <p:cNvSpPr txBox="1"/>
          <p:nvPr/>
        </p:nvSpPr>
        <p:spPr>
          <a:xfrm>
            <a:off x="2681816" y="1955057"/>
            <a:ext cx="2465822"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noiseless</a:t>
            </a:r>
          </a:p>
        </p:txBody>
      </p:sp>
      <p:sp>
        <p:nvSpPr>
          <p:cNvPr id="18" name="s67-box-08"/>
          <p:cNvSpPr/>
          <p:nvPr/>
        </p:nvSpPr>
        <p:spPr>
          <a:xfrm>
            <a:off x="5280984" y="2285248"/>
            <a:ext cx="111925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67-text-10"/>
          <p:cNvSpPr txBox="1"/>
          <p:nvPr/>
        </p:nvSpPr>
        <p:spPr>
          <a:xfrm>
            <a:off x="5433381" y="1955057"/>
            <a:ext cx="808117" cy="203195"/>
          </a:xfrm>
          <a:prstGeom prst="rect">
            <a:avLst/>
          </a:prstGeom>
          <a:noFill/>
        </p:spPr>
        <p:txBody>
          <a:bodyPr wrap="none" lIns="0" tIns="0" rIns="0" bIns="0" anchor="t">
            <a:noAutofit/>
          </a:bodyPr>
          <a:lstStyle/>
          <a:p>
            <a:pPr algn="r">
              <a:lnSpc>
                <a:spcPts val="1680"/>
              </a:lnSpc>
              <a:spcBef>
                <a:spcPts val="0"/>
              </a:spcBef>
              <a:spcAft>
                <a:spcPts val="0"/>
              </a:spcAft>
            </a:pPr>
            <a:r>
              <a:rPr sz="1400" b="0" i="0">
                <a:solidFill>
                  <a:srgbClr val="50505B"/>
                </a:solidFill>
                <a:latin typeface="Arial"/>
              </a:rPr>
              <a:t>32</a:t>
            </a:r>
          </a:p>
        </p:txBody>
      </p:sp>
      <p:sp>
        <p:nvSpPr>
          <p:cNvPr id="20" name="s67-box-09"/>
          <p:cNvSpPr/>
          <p:nvPr/>
        </p:nvSpPr>
        <p:spPr>
          <a:xfrm>
            <a:off x="6400243" y="2285248"/>
            <a:ext cx="100615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67-text-11"/>
          <p:cNvSpPr txBox="1"/>
          <p:nvPr/>
        </p:nvSpPr>
        <p:spPr>
          <a:xfrm>
            <a:off x="6552639" y="1955057"/>
            <a:ext cx="695010" cy="203195"/>
          </a:xfrm>
          <a:prstGeom prst="rect">
            <a:avLst/>
          </a:prstGeom>
          <a:noFill/>
        </p:spPr>
        <p:txBody>
          <a:bodyPr wrap="none" lIns="0" tIns="0" rIns="0" bIns="0" anchor="t">
            <a:noAutofit/>
          </a:bodyPr>
          <a:lstStyle/>
          <a:p>
            <a:pPr algn="r">
              <a:lnSpc>
                <a:spcPts val="1680"/>
              </a:lnSpc>
              <a:spcBef>
                <a:spcPts val="0"/>
              </a:spcBef>
              <a:spcAft>
                <a:spcPts val="0"/>
              </a:spcAft>
            </a:pPr>
            <a:r>
              <a:rPr sz="1400" b="0" i="0">
                <a:solidFill>
                  <a:srgbClr val="50505B"/>
                </a:solidFill>
                <a:latin typeface="Arial"/>
              </a:rPr>
              <a:t>0.017</a:t>
            </a:r>
          </a:p>
        </p:txBody>
      </p:sp>
      <p:sp>
        <p:nvSpPr>
          <p:cNvPr id="22" name="s67-box-10"/>
          <p:cNvSpPr/>
          <p:nvPr/>
        </p:nvSpPr>
        <p:spPr>
          <a:xfrm>
            <a:off x="7406395" y="2285248"/>
            <a:ext cx="38963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67-text-12"/>
          <p:cNvSpPr txBox="1"/>
          <p:nvPr/>
        </p:nvSpPr>
        <p:spPr>
          <a:xfrm>
            <a:off x="7406395" y="1955057"/>
            <a:ext cx="3762975"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reference for the attention estimate</a:t>
            </a:r>
          </a:p>
        </p:txBody>
      </p:sp>
      <p:sp>
        <p:nvSpPr>
          <p:cNvPr id="24" name="s67-box-11"/>
          <p:cNvSpPr/>
          <p:nvPr/>
        </p:nvSpPr>
        <p:spPr>
          <a:xfrm>
            <a:off x="888978" y="2748787"/>
            <a:ext cx="179283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67-text-13"/>
          <p:cNvSpPr txBox="1"/>
          <p:nvPr/>
        </p:nvSpPr>
        <p:spPr>
          <a:xfrm>
            <a:off x="888978" y="2418595"/>
            <a:ext cx="1659491" cy="203195"/>
          </a:xfrm>
          <a:prstGeom prst="rect">
            <a:avLst/>
          </a:prstGeom>
          <a:noFill/>
        </p:spPr>
        <p:txBody>
          <a:bodyPr wrap="none" lIns="0" tIns="0" rIns="0" bIns="0" anchor="t">
            <a:noAutofit/>
          </a:bodyPr>
          <a:lstStyle/>
          <a:p>
            <a:pPr algn="l">
              <a:lnSpc>
                <a:spcPts val="1680"/>
              </a:lnSpc>
              <a:spcBef>
                <a:spcPts val="0"/>
              </a:spcBef>
              <a:spcAft>
                <a:spcPts val="0"/>
              </a:spcAft>
            </a:pPr>
            <a:r>
              <a:rPr sz="1400" b="1" i="0">
                <a:solidFill>
                  <a:srgbClr val="0B0B0F"/>
                </a:solidFill>
                <a:latin typeface="Arial"/>
              </a:rPr>
              <a:t>IBM Kingston</a:t>
            </a:r>
          </a:p>
        </p:txBody>
      </p:sp>
      <p:sp>
        <p:nvSpPr>
          <p:cNvPr id="26" name="s67-box-12"/>
          <p:cNvSpPr/>
          <p:nvPr/>
        </p:nvSpPr>
        <p:spPr>
          <a:xfrm>
            <a:off x="2681816" y="2748787"/>
            <a:ext cx="25991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s67-text-14"/>
          <p:cNvSpPr txBox="1"/>
          <p:nvPr/>
        </p:nvSpPr>
        <p:spPr>
          <a:xfrm>
            <a:off x="2681816" y="2418595"/>
            <a:ext cx="2465822"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Heron, superconducting</a:t>
            </a:r>
          </a:p>
        </p:txBody>
      </p:sp>
      <p:sp>
        <p:nvSpPr>
          <p:cNvPr id="28" name="s67-box-13"/>
          <p:cNvSpPr/>
          <p:nvPr/>
        </p:nvSpPr>
        <p:spPr>
          <a:xfrm>
            <a:off x="5280984" y="2748787"/>
            <a:ext cx="111925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67-text-15"/>
          <p:cNvSpPr txBox="1"/>
          <p:nvPr/>
        </p:nvSpPr>
        <p:spPr>
          <a:xfrm>
            <a:off x="5433381" y="2418595"/>
            <a:ext cx="808117" cy="203195"/>
          </a:xfrm>
          <a:prstGeom prst="rect">
            <a:avLst/>
          </a:prstGeom>
          <a:noFill/>
        </p:spPr>
        <p:txBody>
          <a:bodyPr wrap="none" lIns="0" tIns="0" rIns="0" bIns="0" anchor="t">
            <a:noAutofit/>
          </a:bodyPr>
          <a:lstStyle/>
          <a:p>
            <a:pPr algn="r">
              <a:lnSpc>
                <a:spcPts val="1680"/>
              </a:lnSpc>
              <a:spcBef>
                <a:spcPts val="0"/>
              </a:spcBef>
              <a:spcAft>
                <a:spcPts val="0"/>
              </a:spcAft>
            </a:pPr>
            <a:r>
              <a:rPr sz="1400" b="0" i="0">
                <a:solidFill>
                  <a:srgbClr val="50505B"/>
                </a:solidFill>
                <a:latin typeface="Arial"/>
              </a:rPr>
              <a:t>32</a:t>
            </a:r>
          </a:p>
        </p:txBody>
      </p:sp>
      <p:sp>
        <p:nvSpPr>
          <p:cNvPr id="30" name="s67-box-14"/>
          <p:cNvSpPr/>
          <p:nvPr/>
        </p:nvSpPr>
        <p:spPr>
          <a:xfrm>
            <a:off x="6400243" y="2748787"/>
            <a:ext cx="100615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67-text-16"/>
          <p:cNvSpPr txBox="1"/>
          <p:nvPr/>
        </p:nvSpPr>
        <p:spPr>
          <a:xfrm>
            <a:off x="6552639" y="2418595"/>
            <a:ext cx="695010" cy="203195"/>
          </a:xfrm>
          <a:prstGeom prst="rect">
            <a:avLst/>
          </a:prstGeom>
          <a:noFill/>
        </p:spPr>
        <p:txBody>
          <a:bodyPr wrap="none" lIns="0" tIns="0" rIns="0" bIns="0" anchor="t">
            <a:noAutofit/>
          </a:bodyPr>
          <a:lstStyle/>
          <a:p>
            <a:pPr algn="r">
              <a:lnSpc>
                <a:spcPts val="1680"/>
              </a:lnSpc>
              <a:spcBef>
                <a:spcPts val="0"/>
              </a:spcBef>
              <a:spcAft>
                <a:spcPts val="0"/>
              </a:spcAft>
            </a:pPr>
            <a:r>
              <a:rPr sz="1400" b="0" i="0">
                <a:solidFill>
                  <a:srgbClr val="50505B"/>
                </a:solidFill>
                <a:latin typeface="Arial"/>
              </a:rPr>
              <a:t>0.059</a:t>
            </a:r>
          </a:p>
        </p:txBody>
      </p:sp>
      <p:sp>
        <p:nvSpPr>
          <p:cNvPr id="32" name="s67-box-15"/>
          <p:cNvSpPr/>
          <p:nvPr/>
        </p:nvSpPr>
        <p:spPr>
          <a:xfrm>
            <a:off x="7406395" y="2748787"/>
            <a:ext cx="38963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s67-text-17"/>
          <p:cNvSpPr txBox="1"/>
          <p:nvPr/>
        </p:nvSpPr>
        <p:spPr>
          <a:xfrm>
            <a:off x="7406395" y="2418595"/>
            <a:ext cx="3762975"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parameter-free VQDP head</a:t>
            </a:r>
          </a:p>
        </p:txBody>
      </p:sp>
      <p:sp>
        <p:nvSpPr>
          <p:cNvPr id="34" name="s67-box-16"/>
          <p:cNvSpPr/>
          <p:nvPr/>
        </p:nvSpPr>
        <p:spPr>
          <a:xfrm>
            <a:off x="888978" y="3212325"/>
            <a:ext cx="1792838"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67-text-18"/>
          <p:cNvSpPr txBox="1"/>
          <p:nvPr/>
        </p:nvSpPr>
        <p:spPr>
          <a:xfrm>
            <a:off x="888978" y="2882133"/>
            <a:ext cx="1659491" cy="203195"/>
          </a:xfrm>
          <a:prstGeom prst="rect">
            <a:avLst/>
          </a:prstGeom>
          <a:noFill/>
        </p:spPr>
        <p:txBody>
          <a:bodyPr wrap="none" lIns="0" tIns="0" rIns="0" bIns="0" anchor="t">
            <a:noAutofit/>
          </a:bodyPr>
          <a:lstStyle/>
          <a:p>
            <a:pPr algn="l">
              <a:lnSpc>
                <a:spcPts val="1680"/>
              </a:lnSpc>
              <a:spcBef>
                <a:spcPts val="0"/>
              </a:spcBef>
              <a:spcAft>
                <a:spcPts val="0"/>
              </a:spcAft>
            </a:pPr>
            <a:r>
              <a:rPr sz="1400" b="1" i="0">
                <a:solidFill>
                  <a:srgbClr val="0B0B0F"/>
                </a:solidFill>
                <a:latin typeface="Arial"/>
              </a:rPr>
              <a:t>IonQ Aria-1</a:t>
            </a:r>
          </a:p>
        </p:txBody>
      </p:sp>
      <p:sp>
        <p:nvSpPr>
          <p:cNvPr id="36" name="s67-box-17"/>
          <p:cNvSpPr/>
          <p:nvPr/>
        </p:nvSpPr>
        <p:spPr>
          <a:xfrm>
            <a:off x="2681816" y="3212325"/>
            <a:ext cx="25991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67-text-19"/>
          <p:cNvSpPr txBox="1"/>
          <p:nvPr/>
        </p:nvSpPr>
        <p:spPr>
          <a:xfrm>
            <a:off x="2681816" y="2882133"/>
            <a:ext cx="2465822"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trapped ion</a:t>
            </a:r>
          </a:p>
        </p:txBody>
      </p:sp>
      <p:sp>
        <p:nvSpPr>
          <p:cNvPr id="38" name="s67-box-18"/>
          <p:cNvSpPr/>
          <p:nvPr/>
        </p:nvSpPr>
        <p:spPr>
          <a:xfrm>
            <a:off x="5280984" y="3212325"/>
            <a:ext cx="111925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s67-text-20"/>
          <p:cNvSpPr txBox="1"/>
          <p:nvPr/>
        </p:nvSpPr>
        <p:spPr>
          <a:xfrm>
            <a:off x="5433381" y="2882133"/>
            <a:ext cx="808117" cy="203195"/>
          </a:xfrm>
          <a:prstGeom prst="rect">
            <a:avLst/>
          </a:prstGeom>
          <a:noFill/>
        </p:spPr>
        <p:txBody>
          <a:bodyPr wrap="none" lIns="0" tIns="0" rIns="0" bIns="0" anchor="t">
            <a:noAutofit/>
          </a:bodyPr>
          <a:lstStyle/>
          <a:p>
            <a:pPr algn="r">
              <a:lnSpc>
                <a:spcPts val="1680"/>
              </a:lnSpc>
              <a:spcBef>
                <a:spcPts val="0"/>
              </a:spcBef>
              <a:spcAft>
                <a:spcPts val="0"/>
              </a:spcAft>
            </a:pPr>
            <a:r>
              <a:rPr sz="1400" b="0" i="0">
                <a:solidFill>
                  <a:srgbClr val="50505B"/>
                </a:solidFill>
                <a:latin typeface="Arial"/>
              </a:rPr>
              <a:t>8</a:t>
            </a:r>
          </a:p>
        </p:txBody>
      </p:sp>
      <p:sp>
        <p:nvSpPr>
          <p:cNvPr id="40" name="s67-box-19"/>
          <p:cNvSpPr/>
          <p:nvPr/>
        </p:nvSpPr>
        <p:spPr>
          <a:xfrm>
            <a:off x="6400243" y="3212325"/>
            <a:ext cx="100615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67-text-21"/>
          <p:cNvSpPr txBox="1"/>
          <p:nvPr/>
        </p:nvSpPr>
        <p:spPr>
          <a:xfrm>
            <a:off x="6552639" y="2882133"/>
            <a:ext cx="695010" cy="203195"/>
          </a:xfrm>
          <a:prstGeom prst="rect">
            <a:avLst/>
          </a:prstGeom>
          <a:noFill/>
        </p:spPr>
        <p:txBody>
          <a:bodyPr wrap="none" lIns="0" tIns="0" rIns="0" bIns="0" anchor="t">
            <a:noAutofit/>
          </a:bodyPr>
          <a:lstStyle/>
          <a:p>
            <a:pPr algn="r">
              <a:lnSpc>
                <a:spcPts val="1680"/>
              </a:lnSpc>
              <a:spcBef>
                <a:spcPts val="0"/>
              </a:spcBef>
              <a:spcAft>
                <a:spcPts val="0"/>
              </a:spcAft>
            </a:pPr>
            <a:r>
              <a:rPr sz="1400" b="0" i="0">
                <a:solidFill>
                  <a:srgbClr val="50505B"/>
                </a:solidFill>
                <a:latin typeface="Arial"/>
              </a:rPr>
              <a:t>0.155</a:t>
            </a:r>
          </a:p>
        </p:txBody>
      </p:sp>
      <p:sp>
        <p:nvSpPr>
          <p:cNvPr id="42" name="s67-box-20"/>
          <p:cNvSpPr/>
          <p:nvPr/>
        </p:nvSpPr>
        <p:spPr>
          <a:xfrm>
            <a:off x="7406395" y="3212325"/>
            <a:ext cx="3896322"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67-text-22"/>
          <p:cNvSpPr txBox="1"/>
          <p:nvPr/>
        </p:nvSpPr>
        <p:spPr>
          <a:xfrm>
            <a:off x="7406395" y="2882133"/>
            <a:ext cx="3762975" cy="203195"/>
          </a:xfrm>
          <a:prstGeom prst="rect">
            <a:avLst/>
          </a:prstGeom>
          <a:noFill/>
        </p:spPr>
        <p:txBody>
          <a:bodyPr wrap="none" lIns="0" tIns="0" rIns="0" bIns="0" anchor="t">
            <a:noAutofit/>
          </a:bodyPr>
          <a:lstStyle/>
          <a:p>
            <a:pPr algn="l">
              <a:lnSpc>
                <a:spcPts val="1680"/>
              </a:lnSpc>
              <a:spcBef>
                <a:spcPts val="0"/>
              </a:spcBef>
              <a:spcAft>
                <a:spcPts val="0"/>
              </a:spcAft>
            </a:pPr>
            <a:r>
              <a:rPr sz="1400" b="0" i="0">
                <a:solidFill>
                  <a:srgbClr val="50505B"/>
                </a:solidFill>
                <a:latin typeface="Arial"/>
              </a:rPr>
              <a:t>smaller batch within the 4–128 range</a:t>
            </a:r>
          </a:p>
        </p:txBody>
      </p:sp>
      <p:sp>
        <p:nvSpPr>
          <p:cNvPr id="44" name="s67-box-21"/>
          <p:cNvSpPr/>
          <p:nvPr/>
        </p:nvSpPr>
        <p:spPr>
          <a:xfrm>
            <a:off x="888978" y="3412345"/>
            <a:ext cx="1257169"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67-box-22"/>
          <p:cNvSpPr/>
          <p:nvPr/>
        </p:nvSpPr>
        <p:spPr>
          <a:xfrm>
            <a:off x="1054074" y="3542517"/>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s67-text-23"/>
          <p:cNvSpPr txBox="1"/>
          <p:nvPr/>
        </p:nvSpPr>
        <p:spPr>
          <a:xfrm>
            <a:off x="1219170" y="3488543"/>
            <a:ext cx="780931"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4–9 qubits</a:t>
            </a:r>
          </a:p>
        </p:txBody>
      </p:sp>
      <p:sp>
        <p:nvSpPr>
          <p:cNvPr id="47" name="s67-box-23"/>
          <p:cNvSpPr/>
          <p:nvPr/>
        </p:nvSpPr>
        <p:spPr>
          <a:xfrm>
            <a:off x="2247745" y="3412345"/>
            <a:ext cx="1578531"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s67-box-24"/>
          <p:cNvSpPr/>
          <p:nvPr/>
        </p:nvSpPr>
        <p:spPr>
          <a:xfrm>
            <a:off x="2412840" y="3542517"/>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67-text-24"/>
          <p:cNvSpPr txBox="1"/>
          <p:nvPr/>
        </p:nvSpPr>
        <p:spPr>
          <a:xfrm>
            <a:off x="2577936" y="3488543"/>
            <a:ext cx="1102293"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batches 4–128</a:t>
            </a:r>
          </a:p>
        </p:txBody>
      </p:sp>
      <p:sp>
        <p:nvSpPr>
          <p:cNvPr id="50" name="s67-box-25"/>
          <p:cNvSpPr/>
          <p:nvPr/>
        </p:nvSpPr>
        <p:spPr>
          <a:xfrm>
            <a:off x="3927873" y="3412345"/>
            <a:ext cx="1706917"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67-box-26"/>
          <p:cNvSpPr/>
          <p:nvPr/>
        </p:nvSpPr>
        <p:spPr>
          <a:xfrm>
            <a:off x="4092969" y="3542517"/>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67-text-25"/>
          <p:cNvSpPr txBox="1"/>
          <p:nvPr/>
        </p:nvSpPr>
        <p:spPr>
          <a:xfrm>
            <a:off x="4258065" y="3488543"/>
            <a:ext cx="1230679"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10K–320K shots</a:t>
            </a:r>
          </a:p>
        </p:txBody>
      </p:sp>
      <p:sp>
        <p:nvSpPr>
          <p:cNvPr id="53" name="s67-box-27"/>
          <p:cNvSpPr/>
          <p:nvPr/>
        </p:nvSpPr>
        <p:spPr>
          <a:xfrm>
            <a:off x="5736387" y="3412345"/>
            <a:ext cx="1924002"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s67-box-28"/>
          <p:cNvSpPr/>
          <p:nvPr/>
        </p:nvSpPr>
        <p:spPr>
          <a:xfrm>
            <a:off x="5901483" y="3542517"/>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67-text-26"/>
          <p:cNvSpPr txBox="1"/>
          <p:nvPr/>
        </p:nvSpPr>
        <p:spPr>
          <a:xfrm>
            <a:off x="6066579" y="3488543"/>
            <a:ext cx="1447764"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CNOT depth 5–129</a:t>
            </a:r>
          </a:p>
        </p:txBody>
      </p:sp>
      <p:sp>
        <p:nvSpPr>
          <p:cNvPr id="56" name="s67-box-29"/>
          <p:cNvSpPr/>
          <p:nvPr/>
        </p:nvSpPr>
        <p:spPr>
          <a:xfrm>
            <a:off x="7761986" y="3412345"/>
            <a:ext cx="3170357"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s67-box-30"/>
          <p:cNvSpPr/>
          <p:nvPr/>
        </p:nvSpPr>
        <p:spPr>
          <a:xfrm>
            <a:off x="7927082" y="3542517"/>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s67-text-27"/>
          <p:cNvSpPr txBox="1"/>
          <p:nvPr/>
        </p:nvSpPr>
        <p:spPr>
          <a:xfrm>
            <a:off x="8092178" y="3488543"/>
            <a:ext cx="2694119"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attention error &lt; 1.2% at 3.0 M shots</a:t>
            </a:r>
          </a:p>
        </p:txBody>
      </p:sp>
      <p:sp>
        <p:nvSpPr>
          <p:cNvPr id="59" name="s67-box-31"/>
          <p:cNvSpPr/>
          <p:nvPr/>
        </p:nvSpPr>
        <p:spPr>
          <a:xfrm>
            <a:off x="888978" y="3863184"/>
            <a:ext cx="3514538" cy="349241"/>
          </a:xfrm>
          <a:prstGeom prst="roundRect">
            <a:avLst>
              <a:gd name="adj" fmla="val 50000"/>
            </a:avLst>
          </a:prstGeom>
          <a:solidFill>
            <a:srgbClr val="000000">
              <a:alpha val="7000"/>
            </a:srgbClr>
          </a:solidFill>
          <a:ln w="6350">
            <a:solidFill>
              <a:srgbClr val="000000">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s67-box-32"/>
          <p:cNvSpPr/>
          <p:nvPr/>
        </p:nvSpPr>
        <p:spPr>
          <a:xfrm>
            <a:off x="1054074" y="3993356"/>
            <a:ext cx="88898" cy="8889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s67-text-28"/>
          <p:cNvSpPr txBox="1"/>
          <p:nvPr/>
        </p:nvSpPr>
        <p:spPr>
          <a:xfrm>
            <a:off x="1219170" y="3939382"/>
            <a:ext cx="3038300" cy="190495"/>
          </a:xfrm>
          <a:prstGeom prst="rect">
            <a:avLst/>
          </a:prstGeom>
          <a:noFill/>
        </p:spPr>
        <p:txBody>
          <a:bodyPr wrap="none" lIns="0" tIns="0" rIns="0" bIns="0" anchor="t">
            <a:noAutofit/>
          </a:bodyPr>
          <a:lstStyle/>
          <a:p>
            <a:pPr algn="l">
              <a:lnSpc>
                <a:spcPts val="1500"/>
              </a:lnSpc>
              <a:spcBef>
                <a:spcPts val="0"/>
              </a:spcBef>
              <a:spcAft>
                <a:spcPts val="0"/>
              </a:spcAft>
            </a:pPr>
            <a:r>
              <a:rPr sz="1300" b="0" i="0">
                <a:solidFill>
                  <a:srgbClr val="0B0B0F"/>
                </a:solidFill>
                <a:latin typeface="Arial"/>
              </a:rPr>
              <a:t>Brown corpus: perplexity 105.4, loss 1.12</a:t>
            </a:r>
          </a:p>
        </p:txBody>
      </p:sp>
      <p:sp>
        <p:nvSpPr>
          <p:cNvPr id="62" name="s67-text-29"/>
          <p:cNvSpPr txBox="1"/>
          <p:nvPr/>
        </p:nvSpPr>
        <p:spPr>
          <a:xfrm>
            <a:off x="888978" y="4364821"/>
            <a:ext cx="10432789" cy="213315"/>
          </a:xfrm>
          <a:prstGeom prst="rect">
            <a:avLst/>
          </a:prstGeom>
          <a:noFill/>
        </p:spPr>
        <p:txBody>
          <a:bodyPr wrap="none" lIns="0" tIns="0" rIns="0" bIns="0" anchor="t">
            <a:noAutofit/>
          </a:bodyPr>
          <a:lstStyle/>
          <a:p>
            <a:pPr algn="l">
              <a:lnSpc>
                <a:spcPts val="1680"/>
              </a:lnSpc>
              <a:spcBef>
                <a:spcPts val="0"/>
              </a:spcBef>
              <a:spcAft>
                <a:spcPts val="0"/>
              </a:spcAft>
            </a:pPr>
            <a:r>
              <a:rPr sz="1200" b="0" i="0">
                <a:solidFill>
                  <a:srgbClr val="7B7B86"/>
                </a:solidFill>
                <a:latin typeface="Arial"/>
              </a:rPr>
              <a:t>Aggregate ranges are as reported across all hardware runs; per-run configurations are in gzquse/paper_AAAI2025-quantum (figC_resHW.py, data_ionq/).</a:t>
            </a:r>
          </a:p>
        </p:txBody>
      </p:sp>
      <p:sp>
        <p:nvSpPr>
          <p:cNvPr id="63" name="!!sec"/>
          <p:cNvSpPr txBox="1"/>
          <p:nvPr/>
        </p:nvSpPr>
        <p:spPr>
          <a:xfrm>
            <a:off x="888978" y="6362541"/>
            <a:ext cx="717234"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Backup</a:t>
            </a:r>
          </a:p>
        </p:txBody>
      </p:sp>
      <p:pic>
        <p:nvPicPr>
          <p:cNvPr id="64" name="s67-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65"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67</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p:cNvGrpSpPr/>
        <p:nvPr/>
      </p:nvGrpSpPr>
      <p:grpSpPr>
        <a:xfrm>
          <a:off x="0" y="0"/>
          <a:ext cx="0" cy="0"/>
          <a:chOff x="0" y="0"/>
          <a:chExt cx="0" cy="0"/>
        </a:xfrm>
      </p:grpSpPr>
      <p:sp>
        <p:nvSpPr>
          <p:cNvPr id="2" name="!!kicker"/>
          <p:cNvSpPr txBox="1"/>
          <p:nvPr/>
        </p:nvSpPr>
        <p:spPr>
          <a:xfrm>
            <a:off x="888978" y="609585"/>
            <a:ext cx="1334360" cy="196845"/>
          </a:xfrm>
          <a:prstGeom prst="rect">
            <a:avLst/>
          </a:prstGeom>
          <a:noFill/>
        </p:spPr>
        <p:txBody>
          <a:bodyPr wrap="none" lIns="0" tIns="0" rIns="0" bIns="0" anchor="t">
            <a:noAutofit/>
          </a:bodyPr>
          <a:lstStyle/>
          <a:p>
            <a:pPr algn="l">
              <a:lnSpc>
                <a:spcPts val="1560"/>
              </a:lnSpc>
              <a:spcBef>
                <a:spcPts val="0"/>
              </a:spcBef>
              <a:spcAft>
                <a:spcPts val="0"/>
              </a:spcAft>
            </a:pPr>
            <a:r>
              <a:rPr sz="1300" b="1" i="0" cap="all" spc="182">
                <a:solidFill>
                  <a:srgbClr val="B00000"/>
                </a:solidFill>
                <a:latin typeface="Arial"/>
              </a:rPr>
              <a:t>Backup · B5</a:t>
            </a:r>
          </a:p>
        </p:txBody>
      </p:sp>
      <p:sp>
        <p:nvSpPr>
          <p:cNvPr id="3" name="s68-text-02"/>
          <p:cNvSpPr txBox="1"/>
          <p:nvPr/>
        </p:nvSpPr>
        <p:spPr>
          <a:xfrm>
            <a:off x="888978" y="920727"/>
            <a:ext cx="10432789" cy="586666"/>
          </a:xfrm>
          <a:prstGeom prst="rect">
            <a:avLst/>
          </a:prstGeom>
          <a:noFill/>
        </p:spPr>
        <p:txBody>
          <a:bodyPr wrap="none" lIns="0" tIns="0" rIns="0" bIns="0" anchor="t">
            <a:noAutofit/>
          </a:bodyPr>
          <a:lstStyle/>
          <a:p>
            <a:pPr algn="l">
              <a:lnSpc>
                <a:spcPts val="4620"/>
              </a:lnSpc>
              <a:spcBef>
                <a:spcPts val="0"/>
              </a:spcBef>
              <a:spcAft>
                <a:spcPts val="0"/>
              </a:spcAft>
            </a:pPr>
            <a:r>
              <a:rPr sz="4400" b="1" i="0" spc="-123">
                <a:solidFill>
                  <a:srgbClr val="0B0B0F"/>
                </a:solidFill>
                <a:latin typeface="Arial"/>
              </a:rPr>
              <a:t>Reproducibility and artifacts</a:t>
            </a:r>
          </a:p>
        </p:txBody>
      </p:sp>
      <p:sp>
        <p:nvSpPr>
          <p:cNvPr id="4" name="s68-box-01"/>
          <p:cNvSpPr/>
          <p:nvPr/>
        </p:nvSpPr>
        <p:spPr>
          <a:xfrm>
            <a:off x="888978" y="1821710"/>
            <a:ext cx="1284454"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s68-text-03"/>
          <p:cNvSpPr txBox="1"/>
          <p:nvPr/>
        </p:nvSpPr>
        <p:spPr>
          <a:xfrm>
            <a:off x="888978" y="1545492"/>
            <a:ext cx="1151107"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Work</a:t>
            </a:r>
          </a:p>
        </p:txBody>
      </p:sp>
      <p:sp>
        <p:nvSpPr>
          <p:cNvPr id="6" name="s68-box-02"/>
          <p:cNvSpPr/>
          <p:nvPr/>
        </p:nvSpPr>
        <p:spPr>
          <a:xfrm>
            <a:off x="2173432" y="1821710"/>
            <a:ext cx="5745317"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68-text-04"/>
          <p:cNvSpPr txBox="1"/>
          <p:nvPr/>
        </p:nvSpPr>
        <p:spPr>
          <a:xfrm>
            <a:off x="2173432" y="1545492"/>
            <a:ext cx="5611970"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Repository / archive</a:t>
            </a:r>
          </a:p>
        </p:txBody>
      </p:sp>
      <p:sp>
        <p:nvSpPr>
          <p:cNvPr id="8" name="s68-box-03"/>
          <p:cNvSpPr/>
          <p:nvPr/>
        </p:nvSpPr>
        <p:spPr>
          <a:xfrm>
            <a:off x="7918748" y="1821710"/>
            <a:ext cx="3383969" cy="6350"/>
          </a:xfrm>
          <a:prstGeom prst="rect">
            <a:avLst/>
          </a:prstGeom>
          <a:solidFill>
            <a:srgbClr val="000000">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s68-text-05"/>
          <p:cNvSpPr txBox="1"/>
          <p:nvPr/>
        </p:nvSpPr>
        <p:spPr>
          <a:xfrm>
            <a:off x="7918748" y="1545492"/>
            <a:ext cx="3250623" cy="161921"/>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10">
                <a:solidFill>
                  <a:srgbClr val="7B7B86"/>
                </a:solidFill>
                <a:latin typeface="Arial"/>
              </a:rPr>
              <a:t>Contents</a:t>
            </a:r>
          </a:p>
        </p:txBody>
      </p:sp>
      <p:sp>
        <p:nvSpPr>
          <p:cNvPr id="10" name="s68-box-04"/>
          <p:cNvSpPr/>
          <p:nvPr/>
        </p:nvSpPr>
        <p:spPr>
          <a:xfrm>
            <a:off x="888978" y="2336047"/>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68-text-06"/>
          <p:cNvSpPr txBox="1"/>
          <p:nvPr/>
        </p:nvSpPr>
        <p:spPr>
          <a:xfrm>
            <a:off x="888978" y="1904258"/>
            <a:ext cx="1182856" cy="355591"/>
          </a:xfrm>
          <a:prstGeom prst="rect">
            <a:avLst/>
          </a:prstGeom>
          <a:noFill/>
        </p:spPr>
        <p:txBody>
          <a:bodyPr wrap="square" lIns="0" tIns="0" rIns="0" bIns="0" anchor="t">
            <a:noAutofit/>
          </a:bodyPr>
          <a:lstStyle/>
          <a:p>
            <a:pPr algn="l">
              <a:lnSpc>
                <a:spcPts val="1439"/>
              </a:lnSpc>
              <a:spcBef>
                <a:spcPts val="0"/>
              </a:spcBef>
              <a:spcAft>
                <a:spcPts val="0"/>
              </a:spcAft>
            </a:pPr>
            <a:r>
              <a:rPr sz="1200" b="1" i="0">
                <a:solidFill>
                  <a:srgbClr val="0B0B0F"/>
                </a:solidFill>
                <a:latin typeface="Arial"/>
              </a:rPr>
              <a:t>Q-GEAR</a:t>
            </a:r>
          </a:p>
        </p:txBody>
      </p:sp>
      <p:sp>
        <p:nvSpPr>
          <p:cNvPr id="12" name="s68-box-05"/>
          <p:cNvSpPr/>
          <p:nvPr/>
        </p:nvSpPr>
        <p:spPr>
          <a:xfrm>
            <a:off x="2173432" y="2336047"/>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s68-text-07"/>
          <p:cNvSpPr txBox="1"/>
          <p:nvPr/>
        </p:nvSpPr>
        <p:spPr>
          <a:xfrm>
            <a:off x="2173432" y="1904258"/>
            <a:ext cx="5643719" cy="355591"/>
          </a:xfrm>
          <a:prstGeom prst="rect">
            <a:avLst/>
          </a:prstGeom>
          <a:noFill/>
        </p:spPr>
        <p:txBody>
          <a:bodyPr wrap="square" lIns="0" tIns="0" rIns="0" bIns="0" anchor="t">
            <a:noAutofit/>
          </a:bodyPr>
          <a:lstStyle/>
          <a:p>
            <a:pPr algn="l">
              <a:lnSpc>
                <a:spcPts val="1324"/>
              </a:lnSpc>
              <a:spcBef>
                <a:spcPts val="0"/>
              </a:spcBef>
              <a:spcAft>
                <a:spcPts val="0"/>
              </a:spcAft>
            </a:pPr>
            <a:r>
              <a:rPr sz="1104" b="0" i="0">
                <a:solidFill>
                  <a:srgbClr val="50505B"/>
                </a:solidFill>
                <a:latin typeface="Courier New"/>
              </a:rPr>
              <a:t>github.com/gzquse/qgear · gzquse/cudaq-perlmutter</a:t>
            </a:r>
          </a:p>
        </p:txBody>
      </p:sp>
      <p:sp>
        <p:nvSpPr>
          <p:cNvPr id="14" name="s68-box-06"/>
          <p:cNvSpPr/>
          <p:nvPr/>
        </p:nvSpPr>
        <p:spPr>
          <a:xfrm>
            <a:off x="7918748" y="2336047"/>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68-text-08"/>
          <p:cNvSpPr txBox="1"/>
          <p:nvPr/>
        </p:nvSpPr>
        <p:spPr>
          <a:xfrm>
            <a:off x="7918748" y="1904258"/>
            <a:ext cx="3282372" cy="355591"/>
          </a:xfrm>
          <a:prstGeom prst="rect">
            <a:avLst/>
          </a:prstGeom>
          <a:noFill/>
        </p:spPr>
        <p:txBody>
          <a:bodyPr wrap="square" lIns="0" tIns="0" rIns="0" bIns="0" anchor="t">
            <a:noAutofit/>
          </a:bodyPr>
          <a:lstStyle/>
          <a:p>
            <a:pPr algn="l">
              <a:lnSpc>
                <a:spcPts val="1439"/>
              </a:lnSpc>
              <a:spcBef>
                <a:spcPts val="0"/>
              </a:spcBef>
              <a:spcAft>
                <a:spcPts val="0"/>
              </a:spcAft>
            </a:pPr>
            <a:r>
              <a:rPr sz="1200" b="0" i="0">
                <a:solidFill>
                  <a:srgbClr val="50505B"/>
                </a:solidFill>
                <a:latin typeface="Arial"/>
              </a:rPr>
              <a:t>nbdev package, Apache-2.0, 241 commits; multi-node CUDA-Q scripts for Perlmutter</a:t>
            </a:r>
          </a:p>
        </p:txBody>
      </p:sp>
      <p:sp>
        <p:nvSpPr>
          <p:cNvPr id="16" name="s68-box-07"/>
          <p:cNvSpPr/>
          <p:nvPr/>
        </p:nvSpPr>
        <p:spPr>
          <a:xfrm>
            <a:off x="888978" y="2850384"/>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68-text-09"/>
          <p:cNvSpPr txBox="1"/>
          <p:nvPr/>
        </p:nvSpPr>
        <p:spPr>
          <a:xfrm>
            <a:off x="888978" y="2418595"/>
            <a:ext cx="1182856" cy="355591"/>
          </a:xfrm>
          <a:prstGeom prst="rect">
            <a:avLst/>
          </a:prstGeom>
          <a:noFill/>
        </p:spPr>
        <p:txBody>
          <a:bodyPr wrap="square" lIns="0" tIns="0" rIns="0" bIns="0" anchor="t">
            <a:noAutofit/>
          </a:bodyPr>
          <a:lstStyle/>
          <a:p>
            <a:pPr algn="l">
              <a:lnSpc>
                <a:spcPts val="1439"/>
              </a:lnSpc>
              <a:spcBef>
                <a:spcPts val="0"/>
              </a:spcBef>
              <a:spcAft>
                <a:spcPts val="0"/>
              </a:spcAft>
            </a:pPr>
            <a:r>
              <a:rPr sz="1200" b="1" i="0">
                <a:solidFill>
                  <a:srgbClr val="0B0B0F"/>
                </a:solidFill>
                <a:latin typeface="Arial"/>
              </a:rPr>
              <a:t>QPIE</a:t>
            </a:r>
          </a:p>
        </p:txBody>
      </p:sp>
      <p:sp>
        <p:nvSpPr>
          <p:cNvPr id="18" name="s68-box-08"/>
          <p:cNvSpPr/>
          <p:nvPr/>
        </p:nvSpPr>
        <p:spPr>
          <a:xfrm>
            <a:off x="2173432" y="2850384"/>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68-text-10"/>
          <p:cNvSpPr txBox="1"/>
          <p:nvPr/>
        </p:nvSpPr>
        <p:spPr>
          <a:xfrm>
            <a:off x="2173432" y="2418595"/>
            <a:ext cx="5643719" cy="355591"/>
          </a:xfrm>
          <a:prstGeom prst="rect">
            <a:avLst/>
          </a:prstGeom>
          <a:noFill/>
        </p:spPr>
        <p:txBody>
          <a:bodyPr wrap="square" lIns="0" tIns="0" rIns="0" bIns="0" anchor="t">
            <a:noAutofit/>
          </a:bodyPr>
          <a:lstStyle/>
          <a:p>
            <a:pPr algn="l">
              <a:lnSpc>
                <a:spcPts val="1324"/>
              </a:lnSpc>
              <a:spcBef>
                <a:spcPts val="0"/>
              </a:spcBef>
              <a:spcAft>
                <a:spcPts val="0"/>
              </a:spcAft>
            </a:pPr>
            <a:r>
              <a:rPr sz="1104" b="0" i="0">
                <a:solidFill>
                  <a:srgbClr val="50505B"/>
                </a:solidFill>
                <a:latin typeface="Courier New"/>
              </a:rPr>
              <a:t>github.com/gzquse/QPIE_datacircuit</a:t>
            </a:r>
          </a:p>
        </p:txBody>
      </p:sp>
      <p:sp>
        <p:nvSpPr>
          <p:cNvPr id="20" name="s68-box-09"/>
          <p:cNvSpPr/>
          <p:nvPr/>
        </p:nvSpPr>
        <p:spPr>
          <a:xfrm>
            <a:off x="7918748" y="2850384"/>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68-text-11"/>
          <p:cNvSpPr txBox="1"/>
          <p:nvPr/>
        </p:nvSpPr>
        <p:spPr>
          <a:xfrm>
            <a:off x="7918748" y="2418595"/>
            <a:ext cx="3282372" cy="355591"/>
          </a:xfrm>
          <a:prstGeom prst="rect">
            <a:avLst/>
          </a:prstGeom>
          <a:noFill/>
        </p:spPr>
        <p:txBody>
          <a:bodyPr wrap="square" lIns="0" tIns="0" rIns="0" bIns="0" anchor="t">
            <a:noAutofit/>
          </a:bodyPr>
          <a:lstStyle/>
          <a:p>
            <a:pPr algn="l">
              <a:lnSpc>
                <a:spcPts val="1439"/>
              </a:lnSpc>
              <a:spcBef>
                <a:spcPts val="0"/>
              </a:spcBef>
              <a:spcAft>
                <a:spcPts val="0"/>
              </a:spcAft>
            </a:pPr>
            <a:r>
              <a:rPr sz="1200" b="0" i="0">
                <a:solidFill>
                  <a:srgbClr val="50505B"/>
                </a:solidFill>
                <a:latin typeface="Arial"/>
              </a:rPr>
              <a:t>PennyLane Dockerfile, PyTorch 24.06 Shifter container, inference scripts</a:t>
            </a:r>
          </a:p>
        </p:txBody>
      </p:sp>
      <p:sp>
        <p:nvSpPr>
          <p:cNvPr id="22" name="s68-box-10"/>
          <p:cNvSpPr/>
          <p:nvPr/>
        </p:nvSpPr>
        <p:spPr>
          <a:xfrm>
            <a:off x="888978" y="3364721"/>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68-text-12"/>
          <p:cNvSpPr txBox="1"/>
          <p:nvPr/>
        </p:nvSpPr>
        <p:spPr>
          <a:xfrm>
            <a:off x="888978" y="2932932"/>
            <a:ext cx="1182856" cy="355591"/>
          </a:xfrm>
          <a:prstGeom prst="rect">
            <a:avLst/>
          </a:prstGeom>
          <a:noFill/>
        </p:spPr>
        <p:txBody>
          <a:bodyPr wrap="square" lIns="0" tIns="0" rIns="0" bIns="0" anchor="t">
            <a:noAutofit/>
          </a:bodyPr>
          <a:lstStyle/>
          <a:p>
            <a:pPr algn="l">
              <a:lnSpc>
                <a:spcPts val="1439"/>
              </a:lnSpc>
              <a:spcBef>
                <a:spcPts val="0"/>
              </a:spcBef>
              <a:spcAft>
                <a:spcPts val="0"/>
              </a:spcAft>
            </a:pPr>
            <a:r>
              <a:rPr sz="1200" b="1" i="0">
                <a:solidFill>
                  <a:srgbClr val="0B0B0F"/>
                </a:solidFill>
                <a:latin typeface="Arial"/>
              </a:rPr>
              <a:t>DEAL</a:t>
            </a:r>
          </a:p>
        </p:txBody>
      </p:sp>
      <p:sp>
        <p:nvSpPr>
          <p:cNvPr id="24" name="s68-box-11"/>
          <p:cNvSpPr/>
          <p:nvPr/>
        </p:nvSpPr>
        <p:spPr>
          <a:xfrm>
            <a:off x="2173432" y="3364721"/>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68-text-13"/>
          <p:cNvSpPr txBox="1"/>
          <p:nvPr/>
        </p:nvSpPr>
        <p:spPr>
          <a:xfrm>
            <a:off x="2173432" y="2932932"/>
            <a:ext cx="5643719" cy="355591"/>
          </a:xfrm>
          <a:prstGeom prst="rect">
            <a:avLst/>
          </a:prstGeom>
          <a:noFill/>
        </p:spPr>
        <p:txBody>
          <a:bodyPr wrap="square" lIns="0" tIns="0" rIns="0" bIns="0" anchor="t">
            <a:noAutofit/>
          </a:bodyPr>
          <a:lstStyle/>
          <a:p>
            <a:pPr algn="l">
              <a:lnSpc>
                <a:spcPts val="1324"/>
              </a:lnSpc>
              <a:spcBef>
                <a:spcPts val="0"/>
              </a:spcBef>
              <a:spcAft>
                <a:spcPts val="0"/>
              </a:spcAft>
            </a:pPr>
            <a:r>
              <a:rPr sz="1104" b="0" i="0">
                <a:solidFill>
                  <a:srgbClr val="50505B"/>
                </a:solidFill>
                <a:latin typeface="Courier New"/>
              </a:rPr>
              <a:t>github.com/gzquse/DEAL_QUBO</a:t>
            </a:r>
          </a:p>
        </p:txBody>
      </p:sp>
      <p:sp>
        <p:nvSpPr>
          <p:cNvPr id="26" name="s68-box-12"/>
          <p:cNvSpPr/>
          <p:nvPr/>
        </p:nvSpPr>
        <p:spPr>
          <a:xfrm>
            <a:off x="7918748" y="3364721"/>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s68-text-14"/>
          <p:cNvSpPr txBox="1"/>
          <p:nvPr/>
        </p:nvSpPr>
        <p:spPr>
          <a:xfrm>
            <a:off x="7918748" y="2932932"/>
            <a:ext cx="3282372" cy="355591"/>
          </a:xfrm>
          <a:prstGeom prst="rect">
            <a:avLst/>
          </a:prstGeom>
          <a:noFill/>
        </p:spPr>
        <p:txBody>
          <a:bodyPr wrap="square" lIns="0" tIns="0" rIns="0" bIns="0" anchor="t">
            <a:noAutofit/>
          </a:bodyPr>
          <a:lstStyle/>
          <a:p>
            <a:pPr algn="l">
              <a:lnSpc>
                <a:spcPts val="1439"/>
              </a:lnSpc>
              <a:spcBef>
                <a:spcPts val="0"/>
              </a:spcBef>
              <a:spcAft>
                <a:spcPts val="0"/>
              </a:spcAft>
            </a:pPr>
            <a:r>
              <a:rPr sz="1200" b="0" i="0">
                <a:solidFill>
                  <a:srgbClr val="50505B"/>
                </a:solidFill>
                <a:latin typeface="Arial"/>
              </a:rPr>
              <a:t>distributed training, D-Wave Leap baseline, Qiskit GPU kernel, IBM job tracking</a:t>
            </a:r>
          </a:p>
        </p:txBody>
      </p:sp>
      <p:sp>
        <p:nvSpPr>
          <p:cNvPr id="28" name="s68-box-13"/>
          <p:cNvSpPr/>
          <p:nvPr/>
        </p:nvSpPr>
        <p:spPr>
          <a:xfrm>
            <a:off x="888978" y="3879058"/>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68-text-15"/>
          <p:cNvSpPr txBox="1"/>
          <p:nvPr/>
        </p:nvSpPr>
        <p:spPr>
          <a:xfrm>
            <a:off x="888978" y="3447269"/>
            <a:ext cx="1182856" cy="355591"/>
          </a:xfrm>
          <a:prstGeom prst="rect">
            <a:avLst/>
          </a:prstGeom>
          <a:noFill/>
        </p:spPr>
        <p:txBody>
          <a:bodyPr wrap="square" lIns="0" tIns="0" rIns="0" bIns="0" anchor="t">
            <a:noAutofit/>
          </a:bodyPr>
          <a:lstStyle/>
          <a:p>
            <a:pPr algn="l">
              <a:lnSpc>
                <a:spcPts val="1439"/>
              </a:lnSpc>
              <a:spcBef>
                <a:spcPts val="0"/>
              </a:spcBef>
              <a:spcAft>
                <a:spcPts val="0"/>
              </a:spcAft>
            </a:pPr>
            <a:r>
              <a:rPr sz="1200" b="1" i="0">
                <a:solidFill>
                  <a:srgbClr val="0B0B0F"/>
                </a:solidFill>
                <a:latin typeface="Arial"/>
              </a:rPr>
              <a:t>VQT</a:t>
            </a:r>
          </a:p>
        </p:txBody>
      </p:sp>
      <p:sp>
        <p:nvSpPr>
          <p:cNvPr id="30" name="s68-box-14"/>
          <p:cNvSpPr/>
          <p:nvPr/>
        </p:nvSpPr>
        <p:spPr>
          <a:xfrm>
            <a:off x="2173432" y="3879058"/>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68-text-16"/>
          <p:cNvSpPr txBox="1"/>
          <p:nvPr/>
        </p:nvSpPr>
        <p:spPr>
          <a:xfrm>
            <a:off x="2173432" y="3447269"/>
            <a:ext cx="5643719" cy="355591"/>
          </a:xfrm>
          <a:prstGeom prst="rect">
            <a:avLst/>
          </a:prstGeom>
          <a:noFill/>
        </p:spPr>
        <p:txBody>
          <a:bodyPr wrap="square" lIns="0" tIns="0" rIns="0" bIns="0" anchor="t">
            <a:noAutofit/>
          </a:bodyPr>
          <a:lstStyle/>
          <a:p>
            <a:pPr algn="l">
              <a:lnSpc>
                <a:spcPts val="1324"/>
              </a:lnSpc>
              <a:spcBef>
                <a:spcPts val="0"/>
              </a:spcBef>
              <a:spcAft>
                <a:spcPts val="0"/>
              </a:spcAft>
            </a:pPr>
            <a:r>
              <a:rPr sz="1104" b="0" i="0">
                <a:solidFill>
                  <a:srgbClr val="50505B"/>
                </a:solidFill>
                <a:latin typeface="Courier New"/>
              </a:rPr>
              <a:t>github.com/gzquse/quantum-transformer · gzquse/paper_AAAI2025-quantum · gzquse/vectorized_encoding</a:t>
            </a:r>
          </a:p>
        </p:txBody>
      </p:sp>
      <p:sp>
        <p:nvSpPr>
          <p:cNvPr id="32" name="s68-box-15"/>
          <p:cNvSpPr/>
          <p:nvPr/>
        </p:nvSpPr>
        <p:spPr>
          <a:xfrm>
            <a:off x="7918748" y="3879058"/>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s68-text-17"/>
          <p:cNvSpPr txBox="1"/>
          <p:nvPr/>
        </p:nvSpPr>
        <p:spPr>
          <a:xfrm>
            <a:off x="7918748" y="3447269"/>
            <a:ext cx="3282372" cy="355591"/>
          </a:xfrm>
          <a:prstGeom prst="rect">
            <a:avLst/>
          </a:prstGeom>
          <a:noFill/>
        </p:spPr>
        <p:txBody>
          <a:bodyPr wrap="square" lIns="0" tIns="0" rIns="0" bIns="0" anchor="t">
            <a:noAutofit/>
          </a:bodyPr>
          <a:lstStyle/>
          <a:p>
            <a:pPr algn="l">
              <a:lnSpc>
                <a:spcPts val="1439"/>
              </a:lnSpc>
              <a:spcBef>
                <a:spcPts val="0"/>
              </a:spcBef>
              <a:spcAft>
                <a:spcPts val="0"/>
              </a:spcAft>
            </a:pPr>
            <a:r>
              <a:rPr sz="1200" b="0" i="0">
                <a:solidFill>
                  <a:srgbClr val="50505B"/>
                </a:solidFill>
                <a:latin typeface="Arial"/>
              </a:rPr>
              <a:t>model code, figure reproduction, Mathematica derivations</a:t>
            </a:r>
          </a:p>
        </p:txBody>
      </p:sp>
      <p:sp>
        <p:nvSpPr>
          <p:cNvPr id="34" name="s68-box-16"/>
          <p:cNvSpPr/>
          <p:nvPr/>
        </p:nvSpPr>
        <p:spPr>
          <a:xfrm>
            <a:off x="888978" y="4393396"/>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68-text-18"/>
          <p:cNvSpPr txBox="1"/>
          <p:nvPr/>
        </p:nvSpPr>
        <p:spPr>
          <a:xfrm>
            <a:off x="888978" y="3961606"/>
            <a:ext cx="1182856" cy="355591"/>
          </a:xfrm>
          <a:prstGeom prst="rect">
            <a:avLst/>
          </a:prstGeom>
          <a:noFill/>
        </p:spPr>
        <p:txBody>
          <a:bodyPr wrap="square" lIns="0" tIns="0" rIns="0" bIns="0" anchor="t">
            <a:noAutofit/>
          </a:bodyPr>
          <a:lstStyle/>
          <a:p>
            <a:pPr algn="l">
              <a:lnSpc>
                <a:spcPts val="1439"/>
              </a:lnSpc>
              <a:spcBef>
                <a:spcPts val="0"/>
              </a:spcBef>
              <a:spcAft>
                <a:spcPts val="0"/>
              </a:spcAft>
            </a:pPr>
            <a:r>
              <a:rPr sz="1200" b="1" i="0">
                <a:solidFill>
                  <a:srgbClr val="0B0B0F"/>
                </a:solidFill>
                <a:latin typeface="Arial"/>
              </a:rPr>
              <a:t>ShardQ · QAWA · NNQA</a:t>
            </a:r>
          </a:p>
        </p:txBody>
      </p:sp>
      <p:sp>
        <p:nvSpPr>
          <p:cNvPr id="36" name="s68-box-17"/>
          <p:cNvSpPr/>
          <p:nvPr/>
        </p:nvSpPr>
        <p:spPr>
          <a:xfrm>
            <a:off x="2173432" y="4393396"/>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68-text-19"/>
          <p:cNvSpPr txBox="1"/>
          <p:nvPr/>
        </p:nvSpPr>
        <p:spPr>
          <a:xfrm>
            <a:off x="2173432" y="3961606"/>
            <a:ext cx="5643719" cy="355591"/>
          </a:xfrm>
          <a:prstGeom prst="rect">
            <a:avLst/>
          </a:prstGeom>
          <a:noFill/>
        </p:spPr>
        <p:txBody>
          <a:bodyPr wrap="square" lIns="0" tIns="0" rIns="0" bIns="0" anchor="t">
            <a:noAutofit/>
          </a:bodyPr>
          <a:lstStyle/>
          <a:p>
            <a:pPr algn="l">
              <a:lnSpc>
                <a:spcPts val="1324"/>
              </a:lnSpc>
              <a:spcBef>
                <a:spcPts val="0"/>
              </a:spcBef>
              <a:spcAft>
                <a:spcPts val="0"/>
              </a:spcAft>
            </a:pPr>
            <a:r>
              <a:rPr sz="1104" b="0" i="0">
                <a:solidFill>
                  <a:srgbClr val="50505B"/>
                </a:solidFill>
                <a:latin typeface="Courier New"/>
              </a:rPr>
              <a:t>github.com/gzquse/ShardQ_v2 · gzquse/qawa_data_circ · gzquse/nnqa</a:t>
            </a:r>
          </a:p>
        </p:txBody>
      </p:sp>
      <p:sp>
        <p:nvSpPr>
          <p:cNvPr id="38" name="s68-box-18"/>
          <p:cNvSpPr/>
          <p:nvPr/>
        </p:nvSpPr>
        <p:spPr>
          <a:xfrm>
            <a:off x="7918748" y="4393396"/>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s68-text-20"/>
          <p:cNvSpPr txBox="1"/>
          <p:nvPr/>
        </p:nvSpPr>
        <p:spPr>
          <a:xfrm>
            <a:off x="7918748" y="3961606"/>
            <a:ext cx="3282372" cy="355591"/>
          </a:xfrm>
          <a:prstGeom prst="rect">
            <a:avLst/>
          </a:prstGeom>
          <a:noFill/>
        </p:spPr>
        <p:txBody>
          <a:bodyPr wrap="square" lIns="0" tIns="0" rIns="0" bIns="0" anchor="t">
            <a:noAutofit/>
          </a:bodyPr>
          <a:lstStyle/>
          <a:p>
            <a:pPr algn="l">
              <a:lnSpc>
                <a:spcPts val="1439"/>
              </a:lnSpc>
              <a:spcBef>
                <a:spcPts val="0"/>
              </a:spcBef>
              <a:spcAft>
                <a:spcPts val="0"/>
              </a:spcAft>
            </a:pPr>
            <a:r>
              <a:rPr sz="1200" b="0" i="0">
                <a:solidFill>
                  <a:srgbClr val="50505B"/>
                </a:solidFill>
                <a:latin typeface="Arial"/>
              </a:rPr>
              <a:t>SparseCut and MPS knitting (MIT); QAWA_v2.py; NNQA toolkit and cloud jobs</a:t>
            </a:r>
          </a:p>
        </p:txBody>
      </p:sp>
      <p:sp>
        <p:nvSpPr>
          <p:cNvPr id="40" name="s68-box-19"/>
          <p:cNvSpPr/>
          <p:nvPr/>
        </p:nvSpPr>
        <p:spPr>
          <a:xfrm>
            <a:off x="888978" y="4907733"/>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68-text-21"/>
          <p:cNvSpPr txBox="1"/>
          <p:nvPr/>
        </p:nvSpPr>
        <p:spPr>
          <a:xfrm>
            <a:off x="888978" y="4475944"/>
            <a:ext cx="1182856" cy="355591"/>
          </a:xfrm>
          <a:prstGeom prst="rect">
            <a:avLst/>
          </a:prstGeom>
          <a:noFill/>
        </p:spPr>
        <p:txBody>
          <a:bodyPr wrap="square" lIns="0" tIns="0" rIns="0" bIns="0" anchor="t">
            <a:noAutofit/>
          </a:bodyPr>
          <a:lstStyle/>
          <a:p>
            <a:pPr algn="l">
              <a:lnSpc>
                <a:spcPts val="1439"/>
              </a:lnSpc>
              <a:spcBef>
                <a:spcPts val="0"/>
              </a:spcBef>
              <a:spcAft>
                <a:spcPts val="0"/>
              </a:spcAft>
            </a:pPr>
            <a:r>
              <a:rPr sz="1200" b="1" i="0">
                <a:solidFill>
                  <a:srgbClr val="0B0B0F"/>
                </a:solidFill>
                <a:latin typeface="Arial"/>
              </a:rPr>
              <a:t>RubriQ</a:t>
            </a:r>
          </a:p>
        </p:txBody>
      </p:sp>
      <p:sp>
        <p:nvSpPr>
          <p:cNvPr id="42" name="s68-box-20"/>
          <p:cNvSpPr/>
          <p:nvPr/>
        </p:nvSpPr>
        <p:spPr>
          <a:xfrm>
            <a:off x="2173432" y="4907733"/>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68-text-22"/>
          <p:cNvSpPr txBox="1"/>
          <p:nvPr/>
        </p:nvSpPr>
        <p:spPr>
          <a:xfrm>
            <a:off x="2173432" y="4475944"/>
            <a:ext cx="5643719" cy="355591"/>
          </a:xfrm>
          <a:prstGeom prst="rect">
            <a:avLst/>
          </a:prstGeom>
          <a:noFill/>
        </p:spPr>
        <p:txBody>
          <a:bodyPr wrap="square" lIns="0" tIns="0" rIns="0" bIns="0" anchor="t">
            <a:noAutofit/>
          </a:bodyPr>
          <a:lstStyle/>
          <a:p>
            <a:pPr algn="l">
              <a:lnSpc>
                <a:spcPts val="1324"/>
              </a:lnSpc>
              <a:spcBef>
                <a:spcPts val="0"/>
              </a:spcBef>
              <a:spcAft>
                <a:spcPts val="0"/>
              </a:spcAft>
            </a:pPr>
            <a:r>
              <a:rPr sz="1104" b="0" i="0" dirty="0" err="1">
                <a:solidFill>
                  <a:srgbClr val="50505B"/>
                </a:solidFill>
                <a:latin typeface="Courier New"/>
              </a:rPr>
              <a:t>github.com</a:t>
            </a:r>
            <a:r>
              <a:rPr sz="1104" b="0" i="0" dirty="0">
                <a:solidFill>
                  <a:srgbClr val="50505B"/>
                </a:solidFill>
                <a:latin typeface="Courier New"/>
              </a:rPr>
              <a:t>/</a:t>
            </a:r>
            <a:r>
              <a:rPr sz="1104" b="0" i="0" dirty="0" err="1">
                <a:solidFill>
                  <a:srgbClr val="50505B"/>
                </a:solidFill>
                <a:latin typeface="Courier New"/>
              </a:rPr>
              <a:t>gzquse</a:t>
            </a:r>
            <a:r>
              <a:rPr sz="1104" b="0" i="0" dirty="0">
                <a:solidFill>
                  <a:srgbClr val="50505B"/>
                </a:solidFill>
                <a:latin typeface="Courier New"/>
              </a:rPr>
              <a:t>/</a:t>
            </a:r>
            <a:r>
              <a:rPr sz="1104" b="0" i="0" dirty="0" err="1">
                <a:solidFill>
                  <a:srgbClr val="50505B"/>
                </a:solidFill>
                <a:latin typeface="Courier New"/>
              </a:rPr>
              <a:t>rubriq</a:t>
            </a:r>
            <a:r>
              <a:rPr sz="1104" b="0" i="0" dirty="0">
                <a:solidFill>
                  <a:srgbClr val="50505B"/>
                </a:solidFill>
                <a:latin typeface="Courier New"/>
              </a:rPr>
              <a:t>-artifact · </a:t>
            </a:r>
            <a:r>
              <a:rPr sz="1104" b="0" i="0" dirty="0" err="1">
                <a:solidFill>
                  <a:srgbClr val="50505B"/>
                </a:solidFill>
                <a:latin typeface="Courier New"/>
              </a:rPr>
              <a:t>Zenodo</a:t>
            </a:r>
            <a:r>
              <a:rPr sz="1104" b="0" i="0" dirty="0">
                <a:solidFill>
                  <a:srgbClr val="50505B"/>
                </a:solidFill>
                <a:latin typeface="Courier New"/>
              </a:rPr>
              <a:t> 10.5281/zenodo.21284556</a:t>
            </a:r>
          </a:p>
        </p:txBody>
      </p:sp>
      <p:sp>
        <p:nvSpPr>
          <p:cNvPr id="44" name="s68-box-21"/>
          <p:cNvSpPr/>
          <p:nvPr/>
        </p:nvSpPr>
        <p:spPr>
          <a:xfrm>
            <a:off x="7918748" y="4907733"/>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68-text-23"/>
          <p:cNvSpPr txBox="1"/>
          <p:nvPr/>
        </p:nvSpPr>
        <p:spPr>
          <a:xfrm>
            <a:off x="7918748" y="4475944"/>
            <a:ext cx="3282372" cy="355591"/>
          </a:xfrm>
          <a:prstGeom prst="rect">
            <a:avLst/>
          </a:prstGeom>
          <a:noFill/>
        </p:spPr>
        <p:txBody>
          <a:bodyPr wrap="square" lIns="0" tIns="0" rIns="0" bIns="0" anchor="t">
            <a:noAutofit/>
          </a:bodyPr>
          <a:lstStyle/>
          <a:p>
            <a:pPr algn="l">
              <a:lnSpc>
                <a:spcPts val="1439"/>
              </a:lnSpc>
              <a:spcBef>
                <a:spcPts val="0"/>
              </a:spcBef>
              <a:spcAft>
                <a:spcPts val="0"/>
              </a:spcAft>
            </a:pPr>
            <a:r>
              <a:rPr sz="1200" b="0" i="0">
                <a:solidFill>
                  <a:srgbClr val="50505B"/>
                </a:solidFill>
                <a:latin typeface="Arial"/>
              </a:rPr>
              <a:t>GRPO fine-tuning, 21 evaluator tests; archived artifact, CC-BY-4.0</a:t>
            </a:r>
          </a:p>
        </p:txBody>
      </p:sp>
      <p:sp>
        <p:nvSpPr>
          <p:cNvPr id="46" name="s68-box-22"/>
          <p:cNvSpPr/>
          <p:nvPr/>
        </p:nvSpPr>
        <p:spPr>
          <a:xfrm>
            <a:off x="888978" y="5422070"/>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68-text-24"/>
          <p:cNvSpPr txBox="1"/>
          <p:nvPr/>
        </p:nvSpPr>
        <p:spPr>
          <a:xfrm>
            <a:off x="888978" y="4990281"/>
            <a:ext cx="1182856" cy="355591"/>
          </a:xfrm>
          <a:prstGeom prst="rect">
            <a:avLst/>
          </a:prstGeom>
          <a:noFill/>
        </p:spPr>
        <p:txBody>
          <a:bodyPr wrap="square" lIns="0" tIns="0" rIns="0" bIns="0" anchor="t">
            <a:noAutofit/>
          </a:bodyPr>
          <a:lstStyle/>
          <a:p>
            <a:pPr algn="l">
              <a:lnSpc>
                <a:spcPts val="1439"/>
              </a:lnSpc>
              <a:spcBef>
                <a:spcPts val="0"/>
              </a:spcBef>
              <a:spcAft>
                <a:spcPts val="0"/>
              </a:spcAft>
            </a:pPr>
            <a:r>
              <a:rPr sz="1200" b="1" i="0">
                <a:solidFill>
                  <a:srgbClr val="0B0B0F"/>
                </a:solidFill>
                <a:latin typeface="Arial"/>
              </a:rPr>
              <a:t>Nonlinear waves</a:t>
            </a:r>
          </a:p>
        </p:txBody>
      </p:sp>
      <p:sp>
        <p:nvSpPr>
          <p:cNvPr id="48" name="s68-box-23"/>
          <p:cNvSpPr/>
          <p:nvPr/>
        </p:nvSpPr>
        <p:spPr>
          <a:xfrm>
            <a:off x="2173432" y="5422070"/>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68-text-25"/>
          <p:cNvSpPr txBox="1"/>
          <p:nvPr/>
        </p:nvSpPr>
        <p:spPr>
          <a:xfrm>
            <a:off x="2173432" y="4990281"/>
            <a:ext cx="5643719" cy="355591"/>
          </a:xfrm>
          <a:prstGeom prst="rect">
            <a:avLst/>
          </a:prstGeom>
          <a:noFill/>
        </p:spPr>
        <p:txBody>
          <a:bodyPr wrap="square" lIns="0" tIns="0" rIns="0" bIns="0" anchor="t">
            <a:noAutofit/>
          </a:bodyPr>
          <a:lstStyle/>
          <a:p>
            <a:pPr algn="l">
              <a:lnSpc>
                <a:spcPts val="1324"/>
              </a:lnSpc>
              <a:spcBef>
                <a:spcPts val="0"/>
              </a:spcBef>
              <a:spcAft>
                <a:spcPts val="0"/>
              </a:spcAft>
            </a:pPr>
            <a:r>
              <a:rPr sz="1104" b="0" i="0">
                <a:solidFill>
                  <a:srgbClr val="50505B"/>
                </a:solidFill>
                <a:latin typeface="Courier New"/>
              </a:rPr>
              <a:t>Zenodo 10.5281/zenodo.21245905 (SplitStepQUDE)</a:t>
            </a:r>
          </a:p>
        </p:txBody>
      </p:sp>
      <p:sp>
        <p:nvSpPr>
          <p:cNvPr id="50" name="s68-box-24"/>
          <p:cNvSpPr/>
          <p:nvPr/>
        </p:nvSpPr>
        <p:spPr>
          <a:xfrm>
            <a:off x="7918748" y="5422070"/>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68-text-26"/>
          <p:cNvSpPr txBox="1"/>
          <p:nvPr/>
        </p:nvSpPr>
        <p:spPr>
          <a:xfrm>
            <a:off x="7918748" y="4990281"/>
            <a:ext cx="3282372" cy="355591"/>
          </a:xfrm>
          <a:prstGeom prst="rect">
            <a:avLst/>
          </a:prstGeom>
          <a:noFill/>
        </p:spPr>
        <p:txBody>
          <a:bodyPr wrap="square" lIns="0" tIns="0" rIns="0" bIns="0" anchor="t">
            <a:noAutofit/>
          </a:bodyPr>
          <a:lstStyle/>
          <a:p>
            <a:pPr algn="l">
              <a:lnSpc>
                <a:spcPts val="1439"/>
              </a:lnSpc>
              <a:spcBef>
                <a:spcPts val="0"/>
              </a:spcBef>
              <a:spcAft>
                <a:spcPts val="0"/>
              </a:spcAft>
            </a:pPr>
            <a:r>
              <a:rPr sz="1200" b="0" i="0">
                <a:solidFill>
                  <a:srgbClr val="50505B"/>
                </a:solidFill>
                <a:latin typeface="Arial"/>
              </a:rPr>
              <a:t>code and data for the split-step solver, CC-BY-4.0 / Apache-2.0</a:t>
            </a:r>
          </a:p>
        </p:txBody>
      </p:sp>
      <p:sp>
        <p:nvSpPr>
          <p:cNvPr id="52" name="s68-box-25"/>
          <p:cNvSpPr/>
          <p:nvPr/>
        </p:nvSpPr>
        <p:spPr>
          <a:xfrm>
            <a:off x="888978" y="5936407"/>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s68-text-27"/>
          <p:cNvSpPr txBox="1"/>
          <p:nvPr/>
        </p:nvSpPr>
        <p:spPr>
          <a:xfrm>
            <a:off x="888978" y="5504618"/>
            <a:ext cx="1182856" cy="355591"/>
          </a:xfrm>
          <a:prstGeom prst="rect">
            <a:avLst/>
          </a:prstGeom>
          <a:noFill/>
        </p:spPr>
        <p:txBody>
          <a:bodyPr wrap="square" lIns="0" tIns="0" rIns="0" bIns="0" anchor="t">
            <a:noAutofit/>
          </a:bodyPr>
          <a:lstStyle/>
          <a:p>
            <a:pPr algn="l">
              <a:lnSpc>
                <a:spcPts val="1439"/>
              </a:lnSpc>
              <a:spcBef>
                <a:spcPts val="0"/>
              </a:spcBef>
              <a:spcAft>
                <a:spcPts val="0"/>
              </a:spcAft>
            </a:pPr>
            <a:r>
              <a:rPr sz="1200" b="1" i="0">
                <a:solidFill>
                  <a:srgbClr val="0B0B0F"/>
                </a:solidFill>
                <a:latin typeface="Arial"/>
              </a:rPr>
              <a:t>QEC audit</a:t>
            </a:r>
          </a:p>
        </p:txBody>
      </p:sp>
      <p:sp>
        <p:nvSpPr>
          <p:cNvPr id="54" name="s68-box-26"/>
          <p:cNvSpPr/>
          <p:nvPr/>
        </p:nvSpPr>
        <p:spPr>
          <a:xfrm>
            <a:off x="2173432" y="5936407"/>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68-text-28"/>
          <p:cNvSpPr txBox="1"/>
          <p:nvPr/>
        </p:nvSpPr>
        <p:spPr>
          <a:xfrm>
            <a:off x="2173432" y="5504618"/>
            <a:ext cx="5643719" cy="355591"/>
          </a:xfrm>
          <a:prstGeom prst="rect">
            <a:avLst/>
          </a:prstGeom>
          <a:noFill/>
        </p:spPr>
        <p:txBody>
          <a:bodyPr wrap="square" lIns="0" tIns="0" rIns="0" bIns="0" anchor="t">
            <a:noAutofit/>
          </a:bodyPr>
          <a:lstStyle/>
          <a:p>
            <a:pPr algn="l">
              <a:lnSpc>
                <a:spcPts val="1324"/>
              </a:lnSpc>
              <a:spcBef>
                <a:spcPts val="0"/>
              </a:spcBef>
              <a:spcAft>
                <a:spcPts val="0"/>
              </a:spcAft>
            </a:pPr>
            <a:r>
              <a:rPr sz="1104" b="0" i="0">
                <a:solidFill>
                  <a:srgbClr val="50505B"/>
                </a:solidFill>
                <a:latin typeface="Courier New"/>
              </a:rPr>
              <a:t>anonymous.4open.science/r/usenix_qec_hse-32FE · gzquse/ExploreQEC_mar</a:t>
            </a:r>
          </a:p>
        </p:txBody>
      </p:sp>
      <p:sp>
        <p:nvSpPr>
          <p:cNvPr id="56" name="s68-box-27"/>
          <p:cNvSpPr/>
          <p:nvPr/>
        </p:nvSpPr>
        <p:spPr>
          <a:xfrm>
            <a:off x="7918748" y="5936407"/>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s68-text-29"/>
          <p:cNvSpPr txBox="1"/>
          <p:nvPr/>
        </p:nvSpPr>
        <p:spPr>
          <a:xfrm>
            <a:off x="7918748" y="5504618"/>
            <a:ext cx="3282372" cy="355591"/>
          </a:xfrm>
          <a:prstGeom prst="rect">
            <a:avLst/>
          </a:prstGeom>
          <a:noFill/>
        </p:spPr>
        <p:txBody>
          <a:bodyPr wrap="square" lIns="0" tIns="0" rIns="0" bIns="0" anchor="t">
            <a:noAutofit/>
          </a:bodyPr>
          <a:lstStyle/>
          <a:p>
            <a:pPr algn="l">
              <a:lnSpc>
                <a:spcPts val="1439"/>
              </a:lnSpc>
              <a:spcBef>
                <a:spcPts val="0"/>
              </a:spcBef>
              <a:spcAft>
                <a:spcPts val="0"/>
              </a:spcAft>
            </a:pPr>
            <a:r>
              <a:rPr sz="1200" b="0" i="0">
                <a:solidFill>
                  <a:srgbClr val="50505B"/>
                </a:solidFill>
                <a:latin typeface="Arial"/>
              </a:rPr>
              <a:t>containerized, seeded, deterministic audit; Stim/Qiskit/Guppy toolboxes</a:t>
            </a:r>
          </a:p>
        </p:txBody>
      </p:sp>
      <p:sp>
        <p:nvSpPr>
          <p:cNvPr id="58" name="s68-box-28"/>
          <p:cNvSpPr/>
          <p:nvPr/>
        </p:nvSpPr>
        <p:spPr>
          <a:xfrm>
            <a:off x="888978" y="6272949"/>
            <a:ext cx="1284454"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s68-text-30"/>
          <p:cNvSpPr txBox="1"/>
          <p:nvPr/>
        </p:nvSpPr>
        <p:spPr>
          <a:xfrm>
            <a:off x="888978" y="6018955"/>
            <a:ext cx="1189206" cy="177796"/>
          </a:xfrm>
          <a:prstGeom prst="rect">
            <a:avLst/>
          </a:prstGeom>
          <a:noFill/>
        </p:spPr>
        <p:txBody>
          <a:bodyPr wrap="none" lIns="0" tIns="0" rIns="0" bIns="0" anchor="t">
            <a:noAutofit/>
          </a:bodyPr>
          <a:lstStyle/>
          <a:p>
            <a:pPr algn="l">
              <a:lnSpc>
                <a:spcPts val="1439"/>
              </a:lnSpc>
              <a:spcBef>
                <a:spcPts val="0"/>
              </a:spcBef>
              <a:spcAft>
                <a:spcPts val="0"/>
              </a:spcAft>
            </a:pPr>
            <a:r>
              <a:rPr sz="1200" b="1" i="0">
                <a:solidFill>
                  <a:srgbClr val="0B0B0F"/>
                </a:solidFill>
                <a:latin typeface="Arial"/>
              </a:rPr>
              <a:t>QPC SDK</a:t>
            </a:r>
          </a:p>
        </p:txBody>
      </p:sp>
      <p:sp>
        <p:nvSpPr>
          <p:cNvPr id="60" name="s68-box-29"/>
          <p:cNvSpPr/>
          <p:nvPr/>
        </p:nvSpPr>
        <p:spPr>
          <a:xfrm>
            <a:off x="2173432" y="6272949"/>
            <a:ext cx="5745317"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s68-text-31"/>
          <p:cNvSpPr txBox="1"/>
          <p:nvPr/>
        </p:nvSpPr>
        <p:spPr>
          <a:xfrm>
            <a:off x="2173432" y="6018955"/>
            <a:ext cx="5650069" cy="177796"/>
          </a:xfrm>
          <a:prstGeom prst="rect">
            <a:avLst/>
          </a:prstGeom>
          <a:noFill/>
        </p:spPr>
        <p:txBody>
          <a:bodyPr wrap="none" lIns="0" tIns="0" rIns="0" bIns="0" anchor="t">
            <a:noAutofit/>
          </a:bodyPr>
          <a:lstStyle/>
          <a:p>
            <a:pPr algn="l">
              <a:lnSpc>
                <a:spcPts val="1324"/>
              </a:lnSpc>
              <a:spcBef>
                <a:spcPts val="0"/>
              </a:spcBef>
              <a:spcAft>
                <a:spcPts val="0"/>
              </a:spcAft>
            </a:pPr>
            <a:r>
              <a:rPr sz="1104" b="0" i="0">
                <a:solidFill>
                  <a:srgbClr val="50505B"/>
                </a:solidFill>
                <a:latin typeface="Courier New"/>
              </a:rPr>
              <a:t>Zenodo 10.5281/zenodo.21895102</a:t>
            </a:r>
          </a:p>
        </p:txBody>
      </p:sp>
      <p:sp>
        <p:nvSpPr>
          <p:cNvPr id="62" name="s68-box-30"/>
          <p:cNvSpPr/>
          <p:nvPr/>
        </p:nvSpPr>
        <p:spPr>
          <a:xfrm>
            <a:off x="7918748" y="6272949"/>
            <a:ext cx="3383969" cy="6350"/>
          </a:xfrm>
          <a:prstGeom prst="rect">
            <a:avLst/>
          </a:prstGeom>
          <a:solidFill>
            <a:srgbClr val="000000">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s68-text-32"/>
          <p:cNvSpPr txBox="1"/>
          <p:nvPr/>
        </p:nvSpPr>
        <p:spPr>
          <a:xfrm>
            <a:off x="7918748" y="6018955"/>
            <a:ext cx="3288722" cy="177796"/>
          </a:xfrm>
          <a:prstGeom prst="rect">
            <a:avLst/>
          </a:prstGeom>
          <a:noFill/>
        </p:spPr>
        <p:txBody>
          <a:bodyPr wrap="none" lIns="0" tIns="0" rIns="0" bIns="0" anchor="t">
            <a:noAutofit/>
          </a:bodyPr>
          <a:lstStyle/>
          <a:p>
            <a:pPr algn="l">
              <a:lnSpc>
                <a:spcPts val="1439"/>
              </a:lnSpc>
              <a:spcBef>
                <a:spcPts val="0"/>
              </a:spcBef>
              <a:spcAft>
                <a:spcPts val="0"/>
              </a:spcAft>
            </a:pPr>
            <a:r>
              <a:rPr sz="1200" b="0" i="0">
                <a:solidFill>
                  <a:srgbClr val="50505B"/>
                </a:solidFill>
                <a:latin typeface="Arial"/>
              </a:rPr>
              <a:t>v1.0.0, Linux x86_64, 1.1 MB, CC-BY-4.0</a:t>
            </a:r>
          </a:p>
        </p:txBody>
      </p:sp>
      <p:sp>
        <p:nvSpPr>
          <p:cNvPr id="64" name="!!sec"/>
          <p:cNvSpPr txBox="1"/>
          <p:nvPr/>
        </p:nvSpPr>
        <p:spPr>
          <a:xfrm>
            <a:off x="888978" y="6362541"/>
            <a:ext cx="717234" cy="165096"/>
          </a:xfrm>
          <a:prstGeom prst="rect">
            <a:avLst/>
          </a:prstGeom>
          <a:noFill/>
        </p:spPr>
        <p:txBody>
          <a:bodyPr wrap="none" lIns="0" tIns="0" rIns="0" bIns="0" anchor="t">
            <a:noAutofit/>
          </a:bodyPr>
          <a:lstStyle/>
          <a:p>
            <a:pPr algn="l">
              <a:lnSpc>
                <a:spcPts val="1320"/>
              </a:lnSpc>
              <a:spcBef>
                <a:spcPts val="0"/>
              </a:spcBef>
              <a:spcAft>
                <a:spcPts val="0"/>
              </a:spcAft>
            </a:pPr>
            <a:r>
              <a:rPr sz="1100" b="1" i="0" cap="all" spc="132">
                <a:solidFill>
                  <a:srgbClr val="7B7B86"/>
                </a:solidFill>
                <a:latin typeface="Arial"/>
              </a:rPr>
              <a:t>Backup</a:t>
            </a:r>
          </a:p>
        </p:txBody>
      </p:sp>
      <p:pic>
        <p:nvPicPr>
          <p:cNvPr id="65" name="s68-image-01" descr="Texas Tech University Double T"/>
          <p:cNvPicPr>
            <a:picLocks noChangeAspect="1"/>
          </p:cNvPicPr>
          <p:nvPr/>
        </p:nvPicPr>
        <p:blipFill>
          <a:blip r:embed="rId3"/>
          <a:stretch>
            <a:fillRect/>
          </a:stretch>
        </p:blipFill>
        <p:spPr>
          <a:xfrm>
            <a:off x="11055074" y="600060"/>
            <a:ext cx="190495" cy="222244"/>
          </a:xfrm>
          <a:prstGeom prst="rect">
            <a:avLst/>
          </a:prstGeom>
        </p:spPr>
      </p:pic>
      <p:sp>
        <p:nvSpPr>
          <p:cNvPr id="66" name="!!pg"/>
          <p:cNvSpPr txBox="1"/>
          <p:nvPr/>
        </p:nvSpPr>
        <p:spPr>
          <a:xfrm>
            <a:off x="10212628" y="634984"/>
            <a:ext cx="664650" cy="158746"/>
          </a:xfrm>
          <a:prstGeom prst="rect">
            <a:avLst/>
          </a:prstGeom>
          <a:noFill/>
        </p:spPr>
        <p:txBody>
          <a:bodyPr wrap="none" lIns="0" tIns="0" rIns="0" bIns="0" anchor="t">
            <a:noAutofit/>
          </a:bodyPr>
          <a:lstStyle/>
          <a:p>
            <a:pPr algn="l">
              <a:lnSpc>
                <a:spcPts val="1320"/>
              </a:lnSpc>
              <a:spcBef>
                <a:spcPts val="0"/>
              </a:spcBef>
              <a:spcAft>
                <a:spcPts val="0"/>
              </a:spcAft>
            </a:pPr>
            <a:r>
              <a:rPr sz="1100" b="1" i="0" spc="66">
                <a:solidFill>
                  <a:srgbClr val="50505B"/>
                </a:solidFill>
                <a:latin typeface="Courier New"/>
              </a:rPr>
              <a:t>68</a:t>
            </a:r>
            <a:r>
              <a:rPr sz="1100" b="0" i="0" spc="66">
                <a:solidFill>
                  <a:srgbClr val="7B7B86"/>
                </a:solidFill>
                <a:latin typeface="Courier New"/>
              </a:rPr>
              <a:t> / 68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50">
        <p159:morph option="byObject"/>
      </p:transition>
    </mc:Choice>
    <mc:Fallback xmlns="">
      <p:transition xmlns:p14="http://schemas.microsoft.com/office/powerpoint/2010/main" spd="slow" p14:dur="65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7BACF0-65B9-6F4C-BA74-2CBFAC8E4110}">
  <we:reference id="wa200005566" version="3.0.1.2" store="en-US" storeType="OMEX"/>
  <we:alternateReferences>
    <we:reference id="wa200005566" version="3.0.1.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2788</TotalTime>
  <Words>11760</Words>
  <Application>Microsoft Macintosh PowerPoint</Application>
  <PresentationFormat>Widescreen</PresentationFormat>
  <Paragraphs>1649</Paragraphs>
  <Slides>70</Slides>
  <Notes>68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Defense — Quantum Computing and Circuit Simulation</dc:title>
  <dc:subject>Ph.D. defense, Texas Tech University, October 9, 2026</dc:subject>
  <dc:creator>Ziqing Guo</dc:creator>
  <cp:keywords/>
  <dc:description>generated using python-pptx</dc:description>
  <cp:lastModifiedBy>Martin Guo</cp:lastModifiedBy>
  <cp:revision>2</cp:revision>
  <dcterms:created xsi:type="dcterms:W3CDTF">2013-01-27T09:14:16Z</dcterms:created>
  <dcterms:modified xsi:type="dcterms:W3CDTF">2026-09-22T01:41:35Z</dcterms:modified>
  <cp:category/>
</cp:coreProperties>
</file>