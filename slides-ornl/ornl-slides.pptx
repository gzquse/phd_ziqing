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having me. I am a Ph.D. candidate at Texas Tech, and this talk is the HPC-facing half of my dissertation: how classical high-performance computing surrounds a quantum processor at every layer, from GPU simulation of 42-qubit circuits on a thousand A100s to the cost accounting that says when the quantum step is worth it. About 35 minutes of material, then I would like to spend the rest on how this maps onto Frontier and OLCF.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in one sentence, taken verbatim from the dissertation. The word to underline is co-designed: HPC is not a stopgap until hardware improves, it is a permanent part of how quantum programs are developed, run and trusted. Each of the following sections adds one layer to that stack.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cards are the map for the talk; they come back as a rail on every section divider. I will spend the most time on the two layers where the HPC facility does the heavy lifting: simulation and synthesis. Algorithms, data encoding and trust each get one headline result; the rest is in the backup slides.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state-vector simulation is the reference tool for developing and verifying circuits, but its memory doubles per qubit. At 42 qubits the state alone is about seventy terabytes in double precision, far beyond any single node. The question for RQ1 is how far HPC can push this and whether a Qiskit program can use that capability without being rewritten.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one: simulation. Q-GEAR, published at ICPP 2025 with Jan Balewski from NERSC, is the framework that lets a Qiskit circuit run on NVIDIA GPUs at Perlmutter scale without a rewrite. This chapter answers RQ1.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to end, the pipeline has six stages, and Q-GEAR automates the four in the middle. The two highlighted stages, encoding and kernel generation, are the contribution; packaging in Podman or Shifter containers is what makes the result reproducible on Perlmutter's Slurm scheduler.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Perlmutter GPU node has four 40-gigabyte A100s connected by NVLink, and CUDA-Q's multi-GPU backend shards the state vector across them. Beyond one node, MPI over the Slingshot interconnect lets us aggregate memory across nodes: 256 nodes give 1,024 GPUs, which is where the 42-qubit runs happened at close to full GPU utilization.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scaling result. The 34-qubit random circuit that takes a day on the CPU node runs in about a minute on four A100s within one node. A single A100 is roughly four hundred times faster than the CPU but tops out at 32 qubits because of its 40 gigabytes. The lines between the reported anchor points follow the two-to-the-n scaling law and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Extending the axis shows the reach of each configuration: 32 qubits on one GPU, 34 on one node, and 42 qubits across 1,024 GPUs using CUDA-Q's MPI backend. GPU utilization stayed close to one hundred percent, which is the practical evidence that the containerized pipeline is not leaving the hardware idle.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Chapter III: the same Qiskit program reaches 42 qubits, and the benchmark table shows the three circuit families we timed. The framework is not a one-off: it validated the DEAL circuits in the next chapter before they went to hardware, and it is the simulator inside RubriQ's reinforcement-learning loop in Chapter VI.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two: algorithms on noisy hardware. Two papers: DEAL, published at IEEE QCE 2025, replaces black-box QAOA angle search with a direct mapping from the problem; QAWA proposes a data-traceable oracle so that QAOA outputs can be interpreted without tomography. Both answer RQ2.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DEAL has three parts. First, the angles are read directly off the QUBO coefficients, so there is no optimizer loop on hardware. Second, the entangling structure is chosen for the device, using echoed cross-resonance gates. Third, an adaptive digital zero-noise extrapolation cleans up the result. The circuits are twenty qubits and up to ten layers on the Heron processors Torino and Marrakesh.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IBM Torino, a 133-qubit Heron-1, DEAL reaches the ground-state energy 14.8 percentage points more often than vanilla QAOA at ten layers, with lower variance; on the right, seven DEAL layers match what QAOA needs nine for, which matters because each layer spends part of the forty-CZ budget. The Heron-2 repeat (Marrakesh, +7.4 points) is in the backup slides. Every one of these circuits was validated with the Q-GEAR GPU path before it went to hardware.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for RQ2 is that structure beats search. Structure from the problem gives the angles and the oracle; structure from the device gives the ansatz and the error mitigation. The measured numbers are modest but real hardware results, and they set up the next layer: if data loading is cheap, these algorithms can consume real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three is the data interface, and it is the largest chapter: four papers. QPIE is a hybrid network published in Quantum Science and Technology; VQT is a quantum transformer from the AAAI Symposium Series; ShardQ cuts and knits encoding circuits; and NNQA compiles trained polynomial networks into exact quantum arithmetic. All four answer RQ3.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QCrank, due to Balewski and colleagues at Berkeley Lab, is the encoding this chapter builds on. Address qubits in uniform superposition index the values; each data qubit carries two-to-the-n-a values as rotation angles through a uniformly controlled rotation. The circuit is linear in the number of values and processes all addresses in parallel, which is what makes vectorized arithmetic possible. A thousand-pixel image needs nine address and two data qubits.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ShardQ makes the loader hardware-compatible. The deterministic SparseCut algorithm chooses gate cuts using physical qubit distance and calibrated error rates; sub-circuits are compiled with a bounded-bond-dimension MPS compiler; and the outputs are knitted back with a global quasi-probability reconstruction rather than pairwise. On Heron this cuts RMSE by about fifteen percent and lifts image-encoding fidelity from 0.79 to 0.90. The knitting itself is HPC work: two cuts take fifteen seconds on one A100, four cuts a day on four GPU nodes.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NNQA closes the trainability corner by not training on the QPU at all. A polynomial neural network is trained classically on Perlmutter, then compiled exactly into native unitary blocks for weighted sums and products on real-valued encoded states. A degree-6 polynomial needs seven qubits, five CNOTs and depth nineteen, run once, where VQE needs hundreds of executions. On Heron-3, Nighthawk and IonQ Forte-1 it holds above 99.5 percent accuracy up to degree 35, and we prove a universal-approximation theorem for the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encoding, four uses: vectorized loading is what makes attention shot-efficient, what ShardQ cuts to fit the hardware, and what NNQA compiles into. QPIE and VQT — the hybrid network and the quantum transformer — are in the dissertation and the backup material; the two I showed are the ones where the HPC side does real work: GPU knitting of cut circuits, and polynomial networks trained on Perlmutter and compiled exactly into circuits.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four: synthesis and cost. RubriQ uses a language model fine-tuned by reinforcement learning, with a programmatic rubric as the reward, to synthesize circuits toward fault-tolerant resource budgets. The second paper is the honest-accounting half of RQ4: what nonlinear-wave simulation really costs when every step must read the field.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RubriQ frames fault-tolerant synthesis as code generation. A seven-billion-parameter coder with LoRA adapters proposes circuits; they are parsed, simulated with CUDA-Q on the GPU, scored by a rubric, and the policy is updated with Group Relative Policy Optimization, which compares eight samples against each other instead of learning a value network. Training runs on Perlmutter with DeepSpeed across up to eight A100 nodes at 85 percent strong-scaling efficiency.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1,500 benchmark circuits spanning QFT, phase estimation, Hamiltonian simulation and data encoding, RubriQ compresses T-gate counts by 3.31 times on average against 2.05 for sparse-reward RL, keeps hardware-constraint violations under one percent, and reports 96 percent correctness. The synthesized circuits were validated on Heron-3 and IonQ Forte, so this is not only a simulator result.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conclusion is negative but quantitative. Because every step reads the full field, the quantum cost per step, depth times shots, grows faster than the classical polynomial update as N grows, so the hybrid scheme cannot deliver an end-to-end advantage. What it does deliver is the target: a coherent, measurement-free nonlinear update is what any future advantage claim must beat. This chart is the schematic scaling from the model, not measured wall time.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RQ4 has a two-part answer. Learned synthesis produces budget-respecting circuits when the reward is grounded in simulation and hardware constraints. And honest accounting, charging every measurement and reload, shows where quantum advantage does not exist yet, which is as important to write down as where it does.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five: trust. This chapter, with coauthors from Lightrider and Quantropi, treats the error-correction encoder on a shared cloud QPU as a security surface and asks how randomness should be used and audited. It is the first half of the answer to RQ5.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setting is a shared cloud processor: your error-corrected job runs next to a co-tenant who can inject a single Pauli fault. If the encoder circuit is fixed and public, the adversary can learn exactly which physical fault produces a harmful logical action that the syndrome check will not catch, and reuse it every run. If the encoder is reseeded per run, the fault has to be chosen before the seed is known. The fault model is deliberately bounded: weight-one Paulis, all three-n locations enumerated.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five-qubit code and every weight-one fault enumerated, a fixed public encoder gives a mean accepted logical disturbance of 0.150. Reseeding the encoder per run brings it to 0.020, an 86.7 percent reduction, and the reduction is attributable to rejection: with a fresh encoder the pre-chosen fault is caught by the syndrome check most of the time. Gate-level Stim simulations at 17 qubits confirm the trend. The seed is the only secret, which is where the post-quantum module in the backup slides comes 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stack, now with the answers. Scale: exact simulation reaches 42 qubits on 1,024 A100s, about 400 times faster than a CPU node, with the Qiskit program unchanged. Noise: angles read from the problem and ansätze shaped by the device beat black-box search, plus an O(n) traceable oracle. Data: vectorized QCrank-style encodings make learning shot-efficient, hardware-compatible and trainable across QPIE, VQT, ShardQ and NNQA. Synthesis: rubric-grounded RL synthesizes budget-respecting circuits, and honest accounting shows where advantage is absent. Trust: reseeded HSE encoders cut accepted logical disturbance by 86.7 percent, and a FIPS 140-3 PQC module supplies the seeds and signatures. Scale: 42 qubits, program unchanged. Noise: structure beats search on real Heron hardware. Data: one vectorized encoding underlies four learning systems. Synthesis: grounded rewards and honest budgets. Trust: reseeded encoders and a validated cryptography module. Together they are the co-designed stack of the thesis statement.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I would bring to OLCF. First, Frontier-scale simulation: Q-GEAR's three-tensor HDF5 encoding does not care which GPU runs it, so the port is a HIP kernel generator next to the CUDA-Q one and the same containerized Slurm/MPI workflow we ran at NERSC, on Frontier's MI250X nodes. Second, hardware campaigns: the DEAL, VQT and NNQA experiments were all cloud-QPU campaigns validated in simulation first; the Quantum Computing User Program gives the same pattern with Frontier as the pre-flight simulator. Third, hybrid workflows: RubriQ's simulator-in-the-loop training and the measure–update–reload solvers are HPC-in-the-loop workflows, and the cost model tells us honestly when the QPU step is worth it. Fourth, trust: once jobs cross between a leadership system and cloud QPUs, the reseeded encoders and the post-quantum module are what make the results attributable. The NERSC record — two ERCAP allocations, containers on Perlmutter, thousand-GPU runs — is the precedent.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explicit about limits. The 42-qubit result is simulation: Q-GEAR's scaling is a statement about HPC reach, and the largest hardware runs are 20-qubit optimization circuits and 36-qubit arithmetic stress tests. The hardware gains depend on device and calibration cycle: DEAL gains 14.81 points on Torino but 7.40 on Marrakesh, VQT's RMSE ranges from 0.059 on Kingston to 0.155 on Aria-1, and repeats across calibration cycles are limited. The learning benchmarks are small, Moon, Spiral, MNIST and the Brown corpus, and VQT remains 12.9 perplexity points behind a 125K-parameter nanoGPT. The audit covers the five-qubit code with weight-one faults and Stim at 17 qubits; surface-code distances and correlated faults are future work. And six of the ten papers, ShardQ, QAWA, NNQA, RubriQ, nonlinear waves and the QEC audit, are still preprints. The hardware gains depend on which device and which calibration cycle we hit. The learning benchmarks are small and I claim no advantage there. The security audit is at five-qubit-code scale. And six of the ten papers are still preprints. These are the boundaries within which the answers hold.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this was solo work. My advisor Ziwen Pan at Texas Tech; Jan Balewski at NERSC, whose encodings and allocations run through half the chapters; coauthors across seven institutions; the DOE Office of Science and NERSC ERCAP awards, the TTU HPC center, UMD QLab and Xanadu; and the hardware providers, IBM Quantum and IonQ. Thank you.</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 backup slides follow with the hardware table, the Q-GEAR gate mapping, the DEAL pseudo-code and the VQT hardware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list, in chronological order. Four peer-reviewed publications in 2025, six preprints in 2025 and 2026, and the software release. All code is public on GitHub under gzquse, with archived artifacts on Zenodo for RubriQ, the nonlinear-wave solver and the QPC SDK.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 benchmark suite the GPU path is about two orders of magnitude faster than the CPU node and about an order of magnitude faster than the existing GPU simulators, Aer GPU and Lightning, with essentially no code changes for the user. On QCrank image-encoding circuits, which matter for Chapter V, the speed-up approaches a hundredfold for small images.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device, the 156-qubit Marrakesh, confirms the direction with a smaller gain of 7.4 points. The gap between the two devices is itself informative: the benefit of the direct mapping shrinks as the device gets closer to the CZ budget, which is why the adaptive layer selection is part of the method.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primitives run on real hardware. The ideal simulator gives an RMSE of 0.017 at batch 32; IBM Kingston reaches 0.059 at the same batch, and IonQ Aria-1 0.155 at batch 8. Circuits used four to nine qubits and up to 320 thousand shots, with CNOT depth from 5 to 129, so the deeper configurations are already probing the depth budget from Chapter IV.</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closes by placing the audit next to the standards that already govern classical randomness. FIPS 140-3 defines the module boundary and self-tests; SP 800-90A defines approved random-bit generators, which is where the seeds must come from; and the three 2024 post-quantum standards protect the seeds, jobs and results in transit. That mapping is the bridge into Chapter VIII.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module implements the three 2024 NIST standards, ML-KEM for key encapsulation and ML-DSA and SLH-DSA for signatures, together with an SP 800-90A random-bit generator, self-tests and a module-search feature for discovering and selecting algorithms. Two consumers matter for this dissertation: signed and encapsulated jobs to cloud QPUs, and DRBG seeds for the reseeded encoders of Chapter VII. It is a 1.1-megabyte Linux release archived on Zenodo.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hardware table. Ten backends across IBM Heron and Nighthawk processors, IonQ trapped-ion systems, the Braket simulator and Perlmutter. Where the papers state a calibration figure I reproduce it; otherwise the cell is a dash.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where everything lives. Every chapter has a public repository, and three artifacts are archived on Zenodo with DOIs. The QEC audit artifact is containerized and seeded so that the reported numbers are deterministic.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image" Target="../media/image21.png"/><Relationship Id="rId19" Type="http://schemas.openxmlformats.org/officeDocument/2006/relationships/image" Target="../media/image22.png"/><Relationship Id="rId20" Type="http://schemas.openxmlformats.org/officeDocument/2006/relationships/image" Target="../media/image1.png"/><Relationship Id="rId2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11.png"/><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31.png"/><Relationship Id="rId12" Type="http://schemas.openxmlformats.org/officeDocument/2006/relationships/image" Target="../media/image32.png"/><Relationship Id="rId13" Type="http://schemas.openxmlformats.org/officeDocument/2006/relationships/image" Target="../media/image16.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image" Target="../media/image35.png"/><Relationship Id="rId17" Type="http://schemas.openxmlformats.org/officeDocument/2006/relationships/image" Target="../media/image36.png"/><Relationship Id="rId18" Type="http://schemas.openxmlformats.org/officeDocument/2006/relationships/image" Target="../media/image37.png"/><Relationship Id="rId19" Type="http://schemas.openxmlformats.org/officeDocument/2006/relationships/image" Target="../media/image22.png"/><Relationship Id="rId20" Type="http://schemas.openxmlformats.org/officeDocument/2006/relationships/image" Target="../media/image1.png"/><Relationship Id="rId2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1.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s1-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1-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s1-image-01" descr="Texas Tech University Double T"/>
          <p:cNvPicPr>
            <a:picLocks noChangeAspect="1"/>
          </p:cNvPicPr>
          <p:nvPr/>
        </p:nvPicPr>
        <p:blipFill>
          <a:blip r:embed="rId2"/>
          <a:stretch>
            <a:fillRect/>
          </a:stretch>
        </p:blipFill>
        <p:spPr>
          <a:xfrm>
            <a:off x="1060423" y="727057"/>
            <a:ext cx="609585" cy="717532"/>
          </a:xfrm>
          <a:prstGeom prst="rect">
            <a:avLst/>
          </a:prstGeom>
        </p:spPr>
      </p:pic>
      <p:sp>
        <p:nvSpPr>
          <p:cNvPr id="5" name="s1-box-01"/>
          <p:cNvSpPr/>
          <p:nvPr/>
        </p:nvSpPr>
        <p:spPr>
          <a:xfrm>
            <a:off x="2031949" y="855343"/>
            <a:ext cx="12700" cy="460959"/>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1-text-01"/>
          <p:cNvSpPr txBox="1"/>
          <p:nvPr/>
        </p:nvSpPr>
        <p:spPr>
          <a:xfrm>
            <a:off x="2235144" y="855343"/>
            <a:ext cx="2901778" cy="209545"/>
          </a:xfrm>
          <a:prstGeom prst="rect">
            <a:avLst/>
          </a:prstGeom>
          <a:noFill/>
        </p:spPr>
        <p:txBody>
          <a:bodyPr wrap="none" lIns="0" rIns="0" tIns="0" bIns="0" anchor="t">
            <a:noAutofit/>
          </a:bodyPr>
          <a:lstStyle/>
          <a:p>
            <a:pPr algn="l">
              <a:lnSpc>
                <a:spcPts val="1650"/>
              </a:lnSpc>
              <a:spcBef>
                <a:spcPts val="0"/>
              </a:spcBef>
              <a:spcAft>
                <a:spcPts val="0"/>
              </a:spcAft>
            </a:pPr>
            <a:r>
              <a:rPr sz="1500" b="1" i="0" spc="180" cap="all">
                <a:solidFill>
                  <a:srgbClr val="0B0B0F"/>
                </a:solidFill>
                <a:latin typeface="Arial"/>
              </a:rPr>
              <a:t>Texas Tech University</a:t>
            </a:r>
          </a:p>
        </p:txBody>
      </p:sp>
      <p:sp>
        <p:nvSpPr>
          <p:cNvPr id="7" name="s1-text-02"/>
          <p:cNvSpPr txBox="1"/>
          <p:nvPr/>
        </p:nvSpPr>
        <p:spPr>
          <a:xfrm>
            <a:off x="2235144" y="1102987"/>
            <a:ext cx="2901778" cy="213315"/>
          </a:xfrm>
          <a:prstGeom prst="rect">
            <a:avLst/>
          </a:prstGeom>
          <a:noFill/>
        </p:spPr>
        <p:txBody>
          <a:bodyPr wrap="none" lIns="0" rIns="0" tIns="0" bIns="0" anchor="t">
            <a:noAutofit/>
          </a:bodyPr>
          <a:lstStyle/>
          <a:p>
            <a:pPr algn="l">
              <a:lnSpc>
                <a:spcPts val="1680"/>
              </a:lnSpc>
              <a:spcBef>
                <a:spcPts val="0"/>
              </a:spcBef>
              <a:spcAft>
                <a:spcPts val="0"/>
              </a:spcAft>
            </a:pPr>
            <a:r>
              <a:rPr sz="1400" b="1" i="0" spc="14">
                <a:solidFill>
                  <a:srgbClr val="B00000"/>
                </a:solidFill>
                <a:latin typeface="Arial"/>
              </a:rPr>
              <a:t>Department of Computer Science</a:t>
            </a:r>
          </a:p>
        </p:txBody>
      </p:sp>
      <p:sp>
        <p:nvSpPr>
          <p:cNvPr id="8" name="s1-text-03"/>
          <p:cNvSpPr txBox="1"/>
          <p:nvPr/>
        </p:nvSpPr>
        <p:spPr>
          <a:xfrm>
            <a:off x="3090289" y="1935511"/>
            <a:ext cx="6017368" cy="196845"/>
          </a:xfrm>
          <a:prstGeom prst="rect">
            <a:avLst/>
          </a:prstGeom>
          <a:noFill/>
        </p:spPr>
        <p:txBody>
          <a:bodyPr wrap="none" lIns="0" rIns="0" tIns="0" bIns="0" anchor="t">
            <a:noAutofit/>
          </a:bodyPr>
          <a:lstStyle/>
          <a:p>
            <a:pPr algn="ctr">
              <a:lnSpc>
                <a:spcPts val="1560"/>
              </a:lnSpc>
              <a:spcBef>
                <a:spcPts val="0"/>
              </a:spcBef>
              <a:spcAft>
                <a:spcPts val="0"/>
              </a:spcAft>
            </a:pPr>
            <a:r>
              <a:rPr sz="1300" b="1" i="0" spc="182" cap="all">
                <a:solidFill>
                  <a:srgbClr val="B00000"/>
                </a:solidFill>
                <a:latin typeface="Arial"/>
              </a:rPr>
              <a:t>Research seminar · Oak Ridge National Laboratory</a:t>
            </a:r>
          </a:p>
        </p:txBody>
      </p:sp>
      <p:sp>
        <p:nvSpPr>
          <p:cNvPr id="9" name="!!title"/>
          <p:cNvSpPr txBox="1"/>
          <p:nvPr/>
        </p:nvSpPr>
        <p:spPr>
          <a:xfrm>
            <a:off x="1583293" y="2348251"/>
            <a:ext cx="9031459" cy="480008"/>
          </a:xfrm>
          <a:prstGeom prst="rect">
            <a:avLst/>
          </a:prstGeom>
          <a:noFill/>
        </p:spPr>
        <p:txBody>
          <a:bodyPr wrap="none" lIns="0" rIns="0" tIns="0" bIns="0" anchor="t">
            <a:noAutofit/>
          </a:bodyPr>
          <a:lstStyle/>
          <a:p>
            <a:pPr algn="ctr">
              <a:lnSpc>
                <a:spcPts val="3779"/>
              </a:lnSpc>
              <a:spcBef>
                <a:spcPts val="0"/>
              </a:spcBef>
              <a:spcAft>
                <a:spcPts val="0"/>
              </a:spcAft>
            </a:pPr>
            <a:r>
              <a:rPr sz="3600" b="1" i="0" spc="-101">
                <a:solidFill>
                  <a:srgbClr val="0B0B0F"/>
                </a:solidFill>
                <a:latin typeface="Arial"/>
              </a:rPr>
              <a:t>Quantum Computing and Circuit Simulation</a:t>
            </a:r>
          </a:p>
        </p:txBody>
      </p:sp>
      <p:sp>
        <p:nvSpPr>
          <p:cNvPr id="10" name="s1-text-05"/>
          <p:cNvSpPr txBox="1"/>
          <p:nvPr/>
        </p:nvSpPr>
        <p:spPr>
          <a:xfrm>
            <a:off x="2729539" y="2942556"/>
            <a:ext cx="6738868" cy="342891"/>
          </a:xfrm>
          <a:prstGeom prst="rect">
            <a:avLst/>
          </a:prstGeom>
          <a:noFill/>
        </p:spPr>
        <p:txBody>
          <a:bodyPr wrap="none" lIns="0" rIns="0" tIns="0" bIns="0" anchor="t">
            <a:noAutofit/>
          </a:bodyPr>
          <a:lstStyle/>
          <a:p>
            <a:pPr algn="ctr">
              <a:lnSpc>
                <a:spcPts val="2700"/>
              </a:lnSpc>
              <a:spcBef>
                <a:spcPts val="0"/>
              </a:spcBef>
              <a:spcAft>
                <a:spcPts val="0"/>
              </a:spcAft>
            </a:pPr>
            <a:r>
              <a:rPr sz="2000" b="0" i="0">
                <a:solidFill>
                  <a:srgbClr val="50505B"/>
                </a:solidFill>
                <a:latin typeface="Arial"/>
              </a:rPr>
              <a:t>A co-designed quantum–HPC stack, from simulation to trust</a:t>
            </a:r>
          </a:p>
        </p:txBody>
      </p:sp>
      <p:sp>
        <p:nvSpPr>
          <p:cNvPr id="11" name="s1-box-02"/>
          <p:cNvSpPr/>
          <p:nvPr/>
        </p:nvSpPr>
        <p:spPr>
          <a:xfrm>
            <a:off x="5587860" y="3526742"/>
            <a:ext cx="1015975"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name"/>
          <p:cNvSpPr txBox="1"/>
          <p:nvPr/>
        </p:nvSpPr>
        <p:spPr>
          <a:xfrm>
            <a:off x="5251319" y="3736286"/>
            <a:ext cx="1695308" cy="380990"/>
          </a:xfrm>
          <a:prstGeom prst="rect">
            <a:avLst/>
          </a:prstGeom>
          <a:noFill/>
        </p:spPr>
        <p:txBody>
          <a:bodyPr wrap="none" lIns="0" rIns="0" tIns="0" bIns="0" anchor="t">
            <a:noAutofit/>
          </a:bodyPr>
          <a:lstStyle/>
          <a:p>
            <a:pPr algn="ctr">
              <a:lnSpc>
                <a:spcPts val="3120"/>
              </a:lnSpc>
              <a:spcBef>
                <a:spcPts val="0"/>
              </a:spcBef>
              <a:spcAft>
                <a:spcPts val="0"/>
              </a:spcAft>
            </a:pPr>
            <a:r>
              <a:rPr sz="2600" b="1" i="0" spc="-52">
                <a:solidFill>
                  <a:srgbClr val="0B0B0F"/>
                </a:solidFill>
                <a:latin typeface="Arial"/>
              </a:rPr>
              <a:t>Ziqing Guo</a:t>
            </a:r>
          </a:p>
        </p:txBody>
      </p:sp>
      <p:sp>
        <p:nvSpPr>
          <p:cNvPr id="13" name="s1-text-07"/>
          <p:cNvSpPr txBox="1"/>
          <p:nvPr/>
        </p:nvSpPr>
        <p:spPr>
          <a:xfrm>
            <a:off x="2204189" y="4218874"/>
            <a:ext cx="7789668" cy="248834"/>
          </a:xfrm>
          <a:prstGeom prst="rect">
            <a:avLst/>
          </a:prstGeom>
          <a:noFill/>
        </p:spPr>
        <p:txBody>
          <a:bodyPr wrap="none" lIns="0" rIns="0" tIns="0" bIns="0" anchor="t">
            <a:noAutofit/>
          </a:bodyPr>
          <a:lstStyle/>
          <a:p>
            <a:pPr algn="ctr">
              <a:lnSpc>
                <a:spcPts val="1960"/>
              </a:lnSpc>
              <a:spcBef>
                <a:spcPts val="0"/>
              </a:spcBef>
              <a:spcAft>
                <a:spcPts val="0"/>
              </a:spcAft>
            </a:pPr>
            <a:r>
              <a:rPr sz="1400" b="0" i="0">
                <a:solidFill>
                  <a:srgbClr val="50505B"/>
                </a:solidFill>
                <a:latin typeface="Arial"/>
              </a:rPr>
              <a:t>Ph.D. candidate, Department of Computer Science, Texas Tech University · Advisor: Dr. Ziwen Pan</a:t>
            </a:r>
          </a:p>
        </p:txBody>
      </p:sp>
      <p:sp>
        <p:nvSpPr>
          <p:cNvPr id="14" name="s1-text-08"/>
          <p:cNvSpPr txBox="1"/>
          <p:nvPr/>
        </p:nvSpPr>
        <p:spPr>
          <a:xfrm>
            <a:off x="4694517" y="4556606"/>
            <a:ext cx="2809011" cy="213315"/>
          </a:xfrm>
          <a:prstGeom prst="rect">
            <a:avLst/>
          </a:prstGeom>
          <a:noFill/>
        </p:spPr>
        <p:txBody>
          <a:bodyPr wrap="none" lIns="0" rIns="0" tIns="0" bIns="0" anchor="t">
            <a:noAutofit/>
          </a:bodyPr>
          <a:lstStyle/>
          <a:p>
            <a:pPr algn="ctr">
              <a:lnSpc>
                <a:spcPts val="1680"/>
              </a:lnSpc>
              <a:spcBef>
                <a:spcPts val="0"/>
              </a:spcBef>
              <a:spcAft>
                <a:spcPts val="0"/>
              </a:spcAft>
            </a:pPr>
            <a:r>
              <a:rPr sz="1200" b="0" i="0">
                <a:solidFill>
                  <a:srgbClr val="7B7B86"/>
                </a:solidFill>
                <a:latin typeface="Arial"/>
              </a:rPr>
              <a:t>Oak Ridge, Tennessee · 2026 · date TBD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s2-glow-01"/>
          <p:cNvSpPr/>
          <p:nvPr/>
        </p:nvSpPr>
        <p:spPr>
          <a:xfrm>
            <a:off x="7873803" y="-2412940"/>
            <a:ext cx="6095848" cy="6095848"/>
          </a:xfrm>
          <a:prstGeom prst="ellipse">
            <a:avLst/>
          </a:prstGeom>
          <a:gradFill rotWithShape="1">
            <a:gsLst>
              <a:gs pos="0">
                <a:srgbClr val="CC0000">
                  <a:alpha val="8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itle"/>
          <p:cNvSpPr txBox="1"/>
          <p:nvPr/>
        </p:nvSpPr>
        <p:spPr>
          <a:xfrm>
            <a:off x="888978" y="609585"/>
            <a:ext cx="4348351" cy="213315"/>
          </a:xfrm>
          <a:prstGeom prst="rect">
            <a:avLst/>
          </a:prstGeom>
          <a:noFill/>
        </p:spPr>
        <p:txBody>
          <a:bodyPr wrap="none" lIns="0" rIns="0" tIns="0" bIns="0" anchor="t">
            <a:noAutofit/>
          </a:bodyPr>
          <a:lstStyle/>
          <a:p>
            <a:pPr algn="l">
              <a:lnSpc>
                <a:spcPts val="1680"/>
              </a:lnSpc>
              <a:spcBef>
                <a:spcPts val="0"/>
              </a:spcBef>
              <a:spcAft>
                <a:spcPts val="0"/>
              </a:spcAft>
            </a:pPr>
            <a:r>
              <a:rPr sz="1200" b="0" i="0" spc="120" cap="all">
                <a:solidFill>
                  <a:srgbClr val="7B7B86"/>
                </a:solidFill>
                <a:latin typeface="Arial"/>
              </a:rPr>
              <a:t>Quantum Computing and Circuit Simulation</a:t>
            </a:r>
          </a:p>
        </p:txBody>
      </p:sp>
      <p:sp>
        <p:nvSpPr>
          <p:cNvPr id="4" name="s2-text-02"/>
          <p:cNvSpPr txBox="1"/>
          <p:nvPr/>
        </p:nvSpPr>
        <p:spPr>
          <a:xfrm>
            <a:off x="888978" y="2063202"/>
            <a:ext cx="10432789"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Thesis statement</a:t>
            </a:r>
          </a:p>
        </p:txBody>
      </p:sp>
      <p:sp>
        <p:nvSpPr>
          <p:cNvPr id="5" name="s2-text-03"/>
          <p:cNvSpPr txBox="1"/>
          <p:nvPr/>
        </p:nvSpPr>
        <p:spPr>
          <a:xfrm>
            <a:off x="888978" y="2425143"/>
            <a:ext cx="10426439" cy="2430303"/>
          </a:xfrm>
          <a:prstGeom prst="rect">
            <a:avLst/>
          </a:prstGeom>
          <a:noFill/>
        </p:spPr>
        <p:txBody>
          <a:bodyPr wrap="square" lIns="0" rIns="0" tIns="0" bIns="0" anchor="t">
            <a:noAutofit/>
          </a:bodyPr>
          <a:lstStyle/>
          <a:p>
            <a:pPr algn="l">
              <a:lnSpc>
                <a:spcPts val="3828"/>
              </a:lnSpc>
              <a:spcBef>
                <a:spcPts val="0"/>
              </a:spcBef>
              <a:spcAft>
                <a:spcPts val="0"/>
              </a:spcAft>
            </a:pPr>
            <a:r>
              <a:rPr sz="3300" b="1" i="0" spc="-92">
                <a:solidFill>
                  <a:srgbClr val="0B0B0F"/>
                </a:solidFill>
                <a:latin typeface="Arial"/>
              </a:rPr>
              <a:t>Useful quantum computation in the coming decade will be delivered not by a quantum processor alone but by a </a:t>
            </a:r>
            <a:r>
              <a:rPr sz="3300" b="1" i="0" spc="-92">
                <a:solidFill>
                  <a:srgbClr val="CC0000"/>
                </a:solidFill>
                <a:latin typeface="Arial"/>
              </a:rPr>
              <a:t>co-designed stack</a:t>
            </a:r>
            <a:r>
              <a:rPr sz="3300" b="1" i="0" spc="-92">
                <a:solidFill>
                  <a:srgbClr val="0B0B0F"/>
                </a:solidFill>
                <a:latin typeface="Arial"/>
              </a:rPr>
              <a:t> in which classical high-performance computing surrounds the QPU at every layer.</a:t>
            </a:r>
          </a:p>
        </p:txBody>
      </p:sp>
      <p:sp>
        <p:nvSpPr>
          <p:cNvPr id="6" name="!!sec"/>
          <p:cNvSpPr txBox="1"/>
          <p:nvPr/>
        </p:nvSpPr>
        <p:spPr>
          <a:xfrm>
            <a:off x="888978" y="6362541"/>
            <a:ext cx="1291201"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Introduction</a:t>
            </a:r>
          </a:p>
        </p:txBody>
      </p:sp>
      <p:pic>
        <p:nvPicPr>
          <p:cNvPr id="7" name="s2-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8" name="!!pg"/>
          <p:cNvSpPr txBox="1"/>
          <p:nvPr/>
        </p:nvSpPr>
        <p:spPr>
          <a:xfrm>
            <a:off x="10304800" y="634984"/>
            <a:ext cx="572478"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2</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5489239"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The co-designed stack · roadmap for this talk</a:t>
            </a:r>
          </a:p>
        </p:txBody>
      </p:sp>
      <p:sp>
        <p:nvSpPr>
          <p:cNvPr id="3" name="s3-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Five layers around the QPU</a:t>
            </a:r>
          </a:p>
        </p:txBody>
      </p:sp>
      <p:sp>
        <p:nvSpPr>
          <p:cNvPr id="4" name="!!L1-bg"/>
          <p:cNvSpPr/>
          <p:nvPr/>
        </p:nvSpPr>
        <p:spPr>
          <a:xfrm>
            <a:off x="888978" y="1634390"/>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3-text-03"/>
          <p:cNvSpPr txBox="1"/>
          <p:nvPr/>
        </p:nvSpPr>
        <p:spPr>
          <a:xfrm>
            <a:off x="1104872" y="1850284"/>
            <a:ext cx="154807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01 · Scale</a:t>
            </a:r>
          </a:p>
        </p:txBody>
      </p:sp>
      <p:sp>
        <p:nvSpPr>
          <p:cNvPr id="6" name="!!L1-t"/>
          <p:cNvSpPr txBox="1"/>
          <p:nvPr/>
        </p:nvSpPr>
        <p:spPr>
          <a:xfrm>
            <a:off x="1104872" y="2155077"/>
            <a:ext cx="1279295" cy="285743"/>
          </a:xfrm>
          <a:prstGeom prst="rect">
            <a:avLst/>
          </a:prstGeom>
          <a:noFill/>
        </p:spPr>
        <p:txBody>
          <a:bodyPr wrap="none" lIns="0" rIns="0" tIns="0" bIns="0" anchor="t">
            <a:noAutofit/>
          </a:bodyPr>
          <a:lstStyle/>
          <a:p>
            <a:pPr algn="l">
              <a:lnSpc>
                <a:spcPts val="2400"/>
              </a:lnSpc>
              <a:spcBef>
                <a:spcPts val="0"/>
              </a:spcBef>
              <a:spcAft>
                <a:spcPts val="0"/>
              </a:spcAft>
            </a:pPr>
            <a:r>
              <a:rPr sz="2000" b="1" i="0" spc="-30">
                <a:solidFill>
                  <a:srgbClr val="0B0B0F"/>
                </a:solidFill>
                <a:latin typeface="Arial"/>
              </a:rPr>
              <a:t>Simulation</a:t>
            </a:r>
          </a:p>
        </p:txBody>
      </p:sp>
      <p:sp>
        <p:nvSpPr>
          <p:cNvPr id="7" name="s3-text-05"/>
          <p:cNvSpPr txBox="1"/>
          <p:nvPr/>
        </p:nvSpPr>
        <p:spPr>
          <a:xfrm>
            <a:off x="1104872" y="4001789"/>
            <a:ext cx="1541722" cy="693224"/>
          </a:xfrm>
          <a:prstGeom prst="rect">
            <a:avLst/>
          </a:prstGeom>
          <a:noFill/>
        </p:spPr>
        <p:txBody>
          <a:bodyPr wrap="square" lIns="0" rIns="0" tIns="0" bIns="0" anchor="t">
            <a:noAutofit/>
          </a:bodyPr>
          <a:lstStyle/>
          <a:p>
            <a:pPr algn="l">
              <a:lnSpc>
                <a:spcPts val="1820"/>
              </a:lnSpc>
              <a:spcBef>
                <a:spcPts val="0"/>
              </a:spcBef>
              <a:spcAft>
                <a:spcPts val="0"/>
              </a:spcAft>
            </a:pPr>
            <a:r>
              <a:rPr sz="1300" b="0" i="0">
                <a:solidFill>
                  <a:srgbClr val="50505B"/>
                </a:solidFill>
                <a:latin typeface="Arial"/>
              </a:rPr>
              <a:t>GPU simulation beyond hardware reach</a:t>
            </a:r>
          </a:p>
        </p:txBody>
      </p:sp>
      <p:sp>
        <p:nvSpPr>
          <p:cNvPr id="8" name="!!L2-bg"/>
          <p:cNvSpPr/>
          <p:nvPr/>
        </p:nvSpPr>
        <p:spPr>
          <a:xfrm>
            <a:off x="3002185" y="1634390"/>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3-text-06"/>
          <p:cNvSpPr txBox="1"/>
          <p:nvPr/>
        </p:nvSpPr>
        <p:spPr>
          <a:xfrm>
            <a:off x="3218080" y="1850284"/>
            <a:ext cx="154807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02 · Noise</a:t>
            </a:r>
          </a:p>
        </p:txBody>
      </p:sp>
      <p:sp>
        <p:nvSpPr>
          <p:cNvPr id="10" name="!!L2-t"/>
          <p:cNvSpPr txBox="1"/>
          <p:nvPr/>
        </p:nvSpPr>
        <p:spPr>
          <a:xfrm>
            <a:off x="3218080" y="2155077"/>
            <a:ext cx="1321561" cy="285743"/>
          </a:xfrm>
          <a:prstGeom prst="rect">
            <a:avLst/>
          </a:prstGeom>
          <a:noFill/>
        </p:spPr>
        <p:txBody>
          <a:bodyPr wrap="none" lIns="0" rIns="0" tIns="0" bIns="0" anchor="t">
            <a:noAutofit/>
          </a:bodyPr>
          <a:lstStyle/>
          <a:p>
            <a:pPr algn="l">
              <a:lnSpc>
                <a:spcPts val="2400"/>
              </a:lnSpc>
              <a:spcBef>
                <a:spcPts val="0"/>
              </a:spcBef>
              <a:spcAft>
                <a:spcPts val="0"/>
              </a:spcAft>
            </a:pPr>
            <a:r>
              <a:rPr sz="2000" b="1" i="0" spc="-30">
                <a:solidFill>
                  <a:srgbClr val="0B0B0F"/>
                </a:solidFill>
                <a:latin typeface="Arial"/>
              </a:rPr>
              <a:t>Algorithms</a:t>
            </a:r>
          </a:p>
        </p:txBody>
      </p:sp>
      <p:sp>
        <p:nvSpPr>
          <p:cNvPr id="11" name="s3-text-08"/>
          <p:cNvSpPr txBox="1"/>
          <p:nvPr/>
        </p:nvSpPr>
        <p:spPr>
          <a:xfrm>
            <a:off x="3218080" y="4001789"/>
            <a:ext cx="1541722" cy="693224"/>
          </a:xfrm>
          <a:prstGeom prst="rect">
            <a:avLst/>
          </a:prstGeom>
          <a:noFill/>
        </p:spPr>
        <p:txBody>
          <a:bodyPr wrap="square" lIns="0" rIns="0" tIns="0" bIns="0" anchor="t">
            <a:noAutofit/>
          </a:bodyPr>
          <a:lstStyle/>
          <a:p>
            <a:pPr algn="l">
              <a:lnSpc>
                <a:spcPts val="1820"/>
              </a:lnSpc>
              <a:spcBef>
                <a:spcPts val="0"/>
              </a:spcBef>
              <a:spcAft>
                <a:spcPts val="0"/>
              </a:spcAft>
            </a:pPr>
            <a:r>
              <a:rPr sz="1300" b="0" i="0">
                <a:solidFill>
                  <a:srgbClr val="50505B"/>
                </a:solidFill>
                <a:latin typeface="Arial"/>
              </a:rPr>
              <a:t>Structure from problem and device, not black-box search</a:t>
            </a:r>
          </a:p>
        </p:txBody>
      </p:sp>
      <p:sp>
        <p:nvSpPr>
          <p:cNvPr id="12" name="!!L3-bg"/>
          <p:cNvSpPr/>
          <p:nvPr/>
        </p:nvSpPr>
        <p:spPr>
          <a:xfrm>
            <a:off x="5115392" y="1634390"/>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3-text-09"/>
          <p:cNvSpPr txBox="1"/>
          <p:nvPr/>
        </p:nvSpPr>
        <p:spPr>
          <a:xfrm>
            <a:off x="5331287" y="1850284"/>
            <a:ext cx="154807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03 · Data</a:t>
            </a:r>
          </a:p>
        </p:txBody>
      </p:sp>
      <p:sp>
        <p:nvSpPr>
          <p:cNvPr id="14" name="!!L3-t"/>
          <p:cNvSpPr txBox="1"/>
          <p:nvPr/>
        </p:nvSpPr>
        <p:spPr>
          <a:xfrm>
            <a:off x="5331287" y="2155077"/>
            <a:ext cx="1541722" cy="571486"/>
          </a:xfrm>
          <a:prstGeom prst="rect">
            <a:avLst/>
          </a:prstGeom>
          <a:noFill/>
        </p:spPr>
        <p:txBody>
          <a:bodyPr wrap="square" lIns="0" rIns="0" tIns="0" bIns="0" anchor="t">
            <a:noAutofit/>
          </a:bodyPr>
          <a:lstStyle/>
          <a:p>
            <a:pPr algn="l">
              <a:lnSpc>
                <a:spcPts val="2400"/>
              </a:lnSpc>
              <a:spcBef>
                <a:spcPts val="0"/>
              </a:spcBef>
              <a:spcAft>
                <a:spcPts val="0"/>
              </a:spcAft>
            </a:pPr>
            <a:r>
              <a:rPr sz="2000" b="1" i="0" spc="-30">
                <a:solidFill>
                  <a:srgbClr val="0B0B0F"/>
                </a:solidFill>
                <a:latin typeface="Arial"/>
              </a:rPr>
              <a:t>Data encoding</a:t>
            </a:r>
          </a:p>
        </p:txBody>
      </p:sp>
      <p:sp>
        <p:nvSpPr>
          <p:cNvPr id="15" name="s3-text-11"/>
          <p:cNvSpPr txBox="1"/>
          <p:nvPr/>
        </p:nvSpPr>
        <p:spPr>
          <a:xfrm>
            <a:off x="5331287" y="4001789"/>
            <a:ext cx="1541722" cy="693224"/>
          </a:xfrm>
          <a:prstGeom prst="rect">
            <a:avLst/>
          </a:prstGeom>
          <a:noFill/>
        </p:spPr>
        <p:txBody>
          <a:bodyPr wrap="square" lIns="0" rIns="0" tIns="0" bIns="0" anchor="t">
            <a:noAutofit/>
          </a:bodyPr>
          <a:lstStyle/>
          <a:p>
            <a:pPr algn="l">
              <a:lnSpc>
                <a:spcPts val="1820"/>
              </a:lnSpc>
              <a:spcBef>
                <a:spcPts val="0"/>
              </a:spcBef>
              <a:spcAft>
                <a:spcPts val="0"/>
              </a:spcAft>
            </a:pPr>
            <a:r>
              <a:rPr sz="1300" b="0" i="0">
                <a:solidFill>
                  <a:srgbClr val="50505B"/>
                </a:solidFill>
                <a:latin typeface="Arial"/>
              </a:rPr>
              <a:t>Vectorized, learnable data loading</a:t>
            </a:r>
          </a:p>
        </p:txBody>
      </p:sp>
      <p:sp>
        <p:nvSpPr>
          <p:cNvPr id="16" name="!!L4-bg"/>
          <p:cNvSpPr/>
          <p:nvPr/>
        </p:nvSpPr>
        <p:spPr>
          <a:xfrm>
            <a:off x="7228600" y="1634390"/>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3-text-12"/>
          <p:cNvSpPr txBox="1"/>
          <p:nvPr/>
        </p:nvSpPr>
        <p:spPr>
          <a:xfrm>
            <a:off x="7444494" y="1850284"/>
            <a:ext cx="154807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04 · Synthesis</a:t>
            </a:r>
          </a:p>
        </p:txBody>
      </p:sp>
      <p:sp>
        <p:nvSpPr>
          <p:cNvPr id="18" name="!!L4-t"/>
          <p:cNvSpPr txBox="1"/>
          <p:nvPr/>
        </p:nvSpPr>
        <p:spPr>
          <a:xfrm>
            <a:off x="7444494" y="2155077"/>
            <a:ext cx="1184741" cy="285743"/>
          </a:xfrm>
          <a:prstGeom prst="rect">
            <a:avLst/>
          </a:prstGeom>
          <a:noFill/>
        </p:spPr>
        <p:txBody>
          <a:bodyPr wrap="none" lIns="0" rIns="0" tIns="0" bIns="0" anchor="t">
            <a:noAutofit/>
          </a:bodyPr>
          <a:lstStyle/>
          <a:p>
            <a:pPr algn="l">
              <a:lnSpc>
                <a:spcPts val="2400"/>
              </a:lnSpc>
              <a:spcBef>
                <a:spcPts val="0"/>
              </a:spcBef>
              <a:spcAft>
                <a:spcPts val="0"/>
              </a:spcAft>
            </a:pPr>
            <a:r>
              <a:rPr sz="2000" b="1" i="0" spc="-30">
                <a:solidFill>
                  <a:srgbClr val="0B0B0F"/>
                </a:solidFill>
                <a:latin typeface="Arial"/>
              </a:rPr>
              <a:t>Synthesis</a:t>
            </a:r>
          </a:p>
        </p:txBody>
      </p:sp>
      <p:sp>
        <p:nvSpPr>
          <p:cNvPr id="19" name="s3-text-14"/>
          <p:cNvSpPr txBox="1"/>
          <p:nvPr/>
        </p:nvSpPr>
        <p:spPr>
          <a:xfrm>
            <a:off x="7444494" y="4001789"/>
            <a:ext cx="1541722" cy="693224"/>
          </a:xfrm>
          <a:prstGeom prst="rect">
            <a:avLst/>
          </a:prstGeom>
          <a:noFill/>
        </p:spPr>
        <p:txBody>
          <a:bodyPr wrap="square" lIns="0" rIns="0" tIns="0" bIns="0" anchor="t">
            <a:noAutofit/>
          </a:bodyPr>
          <a:lstStyle/>
          <a:p>
            <a:pPr algn="l">
              <a:lnSpc>
                <a:spcPts val="1820"/>
              </a:lnSpc>
              <a:spcBef>
                <a:spcPts val="0"/>
              </a:spcBef>
              <a:spcAft>
                <a:spcPts val="0"/>
              </a:spcAft>
            </a:pPr>
            <a:r>
              <a:rPr sz="1300" b="0" i="0">
                <a:solidFill>
                  <a:srgbClr val="50505B"/>
                </a:solidFill>
                <a:latin typeface="Arial"/>
              </a:rPr>
              <a:t>AI/HPC synthesis within fault-tolerant budgets</a:t>
            </a:r>
          </a:p>
        </p:txBody>
      </p:sp>
      <p:sp>
        <p:nvSpPr>
          <p:cNvPr id="20" name="!!L5-bg"/>
          <p:cNvSpPr/>
          <p:nvPr/>
        </p:nvSpPr>
        <p:spPr>
          <a:xfrm>
            <a:off x="9341807" y="1634390"/>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3-text-15"/>
          <p:cNvSpPr txBox="1"/>
          <p:nvPr/>
        </p:nvSpPr>
        <p:spPr>
          <a:xfrm>
            <a:off x="9557702" y="1850284"/>
            <a:ext cx="154807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05 · Trust</a:t>
            </a:r>
          </a:p>
        </p:txBody>
      </p:sp>
      <p:sp>
        <p:nvSpPr>
          <p:cNvPr id="22" name="!!L5-t"/>
          <p:cNvSpPr txBox="1"/>
          <p:nvPr/>
        </p:nvSpPr>
        <p:spPr>
          <a:xfrm>
            <a:off x="9557702" y="2155077"/>
            <a:ext cx="620995" cy="285743"/>
          </a:xfrm>
          <a:prstGeom prst="rect">
            <a:avLst/>
          </a:prstGeom>
          <a:noFill/>
        </p:spPr>
        <p:txBody>
          <a:bodyPr wrap="none" lIns="0" rIns="0" tIns="0" bIns="0" anchor="t">
            <a:noAutofit/>
          </a:bodyPr>
          <a:lstStyle/>
          <a:p>
            <a:pPr algn="l">
              <a:lnSpc>
                <a:spcPts val="2400"/>
              </a:lnSpc>
              <a:spcBef>
                <a:spcPts val="0"/>
              </a:spcBef>
              <a:spcAft>
                <a:spcPts val="0"/>
              </a:spcAft>
            </a:pPr>
            <a:r>
              <a:rPr sz="2000" b="1" i="0" spc="-30">
                <a:solidFill>
                  <a:srgbClr val="0B0B0F"/>
                </a:solidFill>
                <a:latin typeface="Arial"/>
              </a:rPr>
              <a:t>Trust</a:t>
            </a:r>
          </a:p>
        </p:txBody>
      </p:sp>
      <p:sp>
        <p:nvSpPr>
          <p:cNvPr id="23" name="s3-text-17"/>
          <p:cNvSpPr txBox="1"/>
          <p:nvPr/>
        </p:nvSpPr>
        <p:spPr>
          <a:xfrm>
            <a:off x="9557702" y="4001789"/>
            <a:ext cx="1541722" cy="693224"/>
          </a:xfrm>
          <a:prstGeom prst="rect">
            <a:avLst/>
          </a:prstGeom>
          <a:noFill/>
        </p:spPr>
        <p:txBody>
          <a:bodyPr wrap="square" lIns="0" rIns="0" tIns="0" bIns="0" anchor="t">
            <a:noAutofit/>
          </a:bodyPr>
          <a:lstStyle/>
          <a:p>
            <a:pPr algn="l">
              <a:lnSpc>
                <a:spcPts val="1820"/>
              </a:lnSpc>
              <a:spcBef>
                <a:spcPts val="0"/>
              </a:spcBef>
              <a:spcAft>
                <a:spcPts val="0"/>
              </a:spcAft>
            </a:pPr>
            <a:r>
              <a:rPr sz="1300" b="0" i="0">
                <a:solidFill>
                  <a:srgbClr val="50505B"/>
                </a:solidFill>
                <a:latin typeface="Arial"/>
              </a:rPr>
              <a:t>Auditable QEC and post-quantum cryptography</a:t>
            </a:r>
          </a:p>
        </p:txBody>
      </p:sp>
      <p:sp>
        <p:nvSpPr>
          <p:cNvPr id="24" name="!!sec"/>
          <p:cNvSpPr txBox="1"/>
          <p:nvPr/>
        </p:nvSpPr>
        <p:spPr>
          <a:xfrm>
            <a:off x="888978" y="6362541"/>
            <a:ext cx="1291201"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Introduction</a:t>
            </a:r>
          </a:p>
        </p:txBody>
      </p:sp>
      <p:pic>
        <p:nvPicPr>
          <p:cNvPr id="25" name="s3-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6" name="!!pg"/>
          <p:cNvSpPr txBox="1"/>
          <p:nvPr/>
        </p:nvSpPr>
        <p:spPr>
          <a:xfrm>
            <a:off x="10304800" y="634984"/>
            <a:ext cx="572478"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3</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2153291"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Motivation · Scale</a:t>
            </a:r>
          </a:p>
        </p:txBody>
      </p:sp>
      <p:sp>
        <p:nvSpPr>
          <p:cNvPr id="3" name="s4-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The simulation wall</a:t>
            </a:r>
          </a:p>
        </p:txBody>
      </p:sp>
      <p:sp>
        <p:nvSpPr>
          <p:cNvPr id="4" name="s4-box-01"/>
          <p:cNvSpPr/>
          <p:nvPr/>
        </p:nvSpPr>
        <p:spPr>
          <a:xfrm>
            <a:off x="888978" y="1643319"/>
            <a:ext cx="3555911" cy="1724577"/>
          </a:xfrm>
          <a:prstGeom prst="roundRect">
            <a:avLst>
              <a:gd name="adj" fmla="val 88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4-text-03"/>
          <p:cNvSpPr txBox="1"/>
          <p:nvPr/>
        </p:nvSpPr>
        <p:spPr>
          <a:xfrm>
            <a:off x="1142971" y="1871913"/>
            <a:ext cx="3066973" cy="698483"/>
          </a:xfrm>
          <a:prstGeom prst="rect">
            <a:avLst/>
          </a:prstGeom>
          <a:noFill/>
        </p:spPr>
        <p:txBody>
          <a:bodyPr wrap="none" lIns="0" rIns="0" tIns="0" bIns="0" anchor="t">
            <a:noAutofit/>
          </a:bodyPr>
          <a:lstStyle/>
          <a:p>
            <a:pPr algn="l">
              <a:lnSpc>
                <a:spcPts val="5500"/>
              </a:lnSpc>
              <a:spcBef>
                <a:spcPts val="0"/>
              </a:spcBef>
              <a:spcAft>
                <a:spcPts val="0"/>
              </a:spcAft>
            </a:pPr>
            <a:r>
              <a:rPr sz="5500" b="1" i="0" spc="-220">
                <a:solidFill>
                  <a:srgbClr val="CC0000"/>
                </a:solidFill>
                <a:latin typeface="Arial"/>
              </a:rPr>
              <a:t>2</a:t>
            </a:r>
            <a:r>
              <a:rPr sz="3025" b="1" i="0" spc="-220" baseline="30000">
                <a:solidFill>
                  <a:srgbClr val="CC0000"/>
                </a:solidFill>
                <a:latin typeface="Arial"/>
              </a:rPr>
              <a:t>n</a:t>
            </a:r>
            <a:r>
              <a:rPr sz="5500" b="1" i="0" spc="-220">
                <a:solidFill>
                  <a:srgbClr val="CC0000"/>
                </a:solidFill>
                <a:latin typeface="Arial"/>
              </a:rPr>
              <a:t> × 16 B</a:t>
            </a:r>
          </a:p>
        </p:txBody>
      </p:sp>
      <p:sp>
        <p:nvSpPr>
          <p:cNvPr id="6" name="s4-text-04"/>
          <p:cNvSpPr txBox="1"/>
          <p:nvPr/>
        </p:nvSpPr>
        <p:spPr>
          <a:xfrm>
            <a:off x="1142971" y="2659294"/>
            <a:ext cx="3060623" cy="480008"/>
          </a:xfrm>
          <a:prstGeom prst="rect">
            <a:avLst/>
          </a:prstGeom>
          <a:noFill/>
        </p:spPr>
        <p:txBody>
          <a:bodyPr wrap="square" lIns="0" rIns="0" tIns="0" bIns="0" anchor="t">
            <a:noAutofit/>
          </a:bodyPr>
          <a:lstStyle/>
          <a:p>
            <a:pPr algn="l">
              <a:lnSpc>
                <a:spcPts val="1889"/>
              </a:lnSpc>
              <a:spcBef>
                <a:spcPts val="0"/>
              </a:spcBef>
              <a:spcAft>
                <a:spcPts val="0"/>
              </a:spcAft>
            </a:pPr>
            <a:r>
              <a:rPr sz="1400" b="0" i="0">
                <a:solidFill>
                  <a:srgbClr val="50505B"/>
                </a:solidFill>
                <a:latin typeface="Arial"/>
              </a:rPr>
              <a:t>state-vector memory doubles with every qubit</a:t>
            </a:r>
          </a:p>
        </p:txBody>
      </p:sp>
      <p:sp>
        <p:nvSpPr>
          <p:cNvPr id="7" name="s4-box-02"/>
          <p:cNvSpPr/>
          <p:nvPr/>
        </p:nvSpPr>
        <p:spPr>
          <a:xfrm>
            <a:off x="888978" y="3545692"/>
            <a:ext cx="3555911" cy="1534082"/>
          </a:xfrm>
          <a:prstGeom prst="roundRect">
            <a:avLst>
              <a:gd name="adj" fmla="val 9934"/>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4-text-05"/>
          <p:cNvSpPr txBox="1"/>
          <p:nvPr/>
        </p:nvSpPr>
        <p:spPr>
          <a:xfrm>
            <a:off x="1142971" y="3774286"/>
            <a:ext cx="3066973" cy="507987"/>
          </a:xfrm>
          <a:prstGeom prst="rect">
            <a:avLst/>
          </a:prstGeom>
          <a:noFill/>
        </p:spPr>
        <p:txBody>
          <a:bodyPr wrap="none" lIns="0" rIns="0" tIns="0" bIns="0" anchor="t">
            <a:noAutofit/>
          </a:bodyPr>
          <a:lstStyle/>
          <a:p>
            <a:pPr algn="l">
              <a:lnSpc>
                <a:spcPts val="4000"/>
              </a:lnSpc>
              <a:spcBef>
                <a:spcPts val="0"/>
              </a:spcBef>
              <a:spcAft>
                <a:spcPts val="0"/>
              </a:spcAft>
            </a:pPr>
            <a:r>
              <a:rPr sz="4000" b="1" i="0" spc="-160">
                <a:solidFill>
                  <a:srgbClr val="0B0B0F"/>
                </a:solidFill>
                <a:latin typeface="Arial"/>
              </a:rPr>
              <a:t>42 q ≈ 70 TB</a:t>
            </a:r>
          </a:p>
        </p:txBody>
      </p:sp>
      <p:sp>
        <p:nvSpPr>
          <p:cNvPr id="9" name="s4-text-06"/>
          <p:cNvSpPr txBox="1"/>
          <p:nvPr/>
        </p:nvSpPr>
        <p:spPr>
          <a:xfrm>
            <a:off x="1142971" y="4371171"/>
            <a:ext cx="3060623" cy="480008"/>
          </a:xfrm>
          <a:prstGeom prst="rect">
            <a:avLst/>
          </a:prstGeom>
          <a:noFill/>
        </p:spPr>
        <p:txBody>
          <a:bodyPr wrap="square" lIns="0" rIns="0" tIns="0" bIns="0" anchor="t">
            <a:noAutofit/>
          </a:bodyPr>
          <a:lstStyle/>
          <a:p>
            <a:pPr algn="l">
              <a:lnSpc>
                <a:spcPts val="1889"/>
              </a:lnSpc>
              <a:spcBef>
                <a:spcPts val="0"/>
              </a:spcBef>
              <a:spcAft>
                <a:spcPts val="0"/>
              </a:spcAft>
            </a:pPr>
            <a:r>
              <a:rPr sz="1400" b="0" i="0">
                <a:solidFill>
                  <a:srgbClr val="50505B"/>
                </a:solidFill>
                <a:latin typeface="Arial"/>
              </a:rPr>
              <a:t>one 40 GB A100: 32 qubits · one CPU node: 34 qubits in ≈24 h</a:t>
            </a:r>
          </a:p>
        </p:txBody>
      </p:sp>
      <p:pic>
        <p:nvPicPr>
          <p:cNvPr id="10" name="s4-image-01" descr="diagram"/>
          <p:cNvPicPr>
            <a:picLocks noChangeAspect="1"/>
          </p:cNvPicPr>
          <p:nvPr/>
        </p:nvPicPr>
        <p:blipFill>
          <a:blip r:embed="rId2"/>
          <a:stretch>
            <a:fillRect/>
          </a:stretch>
        </p:blipFill>
        <p:spPr>
          <a:xfrm>
            <a:off x="4597285" y="1555711"/>
            <a:ext cx="6406990" cy="3613060"/>
          </a:xfrm>
          <a:prstGeom prst="rect">
            <a:avLst/>
          </a:prstGeom>
        </p:spPr>
      </p:pic>
      <p:sp>
        <p:nvSpPr>
          <p:cNvPr id="11" name="s4-text-07"/>
          <p:cNvSpPr txBox="1"/>
          <p:nvPr/>
        </p:nvSpPr>
        <p:spPr>
          <a:xfrm>
            <a:off x="5028181" y="4491818"/>
            <a:ext cx="3374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 GB</a:t>
            </a:r>
          </a:p>
        </p:txBody>
      </p:sp>
      <p:sp>
        <p:nvSpPr>
          <p:cNvPr id="12" name="s4-text-08"/>
          <p:cNvSpPr txBox="1"/>
          <p:nvPr/>
        </p:nvSpPr>
        <p:spPr>
          <a:xfrm>
            <a:off x="4950495" y="3958432"/>
            <a:ext cx="4151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 GB</a:t>
            </a:r>
          </a:p>
        </p:txBody>
      </p:sp>
      <p:sp>
        <p:nvSpPr>
          <p:cNvPr id="13" name="s4-text-09"/>
          <p:cNvSpPr txBox="1"/>
          <p:nvPr/>
        </p:nvSpPr>
        <p:spPr>
          <a:xfrm>
            <a:off x="4872809" y="3425045"/>
            <a:ext cx="49280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100 GB</a:t>
            </a:r>
          </a:p>
        </p:txBody>
      </p:sp>
      <p:sp>
        <p:nvSpPr>
          <p:cNvPr id="14" name="s4-text-10"/>
          <p:cNvSpPr txBox="1"/>
          <p:nvPr/>
        </p:nvSpPr>
        <p:spPr>
          <a:xfrm>
            <a:off x="5054077" y="2891658"/>
            <a:ext cx="311539"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 TB</a:t>
            </a:r>
          </a:p>
        </p:txBody>
      </p:sp>
      <p:sp>
        <p:nvSpPr>
          <p:cNvPr id="15" name="s4-text-11"/>
          <p:cNvSpPr txBox="1"/>
          <p:nvPr/>
        </p:nvSpPr>
        <p:spPr>
          <a:xfrm>
            <a:off x="4976291" y="2358272"/>
            <a:ext cx="38932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 TB</a:t>
            </a:r>
          </a:p>
        </p:txBody>
      </p:sp>
      <p:sp>
        <p:nvSpPr>
          <p:cNvPr id="16" name="s4-text-12"/>
          <p:cNvSpPr txBox="1"/>
          <p:nvPr/>
        </p:nvSpPr>
        <p:spPr>
          <a:xfrm>
            <a:off x="4898605" y="1824885"/>
            <a:ext cx="46701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100 TB</a:t>
            </a:r>
          </a:p>
        </p:txBody>
      </p:sp>
      <p:sp>
        <p:nvSpPr>
          <p:cNvPr id="17" name="s4-text-13"/>
          <p:cNvSpPr txBox="1"/>
          <p:nvPr/>
        </p:nvSpPr>
        <p:spPr>
          <a:xfrm>
            <a:off x="5524362" y="3523004"/>
            <a:ext cx="865563"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A100 · 40 GB</a:t>
            </a:r>
          </a:p>
        </p:txBody>
      </p:sp>
      <p:sp>
        <p:nvSpPr>
          <p:cNvPr id="18" name="s4-text-14"/>
          <p:cNvSpPr txBox="1"/>
          <p:nvPr/>
        </p:nvSpPr>
        <p:spPr>
          <a:xfrm>
            <a:off x="5524362" y="2932431"/>
            <a:ext cx="12615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CPU node · 512 GB</a:t>
            </a:r>
          </a:p>
        </p:txBody>
      </p:sp>
      <p:sp>
        <p:nvSpPr>
          <p:cNvPr id="19" name="s4-text-15"/>
          <p:cNvSpPr txBox="1"/>
          <p:nvPr/>
        </p:nvSpPr>
        <p:spPr>
          <a:xfrm>
            <a:off x="5799312" y="4310238"/>
            <a:ext cx="532990"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0B0B0F"/>
                </a:solidFill>
                <a:latin typeface="Arial"/>
              </a:rPr>
              <a:t>1.1 GB</a:t>
            </a:r>
          </a:p>
        </p:txBody>
      </p:sp>
      <p:sp>
        <p:nvSpPr>
          <p:cNvPr id="20" name="s4-text-16"/>
          <p:cNvSpPr txBox="1"/>
          <p:nvPr/>
        </p:nvSpPr>
        <p:spPr>
          <a:xfrm>
            <a:off x="5964457" y="4644214"/>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26</a:t>
            </a:r>
          </a:p>
        </p:txBody>
      </p:sp>
      <p:sp>
        <p:nvSpPr>
          <p:cNvPr id="21" name="s4-text-17"/>
          <p:cNvSpPr txBox="1"/>
          <p:nvPr/>
        </p:nvSpPr>
        <p:spPr>
          <a:xfrm>
            <a:off x="6835767" y="3667977"/>
            <a:ext cx="487152"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0B0B0F"/>
                </a:solidFill>
                <a:latin typeface="Arial"/>
              </a:rPr>
              <a:t>17 GB</a:t>
            </a:r>
          </a:p>
        </p:txBody>
      </p:sp>
      <p:sp>
        <p:nvSpPr>
          <p:cNvPr id="22" name="s4-text-18"/>
          <p:cNvSpPr txBox="1"/>
          <p:nvPr/>
        </p:nvSpPr>
        <p:spPr>
          <a:xfrm>
            <a:off x="6977993" y="4644214"/>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30</a:t>
            </a:r>
          </a:p>
        </p:txBody>
      </p:sp>
      <p:sp>
        <p:nvSpPr>
          <p:cNvPr id="23" name="s4-text-19"/>
          <p:cNvSpPr txBox="1"/>
          <p:nvPr/>
        </p:nvSpPr>
        <p:spPr>
          <a:xfrm>
            <a:off x="7803409" y="3025716"/>
            <a:ext cx="578927"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0B0B0F"/>
                </a:solidFill>
                <a:latin typeface="Arial"/>
              </a:rPr>
              <a:t>275 GB</a:t>
            </a:r>
          </a:p>
        </p:txBody>
      </p:sp>
      <p:sp>
        <p:nvSpPr>
          <p:cNvPr id="24" name="s4-text-20"/>
          <p:cNvSpPr txBox="1"/>
          <p:nvPr/>
        </p:nvSpPr>
        <p:spPr>
          <a:xfrm>
            <a:off x="7991523" y="4644214"/>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34</a:t>
            </a:r>
          </a:p>
        </p:txBody>
      </p:sp>
      <p:sp>
        <p:nvSpPr>
          <p:cNvPr id="25" name="s4-text-21"/>
          <p:cNvSpPr txBox="1"/>
          <p:nvPr/>
        </p:nvSpPr>
        <p:spPr>
          <a:xfrm>
            <a:off x="8855187" y="2383455"/>
            <a:ext cx="502431"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0B0B0F"/>
                </a:solidFill>
                <a:latin typeface="Arial"/>
              </a:rPr>
              <a:t>4.4 TB</a:t>
            </a:r>
          </a:p>
        </p:txBody>
      </p:sp>
      <p:sp>
        <p:nvSpPr>
          <p:cNvPr id="26" name="s4-text-22"/>
          <p:cNvSpPr txBox="1"/>
          <p:nvPr/>
        </p:nvSpPr>
        <p:spPr>
          <a:xfrm>
            <a:off x="9005053" y="4644214"/>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38</a:t>
            </a:r>
          </a:p>
        </p:txBody>
      </p:sp>
      <p:sp>
        <p:nvSpPr>
          <p:cNvPr id="27" name="s4-text-23"/>
          <p:cNvSpPr txBox="1"/>
          <p:nvPr/>
        </p:nvSpPr>
        <p:spPr>
          <a:xfrm>
            <a:off x="9891642" y="1741195"/>
            <a:ext cx="456593"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0B0B0F"/>
                </a:solidFill>
                <a:latin typeface="Arial"/>
              </a:rPr>
              <a:t>70 TB</a:t>
            </a:r>
          </a:p>
        </p:txBody>
      </p:sp>
      <p:sp>
        <p:nvSpPr>
          <p:cNvPr id="28" name="s4-text-24"/>
          <p:cNvSpPr txBox="1"/>
          <p:nvPr/>
        </p:nvSpPr>
        <p:spPr>
          <a:xfrm>
            <a:off x="10018589" y="4644214"/>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42</a:t>
            </a:r>
          </a:p>
        </p:txBody>
      </p:sp>
      <p:sp>
        <p:nvSpPr>
          <p:cNvPr id="29" name="s4-text-25"/>
          <p:cNvSpPr txBox="1"/>
          <p:nvPr/>
        </p:nvSpPr>
        <p:spPr>
          <a:xfrm>
            <a:off x="7838681" y="4936307"/>
            <a:ext cx="50838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qubits n</a:t>
            </a:r>
          </a:p>
        </p:txBody>
      </p:sp>
      <p:sp>
        <p:nvSpPr>
          <p:cNvPr id="30" name="s4-text-26"/>
          <p:cNvSpPr txBox="1"/>
          <p:nvPr/>
        </p:nvSpPr>
        <p:spPr>
          <a:xfrm>
            <a:off x="4876678" y="1596291"/>
            <a:ext cx="2628239"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state-vector memory (2ⁿ × 16 B, log scale)</a:t>
            </a:r>
          </a:p>
        </p:txBody>
      </p:sp>
      <p:sp>
        <p:nvSpPr>
          <p:cNvPr id="31" name="!!sec"/>
          <p:cNvSpPr txBox="1"/>
          <p:nvPr/>
        </p:nvSpPr>
        <p:spPr>
          <a:xfrm>
            <a:off x="888978" y="6362541"/>
            <a:ext cx="1291201"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Introduction</a:t>
            </a:r>
          </a:p>
        </p:txBody>
      </p:sp>
      <p:pic>
        <p:nvPicPr>
          <p:cNvPr id="32" name="s4-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33" name="!!pg"/>
          <p:cNvSpPr txBox="1"/>
          <p:nvPr/>
        </p:nvSpPr>
        <p:spPr>
          <a:xfrm>
            <a:off x="10304800" y="634984"/>
            <a:ext cx="572478"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4</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s5-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5-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s5-text-01"/>
          <p:cNvSpPr txBox="1"/>
          <p:nvPr/>
        </p:nvSpPr>
        <p:spPr>
          <a:xfrm>
            <a:off x="888978" y="2364721"/>
            <a:ext cx="10432789"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Layer 1 · Scale</a:t>
            </a:r>
          </a:p>
        </p:txBody>
      </p:sp>
      <p:sp>
        <p:nvSpPr>
          <p:cNvPr id="5" name="s5-text-02"/>
          <p:cNvSpPr txBox="1"/>
          <p:nvPr/>
        </p:nvSpPr>
        <p:spPr>
          <a:xfrm>
            <a:off x="888978" y="2675863"/>
            <a:ext cx="3003276" cy="826670"/>
          </a:xfrm>
          <a:prstGeom prst="rect">
            <a:avLst/>
          </a:prstGeom>
          <a:noFill/>
        </p:spPr>
        <p:txBody>
          <a:bodyPr wrap="none" lIns="0" rIns="0" tIns="0" bIns="0" anchor="t">
            <a:noAutofit/>
          </a:bodyPr>
          <a:lstStyle/>
          <a:p>
            <a:pPr algn="l">
              <a:lnSpc>
                <a:spcPts val="6509"/>
              </a:lnSpc>
              <a:spcBef>
                <a:spcPts val="0"/>
              </a:spcBef>
              <a:spcAft>
                <a:spcPts val="0"/>
              </a:spcAft>
            </a:pPr>
            <a:r>
              <a:rPr sz="6200" b="1" i="0" spc="-217">
                <a:solidFill>
                  <a:srgbClr val="CC0000"/>
                </a:solidFill>
                <a:latin typeface="Arial"/>
              </a:rPr>
              <a:t>Q-GEAR</a:t>
            </a:r>
          </a:p>
        </p:txBody>
      </p:sp>
      <p:sp>
        <p:nvSpPr>
          <p:cNvPr id="6" name="s5-text-03"/>
          <p:cNvSpPr txBox="1"/>
          <p:nvPr/>
        </p:nvSpPr>
        <p:spPr>
          <a:xfrm>
            <a:off x="888978" y="3654929"/>
            <a:ext cx="9537462" cy="685783"/>
          </a:xfrm>
          <a:prstGeom prst="rect">
            <a:avLst/>
          </a:prstGeom>
          <a:noFill/>
        </p:spPr>
        <p:txBody>
          <a:bodyPr wrap="square" lIns="0" rIns="0" tIns="0" bIns="0" anchor="t">
            <a:noAutofit/>
          </a:bodyPr>
          <a:lstStyle/>
          <a:p>
            <a:pPr algn="l">
              <a:lnSpc>
                <a:spcPts val="2700"/>
              </a:lnSpc>
              <a:spcBef>
                <a:spcPts val="0"/>
              </a:spcBef>
              <a:spcAft>
                <a:spcPts val="0"/>
              </a:spcAft>
            </a:pPr>
            <a:r>
              <a:rPr sz="2000" b="0" i="0">
                <a:solidFill>
                  <a:srgbClr val="50505B"/>
                </a:solidFill>
                <a:latin typeface="Arial"/>
              </a:rPr>
              <a:t>GPU-accelerated circuit simulation at HPC scale</a:t>
            </a:r>
          </a:p>
          <a:p>
            <a:pPr algn="l">
              <a:lnSpc>
                <a:spcPts val="2700"/>
              </a:lnSpc>
              <a:spcBef>
                <a:spcPts val="0"/>
              </a:spcBef>
              <a:spcAft>
                <a:spcPts val="0"/>
              </a:spcAft>
            </a:pPr>
            <a:r>
              <a:rPr sz="1200" b="0" i="0">
                <a:solidFill>
                  <a:srgbClr val="7B7B86"/>
                </a:solidFill>
                <a:latin typeface="Arial"/>
              </a:rPr>
              <a:t>Guo, Balewski, Pan · ACM ICPP 2025 · arXiv:2504.03967 · github.com/gzquse/qgear</a:t>
            </a:r>
          </a:p>
        </p:txBody>
      </p:sp>
      <p:sp>
        <p:nvSpPr>
          <p:cNvPr id="7" name="!!L1-bg"/>
          <p:cNvSpPr/>
          <p:nvPr/>
        </p:nvSpPr>
        <p:spPr>
          <a:xfrm>
            <a:off x="5579824" y="6311742"/>
            <a:ext cx="1119656"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5-text-04"/>
          <p:cNvSpPr txBox="1"/>
          <p:nvPr/>
        </p:nvSpPr>
        <p:spPr>
          <a:xfrm>
            <a:off x="5706821"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B00000"/>
                </a:solidFill>
                <a:latin typeface="Courier New"/>
              </a:rPr>
              <a:t>01</a:t>
            </a:r>
          </a:p>
        </p:txBody>
      </p:sp>
      <p:sp>
        <p:nvSpPr>
          <p:cNvPr id="9" name="!!L1-t"/>
          <p:cNvSpPr txBox="1"/>
          <p:nvPr/>
        </p:nvSpPr>
        <p:spPr>
          <a:xfrm>
            <a:off x="5920235" y="6362541"/>
            <a:ext cx="67129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0B0B0F"/>
                </a:solidFill>
                <a:latin typeface="Arial"/>
              </a:rPr>
              <a:t>Simulation</a:t>
            </a:r>
          </a:p>
        </p:txBody>
      </p:sp>
      <p:sp>
        <p:nvSpPr>
          <p:cNvPr id="10"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5-text-06"/>
          <p:cNvSpPr txBox="1"/>
          <p:nvPr/>
        </p:nvSpPr>
        <p:spPr>
          <a:xfrm>
            <a:off x="6889975"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2" name="!!L2-t"/>
          <p:cNvSpPr txBox="1"/>
          <p:nvPr/>
        </p:nvSpPr>
        <p:spPr>
          <a:xfrm>
            <a:off x="7103389" y="6362541"/>
            <a:ext cx="67893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3"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5-text-08"/>
          <p:cNvSpPr txBox="1"/>
          <p:nvPr/>
        </p:nvSpPr>
        <p:spPr>
          <a:xfrm>
            <a:off x="8080768"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15" name="!!L3-t"/>
          <p:cNvSpPr txBox="1"/>
          <p:nvPr/>
        </p:nvSpPr>
        <p:spPr>
          <a:xfrm>
            <a:off x="8294182" y="6362541"/>
            <a:ext cx="920032"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16"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5-text-10"/>
          <p:cNvSpPr txBox="1"/>
          <p:nvPr/>
        </p:nvSpPr>
        <p:spPr>
          <a:xfrm>
            <a:off x="9512657"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18" name="!!L4-t"/>
          <p:cNvSpPr txBox="1"/>
          <p:nvPr/>
        </p:nvSpPr>
        <p:spPr>
          <a:xfrm>
            <a:off x="9726072" y="6362541"/>
            <a:ext cx="624765"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19"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5-text-12"/>
          <p:cNvSpPr txBox="1"/>
          <p:nvPr/>
        </p:nvSpPr>
        <p:spPr>
          <a:xfrm>
            <a:off x="10649279"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1" name="!!L5-t"/>
          <p:cNvSpPr txBox="1"/>
          <p:nvPr/>
        </p:nvSpPr>
        <p:spPr>
          <a:xfrm>
            <a:off x="10862693" y="6362541"/>
            <a:ext cx="33207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2" name="!!sec"/>
          <p:cNvSpPr txBox="1"/>
          <p:nvPr/>
        </p:nvSpPr>
        <p:spPr>
          <a:xfrm>
            <a:off x="888978" y="6362541"/>
            <a:ext cx="187935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Simulation · Q-GEAR</a:t>
            </a:r>
          </a:p>
        </p:txBody>
      </p:sp>
      <p:pic>
        <p:nvPicPr>
          <p:cNvPr id="23" name="s5-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4" name="!!pg"/>
          <p:cNvSpPr txBox="1"/>
          <p:nvPr/>
        </p:nvSpPr>
        <p:spPr>
          <a:xfrm>
            <a:off x="10304800" y="634984"/>
            <a:ext cx="572478"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5</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790754"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Design</a:t>
            </a:r>
          </a:p>
        </p:txBody>
      </p:sp>
      <p:sp>
        <p:nvSpPr>
          <p:cNvPr id="3" name="s6-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The kernel transformation pipeline</a:t>
            </a:r>
          </a:p>
        </p:txBody>
      </p:sp>
      <p:pic>
        <p:nvPicPr>
          <p:cNvPr id="4" name="s6-image-01" descr="diagram"/>
          <p:cNvPicPr>
            <a:picLocks noChangeAspect="1"/>
          </p:cNvPicPr>
          <p:nvPr/>
        </p:nvPicPr>
        <p:blipFill>
          <a:blip r:embed="rId2"/>
          <a:stretch>
            <a:fillRect/>
          </a:stretch>
        </p:blipFill>
        <p:spPr>
          <a:xfrm>
            <a:off x="863578" y="1670008"/>
            <a:ext cx="10470888" cy="2597085"/>
          </a:xfrm>
          <a:prstGeom prst="rect">
            <a:avLst/>
          </a:prstGeom>
        </p:spPr>
      </p:pic>
      <p:sp>
        <p:nvSpPr>
          <p:cNvPr id="5" name="s6-text-03"/>
          <p:cNvSpPr txBox="1"/>
          <p:nvPr/>
        </p:nvSpPr>
        <p:spPr>
          <a:xfrm>
            <a:off x="1149817" y="2713863"/>
            <a:ext cx="1252109"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Qiskit circuit</a:t>
            </a:r>
          </a:p>
        </p:txBody>
      </p:sp>
      <p:sp>
        <p:nvSpPr>
          <p:cNvPr id="6" name="s6-text-04"/>
          <p:cNvSpPr txBox="1"/>
          <p:nvPr/>
        </p:nvSpPr>
        <p:spPr>
          <a:xfrm>
            <a:off x="1073967" y="2999605"/>
            <a:ext cx="140162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user code, unchanged</a:t>
            </a:r>
          </a:p>
        </p:txBody>
      </p:sp>
      <p:sp>
        <p:nvSpPr>
          <p:cNvPr id="7" name="s6-text-05"/>
          <p:cNvSpPr txBox="1"/>
          <p:nvPr/>
        </p:nvSpPr>
        <p:spPr>
          <a:xfrm>
            <a:off x="3266398" y="2713863"/>
            <a:ext cx="572676"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Parse</a:t>
            </a:r>
          </a:p>
        </p:txBody>
      </p:sp>
      <p:sp>
        <p:nvSpPr>
          <p:cNvPr id="8" name="s6-text-06"/>
          <p:cNvSpPr txBox="1"/>
          <p:nvPr/>
        </p:nvSpPr>
        <p:spPr>
          <a:xfrm>
            <a:off x="3092770" y="2999605"/>
            <a:ext cx="926196"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gate set check</a:t>
            </a:r>
          </a:p>
        </p:txBody>
      </p:sp>
      <p:sp>
        <p:nvSpPr>
          <p:cNvPr id="9" name="s6-text-07"/>
          <p:cNvSpPr txBox="1"/>
          <p:nvPr/>
        </p:nvSpPr>
        <p:spPr>
          <a:xfrm>
            <a:off x="4954216" y="2713863"/>
            <a:ext cx="752952"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Encode</a:t>
            </a:r>
          </a:p>
        </p:txBody>
      </p:sp>
      <p:sp>
        <p:nvSpPr>
          <p:cNvPr id="10" name="s6-text-08"/>
          <p:cNvSpPr txBox="1"/>
          <p:nvPr/>
        </p:nvSpPr>
        <p:spPr>
          <a:xfrm>
            <a:off x="4622436" y="2999605"/>
            <a:ext cx="141651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three tensors → HDF5</a:t>
            </a:r>
          </a:p>
        </p:txBody>
      </p:sp>
      <p:sp>
        <p:nvSpPr>
          <p:cNvPr id="11" name="s6-text-09"/>
          <p:cNvSpPr txBox="1"/>
          <p:nvPr/>
        </p:nvSpPr>
        <p:spPr>
          <a:xfrm>
            <a:off x="6658652" y="2713863"/>
            <a:ext cx="89999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Generate</a:t>
            </a:r>
          </a:p>
        </p:txBody>
      </p:sp>
      <p:sp>
        <p:nvSpPr>
          <p:cNvPr id="12" name="s6-text-10"/>
          <p:cNvSpPr txBox="1"/>
          <p:nvPr/>
        </p:nvSpPr>
        <p:spPr>
          <a:xfrm>
            <a:off x="6613955" y="2999605"/>
            <a:ext cx="98938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CUDA-Q kernel</a:t>
            </a:r>
          </a:p>
        </p:txBody>
      </p:sp>
      <p:sp>
        <p:nvSpPr>
          <p:cNvPr id="13" name="s6-text-11"/>
          <p:cNvSpPr txBox="1"/>
          <p:nvPr/>
        </p:nvSpPr>
        <p:spPr>
          <a:xfrm>
            <a:off x="8464735" y="2713863"/>
            <a:ext cx="843735"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Package</a:t>
            </a:r>
          </a:p>
        </p:txBody>
      </p:sp>
      <p:sp>
        <p:nvSpPr>
          <p:cNvPr id="14" name="s6-text-12"/>
          <p:cNvSpPr txBox="1"/>
          <p:nvPr/>
        </p:nvSpPr>
        <p:spPr>
          <a:xfrm>
            <a:off x="8356788" y="2999605"/>
            <a:ext cx="1059630"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Podman / Shifter</a:t>
            </a:r>
          </a:p>
        </p:txBody>
      </p:sp>
      <p:sp>
        <p:nvSpPr>
          <p:cNvPr id="15" name="s6-text-13"/>
          <p:cNvSpPr txBox="1"/>
          <p:nvPr/>
        </p:nvSpPr>
        <p:spPr>
          <a:xfrm>
            <a:off x="10457544" y="2713863"/>
            <a:ext cx="414029"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Run</a:t>
            </a:r>
          </a:p>
        </p:txBody>
      </p:sp>
      <p:sp>
        <p:nvSpPr>
          <p:cNvPr id="16" name="s6-text-14"/>
          <p:cNvSpPr txBox="1"/>
          <p:nvPr/>
        </p:nvSpPr>
        <p:spPr>
          <a:xfrm>
            <a:off x="9944844" y="2999605"/>
            <a:ext cx="1439430"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Slurm · multi-GPU MPI</a:t>
            </a:r>
          </a:p>
        </p:txBody>
      </p:sp>
      <p:sp>
        <p:nvSpPr>
          <p:cNvPr id="17" name="s6-text-15"/>
          <p:cNvSpPr txBox="1"/>
          <p:nvPr/>
        </p:nvSpPr>
        <p:spPr>
          <a:xfrm>
            <a:off x="1015975" y="3640939"/>
            <a:ext cx="3203197"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Q-GEAR automates the four middle stages.</a:t>
            </a:r>
          </a:p>
        </p:txBody>
      </p:sp>
      <p:sp>
        <p:nvSpPr>
          <p:cNvPr id="18" name="s6-text-16"/>
          <p:cNvSpPr txBox="1"/>
          <p:nvPr/>
        </p:nvSpPr>
        <p:spPr>
          <a:xfrm>
            <a:off x="1015975" y="3933032"/>
            <a:ext cx="4866062"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7B7B86"/>
                </a:solidFill>
                <a:latin typeface="Courier New"/>
              </a:rPr>
              <a:t>python · nbdev · Apache-2.0 · github.com/gzquse/qgear</a:t>
            </a:r>
          </a:p>
        </p:txBody>
      </p:sp>
      <p:sp>
        <p:nvSpPr>
          <p:cNvPr id="19" name="!!sec"/>
          <p:cNvSpPr txBox="1"/>
          <p:nvPr/>
        </p:nvSpPr>
        <p:spPr>
          <a:xfrm>
            <a:off x="888978" y="6362541"/>
            <a:ext cx="187935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Simulation · Q-GEAR</a:t>
            </a:r>
          </a:p>
        </p:txBody>
      </p:sp>
      <p:pic>
        <p:nvPicPr>
          <p:cNvPr id="20" name="s6-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1" name="!!pg"/>
          <p:cNvSpPr txBox="1"/>
          <p:nvPr/>
        </p:nvSpPr>
        <p:spPr>
          <a:xfrm>
            <a:off x="10304800" y="634984"/>
            <a:ext cx="572478"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6</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1396767"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Deployment</a:t>
            </a:r>
          </a:p>
        </p:txBody>
      </p:sp>
      <p:sp>
        <p:nvSpPr>
          <p:cNvPr id="3" name="s7-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One node to a thousand GPUs</a:t>
            </a:r>
          </a:p>
        </p:txBody>
      </p:sp>
      <p:pic>
        <p:nvPicPr>
          <p:cNvPr id="4" name="s7-image-01" descr="diagram"/>
          <p:cNvPicPr>
            <a:picLocks noChangeAspect="1"/>
          </p:cNvPicPr>
          <p:nvPr/>
        </p:nvPicPr>
        <p:blipFill>
          <a:blip r:embed="rId2"/>
          <a:stretch>
            <a:fillRect/>
          </a:stretch>
        </p:blipFill>
        <p:spPr>
          <a:xfrm>
            <a:off x="863578" y="1568411"/>
            <a:ext cx="10470888" cy="3740056"/>
          </a:xfrm>
          <a:prstGeom prst="rect">
            <a:avLst/>
          </a:prstGeom>
        </p:spPr>
      </p:pic>
      <p:sp>
        <p:nvSpPr>
          <p:cNvPr id="5" name="s7-text-03"/>
          <p:cNvSpPr txBox="1"/>
          <p:nvPr/>
        </p:nvSpPr>
        <p:spPr>
          <a:xfrm>
            <a:off x="1333467" y="1983631"/>
            <a:ext cx="2073918"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Perlmutter GPU node</a:t>
            </a:r>
          </a:p>
        </p:txBody>
      </p:sp>
      <p:sp>
        <p:nvSpPr>
          <p:cNvPr id="6" name="s7-text-04"/>
          <p:cNvSpPr txBox="1"/>
          <p:nvPr/>
        </p:nvSpPr>
        <p:spPr>
          <a:xfrm>
            <a:off x="1333467" y="2269374"/>
            <a:ext cx="4569380"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 × AMD EPYC CPU · 4 × NVIDIA A100 (40 GB) · NVLink · Slingshot NIC</a:t>
            </a:r>
          </a:p>
        </p:txBody>
      </p:sp>
      <p:sp>
        <p:nvSpPr>
          <p:cNvPr id="7" name="s7-text-05"/>
          <p:cNvSpPr txBox="1"/>
          <p:nvPr/>
        </p:nvSpPr>
        <p:spPr>
          <a:xfrm>
            <a:off x="1753945" y="2834510"/>
            <a:ext cx="44806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CPU</a:t>
            </a:r>
          </a:p>
        </p:txBody>
      </p:sp>
      <p:sp>
        <p:nvSpPr>
          <p:cNvPr id="8" name="s7-text-06"/>
          <p:cNvSpPr txBox="1"/>
          <p:nvPr/>
        </p:nvSpPr>
        <p:spPr>
          <a:xfrm>
            <a:off x="1603583" y="3120252"/>
            <a:ext cx="74941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AMD EPYC</a:t>
            </a:r>
          </a:p>
        </p:txBody>
      </p:sp>
      <p:sp>
        <p:nvSpPr>
          <p:cNvPr id="9" name="s7-text-07"/>
          <p:cNvSpPr txBox="1"/>
          <p:nvPr/>
        </p:nvSpPr>
        <p:spPr>
          <a:xfrm>
            <a:off x="3076548" y="2834510"/>
            <a:ext cx="78728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A100 #0</a:t>
            </a:r>
          </a:p>
        </p:txBody>
      </p:sp>
      <p:sp>
        <p:nvSpPr>
          <p:cNvPr id="10" name="s7-text-08"/>
          <p:cNvSpPr txBox="1"/>
          <p:nvPr/>
        </p:nvSpPr>
        <p:spPr>
          <a:xfrm>
            <a:off x="3262628" y="3120252"/>
            <a:ext cx="4151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40 GB</a:t>
            </a:r>
          </a:p>
        </p:txBody>
      </p:sp>
      <p:sp>
        <p:nvSpPr>
          <p:cNvPr id="11" name="s7-text-09"/>
          <p:cNvSpPr txBox="1"/>
          <p:nvPr/>
        </p:nvSpPr>
        <p:spPr>
          <a:xfrm>
            <a:off x="4219519" y="2834510"/>
            <a:ext cx="78728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A100 #1</a:t>
            </a:r>
          </a:p>
        </p:txBody>
      </p:sp>
      <p:sp>
        <p:nvSpPr>
          <p:cNvPr id="12" name="s7-text-10"/>
          <p:cNvSpPr txBox="1"/>
          <p:nvPr/>
        </p:nvSpPr>
        <p:spPr>
          <a:xfrm>
            <a:off x="4405599" y="3120252"/>
            <a:ext cx="4151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40 GB</a:t>
            </a:r>
          </a:p>
        </p:txBody>
      </p:sp>
      <p:sp>
        <p:nvSpPr>
          <p:cNvPr id="13" name="s7-text-11"/>
          <p:cNvSpPr txBox="1"/>
          <p:nvPr/>
        </p:nvSpPr>
        <p:spPr>
          <a:xfrm>
            <a:off x="5362491" y="2834510"/>
            <a:ext cx="78728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A100 #2</a:t>
            </a:r>
          </a:p>
        </p:txBody>
      </p:sp>
      <p:sp>
        <p:nvSpPr>
          <p:cNvPr id="14" name="s7-text-12"/>
          <p:cNvSpPr txBox="1"/>
          <p:nvPr/>
        </p:nvSpPr>
        <p:spPr>
          <a:xfrm>
            <a:off x="5548571" y="3120252"/>
            <a:ext cx="4151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40 GB</a:t>
            </a:r>
          </a:p>
        </p:txBody>
      </p:sp>
      <p:sp>
        <p:nvSpPr>
          <p:cNvPr id="15" name="s7-text-13"/>
          <p:cNvSpPr txBox="1"/>
          <p:nvPr/>
        </p:nvSpPr>
        <p:spPr>
          <a:xfrm>
            <a:off x="6505462" y="2834510"/>
            <a:ext cx="78728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A100 #3</a:t>
            </a:r>
          </a:p>
        </p:txBody>
      </p:sp>
      <p:sp>
        <p:nvSpPr>
          <p:cNvPr id="16" name="s7-text-14"/>
          <p:cNvSpPr txBox="1"/>
          <p:nvPr/>
        </p:nvSpPr>
        <p:spPr>
          <a:xfrm>
            <a:off x="6691542" y="3120252"/>
            <a:ext cx="4151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40 GB</a:t>
            </a:r>
          </a:p>
        </p:txBody>
      </p:sp>
      <p:sp>
        <p:nvSpPr>
          <p:cNvPr id="17" name="s7-text-15"/>
          <p:cNvSpPr txBox="1"/>
          <p:nvPr/>
        </p:nvSpPr>
        <p:spPr>
          <a:xfrm>
            <a:off x="2853212" y="3882233"/>
            <a:ext cx="4599369"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NVLink · state vector sharded across the four GPUs (CUDA-Q multi-GPU)</a:t>
            </a:r>
          </a:p>
        </p:txBody>
      </p:sp>
      <p:sp>
        <p:nvSpPr>
          <p:cNvPr id="18" name="s7-text-16"/>
          <p:cNvSpPr txBox="1"/>
          <p:nvPr/>
        </p:nvSpPr>
        <p:spPr>
          <a:xfrm>
            <a:off x="1492957" y="4358472"/>
            <a:ext cx="1351028"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Slingshot NIC</a:t>
            </a:r>
          </a:p>
        </p:txBody>
      </p:sp>
      <p:sp>
        <p:nvSpPr>
          <p:cNvPr id="19" name="s7-text-17"/>
          <p:cNvSpPr txBox="1"/>
          <p:nvPr/>
        </p:nvSpPr>
        <p:spPr>
          <a:xfrm>
            <a:off x="1712324" y="4644214"/>
            <a:ext cx="91229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to other nodes</a:t>
            </a:r>
          </a:p>
        </p:txBody>
      </p:sp>
      <p:sp>
        <p:nvSpPr>
          <p:cNvPr id="20" name="s7-text-18"/>
          <p:cNvSpPr txBox="1"/>
          <p:nvPr/>
        </p:nvSpPr>
        <p:spPr>
          <a:xfrm>
            <a:off x="8947174" y="2834510"/>
            <a:ext cx="1910806" cy="311142"/>
          </a:xfrm>
          <a:prstGeom prst="rect">
            <a:avLst/>
          </a:prstGeom>
          <a:noFill/>
        </p:spPr>
        <p:txBody>
          <a:bodyPr wrap="none" lIns="0" rIns="0" tIns="0" bIns="0" anchor="t">
            <a:noAutofit/>
          </a:bodyPr>
          <a:lstStyle/>
          <a:p>
            <a:pPr algn="l">
              <a:lnSpc>
                <a:spcPct val="100000"/>
              </a:lnSpc>
              <a:spcBef>
                <a:spcPts val="0"/>
              </a:spcBef>
              <a:spcAft>
                <a:spcPts val="0"/>
              </a:spcAft>
            </a:pPr>
            <a:r>
              <a:rPr sz="2200" b="1" i="0" spc="-44">
                <a:solidFill>
                  <a:srgbClr val="0B0B0F"/>
                </a:solidFill>
                <a:latin typeface="Arial"/>
              </a:rPr>
              <a:t>… × 256 nodes</a:t>
            </a:r>
          </a:p>
        </p:txBody>
      </p:sp>
      <p:sp>
        <p:nvSpPr>
          <p:cNvPr id="21" name="s7-text-19"/>
          <p:cNvSpPr txBox="1"/>
          <p:nvPr/>
        </p:nvSpPr>
        <p:spPr>
          <a:xfrm>
            <a:off x="9012111" y="3234550"/>
            <a:ext cx="1780932"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1,024 A100 GPUs · MPI</a:t>
            </a:r>
          </a:p>
        </p:txBody>
      </p:sp>
      <p:sp>
        <p:nvSpPr>
          <p:cNvPr id="22" name="s7-text-20"/>
          <p:cNvSpPr txBox="1"/>
          <p:nvPr/>
        </p:nvSpPr>
        <p:spPr>
          <a:xfrm>
            <a:off x="9186385" y="3539342"/>
            <a:ext cx="143238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42-qubit state vector in</a:t>
            </a:r>
          </a:p>
        </p:txBody>
      </p:sp>
      <p:sp>
        <p:nvSpPr>
          <p:cNvPr id="23" name="s7-text-21"/>
          <p:cNvSpPr txBox="1"/>
          <p:nvPr/>
        </p:nvSpPr>
        <p:spPr>
          <a:xfrm>
            <a:off x="9136033" y="3729837"/>
            <a:ext cx="1533090"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aggregate GPU memory</a:t>
            </a:r>
          </a:p>
        </p:txBody>
      </p:sp>
      <p:sp>
        <p:nvSpPr>
          <p:cNvPr id="24" name="s7-text-22"/>
          <p:cNvSpPr txBox="1"/>
          <p:nvPr/>
        </p:nvSpPr>
        <p:spPr>
          <a:xfrm>
            <a:off x="9194669" y="3983831"/>
            <a:ext cx="1415816"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≈100% GPU utilization</a:t>
            </a:r>
          </a:p>
        </p:txBody>
      </p:sp>
      <p:sp>
        <p:nvSpPr>
          <p:cNvPr id="25" name="!!sec"/>
          <p:cNvSpPr txBox="1"/>
          <p:nvPr/>
        </p:nvSpPr>
        <p:spPr>
          <a:xfrm>
            <a:off x="888978" y="6362541"/>
            <a:ext cx="187935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Simulation · Q-GEAR</a:t>
            </a:r>
          </a:p>
        </p:txBody>
      </p:sp>
      <p:pic>
        <p:nvPicPr>
          <p:cNvPr id="26" name="s7-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7" name="!!pg"/>
          <p:cNvSpPr txBox="1"/>
          <p:nvPr/>
        </p:nvSpPr>
        <p:spPr>
          <a:xfrm>
            <a:off x="10304800" y="634984"/>
            <a:ext cx="572478"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7</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939181"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Results</a:t>
            </a:r>
          </a:p>
        </p:txBody>
      </p:sp>
      <p:sp>
        <p:nvSpPr>
          <p:cNvPr id="3" name="s8-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Hours become minutes</a:t>
            </a:r>
          </a:p>
        </p:txBody>
      </p:sp>
      <p:pic>
        <p:nvPicPr>
          <p:cNvPr id="4" name="s8-image-01" descr="diagram"/>
          <p:cNvPicPr>
            <a:picLocks noChangeAspect="1"/>
          </p:cNvPicPr>
          <p:nvPr/>
        </p:nvPicPr>
        <p:blipFill>
          <a:blip r:embed="rId2"/>
          <a:stretch>
            <a:fillRect/>
          </a:stretch>
        </p:blipFill>
        <p:spPr>
          <a:xfrm>
            <a:off x="863578" y="1517612"/>
            <a:ext cx="10470888" cy="3867053"/>
          </a:xfrm>
          <a:prstGeom prst="rect">
            <a:avLst/>
          </a:prstGeom>
        </p:spPr>
      </p:pic>
      <p:pic>
        <p:nvPicPr>
          <p:cNvPr id="5" name="!!qg-cpu" descr="chart element"/>
          <p:cNvPicPr>
            <a:picLocks noChangeAspect="1"/>
          </p:cNvPicPr>
          <p:nvPr/>
        </p:nvPicPr>
        <p:blipFill>
          <a:blip r:embed="rId3"/>
          <a:stretch>
            <a:fillRect/>
          </a:stretch>
        </p:blipFill>
        <p:spPr>
          <a:xfrm>
            <a:off x="2660583" y="2006550"/>
            <a:ext cx="7442014" cy="1003275"/>
          </a:xfrm>
          <a:prstGeom prst="rect">
            <a:avLst/>
          </a:prstGeom>
        </p:spPr>
      </p:pic>
      <p:pic>
        <p:nvPicPr>
          <p:cNvPr id="6" name="!!qg-cpu-28" descr="chart element"/>
          <p:cNvPicPr>
            <a:picLocks noChangeAspect="1"/>
          </p:cNvPicPr>
          <p:nvPr/>
        </p:nvPicPr>
        <p:blipFill>
          <a:blip r:embed="rId4"/>
          <a:stretch>
            <a:fillRect/>
          </a:stretch>
        </p:blipFill>
        <p:spPr>
          <a:xfrm>
            <a:off x="2603435" y="2870128"/>
            <a:ext cx="196845" cy="196845"/>
          </a:xfrm>
          <a:prstGeom prst="rect">
            <a:avLst/>
          </a:prstGeom>
        </p:spPr>
      </p:pic>
      <p:pic>
        <p:nvPicPr>
          <p:cNvPr id="7" name="!!qg-cpu-30" descr="chart element"/>
          <p:cNvPicPr>
            <a:picLocks noChangeAspect="1"/>
          </p:cNvPicPr>
          <p:nvPr/>
        </p:nvPicPr>
        <p:blipFill>
          <a:blip r:embed="rId5"/>
          <a:stretch>
            <a:fillRect/>
          </a:stretch>
        </p:blipFill>
        <p:spPr>
          <a:xfrm>
            <a:off x="5054474" y="2565336"/>
            <a:ext cx="196845" cy="196845"/>
          </a:xfrm>
          <a:prstGeom prst="rect">
            <a:avLst/>
          </a:prstGeom>
        </p:spPr>
      </p:pic>
      <p:pic>
        <p:nvPicPr>
          <p:cNvPr id="8" name="!!qg-cpu-32" descr="chart element"/>
          <p:cNvPicPr>
            <a:picLocks noChangeAspect="1"/>
          </p:cNvPicPr>
          <p:nvPr/>
        </p:nvPicPr>
        <p:blipFill>
          <a:blip r:embed="rId6"/>
          <a:stretch>
            <a:fillRect/>
          </a:stretch>
        </p:blipFill>
        <p:spPr>
          <a:xfrm>
            <a:off x="7511862" y="2254194"/>
            <a:ext cx="196845" cy="196845"/>
          </a:xfrm>
          <a:prstGeom prst="rect">
            <a:avLst/>
          </a:prstGeom>
        </p:spPr>
      </p:pic>
      <p:pic>
        <p:nvPicPr>
          <p:cNvPr id="9" name="!!qg-cpu-34" descr="chart element"/>
          <p:cNvPicPr>
            <a:picLocks noChangeAspect="1"/>
          </p:cNvPicPr>
          <p:nvPr/>
        </p:nvPicPr>
        <p:blipFill>
          <a:blip r:embed="rId7"/>
          <a:stretch>
            <a:fillRect/>
          </a:stretch>
        </p:blipFill>
        <p:spPr>
          <a:xfrm>
            <a:off x="9962901" y="1949401"/>
            <a:ext cx="196845" cy="196845"/>
          </a:xfrm>
          <a:prstGeom prst="rect">
            <a:avLst/>
          </a:prstGeom>
        </p:spPr>
      </p:pic>
      <p:pic>
        <p:nvPicPr>
          <p:cNvPr id="10" name="!!qg-cpu-lgm" descr="chart element"/>
          <p:cNvPicPr>
            <a:picLocks noChangeAspect="1"/>
          </p:cNvPicPr>
          <p:nvPr/>
        </p:nvPicPr>
        <p:blipFill>
          <a:blip r:embed="rId8"/>
          <a:stretch>
            <a:fillRect/>
          </a:stretch>
        </p:blipFill>
        <p:spPr>
          <a:xfrm>
            <a:off x="2222444" y="1949401"/>
            <a:ext cx="184145" cy="184145"/>
          </a:xfrm>
          <a:prstGeom prst="rect">
            <a:avLst/>
          </a:prstGeom>
        </p:spPr>
      </p:pic>
      <p:pic>
        <p:nvPicPr>
          <p:cNvPr id="11" name="!!qg-g1" descr="chart element"/>
          <p:cNvPicPr>
            <a:picLocks noChangeAspect="1"/>
          </p:cNvPicPr>
          <p:nvPr/>
        </p:nvPicPr>
        <p:blipFill>
          <a:blip r:embed="rId9"/>
          <a:stretch>
            <a:fillRect/>
          </a:stretch>
        </p:blipFill>
        <p:spPr>
          <a:xfrm>
            <a:off x="2660583" y="3644809"/>
            <a:ext cx="4990975" cy="692133"/>
          </a:xfrm>
          <a:prstGeom prst="rect">
            <a:avLst/>
          </a:prstGeom>
        </p:spPr>
      </p:pic>
      <p:pic>
        <p:nvPicPr>
          <p:cNvPr id="12" name="!!qg-g1-28" descr="chart element"/>
          <p:cNvPicPr>
            <a:picLocks noChangeAspect="1"/>
          </p:cNvPicPr>
          <p:nvPr/>
        </p:nvPicPr>
        <p:blipFill>
          <a:blip r:embed="rId10"/>
          <a:stretch>
            <a:fillRect/>
          </a:stretch>
        </p:blipFill>
        <p:spPr>
          <a:xfrm>
            <a:off x="2603435" y="4197245"/>
            <a:ext cx="196845" cy="196845"/>
          </a:xfrm>
          <a:prstGeom prst="rect">
            <a:avLst/>
          </a:prstGeom>
        </p:spPr>
      </p:pic>
      <p:pic>
        <p:nvPicPr>
          <p:cNvPr id="13" name="!!qg-g1-30" descr="chart element"/>
          <p:cNvPicPr>
            <a:picLocks noChangeAspect="1"/>
          </p:cNvPicPr>
          <p:nvPr/>
        </p:nvPicPr>
        <p:blipFill>
          <a:blip r:embed="rId11"/>
          <a:stretch>
            <a:fillRect/>
          </a:stretch>
        </p:blipFill>
        <p:spPr>
          <a:xfrm>
            <a:off x="5054474" y="3892453"/>
            <a:ext cx="196845" cy="196845"/>
          </a:xfrm>
          <a:prstGeom prst="rect">
            <a:avLst/>
          </a:prstGeom>
        </p:spPr>
      </p:pic>
      <p:pic>
        <p:nvPicPr>
          <p:cNvPr id="14" name="!!qg-g1-32" descr="chart element"/>
          <p:cNvPicPr>
            <a:picLocks noChangeAspect="1"/>
          </p:cNvPicPr>
          <p:nvPr/>
        </p:nvPicPr>
        <p:blipFill>
          <a:blip r:embed="rId12"/>
          <a:stretch>
            <a:fillRect/>
          </a:stretch>
        </p:blipFill>
        <p:spPr>
          <a:xfrm>
            <a:off x="7511862" y="3587660"/>
            <a:ext cx="196845" cy="196845"/>
          </a:xfrm>
          <a:prstGeom prst="rect">
            <a:avLst/>
          </a:prstGeom>
        </p:spPr>
      </p:pic>
      <p:pic>
        <p:nvPicPr>
          <p:cNvPr id="15" name="!!qg-g1-lgm" descr="chart element"/>
          <p:cNvPicPr>
            <a:picLocks noChangeAspect="1"/>
          </p:cNvPicPr>
          <p:nvPr/>
        </p:nvPicPr>
        <p:blipFill>
          <a:blip r:embed="rId13"/>
          <a:stretch>
            <a:fillRect/>
          </a:stretch>
        </p:blipFill>
        <p:spPr>
          <a:xfrm>
            <a:off x="2222444" y="2203395"/>
            <a:ext cx="184145" cy="184145"/>
          </a:xfrm>
          <a:prstGeom prst="rect">
            <a:avLst/>
          </a:prstGeom>
        </p:spPr>
      </p:pic>
      <p:pic>
        <p:nvPicPr>
          <p:cNvPr id="16" name="!!qg-g4" descr="chart element"/>
          <p:cNvPicPr>
            <a:picLocks noChangeAspect="1"/>
          </p:cNvPicPr>
          <p:nvPr/>
        </p:nvPicPr>
        <p:blipFill>
          <a:blip r:embed="rId14"/>
          <a:stretch>
            <a:fillRect/>
          </a:stretch>
        </p:blipFill>
        <p:spPr>
          <a:xfrm>
            <a:off x="2660583" y="3619410"/>
            <a:ext cx="7442014" cy="1003275"/>
          </a:xfrm>
          <a:prstGeom prst="rect">
            <a:avLst/>
          </a:prstGeom>
        </p:spPr>
      </p:pic>
      <p:pic>
        <p:nvPicPr>
          <p:cNvPr id="17" name="!!qg-g4-28" descr="chart element"/>
          <p:cNvPicPr>
            <a:picLocks noChangeAspect="1"/>
          </p:cNvPicPr>
          <p:nvPr/>
        </p:nvPicPr>
        <p:blipFill>
          <a:blip r:embed="rId15"/>
          <a:stretch>
            <a:fillRect/>
          </a:stretch>
        </p:blipFill>
        <p:spPr>
          <a:xfrm>
            <a:off x="2597085" y="4476638"/>
            <a:ext cx="215895" cy="196845"/>
          </a:xfrm>
          <a:prstGeom prst="rect">
            <a:avLst/>
          </a:prstGeom>
        </p:spPr>
      </p:pic>
      <p:pic>
        <p:nvPicPr>
          <p:cNvPr id="18" name="!!qg-g4-30" descr="chart element"/>
          <p:cNvPicPr>
            <a:picLocks noChangeAspect="1"/>
          </p:cNvPicPr>
          <p:nvPr/>
        </p:nvPicPr>
        <p:blipFill>
          <a:blip r:embed="rId16"/>
          <a:stretch>
            <a:fillRect/>
          </a:stretch>
        </p:blipFill>
        <p:spPr>
          <a:xfrm>
            <a:off x="5048124" y="4165496"/>
            <a:ext cx="215895" cy="196845"/>
          </a:xfrm>
          <a:prstGeom prst="rect">
            <a:avLst/>
          </a:prstGeom>
        </p:spPr>
      </p:pic>
      <p:pic>
        <p:nvPicPr>
          <p:cNvPr id="19" name="!!qg-g4-32" descr="chart element"/>
          <p:cNvPicPr>
            <a:picLocks noChangeAspect="1"/>
          </p:cNvPicPr>
          <p:nvPr/>
        </p:nvPicPr>
        <p:blipFill>
          <a:blip r:embed="rId17"/>
          <a:stretch>
            <a:fillRect/>
          </a:stretch>
        </p:blipFill>
        <p:spPr>
          <a:xfrm>
            <a:off x="7499163" y="3860703"/>
            <a:ext cx="215895" cy="196845"/>
          </a:xfrm>
          <a:prstGeom prst="rect">
            <a:avLst/>
          </a:prstGeom>
        </p:spPr>
      </p:pic>
      <p:pic>
        <p:nvPicPr>
          <p:cNvPr id="20" name="!!qg-g4-34" descr="chart element"/>
          <p:cNvPicPr>
            <a:picLocks noChangeAspect="1"/>
          </p:cNvPicPr>
          <p:nvPr/>
        </p:nvPicPr>
        <p:blipFill>
          <a:blip r:embed="rId18"/>
          <a:stretch>
            <a:fillRect/>
          </a:stretch>
        </p:blipFill>
        <p:spPr>
          <a:xfrm>
            <a:off x="9950201" y="3549561"/>
            <a:ext cx="215895" cy="196845"/>
          </a:xfrm>
          <a:prstGeom prst="rect">
            <a:avLst/>
          </a:prstGeom>
        </p:spPr>
      </p:pic>
      <p:pic>
        <p:nvPicPr>
          <p:cNvPr id="21" name="!!qg-g4-lgm" descr="chart element"/>
          <p:cNvPicPr>
            <a:picLocks noChangeAspect="1"/>
          </p:cNvPicPr>
          <p:nvPr/>
        </p:nvPicPr>
        <p:blipFill>
          <a:blip r:embed="rId19"/>
          <a:stretch>
            <a:fillRect/>
          </a:stretch>
        </p:blipFill>
        <p:spPr>
          <a:xfrm>
            <a:off x="2209745" y="2451039"/>
            <a:ext cx="203195" cy="184145"/>
          </a:xfrm>
          <a:prstGeom prst="rect">
            <a:avLst/>
          </a:prstGeom>
        </p:spPr>
      </p:pic>
      <p:sp>
        <p:nvSpPr>
          <p:cNvPr id="22" name="!!qg-yl-1"/>
          <p:cNvSpPr txBox="1"/>
          <p:nvPr/>
        </p:nvSpPr>
        <p:spPr>
          <a:xfrm>
            <a:off x="1667726" y="4490669"/>
            <a:ext cx="20547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 s</a:t>
            </a:r>
          </a:p>
        </p:txBody>
      </p:sp>
      <p:sp>
        <p:nvSpPr>
          <p:cNvPr id="23" name="!!qg-yl-10"/>
          <p:cNvSpPr txBox="1"/>
          <p:nvPr/>
        </p:nvSpPr>
        <p:spPr>
          <a:xfrm>
            <a:off x="1590040" y="3980599"/>
            <a:ext cx="283163"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 s</a:t>
            </a:r>
          </a:p>
        </p:txBody>
      </p:sp>
      <p:sp>
        <p:nvSpPr>
          <p:cNvPr id="24" name="!!qg-yl-60"/>
          <p:cNvSpPr txBox="1"/>
          <p:nvPr/>
        </p:nvSpPr>
        <p:spPr>
          <a:xfrm>
            <a:off x="1512552" y="3583689"/>
            <a:ext cx="36065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 min</a:t>
            </a:r>
          </a:p>
        </p:txBody>
      </p:sp>
      <p:sp>
        <p:nvSpPr>
          <p:cNvPr id="25" name="!!qg-yl-600"/>
          <p:cNvSpPr txBox="1"/>
          <p:nvPr/>
        </p:nvSpPr>
        <p:spPr>
          <a:xfrm>
            <a:off x="1434766" y="3073626"/>
            <a:ext cx="43843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 min</a:t>
            </a:r>
          </a:p>
        </p:txBody>
      </p:sp>
      <p:sp>
        <p:nvSpPr>
          <p:cNvPr id="26" name="!!qg-yl-3600"/>
          <p:cNvSpPr txBox="1"/>
          <p:nvPr/>
        </p:nvSpPr>
        <p:spPr>
          <a:xfrm>
            <a:off x="1659888" y="2676716"/>
            <a:ext cx="21331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 h</a:t>
            </a:r>
          </a:p>
        </p:txBody>
      </p:sp>
      <p:sp>
        <p:nvSpPr>
          <p:cNvPr id="27" name="!!qg-yl-86400"/>
          <p:cNvSpPr txBox="1"/>
          <p:nvPr/>
        </p:nvSpPr>
        <p:spPr>
          <a:xfrm>
            <a:off x="1582202" y="1972714"/>
            <a:ext cx="29100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24 h</a:t>
            </a:r>
          </a:p>
        </p:txBody>
      </p:sp>
      <p:sp>
        <p:nvSpPr>
          <p:cNvPr id="28" name="!!qg-xt-28"/>
          <p:cNvSpPr txBox="1"/>
          <p:nvPr/>
        </p:nvSpPr>
        <p:spPr>
          <a:xfrm>
            <a:off x="2612147"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28</a:t>
            </a:r>
          </a:p>
        </p:txBody>
      </p:sp>
      <p:sp>
        <p:nvSpPr>
          <p:cNvPr id="29" name="!!qg-xt-30"/>
          <p:cNvSpPr txBox="1"/>
          <p:nvPr/>
        </p:nvSpPr>
        <p:spPr>
          <a:xfrm>
            <a:off x="5063891"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30</a:t>
            </a:r>
          </a:p>
        </p:txBody>
      </p:sp>
      <p:sp>
        <p:nvSpPr>
          <p:cNvPr id="30" name="!!qg-xt-32"/>
          <p:cNvSpPr txBox="1"/>
          <p:nvPr/>
        </p:nvSpPr>
        <p:spPr>
          <a:xfrm>
            <a:off x="7515667"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32</a:t>
            </a:r>
          </a:p>
        </p:txBody>
      </p:sp>
      <p:sp>
        <p:nvSpPr>
          <p:cNvPr id="31" name="!!qg-xt-34"/>
          <p:cNvSpPr txBox="1"/>
          <p:nvPr/>
        </p:nvSpPr>
        <p:spPr>
          <a:xfrm>
            <a:off x="9967404"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34</a:t>
            </a:r>
          </a:p>
        </p:txBody>
      </p:sp>
      <p:sp>
        <p:nvSpPr>
          <p:cNvPr id="32" name="!!qg-xlab"/>
          <p:cNvSpPr txBox="1"/>
          <p:nvPr/>
        </p:nvSpPr>
        <p:spPr>
          <a:xfrm>
            <a:off x="6195163" y="5126802"/>
            <a:ext cx="39190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qubits</a:t>
            </a:r>
          </a:p>
        </p:txBody>
      </p:sp>
      <p:sp>
        <p:nvSpPr>
          <p:cNvPr id="33" name="!!qg-ylab"/>
          <p:cNvSpPr txBox="1"/>
          <p:nvPr/>
        </p:nvSpPr>
        <p:spPr>
          <a:xfrm>
            <a:off x="1136622" y="1583591"/>
            <a:ext cx="281238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wall time, random CX-block circuit (log scale)</a:t>
            </a:r>
          </a:p>
        </p:txBody>
      </p:sp>
      <p:sp>
        <p:nvSpPr>
          <p:cNvPr id="34" name="!!qg-cpu-lab"/>
          <p:cNvSpPr txBox="1"/>
          <p:nvPr/>
        </p:nvSpPr>
        <p:spPr>
          <a:xfrm>
            <a:off x="2628834" y="1945532"/>
            <a:ext cx="1661674"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CPU node (128 cores)</a:t>
            </a:r>
          </a:p>
        </p:txBody>
      </p:sp>
      <p:sp>
        <p:nvSpPr>
          <p:cNvPr id="35" name="!!qg-g1-lab"/>
          <p:cNvSpPr txBox="1"/>
          <p:nvPr/>
        </p:nvSpPr>
        <p:spPr>
          <a:xfrm>
            <a:off x="2628834" y="2199525"/>
            <a:ext cx="1299435"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1 × A100 (40 GB)</a:t>
            </a:r>
          </a:p>
        </p:txBody>
      </p:sp>
      <p:sp>
        <p:nvSpPr>
          <p:cNvPr id="36" name="!!qg-g4-lab"/>
          <p:cNvSpPr txBox="1"/>
          <p:nvPr/>
        </p:nvSpPr>
        <p:spPr>
          <a:xfrm>
            <a:off x="2628834" y="2453519"/>
            <a:ext cx="1124914"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4 × A100 (MPI)</a:t>
            </a:r>
          </a:p>
        </p:txBody>
      </p:sp>
      <p:sp>
        <p:nvSpPr>
          <p:cNvPr id="37" name="!!qg-a1"/>
          <p:cNvSpPr txBox="1"/>
          <p:nvPr/>
        </p:nvSpPr>
        <p:spPr>
          <a:xfrm>
            <a:off x="9800175" y="1725070"/>
            <a:ext cx="537157"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≈24 h</a:t>
            </a:r>
          </a:p>
        </p:txBody>
      </p:sp>
      <p:sp>
        <p:nvSpPr>
          <p:cNvPr id="38" name="!!qg-a2"/>
          <p:cNvSpPr txBox="1"/>
          <p:nvPr/>
        </p:nvSpPr>
        <p:spPr>
          <a:xfrm>
            <a:off x="9738115" y="3323346"/>
            <a:ext cx="661276"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≈1 min</a:t>
            </a:r>
          </a:p>
        </p:txBody>
      </p:sp>
      <p:sp>
        <p:nvSpPr>
          <p:cNvPr id="39" name="s8-text-20"/>
          <p:cNvSpPr txBox="1"/>
          <p:nvPr/>
        </p:nvSpPr>
        <p:spPr>
          <a:xfrm>
            <a:off x="888978" y="5900292"/>
            <a:ext cx="8908827" cy="195555"/>
          </a:xfrm>
          <a:prstGeom prst="rect">
            <a:avLst/>
          </a:prstGeom>
          <a:noFill/>
        </p:spPr>
        <p:txBody>
          <a:bodyPr wrap="none" lIns="0" rIns="0" tIns="0" bIns="0" anchor="t">
            <a:noAutofit/>
          </a:bodyPr>
          <a:lstStyle/>
          <a:p>
            <a:pPr algn="l">
              <a:lnSpc>
                <a:spcPts val="1540"/>
              </a:lnSpc>
              <a:spcBef>
                <a:spcPts val="0"/>
              </a:spcBef>
              <a:spcAft>
                <a:spcPts val="0"/>
              </a:spcAft>
            </a:pPr>
            <a:r>
              <a:rPr sz="1100" b="0" i="0">
                <a:solidFill>
                  <a:srgbClr val="7B7B86"/>
                </a:solidFill>
                <a:latin typeface="Arial"/>
              </a:rPr>
              <a:t>Anchors: 34 q ≈ 24 h (CPU) vs ≈ 1 min (4 × A100); ≈400× on one A100. Lines follow 2ⁿ scaling; intermediate points illustrative.</a:t>
            </a:r>
          </a:p>
        </p:txBody>
      </p:sp>
      <p:sp>
        <p:nvSpPr>
          <p:cNvPr id="40" name="!!sec"/>
          <p:cNvSpPr txBox="1"/>
          <p:nvPr/>
        </p:nvSpPr>
        <p:spPr>
          <a:xfrm>
            <a:off x="888978" y="6362541"/>
            <a:ext cx="187935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Simulation · Q-GEAR</a:t>
            </a:r>
          </a:p>
        </p:txBody>
      </p:sp>
      <p:pic>
        <p:nvPicPr>
          <p:cNvPr id="41" name="s8-image-19" descr="Texas Tech University Double T"/>
          <p:cNvPicPr>
            <a:picLocks noChangeAspect="1"/>
          </p:cNvPicPr>
          <p:nvPr/>
        </p:nvPicPr>
        <p:blipFill>
          <a:blip r:embed="rId20"/>
          <a:stretch>
            <a:fillRect/>
          </a:stretch>
        </p:blipFill>
        <p:spPr>
          <a:xfrm>
            <a:off x="11055074" y="600060"/>
            <a:ext cx="190495" cy="222244"/>
          </a:xfrm>
          <a:prstGeom prst="rect">
            <a:avLst/>
          </a:prstGeom>
        </p:spPr>
      </p:pic>
      <p:sp>
        <p:nvSpPr>
          <p:cNvPr id="42" name="!!pg"/>
          <p:cNvSpPr txBox="1"/>
          <p:nvPr/>
        </p:nvSpPr>
        <p:spPr>
          <a:xfrm>
            <a:off x="10304800" y="634984"/>
            <a:ext cx="572478"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8</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939181"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Results</a:t>
            </a:r>
          </a:p>
        </p:txBody>
      </p:sp>
      <p:sp>
        <p:nvSpPr>
          <p:cNvPr id="3" name="s9-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42 qubits on 1,024 A100s</a:t>
            </a:r>
          </a:p>
        </p:txBody>
      </p:sp>
      <p:pic>
        <p:nvPicPr>
          <p:cNvPr id="4" name="s9-image-01" descr="diagram"/>
          <p:cNvPicPr>
            <a:picLocks noChangeAspect="1"/>
          </p:cNvPicPr>
          <p:nvPr/>
        </p:nvPicPr>
        <p:blipFill>
          <a:blip r:embed="rId2"/>
          <a:stretch>
            <a:fillRect/>
          </a:stretch>
        </p:blipFill>
        <p:spPr>
          <a:xfrm>
            <a:off x="863578" y="1517612"/>
            <a:ext cx="10470888" cy="3867053"/>
          </a:xfrm>
          <a:prstGeom prst="rect">
            <a:avLst/>
          </a:prstGeom>
        </p:spPr>
      </p:pic>
      <p:pic>
        <p:nvPicPr>
          <p:cNvPr id="5" name="!!qg-cpu" descr="chart element"/>
          <p:cNvPicPr>
            <a:picLocks noChangeAspect="1"/>
          </p:cNvPicPr>
          <p:nvPr/>
        </p:nvPicPr>
        <p:blipFill>
          <a:blip r:embed="rId3"/>
          <a:stretch>
            <a:fillRect/>
          </a:stretch>
        </p:blipFill>
        <p:spPr>
          <a:xfrm>
            <a:off x="2273243" y="2006550"/>
            <a:ext cx="3568611" cy="1003275"/>
          </a:xfrm>
          <a:prstGeom prst="rect">
            <a:avLst/>
          </a:prstGeom>
        </p:spPr>
      </p:pic>
      <p:pic>
        <p:nvPicPr>
          <p:cNvPr id="6" name="!!qg-cpu-28" descr="chart element"/>
          <p:cNvPicPr>
            <a:picLocks noChangeAspect="1"/>
          </p:cNvPicPr>
          <p:nvPr/>
        </p:nvPicPr>
        <p:blipFill>
          <a:blip r:embed="rId4"/>
          <a:stretch>
            <a:fillRect/>
          </a:stretch>
        </p:blipFill>
        <p:spPr>
          <a:xfrm>
            <a:off x="2216095" y="2870128"/>
            <a:ext cx="196845" cy="196845"/>
          </a:xfrm>
          <a:prstGeom prst="rect">
            <a:avLst/>
          </a:prstGeom>
        </p:spPr>
      </p:pic>
      <p:pic>
        <p:nvPicPr>
          <p:cNvPr id="7" name="!!qg-cpu-30" descr="chart element"/>
          <p:cNvPicPr>
            <a:picLocks noChangeAspect="1"/>
          </p:cNvPicPr>
          <p:nvPr/>
        </p:nvPicPr>
        <p:blipFill>
          <a:blip r:embed="rId5"/>
          <a:stretch>
            <a:fillRect/>
          </a:stretch>
        </p:blipFill>
        <p:spPr>
          <a:xfrm>
            <a:off x="3378116" y="2565336"/>
            <a:ext cx="196845" cy="196845"/>
          </a:xfrm>
          <a:prstGeom prst="rect">
            <a:avLst/>
          </a:prstGeom>
        </p:spPr>
      </p:pic>
      <p:pic>
        <p:nvPicPr>
          <p:cNvPr id="8" name="!!qg-cpu-32" descr="chart element"/>
          <p:cNvPicPr>
            <a:picLocks noChangeAspect="1"/>
          </p:cNvPicPr>
          <p:nvPr/>
        </p:nvPicPr>
        <p:blipFill>
          <a:blip r:embed="rId6"/>
          <a:stretch>
            <a:fillRect/>
          </a:stretch>
        </p:blipFill>
        <p:spPr>
          <a:xfrm>
            <a:off x="4540136" y="2254194"/>
            <a:ext cx="196845" cy="196845"/>
          </a:xfrm>
          <a:prstGeom prst="rect">
            <a:avLst/>
          </a:prstGeom>
        </p:spPr>
      </p:pic>
      <p:pic>
        <p:nvPicPr>
          <p:cNvPr id="9" name="!!qg-cpu-34" descr="chart element"/>
          <p:cNvPicPr>
            <a:picLocks noChangeAspect="1"/>
          </p:cNvPicPr>
          <p:nvPr/>
        </p:nvPicPr>
        <p:blipFill>
          <a:blip r:embed="rId7"/>
          <a:stretch>
            <a:fillRect/>
          </a:stretch>
        </p:blipFill>
        <p:spPr>
          <a:xfrm>
            <a:off x="5702157" y="1949401"/>
            <a:ext cx="196845" cy="196845"/>
          </a:xfrm>
          <a:prstGeom prst="rect">
            <a:avLst/>
          </a:prstGeom>
        </p:spPr>
      </p:pic>
      <p:pic>
        <p:nvPicPr>
          <p:cNvPr id="10" name="!!qg-cpu-lgm" descr="chart element"/>
          <p:cNvPicPr>
            <a:picLocks noChangeAspect="1"/>
          </p:cNvPicPr>
          <p:nvPr/>
        </p:nvPicPr>
        <p:blipFill>
          <a:blip r:embed="rId8"/>
          <a:stretch>
            <a:fillRect/>
          </a:stretch>
        </p:blipFill>
        <p:spPr>
          <a:xfrm>
            <a:off x="2222444" y="1949401"/>
            <a:ext cx="184145" cy="184145"/>
          </a:xfrm>
          <a:prstGeom prst="rect">
            <a:avLst/>
          </a:prstGeom>
        </p:spPr>
      </p:pic>
      <p:pic>
        <p:nvPicPr>
          <p:cNvPr id="11" name="!!qg-g1" descr="chart element"/>
          <p:cNvPicPr>
            <a:picLocks noChangeAspect="1"/>
          </p:cNvPicPr>
          <p:nvPr/>
        </p:nvPicPr>
        <p:blipFill>
          <a:blip r:embed="rId9"/>
          <a:stretch>
            <a:fillRect/>
          </a:stretch>
        </p:blipFill>
        <p:spPr>
          <a:xfrm>
            <a:off x="2273243" y="3644809"/>
            <a:ext cx="2406590" cy="692133"/>
          </a:xfrm>
          <a:prstGeom prst="rect">
            <a:avLst/>
          </a:prstGeom>
        </p:spPr>
      </p:pic>
      <p:pic>
        <p:nvPicPr>
          <p:cNvPr id="12" name="!!qg-g1-28" descr="chart element"/>
          <p:cNvPicPr>
            <a:picLocks noChangeAspect="1"/>
          </p:cNvPicPr>
          <p:nvPr/>
        </p:nvPicPr>
        <p:blipFill>
          <a:blip r:embed="rId10"/>
          <a:stretch>
            <a:fillRect/>
          </a:stretch>
        </p:blipFill>
        <p:spPr>
          <a:xfrm>
            <a:off x="2216095" y="4197245"/>
            <a:ext cx="196845" cy="196845"/>
          </a:xfrm>
          <a:prstGeom prst="rect">
            <a:avLst/>
          </a:prstGeom>
        </p:spPr>
      </p:pic>
      <p:pic>
        <p:nvPicPr>
          <p:cNvPr id="13" name="!!qg-g1-30" descr="chart element"/>
          <p:cNvPicPr>
            <a:picLocks noChangeAspect="1"/>
          </p:cNvPicPr>
          <p:nvPr/>
        </p:nvPicPr>
        <p:blipFill>
          <a:blip r:embed="rId11"/>
          <a:stretch>
            <a:fillRect/>
          </a:stretch>
        </p:blipFill>
        <p:spPr>
          <a:xfrm>
            <a:off x="3378116" y="3892453"/>
            <a:ext cx="196845" cy="196845"/>
          </a:xfrm>
          <a:prstGeom prst="rect">
            <a:avLst/>
          </a:prstGeom>
        </p:spPr>
      </p:pic>
      <p:pic>
        <p:nvPicPr>
          <p:cNvPr id="14" name="!!qg-g1-32" descr="chart element"/>
          <p:cNvPicPr>
            <a:picLocks noChangeAspect="1"/>
          </p:cNvPicPr>
          <p:nvPr/>
        </p:nvPicPr>
        <p:blipFill>
          <a:blip r:embed="rId12"/>
          <a:stretch>
            <a:fillRect/>
          </a:stretch>
        </p:blipFill>
        <p:spPr>
          <a:xfrm>
            <a:off x="4540136" y="3587660"/>
            <a:ext cx="196845" cy="196845"/>
          </a:xfrm>
          <a:prstGeom prst="rect">
            <a:avLst/>
          </a:prstGeom>
        </p:spPr>
      </p:pic>
      <p:pic>
        <p:nvPicPr>
          <p:cNvPr id="15" name="!!qg-g1-lgm" descr="chart element"/>
          <p:cNvPicPr>
            <a:picLocks noChangeAspect="1"/>
          </p:cNvPicPr>
          <p:nvPr/>
        </p:nvPicPr>
        <p:blipFill>
          <a:blip r:embed="rId13"/>
          <a:stretch>
            <a:fillRect/>
          </a:stretch>
        </p:blipFill>
        <p:spPr>
          <a:xfrm>
            <a:off x="2222444" y="2203395"/>
            <a:ext cx="184145" cy="184145"/>
          </a:xfrm>
          <a:prstGeom prst="rect">
            <a:avLst/>
          </a:prstGeom>
        </p:spPr>
      </p:pic>
      <p:pic>
        <p:nvPicPr>
          <p:cNvPr id="16" name="!!qg-g4" descr="chart element"/>
          <p:cNvPicPr>
            <a:picLocks noChangeAspect="1"/>
          </p:cNvPicPr>
          <p:nvPr/>
        </p:nvPicPr>
        <p:blipFill>
          <a:blip r:embed="rId14"/>
          <a:stretch>
            <a:fillRect/>
          </a:stretch>
        </p:blipFill>
        <p:spPr>
          <a:xfrm>
            <a:off x="2273243" y="3619410"/>
            <a:ext cx="3568611" cy="1003275"/>
          </a:xfrm>
          <a:prstGeom prst="rect">
            <a:avLst/>
          </a:prstGeom>
        </p:spPr>
      </p:pic>
      <p:pic>
        <p:nvPicPr>
          <p:cNvPr id="17" name="!!qg-g4-28" descr="chart element"/>
          <p:cNvPicPr>
            <a:picLocks noChangeAspect="1"/>
          </p:cNvPicPr>
          <p:nvPr/>
        </p:nvPicPr>
        <p:blipFill>
          <a:blip r:embed="rId15"/>
          <a:stretch>
            <a:fillRect/>
          </a:stretch>
        </p:blipFill>
        <p:spPr>
          <a:xfrm>
            <a:off x="2209745" y="4476638"/>
            <a:ext cx="215895" cy="196845"/>
          </a:xfrm>
          <a:prstGeom prst="rect">
            <a:avLst/>
          </a:prstGeom>
        </p:spPr>
      </p:pic>
      <p:pic>
        <p:nvPicPr>
          <p:cNvPr id="18" name="!!qg-g4-30" descr="chart element"/>
          <p:cNvPicPr>
            <a:picLocks noChangeAspect="1"/>
          </p:cNvPicPr>
          <p:nvPr/>
        </p:nvPicPr>
        <p:blipFill>
          <a:blip r:embed="rId16"/>
          <a:stretch>
            <a:fillRect/>
          </a:stretch>
        </p:blipFill>
        <p:spPr>
          <a:xfrm>
            <a:off x="3371766" y="4165496"/>
            <a:ext cx="215895" cy="196845"/>
          </a:xfrm>
          <a:prstGeom prst="rect">
            <a:avLst/>
          </a:prstGeom>
        </p:spPr>
      </p:pic>
      <p:pic>
        <p:nvPicPr>
          <p:cNvPr id="19" name="!!qg-g4-32" descr="chart element"/>
          <p:cNvPicPr>
            <a:picLocks noChangeAspect="1"/>
          </p:cNvPicPr>
          <p:nvPr/>
        </p:nvPicPr>
        <p:blipFill>
          <a:blip r:embed="rId17"/>
          <a:stretch>
            <a:fillRect/>
          </a:stretch>
        </p:blipFill>
        <p:spPr>
          <a:xfrm>
            <a:off x="4533787" y="3860703"/>
            <a:ext cx="215895" cy="196845"/>
          </a:xfrm>
          <a:prstGeom prst="rect">
            <a:avLst/>
          </a:prstGeom>
        </p:spPr>
      </p:pic>
      <p:pic>
        <p:nvPicPr>
          <p:cNvPr id="20" name="!!qg-g4-34" descr="chart element"/>
          <p:cNvPicPr>
            <a:picLocks noChangeAspect="1"/>
          </p:cNvPicPr>
          <p:nvPr/>
        </p:nvPicPr>
        <p:blipFill>
          <a:blip r:embed="rId18"/>
          <a:stretch>
            <a:fillRect/>
          </a:stretch>
        </p:blipFill>
        <p:spPr>
          <a:xfrm>
            <a:off x="5695808" y="3549561"/>
            <a:ext cx="209545" cy="196845"/>
          </a:xfrm>
          <a:prstGeom prst="rect">
            <a:avLst/>
          </a:prstGeom>
        </p:spPr>
      </p:pic>
      <p:pic>
        <p:nvPicPr>
          <p:cNvPr id="21" name="!!qg-g4-lgm" descr="chart element"/>
          <p:cNvPicPr>
            <a:picLocks noChangeAspect="1"/>
          </p:cNvPicPr>
          <p:nvPr/>
        </p:nvPicPr>
        <p:blipFill>
          <a:blip r:embed="rId19"/>
          <a:stretch>
            <a:fillRect/>
          </a:stretch>
        </p:blipFill>
        <p:spPr>
          <a:xfrm>
            <a:off x="2209745" y="2451039"/>
            <a:ext cx="203195" cy="184145"/>
          </a:xfrm>
          <a:prstGeom prst="rect">
            <a:avLst/>
          </a:prstGeom>
        </p:spPr>
      </p:pic>
      <p:sp>
        <p:nvSpPr>
          <p:cNvPr id="22" name="!!qg-yl-1"/>
          <p:cNvSpPr txBox="1"/>
          <p:nvPr/>
        </p:nvSpPr>
        <p:spPr>
          <a:xfrm>
            <a:off x="1667726" y="4490669"/>
            <a:ext cx="20547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 s</a:t>
            </a:r>
          </a:p>
        </p:txBody>
      </p:sp>
      <p:sp>
        <p:nvSpPr>
          <p:cNvPr id="23" name="!!qg-yl-10"/>
          <p:cNvSpPr txBox="1"/>
          <p:nvPr/>
        </p:nvSpPr>
        <p:spPr>
          <a:xfrm>
            <a:off x="1590040" y="3980599"/>
            <a:ext cx="283163"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 s</a:t>
            </a:r>
          </a:p>
        </p:txBody>
      </p:sp>
      <p:sp>
        <p:nvSpPr>
          <p:cNvPr id="24" name="!!qg-yl-60"/>
          <p:cNvSpPr txBox="1"/>
          <p:nvPr/>
        </p:nvSpPr>
        <p:spPr>
          <a:xfrm>
            <a:off x="1512552" y="3583689"/>
            <a:ext cx="36065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 min</a:t>
            </a:r>
          </a:p>
        </p:txBody>
      </p:sp>
      <p:sp>
        <p:nvSpPr>
          <p:cNvPr id="25" name="!!qg-yl-600"/>
          <p:cNvSpPr txBox="1"/>
          <p:nvPr/>
        </p:nvSpPr>
        <p:spPr>
          <a:xfrm>
            <a:off x="1434766" y="3073626"/>
            <a:ext cx="43843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 min</a:t>
            </a:r>
          </a:p>
        </p:txBody>
      </p:sp>
      <p:sp>
        <p:nvSpPr>
          <p:cNvPr id="26" name="!!qg-yl-3600"/>
          <p:cNvSpPr txBox="1"/>
          <p:nvPr/>
        </p:nvSpPr>
        <p:spPr>
          <a:xfrm>
            <a:off x="1659888" y="2676716"/>
            <a:ext cx="21331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 h</a:t>
            </a:r>
          </a:p>
        </p:txBody>
      </p:sp>
      <p:sp>
        <p:nvSpPr>
          <p:cNvPr id="27" name="!!qg-yl-86400"/>
          <p:cNvSpPr txBox="1"/>
          <p:nvPr/>
        </p:nvSpPr>
        <p:spPr>
          <a:xfrm>
            <a:off x="1582202" y="1972714"/>
            <a:ext cx="29100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24 h</a:t>
            </a:r>
          </a:p>
        </p:txBody>
      </p:sp>
      <p:sp>
        <p:nvSpPr>
          <p:cNvPr id="28" name="!!qg-xt-28"/>
          <p:cNvSpPr txBox="1"/>
          <p:nvPr/>
        </p:nvSpPr>
        <p:spPr>
          <a:xfrm>
            <a:off x="2225029"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28</a:t>
            </a:r>
          </a:p>
        </p:txBody>
      </p:sp>
      <p:sp>
        <p:nvSpPr>
          <p:cNvPr id="29" name="!!qg-xt-30"/>
          <p:cNvSpPr txBox="1"/>
          <p:nvPr/>
        </p:nvSpPr>
        <p:spPr>
          <a:xfrm>
            <a:off x="3386383"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30</a:t>
            </a:r>
          </a:p>
        </p:txBody>
      </p:sp>
      <p:sp>
        <p:nvSpPr>
          <p:cNvPr id="30" name="!!qg-xt-32"/>
          <p:cNvSpPr txBox="1"/>
          <p:nvPr/>
        </p:nvSpPr>
        <p:spPr>
          <a:xfrm>
            <a:off x="4547738"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32</a:t>
            </a:r>
          </a:p>
        </p:txBody>
      </p:sp>
      <p:sp>
        <p:nvSpPr>
          <p:cNvPr id="31" name="!!qg-xt-34"/>
          <p:cNvSpPr txBox="1"/>
          <p:nvPr/>
        </p:nvSpPr>
        <p:spPr>
          <a:xfrm>
            <a:off x="5709092"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34</a:t>
            </a:r>
          </a:p>
        </p:txBody>
      </p:sp>
      <p:sp>
        <p:nvSpPr>
          <p:cNvPr id="32" name="!!qg-xt-36"/>
          <p:cNvSpPr txBox="1"/>
          <p:nvPr/>
        </p:nvSpPr>
        <p:spPr>
          <a:xfrm>
            <a:off x="6870440"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36</a:t>
            </a:r>
          </a:p>
        </p:txBody>
      </p:sp>
      <p:sp>
        <p:nvSpPr>
          <p:cNvPr id="33" name="!!qg-xt-38"/>
          <p:cNvSpPr txBox="1"/>
          <p:nvPr/>
        </p:nvSpPr>
        <p:spPr>
          <a:xfrm>
            <a:off x="8031781"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38</a:t>
            </a:r>
          </a:p>
        </p:txBody>
      </p:sp>
      <p:sp>
        <p:nvSpPr>
          <p:cNvPr id="34" name="!!qg-xt-40"/>
          <p:cNvSpPr txBox="1"/>
          <p:nvPr/>
        </p:nvSpPr>
        <p:spPr>
          <a:xfrm>
            <a:off x="9193167"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40</a:t>
            </a:r>
          </a:p>
        </p:txBody>
      </p:sp>
      <p:sp>
        <p:nvSpPr>
          <p:cNvPr id="35" name="!!qg-xt-42"/>
          <p:cNvSpPr txBox="1"/>
          <p:nvPr/>
        </p:nvSpPr>
        <p:spPr>
          <a:xfrm>
            <a:off x="10354490" y="4822010"/>
            <a:ext cx="20269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42</a:t>
            </a:r>
          </a:p>
        </p:txBody>
      </p:sp>
      <p:sp>
        <p:nvSpPr>
          <p:cNvPr id="36" name="!!qg-xlab"/>
          <p:cNvSpPr txBox="1"/>
          <p:nvPr/>
        </p:nvSpPr>
        <p:spPr>
          <a:xfrm>
            <a:off x="6195163" y="5126802"/>
            <a:ext cx="39190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qubits</a:t>
            </a:r>
          </a:p>
        </p:txBody>
      </p:sp>
      <p:sp>
        <p:nvSpPr>
          <p:cNvPr id="37" name="!!qg-ylab"/>
          <p:cNvSpPr txBox="1"/>
          <p:nvPr/>
        </p:nvSpPr>
        <p:spPr>
          <a:xfrm>
            <a:off x="1136622" y="1583591"/>
            <a:ext cx="281238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wall time, random CX-block circuit (log scale)</a:t>
            </a:r>
          </a:p>
        </p:txBody>
      </p:sp>
      <p:sp>
        <p:nvSpPr>
          <p:cNvPr id="38" name="!!qg-region-t"/>
          <p:cNvSpPr txBox="1"/>
          <p:nvPr/>
        </p:nvSpPr>
        <p:spPr>
          <a:xfrm>
            <a:off x="6893324" y="3044054"/>
            <a:ext cx="2479613"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multi-node CUDA-Q (MPI)</a:t>
            </a:r>
          </a:p>
        </p:txBody>
      </p:sp>
      <p:sp>
        <p:nvSpPr>
          <p:cNvPr id="39" name="s9-text-20"/>
          <p:cNvSpPr txBox="1"/>
          <p:nvPr/>
        </p:nvSpPr>
        <p:spPr>
          <a:xfrm>
            <a:off x="6529498" y="3329797"/>
            <a:ext cx="3207265"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up to 1,024 × A100 · ≈100% GPU utilization</a:t>
            </a:r>
          </a:p>
        </p:txBody>
      </p:sp>
      <p:sp>
        <p:nvSpPr>
          <p:cNvPr id="40" name="!!qg-reach-t-32"/>
          <p:cNvSpPr txBox="1"/>
          <p:nvPr/>
        </p:nvSpPr>
        <p:spPr>
          <a:xfrm>
            <a:off x="4715761" y="4428320"/>
            <a:ext cx="176743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32 q · 1 × A100 (40 GB)</a:t>
            </a:r>
          </a:p>
        </p:txBody>
      </p:sp>
      <p:sp>
        <p:nvSpPr>
          <p:cNvPr id="41" name="!!qg-reach-t-34"/>
          <p:cNvSpPr txBox="1"/>
          <p:nvPr/>
        </p:nvSpPr>
        <p:spPr>
          <a:xfrm>
            <a:off x="5877114" y="4199725"/>
            <a:ext cx="1987996"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34 q · 4 × A100 (one node)</a:t>
            </a:r>
          </a:p>
        </p:txBody>
      </p:sp>
      <p:sp>
        <p:nvSpPr>
          <p:cNvPr id="42" name="!!qg-reach-t-42"/>
          <p:cNvSpPr txBox="1"/>
          <p:nvPr/>
        </p:nvSpPr>
        <p:spPr>
          <a:xfrm>
            <a:off x="8924238" y="4428320"/>
            <a:ext cx="1464928"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42 q · 1,024 × A100</a:t>
            </a:r>
          </a:p>
        </p:txBody>
      </p:sp>
      <p:sp>
        <p:nvSpPr>
          <p:cNvPr id="43" name="!!qg-cpu-lab"/>
          <p:cNvSpPr txBox="1"/>
          <p:nvPr/>
        </p:nvSpPr>
        <p:spPr>
          <a:xfrm>
            <a:off x="2628834" y="1945532"/>
            <a:ext cx="1661674"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CPU node (128 cores)</a:t>
            </a:r>
          </a:p>
        </p:txBody>
      </p:sp>
      <p:sp>
        <p:nvSpPr>
          <p:cNvPr id="44" name="!!qg-g1-lab"/>
          <p:cNvSpPr txBox="1"/>
          <p:nvPr/>
        </p:nvSpPr>
        <p:spPr>
          <a:xfrm>
            <a:off x="2628834" y="2199525"/>
            <a:ext cx="1299435"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1 × A100 (40 GB)</a:t>
            </a:r>
          </a:p>
        </p:txBody>
      </p:sp>
      <p:sp>
        <p:nvSpPr>
          <p:cNvPr id="45" name="!!qg-g4-lab"/>
          <p:cNvSpPr txBox="1"/>
          <p:nvPr/>
        </p:nvSpPr>
        <p:spPr>
          <a:xfrm>
            <a:off x="2628834" y="2453519"/>
            <a:ext cx="1124914"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4 × A100 (MPI)</a:t>
            </a:r>
          </a:p>
        </p:txBody>
      </p:sp>
      <p:sp>
        <p:nvSpPr>
          <p:cNvPr id="46" name="!!qg-a1"/>
          <p:cNvSpPr txBox="1"/>
          <p:nvPr/>
        </p:nvSpPr>
        <p:spPr>
          <a:xfrm>
            <a:off x="5541863" y="1725070"/>
            <a:ext cx="537157"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≈24 h</a:t>
            </a:r>
          </a:p>
        </p:txBody>
      </p:sp>
      <p:sp>
        <p:nvSpPr>
          <p:cNvPr id="47" name="!!qg-a2"/>
          <p:cNvSpPr txBox="1"/>
          <p:nvPr/>
        </p:nvSpPr>
        <p:spPr>
          <a:xfrm>
            <a:off x="5479803" y="3323346"/>
            <a:ext cx="661276"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≈1 min</a:t>
            </a:r>
          </a:p>
        </p:txBody>
      </p:sp>
      <p:sp>
        <p:nvSpPr>
          <p:cNvPr id="48" name="s9-text-29"/>
          <p:cNvSpPr txBox="1"/>
          <p:nvPr/>
        </p:nvSpPr>
        <p:spPr>
          <a:xfrm>
            <a:off x="888978" y="5900292"/>
            <a:ext cx="8908827" cy="195555"/>
          </a:xfrm>
          <a:prstGeom prst="rect">
            <a:avLst/>
          </a:prstGeom>
          <a:noFill/>
        </p:spPr>
        <p:txBody>
          <a:bodyPr wrap="none" lIns="0" rIns="0" tIns="0" bIns="0" anchor="t">
            <a:noAutofit/>
          </a:bodyPr>
          <a:lstStyle/>
          <a:p>
            <a:pPr algn="l">
              <a:lnSpc>
                <a:spcPts val="1540"/>
              </a:lnSpc>
              <a:spcBef>
                <a:spcPts val="0"/>
              </a:spcBef>
              <a:spcAft>
                <a:spcPts val="0"/>
              </a:spcAft>
            </a:pPr>
            <a:r>
              <a:rPr sz="1100" b="0" i="0">
                <a:solidFill>
                  <a:srgbClr val="7B7B86"/>
                </a:solidFill>
                <a:latin typeface="Arial"/>
              </a:rPr>
              <a:t>Axis extended to the largest run: 42 qubits on 1,024 A100s (CUDA-Q MPI, ≈100% GPU utilization).</a:t>
            </a:r>
          </a:p>
        </p:txBody>
      </p:sp>
      <p:sp>
        <p:nvSpPr>
          <p:cNvPr id="49" name="!!sec"/>
          <p:cNvSpPr txBox="1"/>
          <p:nvPr/>
        </p:nvSpPr>
        <p:spPr>
          <a:xfrm>
            <a:off x="888978" y="6362541"/>
            <a:ext cx="187935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Simulation · Q-GEAR</a:t>
            </a:r>
          </a:p>
        </p:txBody>
      </p:sp>
      <p:pic>
        <p:nvPicPr>
          <p:cNvPr id="50" name="s9-image-19" descr="Texas Tech University Double T"/>
          <p:cNvPicPr>
            <a:picLocks noChangeAspect="1"/>
          </p:cNvPicPr>
          <p:nvPr/>
        </p:nvPicPr>
        <p:blipFill>
          <a:blip r:embed="rId20"/>
          <a:stretch>
            <a:fillRect/>
          </a:stretch>
        </p:blipFill>
        <p:spPr>
          <a:xfrm>
            <a:off x="11055074" y="600060"/>
            <a:ext cx="190495" cy="222244"/>
          </a:xfrm>
          <a:prstGeom prst="rect">
            <a:avLst/>
          </a:prstGeom>
        </p:spPr>
      </p:pic>
      <p:sp>
        <p:nvSpPr>
          <p:cNvPr id="51" name="!!pg"/>
          <p:cNvSpPr txBox="1"/>
          <p:nvPr/>
        </p:nvSpPr>
        <p:spPr>
          <a:xfrm>
            <a:off x="10304800" y="634984"/>
            <a:ext cx="572478"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9</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3286241"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Takeaway · benchmark suite</a:t>
            </a:r>
          </a:p>
        </p:txBody>
      </p:sp>
      <p:sp>
        <p:nvSpPr>
          <p:cNvPr id="3" name="s10-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42 qubits, program unchanged</a:t>
            </a:r>
          </a:p>
        </p:txBody>
      </p:sp>
      <p:sp>
        <p:nvSpPr>
          <p:cNvPr id="4" name="s10-box-01"/>
          <p:cNvSpPr/>
          <p:nvPr/>
        </p:nvSpPr>
        <p:spPr>
          <a:xfrm>
            <a:off x="888978" y="1897908"/>
            <a:ext cx="254390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10-text-03"/>
          <p:cNvSpPr txBox="1"/>
          <p:nvPr/>
        </p:nvSpPr>
        <p:spPr>
          <a:xfrm>
            <a:off x="888978" y="1621690"/>
            <a:ext cx="2410558" cy="161921"/>
          </a:xfrm>
          <a:prstGeom prst="rect">
            <a:avLst/>
          </a:prstGeom>
          <a:noFill/>
        </p:spPr>
        <p:txBody>
          <a:bodyPr wrap="none" lIns="0" rIns="0" tIns="0" bIns="0" anchor="t">
            <a:noAutofit/>
          </a:bodyPr>
          <a:lstStyle/>
          <a:p>
            <a:pPr algn="l">
              <a:lnSpc>
                <a:spcPts val="1320"/>
              </a:lnSpc>
              <a:spcBef>
                <a:spcPts val="0"/>
              </a:spcBef>
              <a:spcAft>
                <a:spcPts val="0"/>
              </a:spcAft>
            </a:pPr>
            <a:r>
              <a:rPr sz="1100" b="1" i="0" spc="110" cap="all">
                <a:solidFill>
                  <a:srgbClr val="7B7B86"/>
                </a:solidFill>
                <a:latin typeface="Arial"/>
              </a:rPr>
              <a:t>Benchmark</a:t>
            </a:r>
          </a:p>
        </p:txBody>
      </p:sp>
      <p:sp>
        <p:nvSpPr>
          <p:cNvPr id="6" name="s10-box-02"/>
          <p:cNvSpPr/>
          <p:nvPr/>
        </p:nvSpPr>
        <p:spPr>
          <a:xfrm>
            <a:off x="3432883" y="1897908"/>
            <a:ext cx="122353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10-text-04"/>
          <p:cNvSpPr txBox="1"/>
          <p:nvPr/>
        </p:nvSpPr>
        <p:spPr>
          <a:xfrm>
            <a:off x="3432883" y="1621690"/>
            <a:ext cx="1090188" cy="161921"/>
          </a:xfrm>
          <a:prstGeom prst="rect">
            <a:avLst/>
          </a:prstGeom>
          <a:noFill/>
        </p:spPr>
        <p:txBody>
          <a:bodyPr wrap="none" lIns="0" rIns="0" tIns="0" bIns="0" anchor="t">
            <a:noAutofit/>
          </a:bodyPr>
          <a:lstStyle/>
          <a:p>
            <a:pPr algn="l">
              <a:lnSpc>
                <a:spcPts val="1320"/>
              </a:lnSpc>
              <a:spcBef>
                <a:spcPts val="0"/>
              </a:spcBef>
              <a:spcAft>
                <a:spcPts val="0"/>
              </a:spcAft>
            </a:pPr>
            <a:r>
              <a:rPr sz="1100" b="1" i="0" spc="110" cap="all">
                <a:solidFill>
                  <a:srgbClr val="7B7B86"/>
                </a:solidFill>
                <a:latin typeface="Arial"/>
              </a:rPr>
              <a:t>Qubits</a:t>
            </a:r>
          </a:p>
        </p:txBody>
      </p:sp>
      <p:sp>
        <p:nvSpPr>
          <p:cNvPr id="8" name="s10-box-03"/>
          <p:cNvSpPr/>
          <p:nvPr/>
        </p:nvSpPr>
        <p:spPr>
          <a:xfrm>
            <a:off x="4656418" y="1897908"/>
            <a:ext cx="172616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10-text-05"/>
          <p:cNvSpPr txBox="1"/>
          <p:nvPr/>
        </p:nvSpPr>
        <p:spPr>
          <a:xfrm>
            <a:off x="4656418" y="1621690"/>
            <a:ext cx="1592818" cy="161921"/>
          </a:xfrm>
          <a:prstGeom prst="rect">
            <a:avLst/>
          </a:prstGeom>
          <a:noFill/>
        </p:spPr>
        <p:txBody>
          <a:bodyPr wrap="none" lIns="0" rIns="0" tIns="0" bIns="0" anchor="t">
            <a:noAutofit/>
          </a:bodyPr>
          <a:lstStyle/>
          <a:p>
            <a:pPr algn="l">
              <a:lnSpc>
                <a:spcPts val="1320"/>
              </a:lnSpc>
              <a:spcBef>
                <a:spcPts val="0"/>
              </a:spcBef>
              <a:spcAft>
                <a:spcPts val="0"/>
              </a:spcAft>
            </a:pPr>
            <a:r>
              <a:rPr sz="1100" b="1" i="0" spc="110" cap="all">
                <a:solidFill>
                  <a:srgbClr val="7B7B86"/>
                </a:solidFill>
                <a:latin typeface="Arial"/>
              </a:rPr>
              <a:t>Two-qubit gates</a:t>
            </a:r>
          </a:p>
        </p:txBody>
      </p:sp>
      <p:sp>
        <p:nvSpPr>
          <p:cNvPr id="10" name="s10-box-04"/>
          <p:cNvSpPr/>
          <p:nvPr/>
        </p:nvSpPr>
        <p:spPr>
          <a:xfrm>
            <a:off x="6382583" y="1897908"/>
            <a:ext cx="492013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10-text-06"/>
          <p:cNvSpPr txBox="1"/>
          <p:nvPr/>
        </p:nvSpPr>
        <p:spPr>
          <a:xfrm>
            <a:off x="6382583" y="1621690"/>
            <a:ext cx="4786788" cy="161921"/>
          </a:xfrm>
          <a:prstGeom prst="rect">
            <a:avLst/>
          </a:prstGeom>
          <a:noFill/>
        </p:spPr>
        <p:txBody>
          <a:bodyPr wrap="none" lIns="0" rIns="0" tIns="0" bIns="0" anchor="t">
            <a:noAutofit/>
          </a:bodyPr>
          <a:lstStyle/>
          <a:p>
            <a:pPr algn="l">
              <a:lnSpc>
                <a:spcPts val="1320"/>
              </a:lnSpc>
              <a:spcBef>
                <a:spcPts val="0"/>
              </a:spcBef>
              <a:spcAft>
                <a:spcPts val="0"/>
              </a:spcAft>
            </a:pPr>
            <a:r>
              <a:rPr sz="1100" b="1" i="0" spc="110" cap="all">
                <a:solidFill>
                  <a:srgbClr val="7B7B86"/>
                </a:solidFill>
                <a:latin typeface="Arial"/>
              </a:rPr>
              <a:t>Reported result</a:t>
            </a:r>
          </a:p>
        </p:txBody>
      </p:sp>
      <p:sp>
        <p:nvSpPr>
          <p:cNvPr id="12" name="s10-box-05"/>
          <p:cNvSpPr/>
          <p:nvPr/>
        </p:nvSpPr>
        <p:spPr>
          <a:xfrm>
            <a:off x="888978" y="2361446"/>
            <a:ext cx="254390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10-text-07"/>
          <p:cNvSpPr txBox="1"/>
          <p:nvPr/>
        </p:nvSpPr>
        <p:spPr>
          <a:xfrm>
            <a:off x="888978" y="2031255"/>
            <a:ext cx="2410558" cy="203195"/>
          </a:xfrm>
          <a:prstGeom prst="rect">
            <a:avLst/>
          </a:prstGeom>
          <a:noFill/>
        </p:spPr>
        <p:txBody>
          <a:bodyPr wrap="none" lIns="0" rIns="0" tIns="0" bIns="0" anchor="t">
            <a:noAutofit/>
          </a:bodyPr>
          <a:lstStyle/>
          <a:p>
            <a:pPr algn="l">
              <a:lnSpc>
                <a:spcPts val="1680"/>
              </a:lnSpc>
              <a:spcBef>
                <a:spcPts val="0"/>
              </a:spcBef>
              <a:spcAft>
                <a:spcPts val="0"/>
              </a:spcAft>
            </a:pPr>
            <a:r>
              <a:rPr sz="1400" b="1" i="0">
                <a:solidFill>
                  <a:srgbClr val="0B0B0F"/>
                </a:solidFill>
                <a:latin typeface="Arial"/>
              </a:rPr>
              <a:t>Random CX-block circuits</a:t>
            </a:r>
          </a:p>
        </p:txBody>
      </p:sp>
      <p:sp>
        <p:nvSpPr>
          <p:cNvPr id="14" name="s10-box-06"/>
          <p:cNvSpPr/>
          <p:nvPr/>
        </p:nvSpPr>
        <p:spPr>
          <a:xfrm>
            <a:off x="3432883" y="2361446"/>
            <a:ext cx="12235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10-text-08"/>
          <p:cNvSpPr txBox="1"/>
          <p:nvPr/>
        </p:nvSpPr>
        <p:spPr>
          <a:xfrm>
            <a:off x="3432883" y="2031255"/>
            <a:ext cx="109018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28–34</a:t>
            </a:r>
          </a:p>
        </p:txBody>
      </p:sp>
      <p:sp>
        <p:nvSpPr>
          <p:cNvPr id="16" name="s10-box-07"/>
          <p:cNvSpPr/>
          <p:nvPr/>
        </p:nvSpPr>
        <p:spPr>
          <a:xfrm>
            <a:off x="4656418" y="2361446"/>
            <a:ext cx="172616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10-text-09"/>
          <p:cNvSpPr txBox="1"/>
          <p:nvPr/>
        </p:nvSpPr>
        <p:spPr>
          <a:xfrm>
            <a:off x="4656418" y="2031255"/>
            <a:ext cx="159281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100 – 10,000</a:t>
            </a:r>
          </a:p>
        </p:txBody>
      </p:sp>
      <p:sp>
        <p:nvSpPr>
          <p:cNvPr id="18" name="s10-box-08"/>
          <p:cNvSpPr/>
          <p:nvPr/>
        </p:nvSpPr>
        <p:spPr>
          <a:xfrm>
            <a:off x="6382583" y="2361446"/>
            <a:ext cx="49201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10-text-10"/>
          <p:cNvSpPr txBox="1"/>
          <p:nvPr/>
        </p:nvSpPr>
        <p:spPr>
          <a:xfrm>
            <a:off x="6382583" y="2031255"/>
            <a:ext cx="478678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≈1 min on 4 × A100 vs ≈24 h on CPU · ≈400× on one A100</a:t>
            </a:r>
          </a:p>
        </p:txBody>
      </p:sp>
      <p:sp>
        <p:nvSpPr>
          <p:cNvPr id="20" name="s10-box-09"/>
          <p:cNvSpPr/>
          <p:nvPr/>
        </p:nvSpPr>
        <p:spPr>
          <a:xfrm>
            <a:off x="888978" y="2824985"/>
            <a:ext cx="254390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10-text-11"/>
          <p:cNvSpPr txBox="1"/>
          <p:nvPr/>
        </p:nvSpPr>
        <p:spPr>
          <a:xfrm>
            <a:off x="888978" y="2494793"/>
            <a:ext cx="2410558" cy="203195"/>
          </a:xfrm>
          <a:prstGeom prst="rect">
            <a:avLst/>
          </a:prstGeom>
          <a:noFill/>
        </p:spPr>
        <p:txBody>
          <a:bodyPr wrap="none" lIns="0" rIns="0" tIns="0" bIns="0" anchor="t">
            <a:noAutofit/>
          </a:bodyPr>
          <a:lstStyle/>
          <a:p>
            <a:pPr algn="l">
              <a:lnSpc>
                <a:spcPts val="1680"/>
              </a:lnSpc>
              <a:spcBef>
                <a:spcPts val="0"/>
              </a:spcBef>
              <a:spcAft>
                <a:spcPts val="0"/>
              </a:spcAft>
            </a:pPr>
            <a:r>
              <a:rPr sz="1400" b="1" i="0">
                <a:solidFill>
                  <a:srgbClr val="0B0B0F"/>
                </a:solidFill>
                <a:latin typeface="Arial"/>
              </a:rPr>
              <a:t>Quantum Fourier transform</a:t>
            </a:r>
          </a:p>
        </p:txBody>
      </p:sp>
      <p:sp>
        <p:nvSpPr>
          <p:cNvPr id="22" name="s10-box-10"/>
          <p:cNvSpPr/>
          <p:nvPr/>
        </p:nvSpPr>
        <p:spPr>
          <a:xfrm>
            <a:off x="3432883" y="2824985"/>
            <a:ext cx="12235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10-text-12"/>
          <p:cNvSpPr txBox="1"/>
          <p:nvPr/>
        </p:nvSpPr>
        <p:spPr>
          <a:xfrm>
            <a:off x="3432883" y="2494793"/>
            <a:ext cx="109018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 22</a:t>
            </a:r>
          </a:p>
        </p:txBody>
      </p:sp>
      <p:sp>
        <p:nvSpPr>
          <p:cNvPr id="24" name="s10-box-11"/>
          <p:cNvSpPr/>
          <p:nvPr/>
        </p:nvSpPr>
        <p:spPr>
          <a:xfrm>
            <a:off x="4656418" y="2824985"/>
            <a:ext cx="172616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10-text-13"/>
          <p:cNvSpPr txBox="1"/>
          <p:nvPr/>
        </p:nvSpPr>
        <p:spPr>
          <a:xfrm>
            <a:off x="4656418" y="2494793"/>
            <a:ext cx="159281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a:t>
            </a:r>
          </a:p>
        </p:txBody>
      </p:sp>
      <p:sp>
        <p:nvSpPr>
          <p:cNvPr id="26" name="s10-box-12"/>
          <p:cNvSpPr/>
          <p:nvPr/>
        </p:nvSpPr>
        <p:spPr>
          <a:xfrm>
            <a:off x="6382583" y="2824985"/>
            <a:ext cx="49201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10-text-14"/>
          <p:cNvSpPr txBox="1"/>
          <p:nvPr/>
        </p:nvSpPr>
        <p:spPr>
          <a:xfrm>
            <a:off x="6382583" y="2494793"/>
            <a:ext cx="478678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same pipeline, program unchanged</a:t>
            </a:r>
          </a:p>
        </p:txBody>
      </p:sp>
      <p:sp>
        <p:nvSpPr>
          <p:cNvPr id="28" name="s10-box-13"/>
          <p:cNvSpPr/>
          <p:nvPr/>
        </p:nvSpPr>
        <p:spPr>
          <a:xfrm>
            <a:off x="888978" y="3288523"/>
            <a:ext cx="254390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10-text-15"/>
          <p:cNvSpPr txBox="1"/>
          <p:nvPr/>
        </p:nvSpPr>
        <p:spPr>
          <a:xfrm>
            <a:off x="888978" y="2958332"/>
            <a:ext cx="2410558" cy="203195"/>
          </a:xfrm>
          <a:prstGeom prst="rect">
            <a:avLst/>
          </a:prstGeom>
          <a:noFill/>
        </p:spPr>
        <p:txBody>
          <a:bodyPr wrap="none" lIns="0" rIns="0" tIns="0" bIns="0" anchor="t">
            <a:noAutofit/>
          </a:bodyPr>
          <a:lstStyle/>
          <a:p>
            <a:pPr algn="l">
              <a:lnSpc>
                <a:spcPts val="1680"/>
              </a:lnSpc>
              <a:spcBef>
                <a:spcPts val="0"/>
              </a:spcBef>
              <a:spcAft>
                <a:spcPts val="0"/>
              </a:spcAft>
            </a:pPr>
            <a:r>
              <a:rPr sz="1400" b="1" i="0">
                <a:solidFill>
                  <a:srgbClr val="0B0B0F"/>
                </a:solidFill>
                <a:latin typeface="Arial"/>
              </a:rPr>
              <a:t>QCrank image encoding</a:t>
            </a:r>
          </a:p>
        </p:txBody>
      </p:sp>
      <p:sp>
        <p:nvSpPr>
          <p:cNvPr id="30" name="s10-box-14"/>
          <p:cNvSpPr/>
          <p:nvPr/>
        </p:nvSpPr>
        <p:spPr>
          <a:xfrm>
            <a:off x="3432883" y="3288523"/>
            <a:ext cx="12235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10-text-16"/>
          <p:cNvSpPr txBox="1"/>
          <p:nvPr/>
        </p:nvSpPr>
        <p:spPr>
          <a:xfrm>
            <a:off x="3432883" y="2958332"/>
            <a:ext cx="109018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small images</a:t>
            </a:r>
          </a:p>
        </p:txBody>
      </p:sp>
      <p:sp>
        <p:nvSpPr>
          <p:cNvPr id="32" name="s10-box-15"/>
          <p:cNvSpPr/>
          <p:nvPr/>
        </p:nvSpPr>
        <p:spPr>
          <a:xfrm>
            <a:off x="4656418" y="3288523"/>
            <a:ext cx="172616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10-text-17"/>
          <p:cNvSpPr txBox="1"/>
          <p:nvPr/>
        </p:nvSpPr>
        <p:spPr>
          <a:xfrm>
            <a:off x="4656418" y="2958332"/>
            <a:ext cx="159281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a:t>
            </a:r>
          </a:p>
        </p:txBody>
      </p:sp>
      <p:sp>
        <p:nvSpPr>
          <p:cNvPr id="34" name="s10-box-16"/>
          <p:cNvSpPr/>
          <p:nvPr/>
        </p:nvSpPr>
        <p:spPr>
          <a:xfrm>
            <a:off x="6382583" y="3288523"/>
            <a:ext cx="49201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10-text-18"/>
          <p:cNvSpPr txBox="1"/>
          <p:nvPr/>
        </p:nvSpPr>
        <p:spPr>
          <a:xfrm>
            <a:off x="6382583" y="2958332"/>
            <a:ext cx="478678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 100× speed-up</a:t>
            </a:r>
          </a:p>
        </p:txBody>
      </p:sp>
      <p:sp>
        <p:nvSpPr>
          <p:cNvPr id="36" name="s10-box-17"/>
          <p:cNvSpPr/>
          <p:nvPr/>
        </p:nvSpPr>
        <p:spPr>
          <a:xfrm>
            <a:off x="888978" y="3752062"/>
            <a:ext cx="254390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10-text-19"/>
          <p:cNvSpPr txBox="1"/>
          <p:nvPr/>
        </p:nvSpPr>
        <p:spPr>
          <a:xfrm>
            <a:off x="888978" y="3421870"/>
            <a:ext cx="2410558" cy="203195"/>
          </a:xfrm>
          <a:prstGeom prst="rect">
            <a:avLst/>
          </a:prstGeom>
          <a:noFill/>
        </p:spPr>
        <p:txBody>
          <a:bodyPr wrap="none" lIns="0" rIns="0" tIns="0" bIns="0" anchor="t">
            <a:noAutofit/>
          </a:bodyPr>
          <a:lstStyle/>
          <a:p>
            <a:pPr algn="l">
              <a:lnSpc>
                <a:spcPts val="1680"/>
              </a:lnSpc>
              <a:spcBef>
                <a:spcPts val="0"/>
              </a:spcBef>
              <a:spcAft>
                <a:spcPts val="0"/>
              </a:spcAft>
            </a:pPr>
            <a:r>
              <a:rPr sz="1400" b="1" i="0">
                <a:solidFill>
                  <a:srgbClr val="0B0B0F"/>
                </a:solidFill>
                <a:latin typeface="Arial"/>
              </a:rPr>
              <a:t>Largest run</a:t>
            </a:r>
          </a:p>
        </p:txBody>
      </p:sp>
      <p:sp>
        <p:nvSpPr>
          <p:cNvPr id="38" name="s10-box-18"/>
          <p:cNvSpPr/>
          <p:nvPr/>
        </p:nvSpPr>
        <p:spPr>
          <a:xfrm>
            <a:off x="3432883" y="3752062"/>
            <a:ext cx="12235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10-text-20"/>
          <p:cNvSpPr txBox="1"/>
          <p:nvPr/>
        </p:nvSpPr>
        <p:spPr>
          <a:xfrm>
            <a:off x="3432883" y="3421870"/>
            <a:ext cx="109018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42</a:t>
            </a:r>
          </a:p>
        </p:txBody>
      </p:sp>
      <p:sp>
        <p:nvSpPr>
          <p:cNvPr id="40" name="s10-box-19"/>
          <p:cNvSpPr/>
          <p:nvPr/>
        </p:nvSpPr>
        <p:spPr>
          <a:xfrm>
            <a:off x="4656418" y="3752062"/>
            <a:ext cx="172616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10-text-21"/>
          <p:cNvSpPr txBox="1"/>
          <p:nvPr/>
        </p:nvSpPr>
        <p:spPr>
          <a:xfrm>
            <a:off x="4656418" y="3421870"/>
            <a:ext cx="159281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a:t>
            </a:r>
          </a:p>
        </p:txBody>
      </p:sp>
      <p:sp>
        <p:nvSpPr>
          <p:cNvPr id="42" name="s10-box-20"/>
          <p:cNvSpPr/>
          <p:nvPr/>
        </p:nvSpPr>
        <p:spPr>
          <a:xfrm>
            <a:off x="6382583" y="3752062"/>
            <a:ext cx="49201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10-text-22"/>
          <p:cNvSpPr txBox="1"/>
          <p:nvPr/>
        </p:nvSpPr>
        <p:spPr>
          <a:xfrm>
            <a:off x="6382583" y="3421870"/>
            <a:ext cx="478678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1,024 × A100 · ≈100% GPU utilization</a:t>
            </a:r>
          </a:p>
        </p:txBody>
      </p:sp>
      <p:sp>
        <p:nvSpPr>
          <p:cNvPr id="44" name="s10-text-23"/>
          <p:cNvSpPr txBox="1"/>
          <p:nvPr/>
        </p:nvSpPr>
        <p:spPr>
          <a:xfrm>
            <a:off x="888978" y="3977481"/>
            <a:ext cx="9537462" cy="582796"/>
          </a:xfrm>
          <a:prstGeom prst="rect">
            <a:avLst/>
          </a:prstGeom>
          <a:noFill/>
        </p:spPr>
        <p:txBody>
          <a:bodyPr wrap="square" lIns="0" rIns="0" tIns="0" bIns="0" anchor="t">
            <a:noAutofit/>
          </a:bodyPr>
          <a:lstStyle/>
          <a:p>
            <a:pPr algn="l">
              <a:lnSpc>
                <a:spcPts val="2295"/>
              </a:lnSpc>
              <a:spcBef>
                <a:spcPts val="0"/>
              </a:spcBef>
              <a:spcAft>
                <a:spcPts val="0"/>
              </a:spcAft>
            </a:pPr>
            <a:r>
              <a:rPr sz="1700" b="0" i="0">
                <a:solidFill>
                  <a:srgbClr val="50505B"/>
                </a:solidFill>
                <a:latin typeface="Arial"/>
              </a:rPr>
              <a:t>Reused downstream: validates the DEAL circuits before hardware · evaluator inside RubriQ’s training loop</a:t>
            </a:r>
          </a:p>
        </p:txBody>
      </p:sp>
      <p:sp>
        <p:nvSpPr>
          <p:cNvPr id="45" name="!!L1-bg"/>
          <p:cNvSpPr/>
          <p:nvPr/>
        </p:nvSpPr>
        <p:spPr>
          <a:xfrm>
            <a:off x="5579824" y="6311742"/>
            <a:ext cx="1119656"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s10-text-24"/>
          <p:cNvSpPr txBox="1"/>
          <p:nvPr/>
        </p:nvSpPr>
        <p:spPr>
          <a:xfrm>
            <a:off x="5706821"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B00000"/>
                </a:solidFill>
                <a:latin typeface="Courier New"/>
              </a:rPr>
              <a:t>01</a:t>
            </a:r>
          </a:p>
        </p:txBody>
      </p:sp>
      <p:sp>
        <p:nvSpPr>
          <p:cNvPr id="47" name="!!L1-t"/>
          <p:cNvSpPr txBox="1"/>
          <p:nvPr/>
        </p:nvSpPr>
        <p:spPr>
          <a:xfrm>
            <a:off x="5920235" y="6362541"/>
            <a:ext cx="67129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0B0B0F"/>
                </a:solidFill>
                <a:latin typeface="Arial"/>
              </a:rPr>
              <a:t>Simulation</a:t>
            </a:r>
          </a:p>
        </p:txBody>
      </p:sp>
      <p:sp>
        <p:nvSpPr>
          <p:cNvPr id="48"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10-text-26"/>
          <p:cNvSpPr txBox="1"/>
          <p:nvPr/>
        </p:nvSpPr>
        <p:spPr>
          <a:xfrm>
            <a:off x="6889975"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50" name="!!L2-t"/>
          <p:cNvSpPr txBox="1"/>
          <p:nvPr/>
        </p:nvSpPr>
        <p:spPr>
          <a:xfrm>
            <a:off x="7103389" y="6362541"/>
            <a:ext cx="67893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51"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s10-text-28"/>
          <p:cNvSpPr txBox="1"/>
          <p:nvPr/>
        </p:nvSpPr>
        <p:spPr>
          <a:xfrm>
            <a:off x="8080768"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53" name="!!L3-t"/>
          <p:cNvSpPr txBox="1"/>
          <p:nvPr/>
        </p:nvSpPr>
        <p:spPr>
          <a:xfrm>
            <a:off x="8294182" y="6362541"/>
            <a:ext cx="920032"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54"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s10-text-30"/>
          <p:cNvSpPr txBox="1"/>
          <p:nvPr/>
        </p:nvSpPr>
        <p:spPr>
          <a:xfrm>
            <a:off x="9512657"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56" name="!!L4-t"/>
          <p:cNvSpPr txBox="1"/>
          <p:nvPr/>
        </p:nvSpPr>
        <p:spPr>
          <a:xfrm>
            <a:off x="9726072" y="6362541"/>
            <a:ext cx="624765"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57"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s10-text-32"/>
          <p:cNvSpPr txBox="1"/>
          <p:nvPr/>
        </p:nvSpPr>
        <p:spPr>
          <a:xfrm>
            <a:off x="10649279"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59" name="!!L5-t"/>
          <p:cNvSpPr txBox="1"/>
          <p:nvPr/>
        </p:nvSpPr>
        <p:spPr>
          <a:xfrm>
            <a:off x="10862693" y="6362541"/>
            <a:ext cx="33207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60" name="!!sec"/>
          <p:cNvSpPr txBox="1"/>
          <p:nvPr/>
        </p:nvSpPr>
        <p:spPr>
          <a:xfrm>
            <a:off x="888978" y="6362541"/>
            <a:ext cx="187935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Simulation · Q-GEAR</a:t>
            </a:r>
          </a:p>
        </p:txBody>
      </p:sp>
      <p:pic>
        <p:nvPicPr>
          <p:cNvPr id="61" name="s10-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62"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10</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s11-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11-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s11-text-01"/>
          <p:cNvSpPr txBox="1"/>
          <p:nvPr/>
        </p:nvSpPr>
        <p:spPr>
          <a:xfrm>
            <a:off x="888978" y="2364721"/>
            <a:ext cx="10432789"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Layer 2 · Noise</a:t>
            </a:r>
          </a:p>
        </p:txBody>
      </p:sp>
      <p:sp>
        <p:nvSpPr>
          <p:cNvPr id="5" name="s11-text-02"/>
          <p:cNvSpPr txBox="1"/>
          <p:nvPr/>
        </p:nvSpPr>
        <p:spPr>
          <a:xfrm>
            <a:off x="888978" y="2675863"/>
            <a:ext cx="5257272" cy="826670"/>
          </a:xfrm>
          <a:prstGeom prst="rect">
            <a:avLst/>
          </a:prstGeom>
          <a:noFill/>
        </p:spPr>
        <p:txBody>
          <a:bodyPr wrap="none" lIns="0" rIns="0" tIns="0" bIns="0" anchor="t">
            <a:noAutofit/>
          </a:bodyPr>
          <a:lstStyle/>
          <a:p>
            <a:pPr algn="l">
              <a:lnSpc>
                <a:spcPts val="6509"/>
              </a:lnSpc>
              <a:spcBef>
                <a:spcPts val="0"/>
              </a:spcBef>
              <a:spcAft>
                <a:spcPts val="0"/>
              </a:spcAft>
            </a:pPr>
            <a:r>
              <a:rPr sz="6200" b="1" i="0" spc="-217">
                <a:solidFill>
                  <a:srgbClr val="CC0000"/>
                </a:solidFill>
                <a:latin typeface="Arial"/>
              </a:rPr>
              <a:t>DEAL &amp; QAWA</a:t>
            </a:r>
          </a:p>
        </p:txBody>
      </p:sp>
      <p:sp>
        <p:nvSpPr>
          <p:cNvPr id="6" name="s11-text-03"/>
          <p:cNvSpPr txBox="1"/>
          <p:nvPr/>
        </p:nvSpPr>
        <p:spPr>
          <a:xfrm>
            <a:off x="888978" y="3654929"/>
            <a:ext cx="9537462" cy="685783"/>
          </a:xfrm>
          <a:prstGeom prst="rect">
            <a:avLst/>
          </a:prstGeom>
          <a:noFill/>
        </p:spPr>
        <p:txBody>
          <a:bodyPr wrap="square" lIns="0" rIns="0" tIns="0" bIns="0" anchor="t">
            <a:noAutofit/>
          </a:bodyPr>
          <a:lstStyle/>
          <a:p>
            <a:pPr algn="l">
              <a:lnSpc>
                <a:spcPts val="2700"/>
              </a:lnSpc>
              <a:spcBef>
                <a:spcPts val="0"/>
              </a:spcBef>
              <a:spcAft>
                <a:spcPts val="0"/>
              </a:spcAft>
            </a:pPr>
            <a:r>
              <a:rPr sz="2000" b="0" i="0">
                <a:solidFill>
                  <a:srgbClr val="50505B"/>
                </a:solidFill>
                <a:latin typeface="Arial"/>
              </a:rPr>
              <a:t>Hardware-aware optimization on noisy devices</a:t>
            </a:r>
          </a:p>
          <a:p>
            <a:pPr algn="l">
              <a:lnSpc>
                <a:spcPts val="2700"/>
              </a:lnSpc>
              <a:spcBef>
                <a:spcPts val="0"/>
              </a:spcBef>
              <a:spcAft>
                <a:spcPts val="0"/>
              </a:spcAft>
            </a:pPr>
            <a:r>
              <a:rPr sz="1200" b="0" i="0">
                <a:solidFill>
                  <a:srgbClr val="7B7B86"/>
                </a:solidFill>
                <a:latin typeface="Arial"/>
              </a:rPr>
              <a:t>DEAL: Guo, Rayan, Hu, Pan · IEEE QCE 2025 · arXiv:2504.04021  ·  QAWA: Guo, Balewski, Hu, Khan, Pan · arXiv:2511.07676</a:t>
            </a:r>
          </a:p>
        </p:txBody>
      </p:sp>
      <p:sp>
        <p:nvSpPr>
          <p:cNvPr id="7"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11-text-04"/>
          <p:cNvSpPr txBox="1"/>
          <p:nvPr/>
        </p:nvSpPr>
        <p:spPr>
          <a:xfrm>
            <a:off x="5706821"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9" name="!!L1-t"/>
          <p:cNvSpPr txBox="1"/>
          <p:nvPr/>
        </p:nvSpPr>
        <p:spPr>
          <a:xfrm>
            <a:off x="5920235" y="6362541"/>
            <a:ext cx="67129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0" name="!!L2-bg"/>
          <p:cNvSpPr/>
          <p:nvPr/>
        </p:nvSpPr>
        <p:spPr>
          <a:xfrm>
            <a:off x="6762978" y="6311742"/>
            <a:ext cx="1127295"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11-text-06"/>
          <p:cNvSpPr txBox="1"/>
          <p:nvPr/>
        </p:nvSpPr>
        <p:spPr>
          <a:xfrm>
            <a:off x="6889975"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B00000"/>
                </a:solidFill>
                <a:latin typeface="Courier New"/>
              </a:rPr>
              <a:t>02</a:t>
            </a:r>
          </a:p>
        </p:txBody>
      </p:sp>
      <p:sp>
        <p:nvSpPr>
          <p:cNvPr id="12" name="!!L2-t"/>
          <p:cNvSpPr txBox="1"/>
          <p:nvPr/>
        </p:nvSpPr>
        <p:spPr>
          <a:xfrm>
            <a:off x="7103389" y="6362541"/>
            <a:ext cx="67893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0B0B0F"/>
                </a:solidFill>
                <a:latin typeface="Arial"/>
              </a:rPr>
              <a:t>Algorithms</a:t>
            </a:r>
          </a:p>
        </p:txBody>
      </p:sp>
      <p:sp>
        <p:nvSpPr>
          <p:cNvPr id="13"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11-text-08"/>
          <p:cNvSpPr txBox="1"/>
          <p:nvPr/>
        </p:nvSpPr>
        <p:spPr>
          <a:xfrm>
            <a:off x="8080768"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15" name="!!L3-t"/>
          <p:cNvSpPr txBox="1"/>
          <p:nvPr/>
        </p:nvSpPr>
        <p:spPr>
          <a:xfrm>
            <a:off x="8294182" y="6362541"/>
            <a:ext cx="920032"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16"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11-text-10"/>
          <p:cNvSpPr txBox="1"/>
          <p:nvPr/>
        </p:nvSpPr>
        <p:spPr>
          <a:xfrm>
            <a:off x="9512657"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18" name="!!L4-t"/>
          <p:cNvSpPr txBox="1"/>
          <p:nvPr/>
        </p:nvSpPr>
        <p:spPr>
          <a:xfrm>
            <a:off x="9726072" y="6362541"/>
            <a:ext cx="624765"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19"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11-text-12"/>
          <p:cNvSpPr txBox="1"/>
          <p:nvPr/>
        </p:nvSpPr>
        <p:spPr>
          <a:xfrm>
            <a:off x="10649279"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1" name="!!L5-t"/>
          <p:cNvSpPr txBox="1"/>
          <p:nvPr/>
        </p:nvSpPr>
        <p:spPr>
          <a:xfrm>
            <a:off x="10862693" y="6362541"/>
            <a:ext cx="33207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2" name="!!sec"/>
          <p:cNvSpPr txBox="1"/>
          <p:nvPr/>
        </p:nvSpPr>
        <p:spPr>
          <a:xfrm>
            <a:off x="888978" y="6362541"/>
            <a:ext cx="2467707"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Algorithms · DEAL &amp; QAWA</a:t>
            </a:r>
          </a:p>
        </p:txBody>
      </p:sp>
      <p:pic>
        <p:nvPicPr>
          <p:cNvPr id="23" name="s11-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11</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5211930"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DEAL · Direct Entanglement Ansatz Learning</a:t>
            </a:r>
          </a:p>
        </p:txBody>
      </p:sp>
      <p:sp>
        <p:nvSpPr>
          <p:cNvPr id="3" name="s12-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Read the angles off the problem</a:t>
            </a:r>
          </a:p>
        </p:txBody>
      </p:sp>
      <p:sp>
        <p:nvSpPr>
          <p:cNvPr id="4" name="s12-box-01"/>
          <p:cNvSpPr/>
          <p:nvPr/>
        </p:nvSpPr>
        <p:spPr>
          <a:xfrm>
            <a:off x="888978" y="1583591"/>
            <a:ext cx="4825879" cy="1297749"/>
          </a:xfrm>
          <a:prstGeom prst="roundRect">
            <a:avLst>
              <a:gd name="adj" fmla="val 1174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12-text-03"/>
          <p:cNvSpPr txBox="1"/>
          <p:nvPr/>
        </p:nvSpPr>
        <p:spPr>
          <a:xfrm>
            <a:off x="1142971" y="1812185"/>
            <a:ext cx="4336942" cy="266693"/>
          </a:xfrm>
          <a:prstGeom prst="rect">
            <a:avLst/>
          </a:prstGeom>
          <a:noFill/>
        </p:spPr>
        <p:txBody>
          <a:bodyPr wrap="none" lIns="0" rIns="0" tIns="0" bIns="0" anchor="t">
            <a:noAutofit/>
          </a:bodyPr>
          <a:lstStyle/>
          <a:p>
            <a:pPr algn="l">
              <a:lnSpc>
                <a:spcPts val="2160"/>
              </a:lnSpc>
              <a:spcBef>
                <a:spcPts val="0"/>
              </a:spcBef>
              <a:spcAft>
                <a:spcPts val="0"/>
              </a:spcAft>
            </a:pPr>
            <a:r>
              <a:rPr sz="1800" b="1" i="0" spc="-27">
                <a:solidFill>
                  <a:srgbClr val="0B0B0F"/>
                </a:solidFill>
                <a:latin typeface="Arial"/>
              </a:rPr>
              <a:t>Direct angle mapping</a:t>
            </a:r>
          </a:p>
        </p:txBody>
      </p:sp>
      <p:sp>
        <p:nvSpPr>
          <p:cNvPr id="6" name="s12-text-04"/>
          <p:cNvSpPr txBox="1"/>
          <p:nvPr/>
        </p:nvSpPr>
        <p:spPr>
          <a:xfrm>
            <a:off x="1142971" y="2155077"/>
            <a:ext cx="4330592" cy="497669"/>
          </a:xfrm>
          <a:prstGeom prst="rect">
            <a:avLst/>
          </a:prstGeom>
          <a:noFill/>
        </p:spPr>
        <p:txBody>
          <a:bodyPr wrap="square" lIns="0" rIns="0" tIns="0" bIns="0" anchor="t">
            <a:noAutofit/>
          </a:bodyPr>
          <a:lstStyle/>
          <a:p>
            <a:pPr algn="l">
              <a:lnSpc>
                <a:spcPts val="1960"/>
              </a:lnSpc>
              <a:spcBef>
                <a:spcPts val="0"/>
              </a:spcBef>
              <a:spcAft>
                <a:spcPts val="0"/>
              </a:spcAft>
            </a:pPr>
            <a:r>
              <a:rPr sz="1400" b="0" i="0">
                <a:solidFill>
                  <a:srgbClr val="50505B"/>
                </a:solidFill>
                <a:latin typeface="Arial"/>
              </a:rPr>
              <a:t>Angles from the QUBO coefficients — no optimizer loop</a:t>
            </a:r>
          </a:p>
        </p:txBody>
      </p:sp>
      <p:sp>
        <p:nvSpPr>
          <p:cNvPr id="7" name="s12-box-02"/>
          <p:cNvSpPr/>
          <p:nvPr/>
        </p:nvSpPr>
        <p:spPr>
          <a:xfrm>
            <a:off x="888978" y="2995637"/>
            <a:ext cx="4825879" cy="1297749"/>
          </a:xfrm>
          <a:prstGeom prst="roundRect">
            <a:avLst>
              <a:gd name="adj" fmla="val 1174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12-text-05"/>
          <p:cNvSpPr txBox="1"/>
          <p:nvPr/>
        </p:nvSpPr>
        <p:spPr>
          <a:xfrm>
            <a:off x="1142971" y="3224231"/>
            <a:ext cx="4336942" cy="266693"/>
          </a:xfrm>
          <a:prstGeom prst="rect">
            <a:avLst/>
          </a:prstGeom>
          <a:noFill/>
        </p:spPr>
        <p:txBody>
          <a:bodyPr wrap="none" lIns="0" rIns="0" tIns="0" bIns="0" anchor="t">
            <a:noAutofit/>
          </a:bodyPr>
          <a:lstStyle/>
          <a:p>
            <a:pPr algn="l">
              <a:lnSpc>
                <a:spcPts val="2160"/>
              </a:lnSpc>
              <a:spcBef>
                <a:spcPts val="0"/>
              </a:spcBef>
              <a:spcAft>
                <a:spcPts val="0"/>
              </a:spcAft>
            </a:pPr>
            <a:r>
              <a:rPr sz="1800" b="1" i="0" spc="-27">
                <a:solidFill>
                  <a:srgbClr val="0B0B0F"/>
                </a:solidFill>
                <a:latin typeface="Arial"/>
              </a:rPr>
              <a:t>Entanglement-based ansatz</a:t>
            </a:r>
          </a:p>
        </p:txBody>
      </p:sp>
      <p:sp>
        <p:nvSpPr>
          <p:cNvPr id="9" name="s12-text-06"/>
          <p:cNvSpPr txBox="1"/>
          <p:nvPr/>
        </p:nvSpPr>
        <p:spPr>
          <a:xfrm>
            <a:off x="1142971" y="3567123"/>
            <a:ext cx="4330592" cy="497669"/>
          </a:xfrm>
          <a:prstGeom prst="rect">
            <a:avLst/>
          </a:prstGeom>
          <a:noFill/>
        </p:spPr>
        <p:txBody>
          <a:bodyPr wrap="square" lIns="0" rIns="0" tIns="0" bIns="0" anchor="t">
            <a:noAutofit/>
          </a:bodyPr>
          <a:lstStyle/>
          <a:p>
            <a:pPr algn="l">
              <a:lnSpc>
                <a:spcPts val="1960"/>
              </a:lnSpc>
              <a:spcBef>
                <a:spcPts val="0"/>
              </a:spcBef>
              <a:spcAft>
                <a:spcPts val="0"/>
              </a:spcAft>
            </a:pPr>
            <a:r>
              <a:rPr sz="1400" b="0" i="0">
                <a:solidFill>
                  <a:srgbClr val="50505B"/>
                </a:solidFill>
                <a:latin typeface="Arial"/>
              </a:rPr>
              <a:t>Echoed cross-resonance gates within the device’s CZ budget</a:t>
            </a:r>
          </a:p>
        </p:txBody>
      </p:sp>
      <p:sp>
        <p:nvSpPr>
          <p:cNvPr id="10" name="s12-box-03"/>
          <p:cNvSpPr/>
          <p:nvPr/>
        </p:nvSpPr>
        <p:spPr>
          <a:xfrm>
            <a:off x="888978" y="4407683"/>
            <a:ext cx="4825879" cy="1297749"/>
          </a:xfrm>
          <a:prstGeom prst="roundRect">
            <a:avLst>
              <a:gd name="adj" fmla="val 1174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12-text-07"/>
          <p:cNvSpPr txBox="1"/>
          <p:nvPr/>
        </p:nvSpPr>
        <p:spPr>
          <a:xfrm>
            <a:off x="1142971" y="4636277"/>
            <a:ext cx="4336942" cy="266693"/>
          </a:xfrm>
          <a:prstGeom prst="rect">
            <a:avLst/>
          </a:prstGeom>
          <a:noFill/>
        </p:spPr>
        <p:txBody>
          <a:bodyPr wrap="none" lIns="0" rIns="0" tIns="0" bIns="0" anchor="t">
            <a:noAutofit/>
          </a:bodyPr>
          <a:lstStyle/>
          <a:p>
            <a:pPr algn="l">
              <a:lnSpc>
                <a:spcPts val="2160"/>
              </a:lnSpc>
              <a:spcBef>
                <a:spcPts val="0"/>
              </a:spcBef>
              <a:spcAft>
                <a:spcPts val="0"/>
              </a:spcAft>
            </a:pPr>
            <a:r>
              <a:rPr sz="1800" b="1" i="0" spc="-27">
                <a:solidFill>
                  <a:srgbClr val="0B0B0F"/>
                </a:solidFill>
                <a:latin typeface="Arial"/>
              </a:rPr>
              <a:t>Adaptive digital ZNE</a:t>
            </a:r>
          </a:p>
        </p:txBody>
      </p:sp>
      <p:sp>
        <p:nvSpPr>
          <p:cNvPr id="12" name="s12-text-08"/>
          <p:cNvSpPr txBox="1"/>
          <p:nvPr/>
        </p:nvSpPr>
        <p:spPr>
          <a:xfrm>
            <a:off x="1142971" y="4979168"/>
            <a:ext cx="4330592" cy="497669"/>
          </a:xfrm>
          <a:prstGeom prst="rect">
            <a:avLst/>
          </a:prstGeom>
          <a:noFill/>
        </p:spPr>
        <p:txBody>
          <a:bodyPr wrap="square" lIns="0" rIns="0" tIns="0" bIns="0" anchor="t">
            <a:noAutofit/>
          </a:bodyPr>
          <a:lstStyle/>
          <a:p>
            <a:pPr algn="l">
              <a:lnSpc>
                <a:spcPts val="1960"/>
              </a:lnSpc>
              <a:spcBef>
                <a:spcPts val="0"/>
              </a:spcBef>
              <a:spcAft>
                <a:spcPts val="0"/>
              </a:spcAft>
            </a:pPr>
            <a:r>
              <a:rPr sz="1400" b="0" i="0">
                <a:solidFill>
                  <a:srgbClr val="50505B"/>
                </a:solidFill>
                <a:latin typeface="Arial"/>
              </a:rPr>
              <a:t>Delay / identity gates vs crosstalk; Bayesian layer choice</a:t>
            </a:r>
          </a:p>
        </p:txBody>
      </p:sp>
      <p:pic>
        <p:nvPicPr>
          <p:cNvPr id="13" name="s12-image-01" descr="diagram"/>
          <p:cNvPicPr>
            <a:picLocks noChangeAspect="1"/>
          </p:cNvPicPr>
          <p:nvPr/>
        </p:nvPicPr>
        <p:blipFill>
          <a:blip r:embed="rId2"/>
          <a:stretch>
            <a:fillRect/>
          </a:stretch>
        </p:blipFill>
        <p:spPr>
          <a:xfrm>
            <a:off x="5943451" y="2216095"/>
            <a:ext cx="5327517" cy="2851079"/>
          </a:xfrm>
          <a:prstGeom prst="rect">
            <a:avLst/>
          </a:prstGeom>
        </p:spPr>
      </p:pic>
      <p:sp>
        <p:nvSpPr>
          <p:cNvPr id="14" name="s12-text-09"/>
          <p:cNvSpPr txBox="1"/>
          <p:nvPr/>
        </p:nvSpPr>
        <p:spPr>
          <a:xfrm>
            <a:off x="6128787" y="2622187"/>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q0</a:t>
            </a:r>
          </a:p>
        </p:txBody>
      </p:sp>
      <p:sp>
        <p:nvSpPr>
          <p:cNvPr id="15" name="s12-text-10"/>
          <p:cNvSpPr txBox="1"/>
          <p:nvPr/>
        </p:nvSpPr>
        <p:spPr>
          <a:xfrm>
            <a:off x="6128787" y="3066676"/>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q1</a:t>
            </a:r>
          </a:p>
        </p:txBody>
      </p:sp>
      <p:sp>
        <p:nvSpPr>
          <p:cNvPr id="16" name="s12-text-11"/>
          <p:cNvSpPr txBox="1"/>
          <p:nvPr/>
        </p:nvSpPr>
        <p:spPr>
          <a:xfrm>
            <a:off x="6128787" y="3511165"/>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q2</a:t>
            </a:r>
          </a:p>
        </p:txBody>
      </p:sp>
      <p:sp>
        <p:nvSpPr>
          <p:cNvPr id="17" name="s12-text-12"/>
          <p:cNvSpPr txBox="1"/>
          <p:nvPr/>
        </p:nvSpPr>
        <p:spPr>
          <a:xfrm>
            <a:off x="6128787" y="395565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q3</a:t>
            </a:r>
          </a:p>
        </p:txBody>
      </p:sp>
      <p:sp>
        <p:nvSpPr>
          <p:cNvPr id="18" name="s12-text-13"/>
          <p:cNvSpPr txBox="1"/>
          <p:nvPr/>
        </p:nvSpPr>
        <p:spPr>
          <a:xfrm>
            <a:off x="6766351" y="2622187"/>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9" name="s12-text-14"/>
          <p:cNvSpPr txBox="1"/>
          <p:nvPr/>
        </p:nvSpPr>
        <p:spPr>
          <a:xfrm>
            <a:off x="6766351" y="3066676"/>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0" name="s12-text-15"/>
          <p:cNvSpPr txBox="1"/>
          <p:nvPr/>
        </p:nvSpPr>
        <p:spPr>
          <a:xfrm>
            <a:off x="6766351" y="3511165"/>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1" name="s12-text-16"/>
          <p:cNvSpPr txBox="1"/>
          <p:nvPr/>
        </p:nvSpPr>
        <p:spPr>
          <a:xfrm>
            <a:off x="6766351" y="395565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2" name="s12-text-17"/>
          <p:cNvSpPr txBox="1"/>
          <p:nvPr/>
        </p:nvSpPr>
        <p:spPr>
          <a:xfrm>
            <a:off x="8290313" y="2622187"/>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RZ</a:t>
            </a:r>
          </a:p>
        </p:txBody>
      </p:sp>
      <p:sp>
        <p:nvSpPr>
          <p:cNvPr id="23" name="s12-text-18"/>
          <p:cNvSpPr txBox="1"/>
          <p:nvPr/>
        </p:nvSpPr>
        <p:spPr>
          <a:xfrm>
            <a:off x="8290313" y="3066676"/>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RZ</a:t>
            </a:r>
          </a:p>
        </p:txBody>
      </p:sp>
      <p:sp>
        <p:nvSpPr>
          <p:cNvPr id="24" name="s12-text-19"/>
          <p:cNvSpPr txBox="1"/>
          <p:nvPr/>
        </p:nvSpPr>
        <p:spPr>
          <a:xfrm>
            <a:off x="8290313" y="3511165"/>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RZ</a:t>
            </a:r>
          </a:p>
        </p:txBody>
      </p:sp>
      <p:sp>
        <p:nvSpPr>
          <p:cNvPr id="25" name="s12-text-20"/>
          <p:cNvSpPr txBox="1"/>
          <p:nvPr/>
        </p:nvSpPr>
        <p:spPr>
          <a:xfrm>
            <a:off x="8290313" y="395565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RZ</a:t>
            </a:r>
          </a:p>
        </p:txBody>
      </p:sp>
      <p:sp>
        <p:nvSpPr>
          <p:cNvPr id="26" name="s12-text-21"/>
          <p:cNvSpPr txBox="1"/>
          <p:nvPr/>
        </p:nvSpPr>
        <p:spPr>
          <a:xfrm>
            <a:off x="9814275" y="2622187"/>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RX</a:t>
            </a:r>
          </a:p>
        </p:txBody>
      </p:sp>
      <p:sp>
        <p:nvSpPr>
          <p:cNvPr id="27" name="s12-text-22"/>
          <p:cNvSpPr txBox="1"/>
          <p:nvPr/>
        </p:nvSpPr>
        <p:spPr>
          <a:xfrm>
            <a:off x="9814275" y="3066676"/>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RX</a:t>
            </a:r>
          </a:p>
        </p:txBody>
      </p:sp>
      <p:sp>
        <p:nvSpPr>
          <p:cNvPr id="28" name="s12-text-23"/>
          <p:cNvSpPr txBox="1"/>
          <p:nvPr/>
        </p:nvSpPr>
        <p:spPr>
          <a:xfrm>
            <a:off x="9814275" y="3511165"/>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RX</a:t>
            </a:r>
          </a:p>
        </p:txBody>
      </p:sp>
      <p:sp>
        <p:nvSpPr>
          <p:cNvPr id="29" name="s12-text-24"/>
          <p:cNvSpPr txBox="1"/>
          <p:nvPr/>
        </p:nvSpPr>
        <p:spPr>
          <a:xfrm>
            <a:off x="9814275" y="395565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RX</a:t>
            </a:r>
          </a:p>
        </p:txBody>
      </p:sp>
      <p:sp>
        <p:nvSpPr>
          <p:cNvPr id="30" name="s12-text-25"/>
          <p:cNvSpPr txBox="1"/>
          <p:nvPr/>
        </p:nvSpPr>
        <p:spPr>
          <a:xfrm>
            <a:off x="6525901" y="4342994"/>
            <a:ext cx="235926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angles from QUBO coefficients Qᵢᵢ, Qᵢⱼ</a:t>
            </a:r>
          </a:p>
        </p:txBody>
      </p:sp>
      <p:sp>
        <p:nvSpPr>
          <p:cNvPr id="31" name="s12-text-26"/>
          <p:cNvSpPr txBox="1"/>
          <p:nvPr/>
        </p:nvSpPr>
        <p:spPr>
          <a:xfrm>
            <a:off x="8414284" y="4571588"/>
            <a:ext cx="2240006"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echoed cross-resonance entanglers</a:t>
            </a:r>
          </a:p>
        </p:txBody>
      </p:sp>
      <p:sp>
        <p:nvSpPr>
          <p:cNvPr id="32" name="s12-text-27"/>
          <p:cNvSpPr txBox="1"/>
          <p:nvPr/>
        </p:nvSpPr>
        <p:spPr>
          <a:xfrm>
            <a:off x="6017764" y="4787483"/>
            <a:ext cx="5191591"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20 qubits · 10 layers on IBM Torino (133 q) and IBM Marrakesh (156 q)</a:t>
            </a:r>
          </a:p>
        </p:txBody>
      </p:sp>
      <p:sp>
        <p:nvSpPr>
          <p:cNvPr id="33" name="!!sec"/>
          <p:cNvSpPr txBox="1"/>
          <p:nvPr/>
        </p:nvSpPr>
        <p:spPr>
          <a:xfrm>
            <a:off x="888978" y="6362541"/>
            <a:ext cx="2467707"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Algorithms · DEAL &amp; QAWA</a:t>
            </a:r>
          </a:p>
        </p:txBody>
      </p:sp>
      <p:pic>
        <p:nvPicPr>
          <p:cNvPr id="34" name="s12-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35"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12</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2312334"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Results · hardware</a:t>
            </a:r>
          </a:p>
        </p:txBody>
      </p:sp>
      <p:sp>
        <p:nvSpPr>
          <p:cNvPr id="3" name="s13-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DEAL beats vanilla QAOA on Heron-1</a:t>
            </a:r>
          </a:p>
        </p:txBody>
      </p:sp>
      <p:pic>
        <p:nvPicPr>
          <p:cNvPr id="4" name="s13-image-01" descr="diagram"/>
          <p:cNvPicPr>
            <a:picLocks noChangeAspect="1"/>
          </p:cNvPicPr>
          <p:nvPr/>
        </p:nvPicPr>
        <p:blipFill>
          <a:blip r:embed="rId2"/>
          <a:stretch>
            <a:fillRect/>
          </a:stretch>
        </p:blipFill>
        <p:spPr>
          <a:xfrm>
            <a:off x="863578" y="1543011"/>
            <a:ext cx="10470888" cy="3359066"/>
          </a:xfrm>
          <a:prstGeom prst="rect">
            <a:avLst/>
          </a:prstGeom>
        </p:spPr>
      </p:pic>
      <p:sp>
        <p:nvSpPr>
          <p:cNvPr id="5" name="!!dl-t-0"/>
          <p:cNvSpPr txBox="1"/>
          <p:nvPr/>
        </p:nvSpPr>
        <p:spPr>
          <a:xfrm>
            <a:off x="1390020" y="4542617"/>
            <a:ext cx="17839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6" name="!!dl-t-4"/>
          <p:cNvSpPr txBox="1"/>
          <p:nvPr/>
        </p:nvSpPr>
        <p:spPr>
          <a:xfrm>
            <a:off x="1390020" y="3875884"/>
            <a:ext cx="17839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+4</a:t>
            </a:r>
          </a:p>
        </p:txBody>
      </p:sp>
      <p:sp>
        <p:nvSpPr>
          <p:cNvPr id="7" name="!!dl-t-8"/>
          <p:cNvSpPr txBox="1"/>
          <p:nvPr/>
        </p:nvSpPr>
        <p:spPr>
          <a:xfrm>
            <a:off x="1390020" y="3209150"/>
            <a:ext cx="17839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+8</a:t>
            </a:r>
          </a:p>
        </p:txBody>
      </p:sp>
      <p:sp>
        <p:nvSpPr>
          <p:cNvPr id="8" name="!!dl-t-12"/>
          <p:cNvSpPr txBox="1"/>
          <p:nvPr/>
        </p:nvSpPr>
        <p:spPr>
          <a:xfrm>
            <a:off x="1312334" y="2542417"/>
            <a:ext cx="25607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+12</a:t>
            </a:r>
          </a:p>
        </p:txBody>
      </p:sp>
      <p:sp>
        <p:nvSpPr>
          <p:cNvPr id="9" name="!!dl-t-16"/>
          <p:cNvSpPr txBox="1"/>
          <p:nvPr/>
        </p:nvSpPr>
        <p:spPr>
          <a:xfrm>
            <a:off x="1312334" y="1875684"/>
            <a:ext cx="25607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+16</a:t>
            </a:r>
          </a:p>
        </p:txBody>
      </p:sp>
      <p:sp>
        <p:nvSpPr>
          <p:cNvPr id="10" name="!!dl-ylab"/>
          <p:cNvSpPr txBox="1"/>
          <p:nvPr/>
        </p:nvSpPr>
        <p:spPr>
          <a:xfrm>
            <a:off x="1142971" y="1596291"/>
            <a:ext cx="434666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success-rate gain of DEAL over QAOA at layer 10 (percentage points)</a:t>
            </a:r>
          </a:p>
        </p:txBody>
      </p:sp>
      <p:sp>
        <p:nvSpPr>
          <p:cNvPr id="11" name="!!dl-torino-v"/>
          <p:cNvSpPr txBox="1"/>
          <p:nvPr/>
        </p:nvSpPr>
        <p:spPr>
          <a:xfrm>
            <a:off x="2299734" y="1851792"/>
            <a:ext cx="1007442"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+14.81 pts</a:t>
            </a:r>
          </a:p>
        </p:txBody>
      </p:sp>
      <p:sp>
        <p:nvSpPr>
          <p:cNvPr id="12" name="!!dl-torino-n"/>
          <p:cNvSpPr txBox="1"/>
          <p:nvPr/>
        </p:nvSpPr>
        <p:spPr>
          <a:xfrm>
            <a:off x="1917553" y="4720412"/>
            <a:ext cx="1771804"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Torino · Heron-1 · 133 q</a:t>
            </a:r>
          </a:p>
        </p:txBody>
      </p:sp>
      <p:sp>
        <p:nvSpPr>
          <p:cNvPr id="13" name="s13-text-11"/>
          <p:cNvSpPr txBox="1"/>
          <p:nvPr/>
        </p:nvSpPr>
        <p:spPr>
          <a:xfrm>
            <a:off x="4506403" y="4745812"/>
            <a:ext cx="911996"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Heron-2 · next</a:t>
            </a:r>
          </a:p>
        </p:txBody>
      </p:sp>
      <p:sp>
        <p:nvSpPr>
          <p:cNvPr id="14" name="!!dl-rt"/>
          <p:cNvSpPr txBox="1"/>
          <p:nvPr/>
        </p:nvSpPr>
        <p:spPr>
          <a:xfrm>
            <a:off x="7619809" y="1926482"/>
            <a:ext cx="2992363"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layers needed for the same success rate</a:t>
            </a:r>
          </a:p>
        </p:txBody>
      </p:sp>
      <p:sp>
        <p:nvSpPr>
          <p:cNvPr id="15" name="!!dl-ln-DEAL"/>
          <p:cNvSpPr txBox="1"/>
          <p:nvPr/>
        </p:nvSpPr>
        <p:spPr>
          <a:xfrm>
            <a:off x="7619809" y="2123327"/>
            <a:ext cx="572180"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DEAL</a:t>
            </a:r>
          </a:p>
        </p:txBody>
      </p:sp>
      <p:sp>
        <p:nvSpPr>
          <p:cNvPr id="16" name="!!dl-lv-DEAL"/>
          <p:cNvSpPr txBox="1"/>
          <p:nvPr/>
        </p:nvSpPr>
        <p:spPr>
          <a:xfrm>
            <a:off x="9943851" y="2478918"/>
            <a:ext cx="776070"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7 layers</a:t>
            </a:r>
          </a:p>
        </p:txBody>
      </p:sp>
      <p:sp>
        <p:nvSpPr>
          <p:cNvPr id="17" name="!!dl-ln-QAOA"/>
          <p:cNvSpPr txBox="1"/>
          <p:nvPr/>
        </p:nvSpPr>
        <p:spPr>
          <a:xfrm>
            <a:off x="7619809" y="2885308"/>
            <a:ext cx="628634"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QAOA</a:t>
            </a:r>
          </a:p>
        </p:txBody>
      </p:sp>
      <p:sp>
        <p:nvSpPr>
          <p:cNvPr id="18" name="!!dl-lv-QAOA"/>
          <p:cNvSpPr txBox="1"/>
          <p:nvPr/>
        </p:nvSpPr>
        <p:spPr>
          <a:xfrm>
            <a:off x="10578836" y="3240899"/>
            <a:ext cx="776070"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9 layers</a:t>
            </a:r>
          </a:p>
        </p:txBody>
      </p:sp>
      <p:sp>
        <p:nvSpPr>
          <p:cNvPr id="19" name="!!dl-lt-0"/>
          <p:cNvSpPr txBox="1"/>
          <p:nvPr/>
        </p:nvSpPr>
        <p:spPr>
          <a:xfrm>
            <a:off x="7580917" y="4047329"/>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20" name="!!dl-lt-2"/>
          <p:cNvSpPr txBox="1"/>
          <p:nvPr/>
        </p:nvSpPr>
        <p:spPr>
          <a:xfrm>
            <a:off x="8215901" y="4047329"/>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2</a:t>
            </a:r>
          </a:p>
        </p:txBody>
      </p:sp>
      <p:sp>
        <p:nvSpPr>
          <p:cNvPr id="21" name="!!dl-lt-4"/>
          <p:cNvSpPr txBox="1"/>
          <p:nvPr/>
        </p:nvSpPr>
        <p:spPr>
          <a:xfrm>
            <a:off x="8850885" y="4047329"/>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4</a:t>
            </a:r>
          </a:p>
        </p:txBody>
      </p:sp>
      <p:sp>
        <p:nvSpPr>
          <p:cNvPr id="22" name="!!dl-lt-6"/>
          <p:cNvSpPr txBox="1"/>
          <p:nvPr/>
        </p:nvSpPr>
        <p:spPr>
          <a:xfrm>
            <a:off x="9485869" y="4047329"/>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6</a:t>
            </a:r>
          </a:p>
        </p:txBody>
      </p:sp>
      <p:sp>
        <p:nvSpPr>
          <p:cNvPr id="23" name="!!dl-lt-8"/>
          <p:cNvSpPr txBox="1"/>
          <p:nvPr/>
        </p:nvSpPr>
        <p:spPr>
          <a:xfrm>
            <a:off x="10120853" y="4047329"/>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8</a:t>
            </a:r>
          </a:p>
        </p:txBody>
      </p:sp>
      <p:sp>
        <p:nvSpPr>
          <p:cNvPr id="24" name="!!dl-lt-10"/>
          <p:cNvSpPr txBox="1"/>
          <p:nvPr/>
        </p:nvSpPr>
        <p:spPr>
          <a:xfrm>
            <a:off x="10716994" y="4047329"/>
            <a:ext cx="1745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25" name="!!dl-rxlab"/>
          <p:cNvSpPr txBox="1"/>
          <p:nvPr/>
        </p:nvSpPr>
        <p:spPr>
          <a:xfrm>
            <a:off x="8760896" y="4301323"/>
            <a:ext cx="91179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circuit layers p</a:t>
            </a:r>
          </a:p>
        </p:txBody>
      </p:sp>
      <p:sp>
        <p:nvSpPr>
          <p:cNvPr id="26" name="s13-text-24"/>
          <p:cNvSpPr txBox="1"/>
          <p:nvPr/>
        </p:nvSpPr>
        <p:spPr>
          <a:xfrm>
            <a:off x="888978" y="5900292"/>
            <a:ext cx="8908827" cy="195555"/>
          </a:xfrm>
          <a:prstGeom prst="rect">
            <a:avLst/>
          </a:prstGeom>
          <a:noFill/>
        </p:spPr>
        <p:txBody>
          <a:bodyPr wrap="none" lIns="0" rIns="0" tIns="0" bIns="0" anchor="t">
            <a:noAutofit/>
          </a:bodyPr>
          <a:lstStyle/>
          <a:p>
            <a:pPr algn="l">
              <a:lnSpc>
                <a:spcPts val="1540"/>
              </a:lnSpc>
              <a:spcBef>
                <a:spcPts val="0"/>
              </a:spcBef>
              <a:spcAft>
                <a:spcPts val="0"/>
              </a:spcAft>
            </a:pPr>
            <a:r>
              <a:rPr sz="1100" b="0" i="0">
                <a:solidFill>
                  <a:srgbClr val="7B7B86"/>
                </a:solidFill>
                <a:latin typeface="Arial"/>
              </a:rPr>
              <a:t>20 qubits, 10 layers; success = reaching the ground-state energy. TSP, knapsack and MaxCut instances; lower variance too.</a:t>
            </a:r>
          </a:p>
        </p:txBody>
      </p:sp>
      <p:sp>
        <p:nvSpPr>
          <p:cNvPr id="27" name="!!sec"/>
          <p:cNvSpPr txBox="1"/>
          <p:nvPr/>
        </p:nvSpPr>
        <p:spPr>
          <a:xfrm>
            <a:off x="888978" y="6362541"/>
            <a:ext cx="2467707"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Algorithms · DEAL &amp; QAWA</a:t>
            </a:r>
          </a:p>
        </p:txBody>
      </p:sp>
      <p:pic>
        <p:nvPicPr>
          <p:cNvPr id="28" name="s13-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9"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13</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1112214"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Takeaway</a:t>
            </a:r>
          </a:p>
        </p:txBody>
      </p:sp>
      <p:sp>
        <p:nvSpPr>
          <p:cNvPr id="3" name="s14-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Structure beats search</a:t>
            </a:r>
          </a:p>
        </p:txBody>
      </p:sp>
      <p:sp>
        <p:nvSpPr>
          <p:cNvPr id="4" name="s14-box-01"/>
          <p:cNvSpPr/>
          <p:nvPr/>
        </p:nvSpPr>
        <p:spPr>
          <a:xfrm>
            <a:off x="888978" y="180151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14-text-03"/>
          <p:cNvSpPr txBox="1"/>
          <p:nvPr/>
        </p:nvSpPr>
        <p:spPr>
          <a:xfrm>
            <a:off x="1219170" y="1659789"/>
            <a:ext cx="10096248" cy="617125"/>
          </a:xfrm>
          <a:prstGeom prst="rect">
            <a:avLst/>
          </a:prstGeom>
          <a:noFill/>
        </p:spPr>
        <p:txBody>
          <a:bodyPr wrap="square" lIns="0" rIns="0" tIns="0" bIns="0" anchor="t">
            <a:noAutofit/>
          </a:bodyPr>
          <a:lstStyle/>
          <a:p>
            <a:pPr algn="l">
              <a:lnSpc>
                <a:spcPts val="2430"/>
              </a:lnSpc>
              <a:spcBef>
                <a:spcPts val="0"/>
              </a:spcBef>
              <a:spcAft>
                <a:spcPts val="0"/>
              </a:spcAft>
            </a:pPr>
            <a:r>
              <a:rPr sz="1800" b="1" i="0">
                <a:solidFill>
                  <a:srgbClr val="0B0B0F"/>
                </a:solidFill>
                <a:latin typeface="Arial"/>
              </a:rPr>
              <a:t>Problem structure</a:t>
            </a:r>
            <a:r>
              <a:rPr sz="1800" b="0" i="0">
                <a:solidFill>
                  <a:srgbClr val="50505B"/>
                </a:solidFill>
                <a:latin typeface="Arial"/>
              </a:rPr>
              <a:t> sets the angles (DEAL) and the oracle (QAWA) — no black-box search on the QPU</a:t>
            </a:r>
          </a:p>
        </p:txBody>
      </p:sp>
      <p:sp>
        <p:nvSpPr>
          <p:cNvPr id="6" name="s14-box-02"/>
          <p:cNvSpPr/>
          <p:nvPr/>
        </p:nvSpPr>
        <p:spPr>
          <a:xfrm>
            <a:off x="888978" y="2558339"/>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14-text-04"/>
          <p:cNvSpPr txBox="1"/>
          <p:nvPr/>
        </p:nvSpPr>
        <p:spPr>
          <a:xfrm>
            <a:off x="1219170" y="2416611"/>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1" i="0">
                <a:solidFill>
                  <a:srgbClr val="0B0B0F"/>
                </a:solidFill>
                <a:latin typeface="Arial"/>
              </a:rPr>
              <a:t>Device structure</a:t>
            </a:r>
            <a:r>
              <a:rPr sz="1800" b="0" i="0">
                <a:solidFill>
                  <a:srgbClr val="50505B"/>
                </a:solidFill>
                <a:latin typeface="Arial"/>
              </a:rPr>
              <a:t> sets the ansatz: ECR entanglers · ≈41–43 CZ budget · adaptive ZNE</a:t>
            </a:r>
          </a:p>
        </p:txBody>
      </p:sp>
      <p:sp>
        <p:nvSpPr>
          <p:cNvPr id="8" name="s14-box-03"/>
          <p:cNvSpPr/>
          <p:nvPr/>
        </p:nvSpPr>
        <p:spPr>
          <a:xfrm>
            <a:off x="888978" y="3006598"/>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14-text-05"/>
          <p:cNvSpPr txBox="1"/>
          <p:nvPr/>
        </p:nvSpPr>
        <p:spPr>
          <a:xfrm>
            <a:off x="1219170" y="2864870"/>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0" i="0">
                <a:solidFill>
                  <a:srgbClr val="50505B"/>
                </a:solidFill>
                <a:latin typeface="Arial"/>
              </a:rPr>
              <a:t>Heron results: </a:t>
            </a:r>
            <a:r>
              <a:rPr sz="1800" b="1" i="0">
                <a:solidFill>
                  <a:srgbClr val="0B0B0F"/>
                </a:solidFill>
                <a:latin typeface="Arial"/>
              </a:rPr>
              <a:t>+14.81 / +7.40 pts</a:t>
            </a:r>
            <a:r>
              <a:rPr sz="1800" b="0" i="0">
                <a:solidFill>
                  <a:srgbClr val="50505B"/>
                </a:solidFill>
                <a:latin typeface="Arial"/>
              </a:rPr>
              <a:t> success at layer 10 · </a:t>
            </a:r>
            <a:r>
              <a:rPr sz="1800" b="1" i="0">
                <a:solidFill>
                  <a:srgbClr val="0B0B0F"/>
                </a:solidFill>
                <a:latin typeface="Arial"/>
              </a:rPr>
              <a:t>7 layers for 9</a:t>
            </a:r>
            <a:r>
              <a:rPr sz="1800" b="0" i="0">
                <a:solidFill>
                  <a:srgbClr val="50505B"/>
                </a:solidFill>
                <a:latin typeface="Arial"/>
              </a:rPr>
              <a:t> · </a:t>
            </a:r>
            <a:r>
              <a:rPr sz="1800" b="1" i="0">
                <a:solidFill>
                  <a:srgbClr val="0B0B0F"/>
                </a:solidFill>
                <a:latin typeface="Arial"/>
              </a:rPr>
              <a:t>+5.4%</a:t>
            </a:r>
            <a:r>
              <a:rPr sz="1800" b="0" i="0">
                <a:solidFill>
                  <a:srgbClr val="50505B"/>
                </a:solidFill>
                <a:latin typeface="Arial"/>
              </a:rPr>
              <a:t> portfolio</a:t>
            </a:r>
          </a:p>
        </p:txBody>
      </p:sp>
      <p:sp>
        <p:nvSpPr>
          <p:cNvPr id="10" name="s14-box-04"/>
          <p:cNvSpPr/>
          <p:nvPr/>
        </p:nvSpPr>
        <p:spPr>
          <a:xfrm>
            <a:off x="888978" y="345485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14-text-06"/>
          <p:cNvSpPr txBox="1"/>
          <p:nvPr/>
        </p:nvSpPr>
        <p:spPr>
          <a:xfrm>
            <a:off x="1219170" y="3313129"/>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0" i="0">
                <a:solidFill>
                  <a:srgbClr val="50505B"/>
                </a:solidFill>
                <a:latin typeface="Arial"/>
              </a:rPr>
              <a:t>Next: make the data these algorithms consume cheap to load</a:t>
            </a:r>
          </a:p>
        </p:txBody>
      </p:sp>
      <p:sp>
        <p:nvSpPr>
          <p:cNvPr id="12"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14-text-07"/>
          <p:cNvSpPr txBox="1"/>
          <p:nvPr/>
        </p:nvSpPr>
        <p:spPr>
          <a:xfrm>
            <a:off x="5706821"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14" name="!!L1-t"/>
          <p:cNvSpPr txBox="1"/>
          <p:nvPr/>
        </p:nvSpPr>
        <p:spPr>
          <a:xfrm>
            <a:off x="5920235" y="6362541"/>
            <a:ext cx="67129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5" name="!!L2-bg"/>
          <p:cNvSpPr/>
          <p:nvPr/>
        </p:nvSpPr>
        <p:spPr>
          <a:xfrm>
            <a:off x="6762978" y="6311742"/>
            <a:ext cx="1127295"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14-text-09"/>
          <p:cNvSpPr txBox="1"/>
          <p:nvPr/>
        </p:nvSpPr>
        <p:spPr>
          <a:xfrm>
            <a:off x="6889975"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B00000"/>
                </a:solidFill>
                <a:latin typeface="Courier New"/>
              </a:rPr>
              <a:t>02</a:t>
            </a:r>
          </a:p>
        </p:txBody>
      </p:sp>
      <p:sp>
        <p:nvSpPr>
          <p:cNvPr id="17" name="!!L2-t"/>
          <p:cNvSpPr txBox="1"/>
          <p:nvPr/>
        </p:nvSpPr>
        <p:spPr>
          <a:xfrm>
            <a:off x="7103389" y="6362541"/>
            <a:ext cx="67893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0B0B0F"/>
                </a:solidFill>
                <a:latin typeface="Arial"/>
              </a:rPr>
              <a:t>Algorithms</a:t>
            </a:r>
          </a:p>
        </p:txBody>
      </p:sp>
      <p:sp>
        <p:nvSpPr>
          <p:cNvPr id="18"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14-text-11"/>
          <p:cNvSpPr txBox="1"/>
          <p:nvPr/>
        </p:nvSpPr>
        <p:spPr>
          <a:xfrm>
            <a:off x="8080768"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20" name="!!L3-t"/>
          <p:cNvSpPr txBox="1"/>
          <p:nvPr/>
        </p:nvSpPr>
        <p:spPr>
          <a:xfrm>
            <a:off x="8294182" y="6362541"/>
            <a:ext cx="920032"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21"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14-text-13"/>
          <p:cNvSpPr txBox="1"/>
          <p:nvPr/>
        </p:nvSpPr>
        <p:spPr>
          <a:xfrm>
            <a:off x="9512657"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23" name="!!L4-t"/>
          <p:cNvSpPr txBox="1"/>
          <p:nvPr/>
        </p:nvSpPr>
        <p:spPr>
          <a:xfrm>
            <a:off x="9726072" y="6362541"/>
            <a:ext cx="624765"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24"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14-text-15"/>
          <p:cNvSpPr txBox="1"/>
          <p:nvPr/>
        </p:nvSpPr>
        <p:spPr>
          <a:xfrm>
            <a:off x="10649279"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6" name="!!L5-t"/>
          <p:cNvSpPr txBox="1"/>
          <p:nvPr/>
        </p:nvSpPr>
        <p:spPr>
          <a:xfrm>
            <a:off x="10862693" y="6362541"/>
            <a:ext cx="33207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7" name="!!sec"/>
          <p:cNvSpPr txBox="1"/>
          <p:nvPr/>
        </p:nvSpPr>
        <p:spPr>
          <a:xfrm>
            <a:off x="888978" y="6362541"/>
            <a:ext cx="2467707"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Algorithms · DEAL &amp; QAWA</a:t>
            </a:r>
          </a:p>
        </p:txBody>
      </p:sp>
      <p:pic>
        <p:nvPicPr>
          <p:cNvPr id="28" name="s14-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9"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14</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s15-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15-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s15-text-01"/>
          <p:cNvSpPr txBox="1"/>
          <p:nvPr/>
        </p:nvSpPr>
        <p:spPr>
          <a:xfrm>
            <a:off x="888978" y="2193275"/>
            <a:ext cx="10432789"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Layer 3 · Data</a:t>
            </a:r>
          </a:p>
        </p:txBody>
      </p:sp>
      <p:sp>
        <p:nvSpPr>
          <p:cNvPr id="5" name="s15-text-02"/>
          <p:cNvSpPr txBox="1"/>
          <p:nvPr/>
        </p:nvSpPr>
        <p:spPr>
          <a:xfrm>
            <a:off x="888978" y="2504417"/>
            <a:ext cx="6315116" cy="826670"/>
          </a:xfrm>
          <a:prstGeom prst="rect">
            <a:avLst/>
          </a:prstGeom>
          <a:noFill/>
        </p:spPr>
        <p:txBody>
          <a:bodyPr wrap="none" lIns="0" rIns="0" tIns="0" bIns="0" anchor="t">
            <a:noAutofit/>
          </a:bodyPr>
          <a:lstStyle/>
          <a:p>
            <a:pPr algn="l">
              <a:lnSpc>
                <a:spcPts val="6509"/>
              </a:lnSpc>
              <a:spcBef>
                <a:spcPts val="0"/>
              </a:spcBef>
              <a:spcAft>
                <a:spcPts val="0"/>
              </a:spcAft>
            </a:pPr>
            <a:r>
              <a:rPr sz="6200" b="1" i="0" spc="-217">
                <a:solidFill>
                  <a:srgbClr val="CC0000"/>
                </a:solidFill>
                <a:latin typeface="Arial"/>
              </a:rPr>
              <a:t>Quantum learning</a:t>
            </a:r>
          </a:p>
        </p:txBody>
      </p:sp>
      <p:sp>
        <p:nvSpPr>
          <p:cNvPr id="6" name="s15-text-03"/>
          <p:cNvSpPr txBox="1"/>
          <p:nvPr/>
        </p:nvSpPr>
        <p:spPr>
          <a:xfrm>
            <a:off x="888978" y="3483483"/>
            <a:ext cx="9537462" cy="1028674"/>
          </a:xfrm>
          <a:prstGeom prst="rect">
            <a:avLst/>
          </a:prstGeom>
          <a:noFill/>
        </p:spPr>
        <p:txBody>
          <a:bodyPr wrap="square" lIns="0" rIns="0" tIns="0" bIns="0" anchor="t">
            <a:noAutofit/>
          </a:bodyPr>
          <a:lstStyle/>
          <a:p>
            <a:pPr algn="l">
              <a:lnSpc>
                <a:spcPts val="2700"/>
              </a:lnSpc>
              <a:spcBef>
                <a:spcPts val="0"/>
              </a:spcBef>
              <a:spcAft>
                <a:spcPts val="0"/>
              </a:spcAft>
            </a:pPr>
            <a:r>
              <a:rPr sz="2000" b="0" i="0">
                <a:solidFill>
                  <a:srgbClr val="50505B"/>
                </a:solidFill>
                <a:latin typeface="Arial"/>
              </a:rPr>
              <a:t>Vectorized encodings for quantum learning</a:t>
            </a:r>
          </a:p>
          <a:p>
            <a:pPr algn="l">
              <a:lnSpc>
                <a:spcPts val="2700"/>
              </a:lnSpc>
              <a:spcBef>
                <a:spcPts val="0"/>
              </a:spcBef>
              <a:spcAft>
                <a:spcPts val="0"/>
              </a:spcAft>
            </a:pPr>
            <a:r>
              <a:rPr sz="1200" b="0" i="0">
                <a:solidFill>
                  <a:srgbClr val="7B7B86"/>
                </a:solidFill>
                <a:latin typeface="Arial"/>
              </a:rPr>
              <a:t>QPIE · Quantum Sci. Technol. 10 (2025)  ·  VQT · AAAI Symposium Series 7 (2025)  ·  ShardQ · arXiv:2511.05492  ·  NNQA · arXiv:2603.27297</a:t>
            </a:r>
          </a:p>
        </p:txBody>
      </p:sp>
      <p:sp>
        <p:nvSpPr>
          <p:cNvPr id="7"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15-text-04"/>
          <p:cNvSpPr txBox="1"/>
          <p:nvPr/>
        </p:nvSpPr>
        <p:spPr>
          <a:xfrm>
            <a:off x="5706821"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9" name="!!L1-t"/>
          <p:cNvSpPr txBox="1"/>
          <p:nvPr/>
        </p:nvSpPr>
        <p:spPr>
          <a:xfrm>
            <a:off x="5920235" y="6362541"/>
            <a:ext cx="67129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0"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15-text-06"/>
          <p:cNvSpPr txBox="1"/>
          <p:nvPr/>
        </p:nvSpPr>
        <p:spPr>
          <a:xfrm>
            <a:off x="6889975"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2" name="!!L2-t"/>
          <p:cNvSpPr txBox="1"/>
          <p:nvPr/>
        </p:nvSpPr>
        <p:spPr>
          <a:xfrm>
            <a:off x="7103389" y="6362541"/>
            <a:ext cx="67893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3" name="!!L3-bg"/>
          <p:cNvSpPr/>
          <p:nvPr/>
        </p:nvSpPr>
        <p:spPr>
          <a:xfrm>
            <a:off x="7953771" y="6311742"/>
            <a:ext cx="1368391"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15-text-08"/>
          <p:cNvSpPr txBox="1"/>
          <p:nvPr/>
        </p:nvSpPr>
        <p:spPr>
          <a:xfrm>
            <a:off x="8080768"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B00000"/>
                </a:solidFill>
                <a:latin typeface="Courier New"/>
              </a:rPr>
              <a:t>03</a:t>
            </a:r>
          </a:p>
        </p:txBody>
      </p:sp>
      <p:sp>
        <p:nvSpPr>
          <p:cNvPr id="15" name="!!L3-t"/>
          <p:cNvSpPr txBox="1"/>
          <p:nvPr/>
        </p:nvSpPr>
        <p:spPr>
          <a:xfrm>
            <a:off x="8294182" y="6362541"/>
            <a:ext cx="920032"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0B0B0F"/>
                </a:solidFill>
                <a:latin typeface="Arial"/>
              </a:rPr>
              <a:t>Data encoding</a:t>
            </a:r>
          </a:p>
        </p:txBody>
      </p:sp>
      <p:sp>
        <p:nvSpPr>
          <p:cNvPr id="16"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15-text-10"/>
          <p:cNvSpPr txBox="1"/>
          <p:nvPr/>
        </p:nvSpPr>
        <p:spPr>
          <a:xfrm>
            <a:off x="9512657"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18" name="!!L4-t"/>
          <p:cNvSpPr txBox="1"/>
          <p:nvPr/>
        </p:nvSpPr>
        <p:spPr>
          <a:xfrm>
            <a:off x="9726072" y="6362541"/>
            <a:ext cx="624765"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19"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15-text-12"/>
          <p:cNvSpPr txBox="1"/>
          <p:nvPr/>
        </p:nvSpPr>
        <p:spPr>
          <a:xfrm>
            <a:off x="10649279"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1" name="!!L5-t"/>
          <p:cNvSpPr txBox="1"/>
          <p:nvPr/>
        </p:nvSpPr>
        <p:spPr>
          <a:xfrm>
            <a:off x="10862693" y="6362541"/>
            <a:ext cx="33207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2" name="!!sec"/>
          <p:cNvSpPr txBox="1"/>
          <p:nvPr/>
        </p:nvSpPr>
        <p:spPr>
          <a:xfrm>
            <a:off x="888978" y="6362541"/>
            <a:ext cx="237305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Data · Quantum learning</a:t>
            </a:r>
          </a:p>
        </p:txBody>
      </p:sp>
      <p:pic>
        <p:nvPicPr>
          <p:cNvPr id="23" name="s15-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15</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1773392"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Building block</a:t>
            </a:r>
          </a:p>
        </p:txBody>
      </p:sp>
      <p:sp>
        <p:nvSpPr>
          <p:cNvPr id="3" name="s16-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QCrank: vectorized data encoding</a:t>
            </a:r>
          </a:p>
        </p:txBody>
      </p:sp>
      <p:pic>
        <p:nvPicPr>
          <p:cNvPr id="4" name="s16-image-01" descr="diagram"/>
          <p:cNvPicPr>
            <a:picLocks noChangeAspect="1"/>
          </p:cNvPicPr>
          <p:nvPr/>
        </p:nvPicPr>
        <p:blipFill>
          <a:blip r:embed="rId2"/>
          <a:stretch>
            <a:fillRect/>
          </a:stretch>
        </p:blipFill>
        <p:spPr>
          <a:xfrm>
            <a:off x="863578" y="1543011"/>
            <a:ext cx="10470888" cy="3422564"/>
          </a:xfrm>
          <a:prstGeom prst="rect">
            <a:avLst/>
          </a:prstGeom>
        </p:spPr>
      </p:pic>
      <p:sp>
        <p:nvSpPr>
          <p:cNvPr id="5" name="s16-text-03"/>
          <p:cNvSpPr txBox="1"/>
          <p:nvPr/>
        </p:nvSpPr>
        <p:spPr>
          <a:xfrm>
            <a:off x="1747397" y="2009030"/>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a0</a:t>
            </a:r>
          </a:p>
        </p:txBody>
      </p:sp>
      <p:sp>
        <p:nvSpPr>
          <p:cNvPr id="6" name="s16-text-04"/>
          <p:cNvSpPr txBox="1"/>
          <p:nvPr/>
        </p:nvSpPr>
        <p:spPr>
          <a:xfrm>
            <a:off x="1747397" y="2453519"/>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a1</a:t>
            </a:r>
          </a:p>
        </p:txBody>
      </p:sp>
      <p:sp>
        <p:nvSpPr>
          <p:cNvPr id="7" name="s16-text-05"/>
          <p:cNvSpPr txBox="1"/>
          <p:nvPr/>
        </p:nvSpPr>
        <p:spPr>
          <a:xfrm>
            <a:off x="1747397" y="2898008"/>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a2</a:t>
            </a:r>
          </a:p>
        </p:txBody>
      </p:sp>
      <p:sp>
        <p:nvSpPr>
          <p:cNvPr id="8" name="s16-text-06"/>
          <p:cNvSpPr txBox="1"/>
          <p:nvPr/>
        </p:nvSpPr>
        <p:spPr>
          <a:xfrm>
            <a:off x="1747397" y="3596491"/>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d0</a:t>
            </a:r>
          </a:p>
        </p:txBody>
      </p:sp>
      <p:sp>
        <p:nvSpPr>
          <p:cNvPr id="9" name="s16-text-07"/>
          <p:cNvSpPr txBox="1"/>
          <p:nvPr/>
        </p:nvSpPr>
        <p:spPr>
          <a:xfrm>
            <a:off x="1747397" y="4040979"/>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d1</a:t>
            </a:r>
          </a:p>
        </p:txBody>
      </p:sp>
      <p:sp>
        <p:nvSpPr>
          <p:cNvPr id="10" name="s16-text-08"/>
          <p:cNvSpPr txBox="1"/>
          <p:nvPr/>
        </p:nvSpPr>
        <p:spPr>
          <a:xfrm>
            <a:off x="2430699" y="2009030"/>
            <a:ext cx="110527"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H</a:t>
            </a:r>
          </a:p>
        </p:txBody>
      </p:sp>
      <p:sp>
        <p:nvSpPr>
          <p:cNvPr id="11" name="s16-text-09"/>
          <p:cNvSpPr txBox="1"/>
          <p:nvPr/>
        </p:nvSpPr>
        <p:spPr>
          <a:xfrm>
            <a:off x="2430699" y="2453519"/>
            <a:ext cx="110527"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H</a:t>
            </a:r>
          </a:p>
        </p:txBody>
      </p:sp>
      <p:sp>
        <p:nvSpPr>
          <p:cNvPr id="12" name="s16-text-10"/>
          <p:cNvSpPr txBox="1"/>
          <p:nvPr/>
        </p:nvSpPr>
        <p:spPr>
          <a:xfrm>
            <a:off x="2430699" y="2898008"/>
            <a:ext cx="110527"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H</a:t>
            </a:r>
          </a:p>
        </p:txBody>
      </p:sp>
      <p:sp>
        <p:nvSpPr>
          <p:cNvPr id="13" name="s16-text-11"/>
          <p:cNvSpPr txBox="1"/>
          <p:nvPr/>
        </p:nvSpPr>
        <p:spPr>
          <a:xfrm>
            <a:off x="2956446" y="3596491"/>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4" name="s16-text-12"/>
          <p:cNvSpPr txBox="1"/>
          <p:nvPr/>
        </p:nvSpPr>
        <p:spPr>
          <a:xfrm>
            <a:off x="2956446" y="4040979"/>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5" name="s16-text-13"/>
          <p:cNvSpPr txBox="1"/>
          <p:nvPr/>
        </p:nvSpPr>
        <p:spPr>
          <a:xfrm>
            <a:off x="2956446" y="4504518"/>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7B7B86"/>
                </a:solidFill>
                <a:latin typeface="Courier New"/>
              </a:rPr>
              <a:t>θ0</a:t>
            </a:r>
          </a:p>
        </p:txBody>
      </p:sp>
      <p:sp>
        <p:nvSpPr>
          <p:cNvPr id="16" name="s16-text-14"/>
          <p:cNvSpPr txBox="1"/>
          <p:nvPr/>
        </p:nvSpPr>
        <p:spPr>
          <a:xfrm>
            <a:off x="3807325" y="3596491"/>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7" name="s16-text-15"/>
          <p:cNvSpPr txBox="1"/>
          <p:nvPr/>
        </p:nvSpPr>
        <p:spPr>
          <a:xfrm>
            <a:off x="3807325" y="4040979"/>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8" name="s16-text-16"/>
          <p:cNvSpPr txBox="1"/>
          <p:nvPr/>
        </p:nvSpPr>
        <p:spPr>
          <a:xfrm>
            <a:off x="3807325" y="4504518"/>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7B7B86"/>
                </a:solidFill>
                <a:latin typeface="Courier New"/>
              </a:rPr>
              <a:t>θ1</a:t>
            </a:r>
          </a:p>
        </p:txBody>
      </p:sp>
      <p:sp>
        <p:nvSpPr>
          <p:cNvPr id="19" name="s16-text-17"/>
          <p:cNvSpPr txBox="1"/>
          <p:nvPr/>
        </p:nvSpPr>
        <p:spPr>
          <a:xfrm>
            <a:off x="4658204" y="3596491"/>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0" name="s16-text-18"/>
          <p:cNvSpPr txBox="1"/>
          <p:nvPr/>
        </p:nvSpPr>
        <p:spPr>
          <a:xfrm>
            <a:off x="4658204" y="4040979"/>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1" name="s16-text-19"/>
          <p:cNvSpPr txBox="1"/>
          <p:nvPr/>
        </p:nvSpPr>
        <p:spPr>
          <a:xfrm>
            <a:off x="4658204" y="4504518"/>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7B7B86"/>
                </a:solidFill>
                <a:latin typeface="Courier New"/>
              </a:rPr>
              <a:t>θ2</a:t>
            </a:r>
          </a:p>
        </p:txBody>
      </p:sp>
      <p:sp>
        <p:nvSpPr>
          <p:cNvPr id="22" name="s16-text-20"/>
          <p:cNvSpPr txBox="1"/>
          <p:nvPr/>
        </p:nvSpPr>
        <p:spPr>
          <a:xfrm>
            <a:off x="5509083" y="3596491"/>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3" name="s16-text-21"/>
          <p:cNvSpPr txBox="1"/>
          <p:nvPr/>
        </p:nvSpPr>
        <p:spPr>
          <a:xfrm>
            <a:off x="5509083" y="4040979"/>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4" name="s16-text-22"/>
          <p:cNvSpPr txBox="1"/>
          <p:nvPr/>
        </p:nvSpPr>
        <p:spPr>
          <a:xfrm>
            <a:off x="5509083" y="4504518"/>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7B7B86"/>
                </a:solidFill>
                <a:latin typeface="Courier New"/>
              </a:rPr>
              <a:t>θ3</a:t>
            </a:r>
          </a:p>
        </p:txBody>
      </p:sp>
      <p:sp>
        <p:nvSpPr>
          <p:cNvPr id="25" name="s16-text-23"/>
          <p:cNvSpPr txBox="1"/>
          <p:nvPr/>
        </p:nvSpPr>
        <p:spPr>
          <a:xfrm>
            <a:off x="6359961" y="3596491"/>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6" name="s16-text-24"/>
          <p:cNvSpPr txBox="1"/>
          <p:nvPr/>
        </p:nvSpPr>
        <p:spPr>
          <a:xfrm>
            <a:off x="6359961" y="4040979"/>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7" name="s16-text-25"/>
          <p:cNvSpPr txBox="1"/>
          <p:nvPr/>
        </p:nvSpPr>
        <p:spPr>
          <a:xfrm>
            <a:off x="6359961" y="4504518"/>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7B7B86"/>
                </a:solidFill>
                <a:latin typeface="Courier New"/>
              </a:rPr>
              <a:t>θ4</a:t>
            </a:r>
          </a:p>
        </p:txBody>
      </p:sp>
      <p:sp>
        <p:nvSpPr>
          <p:cNvPr id="28" name="s16-text-26"/>
          <p:cNvSpPr txBox="1"/>
          <p:nvPr/>
        </p:nvSpPr>
        <p:spPr>
          <a:xfrm>
            <a:off x="7210840" y="3596491"/>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9" name="s16-text-27"/>
          <p:cNvSpPr txBox="1"/>
          <p:nvPr/>
        </p:nvSpPr>
        <p:spPr>
          <a:xfrm>
            <a:off x="7210840" y="4040979"/>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0" name="s16-text-28"/>
          <p:cNvSpPr txBox="1"/>
          <p:nvPr/>
        </p:nvSpPr>
        <p:spPr>
          <a:xfrm>
            <a:off x="7210840" y="4504518"/>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7B7B86"/>
                </a:solidFill>
                <a:latin typeface="Courier New"/>
              </a:rPr>
              <a:t>θ5</a:t>
            </a:r>
          </a:p>
        </p:txBody>
      </p:sp>
      <p:sp>
        <p:nvSpPr>
          <p:cNvPr id="31" name="s16-text-29"/>
          <p:cNvSpPr txBox="1"/>
          <p:nvPr/>
        </p:nvSpPr>
        <p:spPr>
          <a:xfrm>
            <a:off x="8061719" y="3596491"/>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2" name="s16-text-30"/>
          <p:cNvSpPr txBox="1"/>
          <p:nvPr/>
        </p:nvSpPr>
        <p:spPr>
          <a:xfrm>
            <a:off x="8061719" y="4040979"/>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3" name="s16-text-31"/>
          <p:cNvSpPr txBox="1"/>
          <p:nvPr/>
        </p:nvSpPr>
        <p:spPr>
          <a:xfrm>
            <a:off x="8061719" y="4504518"/>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7B7B86"/>
                </a:solidFill>
                <a:latin typeface="Courier New"/>
              </a:rPr>
              <a:t>θ6</a:t>
            </a:r>
          </a:p>
        </p:txBody>
      </p:sp>
      <p:sp>
        <p:nvSpPr>
          <p:cNvPr id="34" name="s16-text-32"/>
          <p:cNvSpPr txBox="1"/>
          <p:nvPr/>
        </p:nvSpPr>
        <p:spPr>
          <a:xfrm>
            <a:off x="8912597" y="3596491"/>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5" name="s16-text-33"/>
          <p:cNvSpPr txBox="1"/>
          <p:nvPr/>
        </p:nvSpPr>
        <p:spPr>
          <a:xfrm>
            <a:off x="8912597" y="4040979"/>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6" name="s16-text-34"/>
          <p:cNvSpPr txBox="1"/>
          <p:nvPr/>
        </p:nvSpPr>
        <p:spPr>
          <a:xfrm>
            <a:off x="8912597" y="4504518"/>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7B7B86"/>
                </a:solidFill>
                <a:latin typeface="Courier New"/>
              </a:rPr>
              <a:t>θ7</a:t>
            </a:r>
          </a:p>
        </p:txBody>
      </p:sp>
      <p:sp>
        <p:nvSpPr>
          <p:cNvPr id="37" name="s16-text-35"/>
          <p:cNvSpPr txBox="1"/>
          <p:nvPr/>
        </p:nvSpPr>
        <p:spPr>
          <a:xfrm>
            <a:off x="7045050" y="4656914"/>
            <a:ext cx="4027635"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uniformly controlled rotations: 2ⁿᵃ angles per data qubit</a:t>
            </a:r>
          </a:p>
        </p:txBody>
      </p:sp>
      <p:sp>
        <p:nvSpPr>
          <p:cNvPr id="38" name="s16-text-36"/>
          <p:cNvSpPr txBox="1"/>
          <p:nvPr/>
        </p:nvSpPr>
        <p:spPr>
          <a:xfrm>
            <a:off x="2031949" y="4656914"/>
            <a:ext cx="4439333"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N = 2ⁿᵃ · n_d values · Θ(N) CNOTs · all addresses in parallel</a:t>
            </a:r>
          </a:p>
        </p:txBody>
      </p:sp>
      <p:sp>
        <p:nvSpPr>
          <p:cNvPr id="39" name="s16-text-37"/>
          <p:cNvSpPr txBox="1"/>
          <p:nvPr/>
        </p:nvSpPr>
        <p:spPr>
          <a:xfrm>
            <a:off x="888978" y="5704737"/>
            <a:ext cx="8902477" cy="391111"/>
          </a:xfrm>
          <a:prstGeom prst="rect">
            <a:avLst/>
          </a:prstGeom>
          <a:noFill/>
        </p:spPr>
        <p:txBody>
          <a:bodyPr wrap="square" lIns="0" rIns="0" tIns="0" bIns="0" anchor="t">
            <a:noAutofit/>
          </a:bodyPr>
          <a:lstStyle/>
          <a:p>
            <a:pPr algn="l">
              <a:lnSpc>
                <a:spcPts val="1540"/>
              </a:lnSpc>
              <a:spcBef>
                <a:spcPts val="0"/>
              </a:spcBef>
              <a:spcAft>
                <a:spcPts val="0"/>
              </a:spcAft>
            </a:pPr>
            <a:r>
              <a:rPr sz="1100" b="0" i="0">
                <a:solidFill>
                  <a:srgbClr val="7B7B86"/>
                </a:solidFill>
                <a:latin typeface="Arial"/>
              </a:rPr>
              <a:t>Address qubits index the values; data qubits carry them as angles. Shared by Q-GEAR, QPIE, VQT, ShardQ, QAWA. A 1,000-pixel image: 9 + 2 qubits.</a:t>
            </a:r>
          </a:p>
        </p:txBody>
      </p:sp>
      <p:sp>
        <p:nvSpPr>
          <p:cNvPr id="40" name="!!sec"/>
          <p:cNvSpPr txBox="1"/>
          <p:nvPr/>
        </p:nvSpPr>
        <p:spPr>
          <a:xfrm>
            <a:off x="888978" y="6362541"/>
            <a:ext cx="237305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Data · Quantum learning</a:t>
            </a:r>
          </a:p>
        </p:txBody>
      </p:sp>
      <p:pic>
        <p:nvPicPr>
          <p:cNvPr id="41" name="s16-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42"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16</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5651557"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ShardQ · Circuit partitioning and reintegration</a:t>
            </a:r>
          </a:p>
        </p:txBody>
      </p:sp>
      <p:sp>
        <p:nvSpPr>
          <p:cNvPr id="3" name="s17-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Cut where the hardware is worst</a:t>
            </a:r>
          </a:p>
        </p:txBody>
      </p:sp>
      <p:pic>
        <p:nvPicPr>
          <p:cNvPr id="4" name="s17-image-01" descr="diagram"/>
          <p:cNvPicPr>
            <a:picLocks noChangeAspect="1"/>
          </p:cNvPicPr>
          <p:nvPr/>
        </p:nvPicPr>
        <p:blipFill>
          <a:blip r:embed="rId2"/>
          <a:stretch>
            <a:fillRect/>
          </a:stretch>
        </p:blipFill>
        <p:spPr>
          <a:xfrm>
            <a:off x="863578" y="1504912"/>
            <a:ext cx="10470888" cy="2851079"/>
          </a:xfrm>
          <a:prstGeom prst="rect">
            <a:avLst/>
          </a:prstGeom>
        </p:spPr>
      </p:pic>
      <p:sp>
        <p:nvSpPr>
          <p:cNvPr id="5" name="s17-text-03"/>
          <p:cNvSpPr txBox="1"/>
          <p:nvPr/>
        </p:nvSpPr>
        <p:spPr>
          <a:xfrm>
            <a:off x="1112413" y="190743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q0</a:t>
            </a:r>
          </a:p>
        </p:txBody>
      </p:sp>
      <p:sp>
        <p:nvSpPr>
          <p:cNvPr id="6" name="s17-text-04"/>
          <p:cNvSpPr txBox="1"/>
          <p:nvPr/>
        </p:nvSpPr>
        <p:spPr>
          <a:xfrm>
            <a:off x="1112413" y="228842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q1</a:t>
            </a:r>
          </a:p>
        </p:txBody>
      </p:sp>
      <p:sp>
        <p:nvSpPr>
          <p:cNvPr id="7" name="s17-text-05"/>
          <p:cNvSpPr txBox="1"/>
          <p:nvPr/>
        </p:nvSpPr>
        <p:spPr>
          <a:xfrm>
            <a:off x="1112413" y="266941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q2</a:t>
            </a:r>
          </a:p>
        </p:txBody>
      </p:sp>
      <p:sp>
        <p:nvSpPr>
          <p:cNvPr id="8" name="s17-text-06"/>
          <p:cNvSpPr txBox="1"/>
          <p:nvPr/>
        </p:nvSpPr>
        <p:spPr>
          <a:xfrm>
            <a:off x="1112413" y="305040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q3</a:t>
            </a:r>
          </a:p>
        </p:txBody>
      </p:sp>
      <p:sp>
        <p:nvSpPr>
          <p:cNvPr id="9" name="s17-text-07"/>
          <p:cNvSpPr txBox="1"/>
          <p:nvPr/>
        </p:nvSpPr>
        <p:spPr>
          <a:xfrm>
            <a:off x="1112413" y="3431395"/>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q4</a:t>
            </a:r>
          </a:p>
        </p:txBody>
      </p:sp>
      <p:sp>
        <p:nvSpPr>
          <p:cNvPr id="10" name="s17-text-08"/>
          <p:cNvSpPr txBox="1"/>
          <p:nvPr/>
        </p:nvSpPr>
        <p:spPr>
          <a:xfrm>
            <a:off x="1622980" y="190743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1" name="s17-text-09"/>
          <p:cNvSpPr txBox="1"/>
          <p:nvPr/>
        </p:nvSpPr>
        <p:spPr>
          <a:xfrm>
            <a:off x="1622980" y="228842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2" name="s17-text-10"/>
          <p:cNvSpPr txBox="1"/>
          <p:nvPr/>
        </p:nvSpPr>
        <p:spPr>
          <a:xfrm>
            <a:off x="1622980" y="266941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3" name="s17-text-11"/>
          <p:cNvSpPr txBox="1"/>
          <p:nvPr/>
        </p:nvSpPr>
        <p:spPr>
          <a:xfrm>
            <a:off x="1622980" y="305040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4" name="s17-text-12"/>
          <p:cNvSpPr txBox="1"/>
          <p:nvPr/>
        </p:nvSpPr>
        <p:spPr>
          <a:xfrm>
            <a:off x="1622980" y="3431395"/>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5" name="s17-text-13"/>
          <p:cNvSpPr txBox="1"/>
          <p:nvPr/>
        </p:nvSpPr>
        <p:spPr>
          <a:xfrm>
            <a:off x="2359561" y="190743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6" name="s17-text-14"/>
          <p:cNvSpPr txBox="1"/>
          <p:nvPr/>
        </p:nvSpPr>
        <p:spPr>
          <a:xfrm>
            <a:off x="2359561" y="228842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7" name="s17-text-15"/>
          <p:cNvSpPr txBox="1"/>
          <p:nvPr/>
        </p:nvSpPr>
        <p:spPr>
          <a:xfrm>
            <a:off x="2359561" y="266941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8" name="s17-text-16"/>
          <p:cNvSpPr txBox="1"/>
          <p:nvPr/>
        </p:nvSpPr>
        <p:spPr>
          <a:xfrm>
            <a:off x="2359561" y="305040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9" name="s17-text-17"/>
          <p:cNvSpPr txBox="1"/>
          <p:nvPr/>
        </p:nvSpPr>
        <p:spPr>
          <a:xfrm>
            <a:off x="2359561" y="3431395"/>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0" name="s17-text-18"/>
          <p:cNvSpPr txBox="1"/>
          <p:nvPr/>
        </p:nvSpPr>
        <p:spPr>
          <a:xfrm>
            <a:off x="3096143" y="190743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1" name="s17-text-19"/>
          <p:cNvSpPr txBox="1"/>
          <p:nvPr/>
        </p:nvSpPr>
        <p:spPr>
          <a:xfrm>
            <a:off x="3096143" y="228842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2" name="s17-text-20"/>
          <p:cNvSpPr txBox="1"/>
          <p:nvPr/>
        </p:nvSpPr>
        <p:spPr>
          <a:xfrm>
            <a:off x="3096143" y="266941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3" name="s17-text-21"/>
          <p:cNvSpPr txBox="1"/>
          <p:nvPr/>
        </p:nvSpPr>
        <p:spPr>
          <a:xfrm>
            <a:off x="3096143" y="305040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4" name="s17-text-22"/>
          <p:cNvSpPr txBox="1"/>
          <p:nvPr/>
        </p:nvSpPr>
        <p:spPr>
          <a:xfrm>
            <a:off x="3096143" y="3431395"/>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5" name="s17-text-23"/>
          <p:cNvSpPr txBox="1"/>
          <p:nvPr/>
        </p:nvSpPr>
        <p:spPr>
          <a:xfrm>
            <a:off x="3832724" y="190743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6" name="s17-text-24"/>
          <p:cNvSpPr txBox="1"/>
          <p:nvPr/>
        </p:nvSpPr>
        <p:spPr>
          <a:xfrm>
            <a:off x="3832724" y="228842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7" name="s17-text-25"/>
          <p:cNvSpPr txBox="1"/>
          <p:nvPr/>
        </p:nvSpPr>
        <p:spPr>
          <a:xfrm>
            <a:off x="3832724" y="266941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8" name="s17-text-26"/>
          <p:cNvSpPr txBox="1"/>
          <p:nvPr/>
        </p:nvSpPr>
        <p:spPr>
          <a:xfrm>
            <a:off x="3832724" y="305040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9" name="s17-text-27"/>
          <p:cNvSpPr txBox="1"/>
          <p:nvPr/>
        </p:nvSpPr>
        <p:spPr>
          <a:xfrm>
            <a:off x="3832724" y="3431395"/>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0" name="s17-text-28"/>
          <p:cNvSpPr txBox="1"/>
          <p:nvPr/>
        </p:nvSpPr>
        <p:spPr>
          <a:xfrm>
            <a:off x="4569306" y="190743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1" name="s17-text-29"/>
          <p:cNvSpPr txBox="1"/>
          <p:nvPr/>
        </p:nvSpPr>
        <p:spPr>
          <a:xfrm>
            <a:off x="4569306" y="2288423"/>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2" name="s17-text-30"/>
          <p:cNvSpPr txBox="1"/>
          <p:nvPr/>
        </p:nvSpPr>
        <p:spPr>
          <a:xfrm>
            <a:off x="4569306" y="266941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3" name="s17-text-31"/>
          <p:cNvSpPr txBox="1"/>
          <p:nvPr/>
        </p:nvSpPr>
        <p:spPr>
          <a:xfrm>
            <a:off x="4569306" y="3050404"/>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4" name="s17-text-32"/>
          <p:cNvSpPr txBox="1"/>
          <p:nvPr/>
        </p:nvSpPr>
        <p:spPr>
          <a:xfrm>
            <a:off x="4569306" y="3431395"/>
            <a:ext cx="202004"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5" name="s17-text-33"/>
          <p:cNvSpPr txBox="1"/>
          <p:nvPr/>
        </p:nvSpPr>
        <p:spPr>
          <a:xfrm>
            <a:off x="2222395" y="3818735"/>
            <a:ext cx="476337"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cut 1</a:t>
            </a:r>
          </a:p>
        </p:txBody>
      </p:sp>
      <p:sp>
        <p:nvSpPr>
          <p:cNvPr id="36" name="s17-text-34"/>
          <p:cNvSpPr txBox="1"/>
          <p:nvPr/>
        </p:nvSpPr>
        <p:spPr>
          <a:xfrm>
            <a:off x="2958976" y="3818735"/>
            <a:ext cx="476337"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cut 2</a:t>
            </a:r>
          </a:p>
        </p:txBody>
      </p:sp>
      <p:sp>
        <p:nvSpPr>
          <p:cNvPr id="37" name="s17-text-35"/>
          <p:cNvSpPr txBox="1"/>
          <p:nvPr/>
        </p:nvSpPr>
        <p:spPr>
          <a:xfrm>
            <a:off x="1142971" y="4072729"/>
            <a:ext cx="6771610"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QCrank encoding circuit · SparseCut picks gate cuts by qubit distance and calibrated CZ error · O(|G| log |G|)</a:t>
            </a:r>
          </a:p>
        </p:txBody>
      </p:sp>
      <p:sp>
        <p:nvSpPr>
          <p:cNvPr id="38" name="s17-text-36"/>
          <p:cNvSpPr txBox="1"/>
          <p:nvPr/>
        </p:nvSpPr>
        <p:spPr>
          <a:xfrm>
            <a:off x="5682265" y="2040779"/>
            <a:ext cx="1227206"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sub-circuit 1</a:t>
            </a:r>
          </a:p>
        </p:txBody>
      </p:sp>
      <p:sp>
        <p:nvSpPr>
          <p:cNvPr id="39" name="s17-text-37"/>
          <p:cNvSpPr txBox="1"/>
          <p:nvPr/>
        </p:nvSpPr>
        <p:spPr>
          <a:xfrm>
            <a:off x="5682265" y="2675764"/>
            <a:ext cx="1227206"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sub-circuit 2</a:t>
            </a:r>
          </a:p>
        </p:txBody>
      </p:sp>
      <p:sp>
        <p:nvSpPr>
          <p:cNvPr id="40" name="s17-text-38"/>
          <p:cNvSpPr txBox="1"/>
          <p:nvPr/>
        </p:nvSpPr>
        <p:spPr>
          <a:xfrm>
            <a:off x="5682265" y="3310748"/>
            <a:ext cx="1227206"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sub-circuit 3</a:t>
            </a:r>
          </a:p>
        </p:txBody>
      </p:sp>
      <p:sp>
        <p:nvSpPr>
          <p:cNvPr id="41" name="s17-text-39"/>
          <p:cNvSpPr txBox="1"/>
          <p:nvPr/>
        </p:nvSpPr>
        <p:spPr>
          <a:xfrm>
            <a:off x="5005064" y="3818735"/>
            <a:ext cx="258160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MPS compiler · bounded bond dimension</a:t>
            </a:r>
          </a:p>
        </p:txBody>
      </p:sp>
      <p:sp>
        <p:nvSpPr>
          <p:cNvPr id="42" name="s17-text-40"/>
          <p:cNvSpPr txBox="1"/>
          <p:nvPr/>
        </p:nvSpPr>
        <p:spPr>
          <a:xfrm>
            <a:off x="8010722" y="2517018"/>
            <a:ext cx="1904159"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global QPD knitting</a:t>
            </a:r>
          </a:p>
        </p:txBody>
      </p:sp>
      <p:sp>
        <p:nvSpPr>
          <p:cNvPr id="43" name="s17-text-41"/>
          <p:cNvSpPr txBox="1"/>
          <p:nvPr/>
        </p:nvSpPr>
        <p:spPr>
          <a:xfrm>
            <a:off x="8157016" y="2802760"/>
            <a:ext cx="1611570"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O(3²ᵏ) sampling overhead</a:t>
            </a:r>
          </a:p>
        </p:txBody>
      </p:sp>
      <p:sp>
        <p:nvSpPr>
          <p:cNvPr id="44" name="s17-text-42"/>
          <p:cNvSpPr txBox="1"/>
          <p:nvPr/>
        </p:nvSpPr>
        <p:spPr>
          <a:xfrm>
            <a:off x="10719822" y="2555117"/>
            <a:ext cx="177796" cy="311142"/>
          </a:xfrm>
          <a:prstGeom prst="rect">
            <a:avLst/>
          </a:prstGeom>
          <a:noFill/>
        </p:spPr>
        <p:txBody>
          <a:bodyPr wrap="none" lIns="0" rIns="0" tIns="0" bIns="0" anchor="t">
            <a:noAutofit/>
          </a:bodyPr>
          <a:lstStyle/>
          <a:p>
            <a:pPr algn="l">
              <a:lnSpc>
                <a:spcPct val="100000"/>
              </a:lnSpc>
              <a:spcBef>
                <a:spcPts val="0"/>
              </a:spcBef>
              <a:spcAft>
                <a:spcPts val="0"/>
              </a:spcAft>
            </a:pPr>
            <a:r>
              <a:rPr sz="2200" b="1" i="0" spc="-44">
                <a:solidFill>
                  <a:srgbClr val="0B0B0F"/>
                </a:solidFill>
                <a:latin typeface="Arial"/>
              </a:rPr>
              <a:t>ŷ</a:t>
            </a:r>
          </a:p>
        </p:txBody>
      </p:sp>
      <p:sp>
        <p:nvSpPr>
          <p:cNvPr id="45" name="s17-text-43"/>
          <p:cNvSpPr txBox="1"/>
          <p:nvPr/>
        </p:nvSpPr>
        <p:spPr>
          <a:xfrm>
            <a:off x="8134196" y="3818735"/>
            <a:ext cx="1657209"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1.5 M shots per sub-circuit</a:t>
            </a:r>
          </a:p>
        </p:txBody>
      </p:sp>
      <p:sp>
        <p:nvSpPr>
          <p:cNvPr id="46" name="s17-box-01"/>
          <p:cNvSpPr/>
          <p:nvPr/>
        </p:nvSpPr>
        <p:spPr>
          <a:xfrm>
            <a:off x="888978" y="4326722"/>
            <a:ext cx="3352716" cy="1122533"/>
          </a:xfrm>
          <a:prstGeom prst="roundRect">
            <a:avLst>
              <a:gd name="adj" fmla="val 1357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s17-text-44"/>
          <p:cNvSpPr txBox="1"/>
          <p:nvPr/>
        </p:nvSpPr>
        <p:spPr>
          <a:xfrm>
            <a:off x="1079473" y="4466419"/>
            <a:ext cx="2990775" cy="380990"/>
          </a:xfrm>
          <a:prstGeom prst="rect">
            <a:avLst/>
          </a:prstGeom>
          <a:noFill/>
        </p:spPr>
        <p:txBody>
          <a:bodyPr wrap="none" lIns="0" rIns="0" tIns="0" bIns="0" anchor="t">
            <a:noAutofit/>
          </a:bodyPr>
          <a:lstStyle/>
          <a:p>
            <a:pPr algn="l">
              <a:lnSpc>
                <a:spcPts val="3000"/>
              </a:lnSpc>
              <a:spcBef>
                <a:spcPts val="0"/>
              </a:spcBef>
              <a:spcAft>
                <a:spcPts val="0"/>
              </a:spcAft>
            </a:pPr>
            <a:r>
              <a:rPr sz="3000" b="1" i="0" spc="-120">
                <a:solidFill>
                  <a:srgbClr val="0B0B0F"/>
                </a:solidFill>
                <a:latin typeface="Arial"/>
              </a:rPr>
              <a:t>≈15%</a:t>
            </a:r>
          </a:p>
        </p:txBody>
      </p:sp>
      <p:sp>
        <p:nvSpPr>
          <p:cNvPr id="48" name="s17-text-45"/>
          <p:cNvSpPr txBox="1"/>
          <p:nvPr/>
        </p:nvSpPr>
        <p:spPr>
          <a:xfrm>
            <a:off x="1079473" y="4898208"/>
            <a:ext cx="2984425" cy="411351"/>
          </a:xfrm>
          <a:prstGeom prst="rect">
            <a:avLst/>
          </a:prstGeom>
          <a:noFill/>
        </p:spPr>
        <p:txBody>
          <a:bodyPr wrap="square" lIns="0" rIns="0" tIns="0" bIns="0" anchor="t">
            <a:noAutofit/>
          </a:bodyPr>
          <a:lstStyle/>
          <a:p>
            <a:pPr algn="l">
              <a:lnSpc>
                <a:spcPts val="1620"/>
              </a:lnSpc>
              <a:spcBef>
                <a:spcPts val="0"/>
              </a:spcBef>
              <a:spcAft>
                <a:spcPts val="0"/>
              </a:spcAft>
            </a:pPr>
            <a:r>
              <a:rPr sz="1200" b="0" i="0">
                <a:solidFill>
                  <a:srgbClr val="50505B"/>
                </a:solidFill>
                <a:latin typeface="Arial"/>
              </a:rPr>
              <a:t>lower RMSE vs standard transpilation, IBM Heron-2/3</a:t>
            </a:r>
          </a:p>
        </p:txBody>
      </p:sp>
      <p:sp>
        <p:nvSpPr>
          <p:cNvPr id="49" name="s17-box-02"/>
          <p:cNvSpPr/>
          <p:nvPr/>
        </p:nvSpPr>
        <p:spPr>
          <a:xfrm>
            <a:off x="4419490" y="4326722"/>
            <a:ext cx="3352716" cy="1122533"/>
          </a:xfrm>
          <a:prstGeom prst="roundRect">
            <a:avLst>
              <a:gd name="adj" fmla="val 1357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s17-text-46"/>
          <p:cNvSpPr txBox="1"/>
          <p:nvPr/>
        </p:nvSpPr>
        <p:spPr>
          <a:xfrm>
            <a:off x="4609985" y="4466419"/>
            <a:ext cx="2990775" cy="380990"/>
          </a:xfrm>
          <a:prstGeom prst="rect">
            <a:avLst/>
          </a:prstGeom>
          <a:noFill/>
        </p:spPr>
        <p:txBody>
          <a:bodyPr wrap="none" lIns="0" rIns="0" tIns="0" bIns="0" anchor="t">
            <a:noAutofit/>
          </a:bodyPr>
          <a:lstStyle/>
          <a:p>
            <a:pPr algn="l">
              <a:lnSpc>
                <a:spcPts val="3000"/>
              </a:lnSpc>
              <a:spcBef>
                <a:spcPts val="0"/>
              </a:spcBef>
              <a:spcAft>
                <a:spcPts val="0"/>
              </a:spcAft>
            </a:pPr>
            <a:r>
              <a:rPr sz="3000" b="1" i="0" spc="-120">
                <a:solidFill>
                  <a:srgbClr val="0B0B0F"/>
                </a:solidFill>
                <a:latin typeface="Arial"/>
              </a:rPr>
              <a:t>0.79 → 0.90</a:t>
            </a:r>
          </a:p>
        </p:txBody>
      </p:sp>
      <p:sp>
        <p:nvSpPr>
          <p:cNvPr id="51" name="s17-text-47"/>
          <p:cNvSpPr txBox="1"/>
          <p:nvPr/>
        </p:nvSpPr>
        <p:spPr>
          <a:xfrm>
            <a:off x="4609985" y="4898208"/>
            <a:ext cx="2984425" cy="411351"/>
          </a:xfrm>
          <a:prstGeom prst="rect">
            <a:avLst/>
          </a:prstGeom>
          <a:noFill/>
        </p:spPr>
        <p:txBody>
          <a:bodyPr wrap="square" lIns="0" rIns="0" tIns="0" bIns="0" anchor="t">
            <a:noAutofit/>
          </a:bodyPr>
          <a:lstStyle/>
          <a:p>
            <a:pPr algn="l">
              <a:lnSpc>
                <a:spcPts val="1620"/>
              </a:lnSpc>
              <a:spcBef>
                <a:spcPts val="0"/>
              </a:spcBef>
              <a:spcAft>
                <a:spcPts val="0"/>
              </a:spcAft>
            </a:pPr>
            <a:r>
              <a:rPr sz="1200" b="0" i="0">
                <a:solidFill>
                  <a:srgbClr val="50505B"/>
                </a:solidFill>
                <a:latin typeface="Arial"/>
              </a:rPr>
              <a:t>image-encoding fidelity, 5 address qubits (0.75 → 0.88 at 7)</a:t>
            </a:r>
          </a:p>
        </p:txBody>
      </p:sp>
      <p:sp>
        <p:nvSpPr>
          <p:cNvPr id="52" name="s17-box-03"/>
          <p:cNvSpPr/>
          <p:nvPr/>
        </p:nvSpPr>
        <p:spPr>
          <a:xfrm>
            <a:off x="7950001" y="4326722"/>
            <a:ext cx="3352716" cy="1122533"/>
          </a:xfrm>
          <a:prstGeom prst="roundRect">
            <a:avLst>
              <a:gd name="adj" fmla="val 1357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s17-text-48"/>
          <p:cNvSpPr txBox="1"/>
          <p:nvPr/>
        </p:nvSpPr>
        <p:spPr>
          <a:xfrm>
            <a:off x="8140496" y="4466419"/>
            <a:ext cx="2990775" cy="380990"/>
          </a:xfrm>
          <a:prstGeom prst="rect">
            <a:avLst/>
          </a:prstGeom>
          <a:noFill/>
        </p:spPr>
        <p:txBody>
          <a:bodyPr wrap="none" lIns="0" rIns="0" tIns="0" bIns="0" anchor="t">
            <a:noAutofit/>
          </a:bodyPr>
          <a:lstStyle/>
          <a:p>
            <a:pPr algn="l">
              <a:lnSpc>
                <a:spcPts val="3000"/>
              </a:lnSpc>
              <a:spcBef>
                <a:spcPts val="0"/>
              </a:spcBef>
              <a:spcAft>
                <a:spcPts val="0"/>
              </a:spcAft>
            </a:pPr>
            <a:r>
              <a:rPr sz="3000" b="1" i="0" spc="-120">
                <a:solidFill>
                  <a:srgbClr val="0B0B0F"/>
                </a:solidFill>
                <a:latin typeface="Arial"/>
              </a:rPr>
              <a:t>15 s · 24 h</a:t>
            </a:r>
          </a:p>
        </p:txBody>
      </p:sp>
      <p:sp>
        <p:nvSpPr>
          <p:cNvPr id="54" name="s17-text-49"/>
          <p:cNvSpPr txBox="1"/>
          <p:nvPr/>
        </p:nvSpPr>
        <p:spPr>
          <a:xfrm>
            <a:off x="8140496" y="4898208"/>
            <a:ext cx="2984425" cy="411351"/>
          </a:xfrm>
          <a:prstGeom prst="rect">
            <a:avLst/>
          </a:prstGeom>
          <a:noFill/>
        </p:spPr>
        <p:txBody>
          <a:bodyPr wrap="square" lIns="0" rIns="0" tIns="0" bIns="0" anchor="t">
            <a:noAutofit/>
          </a:bodyPr>
          <a:lstStyle/>
          <a:p>
            <a:pPr algn="l">
              <a:lnSpc>
                <a:spcPts val="1620"/>
              </a:lnSpc>
              <a:spcBef>
                <a:spcPts val="0"/>
              </a:spcBef>
              <a:spcAft>
                <a:spcPts val="0"/>
              </a:spcAft>
            </a:pPr>
            <a:r>
              <a:rPr sz="1200" b="0" i="0">
                <a:solidFill>
                  <a:srgbClr val="50505B"/>
                </a:solidFill>
                <a:latin typeface="Arial"/>
              </a:rPr>
              <a:t>knitting: ≤2 cuts on one A100 · 4 cuts on four GPU nodes</a:t>
            </a:r>
          </a:p>
        </p:txBody>
      </p:sp>
      <p:sp>
        <p:nvSpPr>
          <p:cNvPr id="55" name="!!sec"/>
          <p:cNvSpPr txBox="1"/>
          <p:nvPr/>
        </p:nvSpPr>
        <p:spPr>
          <a:xfrm>
            <a:off x="888978" y="6362541"/>
            <a:ext cx="237305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Data · Quantum learning</a:t>
            </a:r>
          </a:p>
        </p:txBody>
      </p:sp>
      <p:pic>
        <p:nvPicPr>
          <p:cNvPr id="56" name="s17-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57"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17</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4830543"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NNQA · Neural-Native Quantum Arithmetic</a:t>
            </a:r>
          </a:p>
        </p:txBody>
      </p:sp>
      <p:sp>
        <p:nvSpPr>
          <p:cNvPr id="3" name="s18-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Compile, do not search</a:t>
            </a:r>
          </a:p>
        </p:txBody>
      </p:sp>
      <p:pic>
        <p:nvPicPr>
          <p:cNvPr id="4" name="s18-image-01" descr="diagram"/>
          <p:cNvPicPr>
            <a:picLocks noChangeAspect="1"/>
          </p:cNvPicPr>
          <p:nvPr/>
        </p:nvPicPr>
        <p:blipFill>
          <a:blip r:embed="rId2"/>
          <a:stretch>
            <a:fillRect/>
          </a:stretch>
        </p:blipFill>
        <p:spPr>
          <a:xfrm>
            <a:off x="863578" y="1517612"/>
            <a:ext cx="10470888" cy="2660583"/>
          </a:xfrm>
          <a:prstGeom prst="rect">
            <a:avLst/>
          </a:prstGeom>
        </p:spPr>
      </p:pic>
      <p:sp>
        <p:nvSpPr>
          <p:cNvPr id="5" name="s18-text-03"/>
          <p:cNvSpPr txBox="1"/>
          <p:nvPr/>
        </p:nvSpPr>
        <p:spPr>
          <a:xfrm>
            <a:off x="1714457" y="1615340"/>
            <a:ext cx="628535"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qubits</a:t>
            </a:r>
          </a:p>
        </p:txBody>
      </p:sp>
      <p:sp>
        <p:nvSpPr>
          <p:cNvPr id="6" name="s18-text-04"/>
          <p:cNvSpPr txBox="1"/>
          <p:nvPr/>
        </p:nvSpPr>
        <p:spPr>
          <a:xfrm>
            <a:off x="1675564" y="3539342"/>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a:t>
            </a:r>
          </a:p>
        </p:txBody>
      </p:sp>
      <p:sp>
        <p:nvSpPr>
          <p:cNvPr id="7" name="s18-text-05"/>
          <p:cNvSpPr txBox="1"/>
          <p:nvPr/>
        </p:nvSpPr>
        <p:spPr>
          <a:xfrm>
            <a:off x="2602570" y="3539342"/>
            <a:ext cx="1745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8" name="s18-text-06"/>
          <p:cNvSpPr txBox="1"/>
          <p:nvPr/>
        </p:nvSpPr>
        <p:spPr>
          <a:xfrm>
            <a:off x="3529576" y="3539342"/>
            <a:ext cx="25220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100</a:t>
            </a:r>
          </a:p>
        </p:txBody>
      </p:sp>
      <p:sp>
        <p:nvSpPr>
          <p:cNvPr id="9" name="s18-text-07"/>
          <p:cNvSpPr txBox="1"/>
          <p:nvPr/>
        </p:nvSpPr>
        <p:spPr>
          <a:xfrm>
            <a:off x="1148528" y="2085228"/>
            <a:ext cx="500217"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NNQA</a:t>
            </a:r>
          </a:p>
        </p:txBody>
      </p:sp>
      <p:sp>
        <p:nvSpPr>
          <p:cNvPr id="10" name="s18-text-08"/>
          <p:cNvSpPr txBox="1"/>
          <p:nvPr/>
        </p:nvSpPr>
        <p:spPr>
          <a:xfrm>
            <a:off x="2695787" y="2053479"/>
            <a:ext cx="132057"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7</a:t>
            </a:r>
          </a:p>
        </p:txBody>
      </p:sp>
      <p:sp>
        <p:nvSpPr>
          <p:cNvPr id="11" name="s18-text-09"/>
          <p:cNvSpPr txBox="1"/>
          <p:nvPr/>
        </p:nvSpPr>
        <p:spPr>
          <a:xfrm>
            <a:off x="1276814" y="2593216"/>
            <a:ext cx="367795"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VQE</a:t>
            </a:r>
          </a:p>
        </p:txBody>
      </p:sp>
      <p:sp>
        <p:nvSpPr>
          <p:cNvPr id="12" name="s18-text-10"/>
          <p:cNvSpPr txBox="1"/>
          <p:nvPr/>
        </p:nvSpPr>
        <p:spPr>
          <a:xfrm>
            <a:off x="2909180" y="2561466"/>
            <a:ext cx="471079"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6–12</a:t>
            </a:r>
          </a:p>
        </p:txBody>
      </p:sp>
      <p:sp>
        <p:nvSpPr>
          <p:cNvPr id="13" name="s18-text-11"/>
          <p:cNvSpPr txBox="1"/>
          <p:nvPr/>
        </p:nvSpPr>
        <p:spPr>
          <a:xfrm>
            <a:off x="1276814" y="3101203"/>
            <a:ext cx="367795"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QSP</a:t>
            </a:r>
          </a:p>
        </p:txBody>
      </p:sp>
      <p:sp>
        <p:nvSpPr>
          <p:cNvPr id="14" name="s18-text-12"/>
          <p:cNvSpPr txBox="1"/>
          <p:nvPr/>
        </p:nvSpPr>
        <p:spPr>
          <a:xfrm>
            <a:off x="3798551" y="3069454"/>
            <a:ext cx="697094"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10–100</a:t>
            </a:r>
          </a:p>
        </p:txBody>
      </p:sp>
      <p:sp>
        <p:nvSpPr>
          <p:cNvPr id="15" name="s18-text-13"/>
          <p:cNvSpPr txBox="1"/>
          <p:nvPr/>
        </p:nvSpPr>
        <p:spPr>
          <a:xfrm>
            <a:off x="5079873" y="1615340"/>
            <a:ext cx="1238318"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circuit depth</a:t>
            </a:r>
          </a:p>
        </p:txBody>
      </p:sp>
      <p:sp>
        <p:nvSpPr>
          <p:cNvPr id="16" name="s18-text-14"/>
          <p:cNvSpPr txBox="1"/>
          <p:nvPr/>
        </p:nvSpPr>
        <p:spPr>
          <a:xfrm>
            <a:off x="5002137" y="3539342"/>
            <a:ext cx="1745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17" name="s18-text-15"/>
          <p:cNvSpPr txBox="1"/>
          <p:nvPr/>
        </p:nvSpPr>
        <p:spPr>
          <a:xfrm>
            <a:off x="6671516" y="3539342"/>
            <a:ext cx="25220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100</a:t>
            </a:r>
          </a:p>
        </p:txBody>
      </p:sp>
      <p:sp>
        <p:nvSpPr>
          <p:cNvPr id="18" name="s18-text-16"/>
          <p:cNvSpPr txBox="1"/>
          <p:nvPr/>
        </p:nvSpPr>
        <p:spPr>
          <a:xfrm>
            <a:off x="4513943" y="2085228"/>
            <a:ext cx="500217"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NNQA</a:t>
            </a:r>
          </a:p>
        </p:txBody>
      </p:sp>
      <p:sp>
        <p:nvSpPr>
          <p:cNvPr id="19" name="s18-text-17"/>
          <p:cNvSpPr txBox="1"/>
          <p:nvPr/>
        </p:nvSpPr>
        <p:spPr>
          <a:xfrm>
            <a:off x="5721143" y="2053479"/>
            <a:ext cx="245064"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19</a:t>
            </a:r>
          </a:p>
        </p:txBody>
      </p:sp>
      <p:sp>
        <p:nvSpPr>
          <p:cNvPr id="20" name="s18-text-18"/>
          <p:cNvSpPr txBox="1"/>
          <p:nvPr/>
        </p:nvSpPr>
        <p:spPr>
          <a:xfrm>
            <a:off x="4642230" y="2593216"/>
            <a:ext cx="367795"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VQE</a:t>
            </a:r>
          </a:p>
        </p:txBody>
      </p:sp>
      <p:sp>
        <p:nvSpPr>
          <p:cNvPr id="21" name="s18-text-19"/>
          <p:cNvSpPr txBox="1"/>
          <p:nvPr/>
        </p:nvSpPr>
        <p:spPr>
          <a:xfrm>
            <a:off x="6940491" y="2561466"/>
            <a:ext cx="697094"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20–100</a:t>
            </a:r>
          </a:p>
        </p:txBody>
      </p:sp>
      <p:sp>
        <p:nvSpPr>
          <p:cNvPr id="22" name="s18-text-20"/>
          <p:cNvSpPr txBox="1"/>
          <p:nvPr/>
        </p:nvSpPr>
        <p:spPr>
          <a:xfrm>
            <a:off x="4642230" y="3101203"/>
            <a:ext cx="367795"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QSP</a:t>
            </a:r>
          </a:p>
        </p:txBody>
      </p:sp>
      <p:sp>
        <p:nvSpPr>
          <p:cNvPr id="23" name="s18-text-21"/>
          <p:cNvSpPr txBox="1"/>
          <p:nvPr/>
        </p:nvSpPr>
        <p:spPr>
          <a:xfrm>
            <a:off x="6438961" y="3069454"/>
            <a:ext cx="245064"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50</a:t>
            </a:r>
          </a:p>
        </p:txBody>
      </p:sp>
      <p:sp>
        <p:nvSpPr>
          <p:cNvPr id="24" name="s18-text-22"/>
          <p:cNvSpPr txBox="1"/>
          <p:nvPr/>
        </p:nvSpPr>
        <p:spPr>
          <a:xfrm>
            <a:off x="8445289" y="1615340"/>
            <a:ext cx="1746802"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circuit executions</a:t>
            </a:r>
          </a:p>
        </p:txBody>
      </p:sp>
      <p:sp>
        <p:nvSpPr>
          <p:cNvPr id="25" name="s18-text-23"/>
          <p:cNvSpPr txBox="1"/>
          <p:nvPr/>
        </p:nvSpPr>
        <p:spPr>
          <a:xfrm>
            <a:off x="8546347" y="3539342"/>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a:t>
            </a:r>
          </a:p>
        </p:txBody>
      </p:sp>
      <p:sp>
        <p:nvSpPr>
          <p:cNvPr id="26" name="s18-text-24"/>
          <p:cNvSpPr txBox="1"/>
          <p:nvPr/>
        </p:nvSpPr>
        <p:spPr>
          <a:xfrm>
            <a:off x="9138360" y="3539342"/>
            <a:ext cx="1745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27" name="s18-text-25"/>
          <p:cNvSpPr txBox="1"/>
          <p:nvPr/>
        </p:nvSpPr>
        <p:spPr>
          <a:xfrm>
            <a:off x="9730374" y="3539342"/>
            <a:ext cx="25220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100</a:t>
            </a:r>
          </a:p>
        </p:txBody>
      </p:sp>
      <p:sp>
        <p:nvSpPr>
          <p:cNvPr id="28" name="s18-text-26"/>
          <p:cNvSpPr txBox="1"/>
          <p:nvPr/>
        </p:nvSpPr>
        <p:spPr>
          <a:xfrm>
            <a:off x="10322387" y="3539342"/>
            <a:ext cx="32989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1000</a:t>
            </a:r>
          </a:p>
        </p:txBody>
      </p:sp>
      <p:sp>
        <p:nvSpPr>
          <p:cNvPr id="29" name="s18-text-27"/>
          <p:cNvSpPr txBox="1"/>
          <p:nvPr/>
        </p:nvSpPr>
        <p:spPr>
          <a:xfrm>
            <a:off x="7879359" y="2085228"/>
            <a:ext cx="500217"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NNQA</a:t>
            </a:r>
          </a:p>
        </p:txBody>
      </p:sp>
      <p:sp>
        <p:nvSpPr>
          <p:cNvPr id="30" name="s18-text-28"/>
          <p:cNvSpPr txBox="1"/>
          <p:nvPr/>
        </p:nvSpPr>
        <p:spPr>
          <a:xfrm>
            <a:off x="8750335" y="2053479"/>
            <a:ext cx="132057"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1</a:t>
            </a:r>
          </a:p>
        </p:txBody>
      </p:sp>
      <p:sp>
        <p:nvSpPr>
          <p:cNvPr id="31" name="s18-text-29"/>
          <p:cNvSpPr txBox="1"/>
          <p:nvPr/>
        </p:nvSpPr>
        <p:spPr>
          <a:xfrm>
            <a:off x="8007646" y="2593216"/>
            <a:ext cx="367795"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VQE</a:t>
            </a:r>
          </a:p>
        </p:txBody>
      </p:sp>
      <p:sp>
        <p:nvSpPr>
          <p:cNvPr id="32" name="s18-text-30"/>
          <p:cNvSpPr txBox="1"/>
          <p:nvPr/>
        </p:nvSpPr>
        <p:spPr>
          <a:xfrm>
            <a:off x="10630206" y="2561466"/>
            <a:ext cx="923108"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100–1000</a:t>
            </a:r>
          </a:p>
        </p:txBody>
      </p:sp>
      <p:sp>
        <p:nvSpPr>
          <p:cNvPr id="33" name="s18-text-31"/>
          <p:cNvSpPr txBox="1"/>
          <p:nvPr/>
        </p:nvSpPr>
        <p:spPr>
          <a:xfrm>
            <a:off x="8007646" y="3101203"/>
            <a:ext cx="367795"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QSP</a:t>
            </a:r>
          </a:p>
        </p:txBody>
      </p:sp>
      <p:sp>
        <p:nvSpPr>
          <p:cNvPr id="34" name="s18-text-32"/>
          <p:cNvSpPr txBox="1"/>
          <p:nvPr/>
        </p:nvSpPr>
        <p:spPr>
          <a:xfrm>
            <a:off x="8496088" y="3126602"/>
            <a:ext cx="772399"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not reported</a:t>
            </a:r>
          </a:p>
        </p:txBody>
      </p:sp>
      <p:sp>
        <p:nvSpPr>
          <p:cNvPr id="35" name="s18-text-33"/>
          <p:cNvSpPr txBox="1"/>
          <p:nvPr/>
        </p:nvSpPr>
        <p:spPr>
          <a:xfrm>
            <a:off x="3316105" y="3894933"/>
            <a:ext cx="557853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resource model for a degree-6 polynomial (log scales) · NNQA runs once with 4,096 shots</a:t>
            </a:r>
          </a:p>
        </p:txBody>
      </p:sp>
      <p:sp>
        <p:nvSpPr>
          <p:cNvPr id="36" name="s18-box-01"/>
          <p:cNvSpPr/>
          <p:nvPr/>
        </p:nvSpPr>
        <p:spPr>
          <a:xfrm>
            <a:off x="888978" y="4288623"/>
            <a:ext cx="2968848"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18-box-02"/>
          <p:cNvSpPr/>
          <p:nvPr/>
        </p:nvSpPr>
        <p:spPr>
          <a:xfrm>
            <a:off x="1054074" y="4418795"/>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s18-text-34"/>
          <p:cNvSpPr txBox="1"/>
          <p:nvPr/>
        </p:nvSpPr>
        <p:spPr>
          <a:xfrm>
            <a:off x="1219170" y="4364821"/>
            <a:ext cx="2492610" cy="190495"/>
          </a:xfrm>
          <a:prstGeom prst="rect">
            <a:avLst/>
          </a:prstGeom>
          <a:noFill/>
        </p:spPr>
        <p:txBody>
          <a:bodyPr wrap="none" lIns="0" rIns="0" tIns="0" bIns="0" anchor="t">
            <a:noAutofit/>
          </a:bodyPr>
          <a:lstStyle/>
          <a:p>
            <a:pPr algn="l">
              <a:lnSpc>
                <a:spcPts val="1500"/>
              </a:lnSpc>
              <a:spcBef>
                <a:spcPts val="0"/>
              </a:spcBef>
              <a:spcAft>
                <a:spcPts val="0"/>
              </a:spcAft>
            </a:pPr>
            <a:r>
              <a:rPr sz="1300" b="0" i="0">
                <a:solidFill>
                  <a:srgbClr val="0B0B0F"/>
                </a:solidFill>
                <a:latin typeface="Arial"/>
              </a:rPr>
              <a:t>&gt;99.5% accuracy up to degree 35</a:t>
            </a:r>
          </a:p>
        </p:txBody>
      </p:sp>
      <p:sp>
        <p:nvSpPr>
          <p:cNvPr id="39" name="s18-box-03"/>
          <p:cNvSpPr/>
          <p:nvPr/>
        </p:nvSpPr>
        <p:spPr>
          <a:xfrm>
            <a:off x="3959424" y="4288623"/>
            <a:ext cx="3844630"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s18-box-04"/>
          <p:cNvSpPr/>
          <p:nvPr/>
        </p:nvSpPr>
        <p:spPr>
          <a:xfrm>
            <a:off x="4124520" y="4418795"/>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18-text-35"/>
          <p:cNvSpPr txBox="1"/>
          <p:nvPr/>
        </p:nvSpPr>
        <p:spPr>
          <a:xfrm>
            <a:off x="4289615" y="4364821"/>
            <a:ext cx="3368392" cy="190495"/>
          </a:xfrm>
          <a:prstGeom prst="rect">
            <a:avLst/>
          </a:prstGeom>
          <a:noFill/>
        </p:spPr>
        <p:txBody>
          <a:bodyPr wrap="none" lIns="0" rIns="0" tIns="0" bIns="0" anchor="t">
            <a:noAutofit/>
          </a:bodyPr>
          <a:lstStyle/>
          <a:p>
            <a:pPr algn="l">
              <a:lnSpc>
                <a:spcPts val="1500"/>
              </a:lnSpc>
              <a:spcBef>
                <a:spcPts val="0"/>
              </a:spcBef>
              <a:spcAft>
                <a:spcPts val="0"/>
              </a:spcAft>
            </a:pPr>
            <a:r>
              <a:rPr sz="1300" b="0" i="0">
                <a:solidFill>
                  <a:srgbClr val="0B0B0F"/>
                </a:solidFill>
                <a:latin typeface="Arial"/>
              </a:rPr>
              <a:t>36 qubits · depth 70 (IonQ Forte-1 stress test)</a:t>
            </a:r>
          </a:p>
        </p:txBody>
      </p:sp>
      <p:sp>
        <p:nvSpPr>
          <p:cNvPr id="42" name="s18-box-05"/>
          <p:cNvSpPr/>
          <p:nvPr/>
        </p:nvSpPr>
        <p:spPr>
          <a:xfrm>
            <a:off x="888978" y="4739462"/>
            <a:ext cx="4380795"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18-box-06"/>
          <p:cNvSpPr/>
          <p:nvPr/>
        </p:nvSpPr>
        <p:spPr>
          <a:xfrm>
            <a:off x="1054074" y="4869634"/>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18-text-36"/>
          <p:cNvSpPr txBox="1"/>
          <p:nvPr/>
        </p:nvSpPr>
        <p:spPr>
          <a:xfrm>
            <a:off x="1219170" y="4815660"/>
            <a:ext cx="3904557" cy="190495"/>
          </a:xfrm>
          <a:prstGeom prst="rect">
            <a:avLst/>
          </a:prstGeom>
          <a:noFill/>
        </p:spPr>
        <p:txBody>
          <a:bodyPr wrap="none" lIns="0" rIns="0" tIns="0" bIns="0" anchor="t">
            <a:noAutofit/>
          </a:bodyPr>
          <a:lstStyle/>
          <a:p>
            <a:pPr algn="l">
              <a:lnSpc>
                <a:spcPts val="1500"/>
              </a:lnSpc>
              <a:spcBef>
                <a:spcPts val="0"/>
              </a:spcBef>
              <a:spcAft>
                <a:spcPts val="0"/>
              </a:spcAft>
            </a:pPr>
            <a:r>
              <a:rPr sz="1300" b="0" i="0">
                <a:solidFill>
                  <a:srgbClr val="0B0B0F"/>
                </a:solidFill>
                <a:latin typeface="Arial"/>
              </a:rPr>
              <a:t>RMSE ≤ 0.017 · correlation &gt; 0.999 for degrees 1–30</a:t>
            </a:r>
          </a:p>
        </p:txBody>
      </p:sp>
      <p:sp>
        <p:nvSpPr>
          <p:cNvPr id="45" name="s18-box-07"/>
          <p:cNvSpPr/>
          <p:nvPr/>
        </p:nvSpPr>
        <p:spPr>
          <a:xfrm>
            <a:off x="5371370" y="4739462"/>
            <a:ext cx="3881638"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s18-box-08"/>
          <p:cNvSpPr/>
          <p:nvPr/>
        </p:nvSpPr>
        <p:spPr>
          <a:xfrm>
            <a:off x="5536466" y="4869634"/>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s18-text-37"/>
          <p:cNvSpPr txBox="1"/>
          <p:nvPr/>
        </p:nvSpPr>
        <p:spPr>
          <a:xfrm>
            <a:off x="5701562" y="4815660"/>
            <a:ext cx="3405400" cy="190495"/>
          </a:xfrm>
          <a:prstGeom prst="rect">
            <a:avLst/>
          </a:prstGeom>
          <a:noFill/>
        </p:spPr>
        <p:txBody>
          <a:bodyPr wrap="none" lIns="0" rIns="0" tIns="0" bIns="0" anchor="t">
            <a:noAutofit/>
          </a:bodyPr>
          <a:lstStyle/>
          <a:p>
            <a:pPr algn="l">
              <a:lnSpc>
                <a:spcPts val="1500"/>
              </a:lnSpc>
              <a:spcBef>
                <a:spcPts val="0"/>
              </a:spcBef>
              <a:spcAft>
                <a:spcPts val="0"/>
              </a:spcAft>
            </a:pPr>
            <a:r>
              <a:rPr sz="1300" b="0" i="0">
                <a:solidFill>
                  <a:srgbClr val="0B0B0F"/>
                </a:solidFill>
                <a:latin typeface="Arial"/>
              </a:rPr>
              <a:t>pass rates 74–86% Heron-3 · 92–99% Forte-1</a:t>
            </a:r>
          </a:p>
        </p:txBody>
      </p:sp>
      <p:sp>
        <p:nvSpPr>
          <p:cNvPr id="48" name="s18-box-09"/>
          <p:cNvSpPr/>
          <p:nvPr/>
        </p:nvSpPr>
        <p:spPr>
          <a:xfrm>
            <a:off x="888978" y="5190301"/>
            <a:ext cx="2899496"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18-box-10"/>
          <p:cNvSpPr/>
          <p:nvPr/>
        </p:nvSpPr>
        <p:spPr>
          <a:xfrm>
            <a:off x="1054074" y="5320472"/>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s18-text-38"/>
          <p:cNvSpPr txBox="1"/>
          <p:nvPr/>
        </p:nvSpPr>
        <p:spPr>
          <a:xfrm>
            <a:off x="1219170" y="5266499"/>
            <a:ext cx="2423258" cy="190495"/>
          </a:xfrm>
          <a:prstGeom prst="rect">
            <a:avLst/>
          </a:prstGeom>
          <a:noFill/>
        </p:spPr>
        <p:txBody>
          <a:bodyPr wrap="none" lIns="0" rIns="0" tIns="0" bIns="0" anchor="t">
            <a:noAutofit/>
          </a:bodyPr>
          <a:lstStyle/>
          <a:p>
            <a:pPr algn="l">
              <a:lnSpc>
                <a:spcPts val="1500"/>
              </a:lnSpc>
              <a:spcBef>
                <a:spcPts val="0"/>
              </a:spcBef>
              <a:spcAft>
                <a:spcPts val="0"/>
              </a:spcAft>
            </a:pPr>
            <a:r>
              <a:rPr sz="1300" b="0" i="0">
                <a:solidFill>
                  <a:srgbClr val="0B0B0F"/>
                </a:solidFill>
                <a:latin typeface="Arial"/>
              </a:rPr>
              <a:t>universal-approximation theorem</a:t>
            </a:r>
          </a:p>
        </p:txBody>
      </p:sp>
      <p:sp>
        <p:nvSpPr>
          <p:cNvPr id="51" name="!!sec"/>
          <p:cNvSpPr txBox="1"/>
          <p:nvPr/>
        </p:nvSpPr>
        <p:spPr>
          <a:xfrm>
            <a:off x="888978" y="6362541"/>
            <a:ext cx="237305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Data · Quantum learning</a:t>
            </a:r>
          </a:p>
        </p:txBody>
      </p:sp>
      <p:pic>
        <p:nvPicPr>
          <p:cNvPr id="52" name="s18-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53"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18</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1112214"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Takeaway</a:t>
            </a:r>
          </a:p>
        </p:txBody>
      </p:sp>
      <p:sp>
        <p:nvSpPr>
          <p:cNvPr id="3" name="s19-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Vectorize, then learn</a:t>
            </a:r>
          </a:p>
        </p:txBody>
      </p:sp>
      <p:sp>
        <p:nvSpPr>
          <p:cNvPr id="4" name="s19-box-01"/>
          <p:cNvSpPr/>
          <p:nvPr/>
        </p:nvSpPr>
        <p:spPr>
          <a:xfrm>
            <a:off x="888978" y="180151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19-text-03"/>
          <p:cNvSpPr txBox="1"/>
          <p:nvPr/>
        </p:nvSpPr>
        <p:spPr>
          <a:xfrm>
            <a:off x="1219170" y="1659789"/>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1" i="0">
                <a:solidFill>
                  <a:srgbClr val="0B0B0F"/>
                </a:solidFill>
                <a:latin typeface="Arial"/>
              </a:rPr>
              <a:t>One encoding, four uses:</a:t>
            </a:r>
            <a:r>
              <a:rPr sz="1800" b="0" i="0">
                <a:solidFill>
                  <a:srgbClr val="50505B"/>
                </a:solidFill>
                <a:latin typeface="Arial"/>
              </a:rPr>
              <a:t> QPIE blocks · VQT attention · ShardQ cuts · NNQA arithmetic</a:t>
            </a:r>
          </a:p>
        </p:txBody>
      </p:sp>
      <p:sp>
        <p:nvSpPr>
          <p:cNvPr id="6" name="s19-box-02"/>
          <p:cNvSpPr/>
          <p:nvPr/>
        </p:nvSpPr>
        <p:spPr>
          <a:xfrm>
            <a:off x="888978" y="224977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19-text-04"/>
          <p:cNvSpPr txBox="1"/>
          <p:nvPr/>
        </p:nvSpPr>
        <p:spPr>
          <a:xfrm>
            <a:off x="1219170" y="2108048"/>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1" i="0">
                <a:solidFill>
                  <a:srgbClr val="0B0B0F"/>
                </a:solidFill>
                <a:latin typeface="Arial"/>
              </a:rPr>
              <a:t>Shot-efficient:</a:t>
            </a:r>
            <a:r>
              <a:rPr sz="1800" b="0" i="0">
                <a:solidFill>
                  <a:srgbClr val="50505B"/>
                </a:solidFill>
                <a:latin typeface="Arial"/>
              </a:rPr>
              <a:t> VQDP O(log(B·T²)) vs O(B·T²·d) · NNQA runs once</a:t>
            </a:r>
          </a:p>
        </p:txBody>
      </p:sp>
      <p:sp>
        <p:nvSpPr>
          <p:cNvPr id="8" name="s19-box-03"/>
          <p:cNvSpPr/>
          <p:nvPr/>
        </p:nvSpPr>
        <p:spPr>
          <a:xfrm>
            <a:off x="888978" y="2698036"/>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19-text-05"/>
          <p:cNvSpPr txBox="1"/>
          <p:nvPr/>
        </p:nvSpPr>
        <p:spPr>
          <a:xfrm>
            <a:off x="1219170" y="2556307"/>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1" i="0">
                <a:solidFill>
                  <a:srgbClr val="0B0B0F"/>
                </a:solidFill>
                <a:latin typeface="Arial"/>
              </a:rPr>
              <a:t>Hardware-compatible:</a:t>
            </a:r>
            <a:r>
              <a:rPr sz="1800" b="0" i="0">
                <a:solidFill>
                  <a:srgbClr val="50505B"/>
                </a:solidFill>
                <a:latin typeface="Arial"/>
              </a:rPr>
              <a:t> fidelity 0.79 → 0.90 · ran on Heron, Aria-1, Forte-1</a:t>
            </a:r>
          </a:p>
        </p:txBody>
      </p:sp>
      <p:sp>
        <p:nvSpPr>
          <p:cNvPr id="10" name="s19-box-04"/>
          <p:cNvSpPr/>
          <p:nvPr/>
        </p:nvSpPr>
        <p:spPr>
          <a:xfrm>
            <a:off x="888978" y="3146295"/>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19-text-06"/>
          <p:cNvSpPr txBox="1"/>
          <p:nvPr/>
        </p:nvSpPr>
        <p:spPr>
          <a:xfrm>
            <a:off x="1219170" y="3004566"/>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1" i="0">
                <a:solidFill>
                  <a:srgbClr val="0B0B0F"/>
                </a:solidFill>
                <a:latin typeface="Arial"/>
              </a:rPr>
              <a:t>Trainable:</a:t>
            </a:r>
            <a:r>
              <a:rPr sz="1800" b="0" i="0">
                <a:solidFill>
                  <a:srgbClr val="50505B"/>
                </a:solidFill>
                <a:latin typeface="Arial"/>
              </a:rPr>
              <a:t> learnable heads keep gradients alive · NNQA needs no on-device training</a:t>
            </a:r>
          </a:p>
        </p:txBody>
      </p:sp>
      <p:sp>
        <p:nvSpPr>
          <p:cNvPr id="12"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19-text-07"/>
          <p:cNvSpPr txBox="1"/>
          <p:nvPr/>
        </p:nvSpPr>
        <p:spPr>
          <a:xfrm>
            <a:off x="5706821"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14" name="!!L1-t"/>
          <p:cNvSpPr txBox="1"/>
          <p:nvPr/>
        </p:nvSpPr>
        <p:spPr>
          <a:xfrm>
            <a:off x="5920235" y="6362541"/>
            <a:ext cx="67129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5"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19-text-09"/>
          <p:cNvSpPr txBox="1"/>
          <p:nvPr/>
        </p:nvSpPr>
        <p:spPr>
          <a:xfrm>
            <a:off x="6889975"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7" name="!!L2-t"/>
          <p:cNvSpPr txBox="1"/>
          <p:nvPr/>
        </p:nvSpPr>
        <p:spPr>
          <a:xfrm>
            <a:off x="7103389" y="6362541"/>
            <a:ext cx="67893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8" name="!!L3-bg"/>
          <p:cNvSpPr/>
          <p:nvPr/>
        </p:nvSpPr>
        <p:spPr>
          <a:xfrm>
            <a:off x="7953771" y="6311742"/>
            <a:ext cx="1368391"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19-text-11"/>
          <p:cNvSpPr txBox="1"/>
          <p:nvPr/>
        </p:nvSpPr>
        <p:spPr>
          <a:xfrm>
            <a:off x="8080768"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B00000"/>
                </a:solidFill>
                <a:latin typeface="Courier New"/>
              </a:rPr>
              <a:t>03</a:t>
            </a:r>
          </a:p>
        </p:txBody>
      </p:sp>
      <p:sp>
        <p:nvSpPr>
          <p:cNvPr id="20" name="!!L3-t"/>
          <p:cNvSpPr txBox="1"/>
          <p:nvPr/>
        </p:nvSpPr>
        <p:spPr>
          <a:xfrm>
            <a:off x="8294182" y="6362541"/>
            <a:ext cx="920032"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0B0B0F"/>
                </a:solidFill>
                <a:latin typeface="Arial"/>
              </a:rPr>
              <a:t>Data encoding</a:t>
            </a:r>
          </a:p>
        </p:txBody>
      </p:sp>
      <p:sp>
        <p:nvSpPr>
          <p:cNvPr id="21"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19-text-13"/>
          <p:cNvSpPr txBox="1"/>
          <p:nvPr/>
        </p:nvSpPr>
        <p:spPr>
          <a:xfrm>
            <a:off x="9512657"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23" name="!!L4-t"/>
          <p:cNvSpPr txBox="1"/>
          <p:nvPr/>
        </p:nvSpPr>
        <p:spPr>
          <a:xfrm>
            <a:off x="9726072" y="6362541"/>
            <a:ext cx="624765"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24"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19-text-15"/>
          <p:cNvSpPr txBox="1"/>
          <p:nvPr/>
        </p:nvSpPr>
        <p:spPr>
          <a:xfrm>
            <a:off x="10649279"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6" name="!!L5-t"/>
          <p:cNvSpPr txBox="1"/>
          <p:nvPr/>
        </p:nvSpPr>
        <p:spPr>
          <a:xfrm>
            <a:off x="10862693" y="6362541"/>
            <a:ext cx="33207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7" name="!!sec"/>
          <p:cNvSpPr txBox="1"/>
          <p:nvPr/>
        </p:nvSpPr>
        <p:spPr>
          <a:xfrm>
            <a:off x="888978" y="6362541"/>
            <a:ext cx="237305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Data · Quantum learning</a:t>
            </a:r>
          </a:p>
        </p:txBody>
      </p:sp>
      <p:pic>
        <p:nvPicPr>
          <p:cNvPr id="28" name="s19-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9"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19</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s20-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20-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s20-text-01"/>
          <p:cNvSpPr txBox="1"/>
          <p:nvPr/>
        </p:nvSpPr>
        <p:spPr>
          <a:xfrm>
            <a:off x="888978" y="2193275"/>
            <a:ext cx="10432789"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Layer 4 · Synthesis</a:t>
            </a:r>
          </a:p>
        </p:txBody>
      </p:sp>
      <p:sp>
        <p:nvSpPr>
          <p:cNvPr id="5" name="s20-text-02"/>
          <p:cNvSpPr txBox="1"/>
          <p:nvPr/>
        </p:nvSpPr>
        <p:spPr>
          <a:xfrm>
            <a:off x="888978" y="2504417"/>
            <a:ext cx="5922914" cy="826670"/>
          </a:xfrm>
          <a:prstGeom prst="rect">
            <a:avLst/>
          </a:prstGeom>
          <a:noFill/>
        </p:spPr>
        <p:txBody>
          <a:bodyPr wrap="none" lIns="0" rIns="0" tIns="0" bIns="0" anchor="t">
            <a:noAutofit/>
          </a:bodyPr>
          <a:lstStyle/>
          <a:p>
            <a:pPr algn="l">
              <a:lnSpc>
                <a:spcPts val="6509"/>
              </a:lnSpc>
              <a:spcBef>
                <a:spcPts val="0"/>
              </a:spcBef>
              <a:spcAft>
                <a:spcPts val="0"/>
              </a:spcAft>
            </a:pPr>
            <a:r>
              <a:rPr sz="6200" b="1" i="0" spc="-217">
                <a:solidFill>
                  <a:srgbClr val="CC0000"/>
                </a:solidFill>
                <a:latin typeface="Arial"/>
              </a:rPr>
              <a:t>Synthesis &amp; cost</a:t>
            </a:r>
          </a:p>
        </p:txBody>
      </p:sp>
      <p:sp>
        <p:nvSpPr>
          <p:cNvPr id="6" name="s20-text-03"/>
          <p:cNvSpPr txBox="1"/>
          <p:nvPr/>
        </p:nvSpPr>
        <p:spPr>
          <a:xfrm>
            <a:off x="888978" y="3483483"/>
            <a:ext cx="9537462" cy="1028674"/>
          </a:xfrm>
          <a:prstGeom prst="rect">
            <a:avLst/>
          </a:prstGeom>
          <a:noFill/>
        </p:spPr>
        <p:txBody>
          <a:bodyPr wrap="square" lIns="0" rIns="0" tIns="0" bIns="0" anchor="t">
            <a:noAutofit/>
          </a:bodyPr>
          <a:lstStyle/>
          <a:p>
            <a:pPr algn="l">
              <a:lnSpc>
                <a:spcPts val="2700"/>
              </a:lnSpc>
              <a:spcBef>
                <a:spcPts val="0"/>
              </a:spcBef>
              <a:spcAft>
                <a:spcPts val="0"/>
              </a:spcAft>
            </a:pPr>
            <a:r>
              <a:rPr sz="2000" b="0" i="0">
                <a:solidFill>
                  <a:srgbClr val="50505B"/>
                </a:solidFill>
                <a:latin typeface="Arial"/>
              </a:rPr>
              <a:t>Learned synthesis and honest cost accounting</a:t>
            </a:r>
          </a:p>
          <a:p>
            <a:pPr algn="l">
              <a:lnSpc>
                <a:spcPts val="2700"/>
              </a:lnSpc>
              <a:spcBef>
                <a:spcPts val="0"/>
              </a:spcBef>
              <a:spcAft>
                <a:spcPts val="0"/>
              </a:spcAft>
            </a:pPr>
            <a:r>
              <a:rPr sz="1200" b="0" i="0">
                <a:solidFill>
                  <a:srgbClr val="7B7B86"/>
                </a:solidFill>
                <a:latin typeface="Arial"/>
              </a:rPr>
              <a:t>RubriQ · Guo, Pan · arXiv:2607.07554 · under review, npj Quantum Information  ·  Nonlinear waves · Guo, Dsouza, Khan, Chopra, Lineswala, Pan · arXiv:2608.21647</a:t>
            </a:r>
          </a:p>
        </p:txBody>
      </p:sp>
      <p:sp>
        <p:nvSpPr>
          <p:cNvPr id="7"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20-text-04"/>
          <p:cNvSpPr txBox="1"/>
          <p:nvPr/>
        </p:nvSpPr>
        <p:spPr>
          <a:xfrm>
            <a:off x="5706821"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9" name="!!L1-t"/>
          <p:cNvSpPr txBox="1"/>
          <p:nvPr/>
        </p:nvSpPr>
        <p:spPr>
          <a:xfrm>
            <a:off x="5920235" y="6362541"/>
            <a:ext cx="67129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0"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20-text-06"/>
          <p:cNvSpPr txBox="1"/>
          <p:nvPr/>
        </p:nvSpPr>
        <p:spPr>
          <a:xfrm>
            <a:off x="6889975"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2" name="!!L2-t"/>
          <p:cNvSpPr txBox="1"/>
          <p:nvPr/>
        </p:nvSpPr>
        <p:spPr>
          <a:xfrm>
            <a:off x="7103389" y="6362541"/>
            <a:ext cx="67893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3"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20-text-08"/>
          <p:cNvSpPr txBox="1"/>
          <p:nvPr/>
        </p:nvSpPr>
        <p:spPr>
          <a:xfrm>
            <a:off x="8080768"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15" name="!!L3-t"/>
          <p:cNvSpPr txBox="1"/>
          <p:nvPr/>
        </p:nvSpPr>
        <p:spPr>
          <a:xfrm>
            <a:off x="8294182" y="6362541"/>
            <a:ext cx="920032"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16" name="!!L4-bg"/>
          <p:cNvSpPr/>
          <p:nvPr/>
        </p:nvSpPr>
        <p:spPr>
          <a:xfrm>
            <a:off x="9385661" y="6311742"/>
            <a:ext cx="1073123"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20-text-10"/>
          <p:cNvSpPr txBox="1"/>
          <p:nvPr/>
        </p:nvSpPr>
        <p:spPr>
          <a:xfrm>
            <a:off x="9512657"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B00000"/>
                </a:solidFill>
                <a:latin typeface="Courier New"/>
              </a:rPr>
              <a:t>04</a:t>
            </a:r>
          </a:p>
        </p:txBody>
      </p:sp>
      <p:sp>
        <p:nvSpPr>
          <p:cNvPr id="18" name="!!L4-t"/>
          <p:cNvSpPr txBox="1"/>
          <p:nvPr/>
        </p:nvSpPr>
        <p:spPr>
          <a:xfrm>
            <a:off x="9726072" y="6362541"/>
            <a:ext cx="624765"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0B0B0F"/>
                </a:solidFill>
                <a:latin typeface="Arial"/>
              </a:rPr>
              <a:t>Synthesis</a:t>
            </a:r>
          </a:p>
        </p:txBody>
      </p:sp>
      <p:sp>
        <p:nvSpPr>
          <p:cNvPr id="19"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20-text-12"/>
          <p:cNvSpPr txBox="1"/>
          <p:nvPr/>
        </p:nvSpPr>
        <p:spPr>
          <a:xfrm>
            <a:off x="10649279"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1" name="!!L5-t"/>
          <p:cNvSpPr txBox="1"/>
          <p:nvPr/>
        </p:nvSpPr>
        <p:spPr>
          <a:xfrm>
            <a:off x="10862693" y="6362541"/>
            <a:ext cx="33207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2" name="!!sec"/>
          <p:cNvSpPr txBox="1"/>
          <p:nvPr/>
        </p:nvSpPr>
        <p:spPr>
          <a:xfrm>
            <a:off x="888978" y="6362541"/>
            <a:ext cx="1645700"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Synthesis &amp; cost</a:t>
            </a:r>
          </a:p>
        </p:txBody>
      </p:sp>
      <p:pic>
        <p:nvPicPr>
          <p:cNvPr id="23" name="s20-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20</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3312137"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RubriQ · Rubric-guided GRPO</a:t>
            </a:r>
          </a:p>
        </p:txBody>
      </p:sp>
      <p:sp>
        <p:nvSpPr>
          <p:cNvPr id="3" name="s21-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Synthesis as code generation</a:t>
            </a:r>
          </a:p>
        </p:txBody>
      </p:sp>
      <p:pic>
        <p:nvPicPr>
          <p:cNvPr id="4" name="s21-image-01" descr="diagram"/>
          <p:cNvPicPr>
            <a:picLocks noChangeAspect="1"/>
          </p:cNvPicPr>
          <p:nvPr/>
        </p:nvPicPr>
        <p:blipFill>
          <a:blip r:embed="rId2"/>
          <a:stretch>
            <a:fillRect/>
          </a:stretch>
        </p:blipFill>
        <p:spPr>
          <a:xfrm>
            <a:off x="863578" y="1555711"/>
            <a:ext cx="10470888" cy="3105072"/>
          </a:xfrm>
          <a:prstGeom prst="rect">
            <a:avLst/>
          </a:prstGeom>
        </p:spPr>
      </p:pic>
      <p:sp>
        <p:nvSpPr>
          <p:cNvPr id="5" name="s21-text-03"/>
          <p:cNvSpPr txBox="1"/>
          <p:nvPr/>
        </p:nvSpPr>
        <p:spPr>
          <a:xfrm>
            <a:off x="1564889" y="2980556"/>
            <a:ext cx="1081457"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LLM policy</a:t>
            </a:r>
          </a:p>
        </p:txBody>
      </p:sp>
      <p:sp>
        <p:nvSpPr>
          <p:cNvPr id="6" name="s21-text-04"/>
          <p:cNvSpPr txBox="1"/>
          <p:nvPr/>
        </p:nvSpPr>
        <p:spPr>
          <a:xfrm>
            <a:off x="1382976" y="3266299"/>
            <a:ext cx="144399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7B coder · LoRA r = 64</a:t>
            </a:r>
          </a:p>
        </p:txBody>
      </p:sp>
      <p:sp>
        <p:nvSpPr>
          <p:cNvPr id="7" name="s21-text-05"/>
          <p:cNvSpPr txBox="1"/>
          <p:nvPr/>
        </p:nvSpPr>
        <p:spPr>
          <a:xfrm>
            <a:off x="3792790" y="2980556"/>
            <a:ext cx="561266"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parse</a:t>
            </a:r>
          </a:p>
        </p:txBody>
      </p:sp>
      <p:sp>
        <p:nvSpPr>
          <p:cNvPr id="8" name="s21-text-06"/>
          <p:cNvSpPr txBox="1"/>
          <p:nvPr/>
        </p:nvSpPr>
        <p:spPr>
          <a:xfrm>
            <a:off x="3598524" y="3266299"/>
            <a:ext cx="94979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recovers ≈60%</a:t>
            </a:r>
          </a:p>
        </p:txBody>
      </p:sp>
      <p:sp>
        <p:nvSpPr>
          <p:cNvPr id="9" name="s21-text-07"/>
          <p:cNvSpPr txBox="1"/>
          <p:nvPr/>
        </p:nvSpPr>
        <p:spPr>
          <a:xfrm>
            <a:off x="5249086" y="2980556"/>
            <a:ext cx="1712572"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CUDA-Q simulate</a:t>
            </a:r>
          </a:p>
        </p:txBody>
      </p:sp>
      <p:sp>
        <p:nvSpPr>
          <p:cNvPr id="10" name="s21-text-08"/>
          <p:cNvSpPr txBox="1"/>
          <p:nvPr/>
        </p:nvSpPr>
        <p:spPr>
          <a:xfrm>
            <a:off x="5230235" y="3266299"/>
            <a:ext cx="175027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GPU fidelity (Q-GEAR path)</a:t>
            </a:r>
          </a:p>
        </p:txBody>
      </p:sp>
      <p:sp>
        <p:nvSpPr>
          <p:cNvPr id="11" name="s21-text-09"/>
          <p:cNvSpPr txBox="1"/>
          <p:nvPr/>
        </p:nvSpPr>
        <p:spPr>
          <a:xfrm>
            <a:off x="7668971" y="2980556"/>
            <a:ext cx="131769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rubric reward</a:t>
            </a:r>
          </a:p>
        </p:txBody>
      </p:sp>
      <p:sp>
        <p:nvSpPr>
          <p:cNvPr id="12" name="s21-text-10"/>
          <p:cNvSpPr txBox="1"/>
          <p:nvPr/>
        </p:nvSpPr>
        <p:spPr>
          <a:xfrm>
            <a:off x="7639008" y="3266299"/>
            <a:ext cx="137761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5 programmatic terms</a:t>
            </a:r>
          </a:p>
        </p:txBody>
      </p:sp>
      <p:sp>
        <p:nvSpPr>
          <p:cNvPr id="13" name="s21-text-11"/>
          <p:cNvSpPr txBox="1"/>
          <p:nvPr/>
        </p:nvSpPr>
        <p:spPr>
          <a:xfrm>
            <a:off x="9753307" y="2980556"/>
            <a:ext cx="1339916"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GRPO update</a:t>
            </a:r>
          </a:p>
        </p:txBody>
      </p:sp>
      <p:sp>
        <p:nvSpPr>
          <p:cNvPr id="14" name="s21-text-12"/>
          <p:cNvSpPr txBox="1"/>
          <p:nvPr/>
        </p:nvSpPr>
        <p:spPr>
          <a:xfrm>
            <a:off x="9581464" y="3266299"/>
            <a:ext cx="168360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group 8 · T 0.8 · top-p 0.95</a:t>
            </a:r>
          </a:p>
        </p:txBody>
      </p:sp>
      <p:sp>
        <p:nvSpPr>
          <p:cNvPr id="15" name="s21-text-13"/>
          <p:cNvSpPr txBox="1"/>
          <p:nvPr/>
        </p:nvSpPr>
        <p:spPr>
          <a:xfrm>
            <a:off x="2598226" y="4320372"/>
            <a:ext cx="7211100"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policy improves by comparing a group of 8 generated circuits against each other, no value network</a:t>
            </a:r>
          </a:p>
        </p:txBody>
      </p:sp>
      <p:sp>
        <p:nvSpPr>
          <p:cNvPr id="16" name="s21-text-14"/>
          <p:cNvSpPr txBox="1"/>
          <p:nvPr/>
        </p:nvSpPr>
        <p:spPr>
          <a:xfrm>
            <a:off x="2900141" y="1837585"/>
            <a:ext cx="660095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NERSC Perlmutter · DeepSpeed ZeRO-2 over 4–8 A100 nodes · 85% strong-scaling efficiency on 8 GPUs</a:t>
            </a:r>
          </a:p>
        </p:txBody>
      </p:sp>
      <p:sp>
        <p:nvSpPr>
          <p:cNvPr id="17" name="s21-text-15"/>
          <p:cNvSpPr txBox="1"/>
          <p:nvPr/>
        </p:nvSpPr>
        <p:spPr>
          <a:xfrm>
            <a:off x="2990230" y="2091578"/>
            <a:ext cx="6420781"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7B7B86"/>
                </a:solidFill>
                <a:latin typeface="Courier New"/>
              </a:rPr>
              <a:t>Qwen2.5-Coder · DeepSeek-Coder-V2-Lite · Llama-3.1-8B · StarCoder2-15B</a:t>
            </a:r>
          </a:p>
        </p:txBody>
      </p:sp>
      <p:sp>
        <p:nvSpPr>
          <p:cNvPr id="18" name="!!sec"/>
          <p:cNvSpPr txBox="1"/>
          <p:nvPr/>
        </p:nvSpPr>
        <p:spPr>
          <a:xfrm>
            <a:off x="888978" y="6362541"/>
            <a:ext cx="1645700"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Synthesis &amp; cost</a:t>
            </a:r>
          </a:p>
        </p:txBody>
      </p:sp>
      <p:pic>
        <p:nvPicPr>
          <p:cNvPr id="19" name="s21-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0"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21</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1945036"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RubriQ · Results</a:t>
            </a:r>
          </a:p>
        </p:txBody>
      </p:sp>
      <p:sp>
        <p:nvSpPr>
          <p:cNvPr id="3" name="s22-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Deeper compression, fewer violations</a:t>
            </a:r>
          </a:p>
        </p:txBody>
      </p:sp>
      <p:pic>
        <p:nvPicPr>
          <p:cNvPr id="4" name="s22-image-01" descr="diagram"/>
          <p:cNvPicPr>
            <a:picLocks noChangeAspect="1"/>
          </p:cNvPicPr>
          <p:nvPr/>
        </p:nvPicPr>
        <p:blipFill>
          <a:blip r:embed="rId2"/>
          <a:stretch>
            <a:fillRect/>
          </a:stretch>
        </p:blipFill>
        <p:spPr>
          <a:xfrm>
            <a:off x="863578" y="1530312"/>
            <a:ext cx="4883028" cy="3105072"/>
          </a:xfrm>
          <a:prstGeom prst="rect">
            <a:avLst/>
          </a:prstGeom>
        </p:spPr>
      </p:pic>
      <p:sp>
        <p:nvSpPr>
          <p:cNvPr id="5" name="s22-text-03"/>
          <p:cNvSpPr txBox="1"/>
          <p:nvPr/>
        </p:nvSpPr>
        <p:spPr>
          <a:xfrm>
            <a:off x="1390020" y="4148927"/>
            <a:ext cx="17839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6" name="s22-text-04"/>
          <p:cNvSpPr txBox="1"/>
          <p:nvPr/>
        </p:nvSpPr>
        <p:spPr>
          <a:xfrm>
            <a:off x="1390020" y="3513943"/>
            <a:ext cx="17839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a:t>
            </a:r>
          </a:p>
        </p:txBody>
      </p:sp>
      <p:sp>
        <p:nvSpPr>
          <p:cNvPr id="7" name="s22-text-05"/>
          <p:cNvSpPr txBox="1"/>
          <p:nvPr/>
        </p:nvSpPr>
        <p:spPr>
          <a:xfrm>
            <a:off x="1390020" y="2878958"/>
            <a:ext cx="17839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2×</a:t>
            </a:r>
          </a:p>
        </p:txBody>
      </p:sp>
      <p:sp>
        <p:nvSpPr>
          <p:cNvPr id="8" name="s22-text-06"/>
          <p:cNvSpPr txBox="1"/>
          <p:nvPr/>
        </p:nvSpPr>
        <p:spPr>
          <a:xfrm>
            <a:off x="1390020" y="2243974"/>
            <a:ext cx="17839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3×</a:t>
            </a:r>
          </a:p>
        </p:txBody>
      </p:sp>
      <p:sp>
        <p:nvSpPr>
          <p:cNvPr id="9" name="s22-text-07"/>
          <p:cNvSpPr txBox="1"/>
          <p:nvPr/>
        </p:nvSpPr>
        <p:spPr>
          <a:xfrm>
            <a:off x="1549361" y="1672489"/>
            <a:ext cx="341750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mean T-gate compression on 1,500 benchmark circuits</a:t>
            </a:r>
          </a:p>
        </p:txBody>
      </p:sp>
      <p:sp>
        <p:nvSpPr>
          <p:cNvPr id="10" name="s22-text-08"/>
          <p:cNvSpPr txBox="1"/>
          <p:nvPr/>
        </p:nvSpPr>
        <p:spPr>
          <a:xfrm>
            <a:off x="2468073" y="1837585"/>
            <a:ext cx="533188"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3.31×</a:t>
            </a:r>
          </a:p>
        </p:txBody>
      </p:sp>
      <p:sp>
        <p:nvSpPr>
          <p:cNvPr id="11" name="s22-text-09"/>
          <p:cNvSpPr txBox="1"/>
          <p:nvPr/>
        </p:nvSpPr>
        <p:spPr>
          <a:xfrm>
            <a:off x="2463658" y="4326722"/>
            <a:ext cx="542018"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RubriQ</a:t>
            </a:r>
          </a:p>
        </p:txBody>
      </p:sp>
      <p:sp>
        <p:nvSpPr>
          <p:cNvPr id="12" name="s22-text-10"/>
          <p:cNvSpPr txBox="1"/>
          <p:nvPr/>
        </p:nvSpPr>
        <p:spPr>
          <a:xfrm>
            <a:off x="4002614" y="2637665"/>
            <a:ext cx="533188"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2.05×</a:t>
            </a:r>
          </a:p>
        </p:txBody>
      </p:sp>
      <p:sp>
        <p:nvSpPr>
          <p:cNvPr id="13" name="s22-text-11"/>
          <p:cNvSpPr txBox="1"/>
          <p:nvPr/>
        </p:nvSpPr>
        <p:spPr>
          <a:xfrm>
            <a:off x="3603616" y="4326722"/>
            <a:ext cx="1331185"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sparse-reward RL</a:t>
            </a:r>
          </a:p>
        </p:txBody>
      </p:sp>
      <p:sp>
        <p:nvSpPr>
          <p:cNvPr id="14" name="s22-box-01"/>
          <p:cNvSpPr/>
          <p:nvPr/>
        </p:nvSpPr>
        <p:spPr>
          <a:xfrm>
            <a:off x="5968851" y="1668718"/>
            <a:ext cx="2578036" cy="1356286"/>
          </a:xfrm>
          <a:prstGeom prst="roundRect">
            <a:avLst>
              <a:gd name="adj" fmla="val 112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22-text-12"/>
          <p:cNvSpPr txBox="1"/>
          <p:nvPr/>
        </p:nvSpPr>
        <p:spPr>
          <a:xfrm>
            <a:off x="6159346" y="1808415"/>
            <a:ext cx="2216095" cy="507987"/>
          </a:xfrm>
          <a:prstGeom prst="rect">
            <a:avLst/>
          </a:prstGeom>
          <a:noFill/>
        </p:spPr>
        <p:txBody>
          <a:bodyPr wrap="none" lIns="0" rIns="0" tIns="0" bIns="0" anchor="t">
            <a:noAutofit/>
          </a:bodyPr>
          <a:lstStyle/>
          <a:p>
            <a:pPr algn="l">
              <a:lnSpc>
                <a:spcPts val="4000"/>
              </a:lnSpc>
              <a:spcBef>
                <a:spcPts val="0"/>
              </a:spcBef>
              <a:spcAft>
                <a:spcPts val="0"/>
              </a:spcAft>
            </a:pPr>
            <a:r>
              <a:rPr sz="4000" b="1" i="0" spc="-160">
                <a:solidFill>
                  <a:srgbClr val="0B0B0F"/>
                </a:solidFill>
                <a:latin typeface="Arial"/>
              </a:rPr>
              <a:t>&lt;1%</a:t>
            </a:r>
          </a:p>
        </p:txBody>
      </p:sp>
      <p:sp>
        <p:nvSpPr>
          <p:cNvPr id="16" name="s22-text-13"/>
          <p:cNvSpPr txBox="1"/>
          <p:nvPr/>
        </p:nvSpPr>
        <p:spPr>
          <a:xfrm>
            <a:off x="6159346" y="2405300"/>
            <a:ext cx="2209745" cy="480008"/>
          </a:xfrm>
          <a:prstGeom prst="rect">
            <a:avLst/>
          </a:prstGeom>
          <a:noFill/>
        </p:spPr>
        <p:txBody>
          <a:bodyPr wrap="square" lIns="0" rIns="0" tIns="0" bIns="0" anchor="t">
            <a:noAutofit/>
          </a:bodyPr>
          <a:lstStyle/>
          <a:p>
            <a:pPr algn="l">
              <a:lnSpc>
                <a:spcPts val="1889"/>
              </a:lnSpc>
              <a:spcBef>
                <a:spcPts val="0"/>
              </a:spcBef>
              <a:spcAft>
                <a:spcPts val="0"/>
              </a:spcAft>
            </a:pPr>
            <a:r>
              <a:rPr sz="1400" b="0" i="0">
                <a:solidFill>
                  <a:srgbClr val="50505B"/>
                </a:solidFill>
                <a:latin typeface="Arial"/>
              </a:rPr>
              <a:t>constraint violations · 5× fewer than best baseline</a:t>
            </a:r>
          </a:p>
        </p:txBody>
      </p:sp>
      <p:sp>
        <p:nvSpPr>
          <p:cNvPr id="17" name="s22-box-02"/>
          <p:cNvSpPr/>
          <p:nvPr/>
        </p:nvSpPr>
        <p:spPr>
          <a:xfrm>
            <a:off x="8724682" y="1668718"/>
            <a:ext cx="2578036" cy="1356286"/>
          </a:xfrm>
          <a:prstGeom prst="roundRect">
            <a:avLst>
              <a:gd name="adj" fmla="val 112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22-text-14"/>
          <p:cNvSpPr txBox="1"/>
          <p:nvPr/>
        </p:nvSpPr>
        <p:spPr>
          <a:xfrm>
            <a:off x="8915177" y="2048419"/>
            <a:ext cx="2216095" cy="507987"/>
          </a:xfrm>
          <a:prstGeom prst="rect">
            <a:avLst/>
          </a:prstGeom>
          <a:noFill/>
        </p:spPr>
        <p:txBody>
          <a:bodyPr wrap="none" lIns="0" rIns="0" tIns="0" bIns="0" anchor="t">
            <a:noAutofit/>
          </a:bodyPr>
          <a:lstStyle/>
          <a:p>
            <a:pPr algn="l">
              <a:lnSpc>
                <a:spcPts val="4000"/>
              </a:lnSpc>
              <a:spcBef>
                <a:spcPts val="0"/>
              </a:spcBef>
              <a:spcAft>
                <a:spcPts val="0"/>
              </a:spcAft>
            </a:pPr>
            <a:r>
              <a:rPr sz="4000" b="1" i="0" spc="-160">
                <a:solidFill>
                  <a:srgbClr val="0B0B0F"/>
                </a:solidFill>
                <a:latin typeface="Arial"/>
              </a:rPr>
              <a:t>96%</a:t>
            </a:r>
          </a:p>
        </p:txBody>
      </p:sp>
      <p:sp>
        <p:nvSpPr>
          <p:cNvPr id="19" name="s22-text-15"/>
          <p:cNvSpPr txBox="1"/>
          <p:nvPr/>
        </p:nvSpPr>
        <p:spPr>
          <a:xfrm>
            <a:off x="8915177" y="2645304"/>
            <a:ext cx="2216095" cy="240004"/>
          </a:xfrm>
          <a:prstGeom prst="rect">
            <a:avLst/>
          </a:prstGeom>
          <a:noFill/>
        </p:spPr>
        <p:txBody>
          <a:bodyPr wrap="none" lIns="0" rIns="0" tIns="0" bIns="0" anchor="t">
            <a:noAutofit/>
          </a:bodyPr>
          <a:lstStyle/>
          <a:p>
            <a:pPr algn="l">
              <a:lnSpc>
                <a:spcPts val="1889"/>
              </a:lnSpc>
              <a:spcBef>
                <a:spcPts val="0"/>
              </a:spcBef>
              <a:spcAft>
                <a:spcPts val="0"/>
              </a:spcAft>
            </a:pPr>
            <a:r>
              <a:rPr sz="1400" b="0" i="0">
                <a:solidFill>
                  <a:srgbClr val="50505B"/>
                </a:solidFill>
                <a:latin typeface="Arial"/>
              </a:rPr>
              <a:t>correctness</a:t>
            </a:r>
          </a:p>
        </p:txBody>
      </p:sp>
      <p:sp>
        <p:nvSpPr>
          <p:cNvPr id="20" name="s22-box-03"/>
          <p:cNvSpPr/>
          <p:nvPr/>
        </p:nvSpPr>
        <p:spPr>
          <a:xfrm>
            <a:off x="5968851" y="3139302"/>
            <a:ext cx="2578036" cy="1356286"/>
          </a:xfrm>
          <a:prstGeom prst="roundRect">
            <a:avLst>
              <a:gd name="adj" fmla="val 112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22-text-16"/>
          <p:cNvSpPr txBox="1"/>
          <p:nvPr/>
        </p:nvSpPr>
        <p:spPr>
          <a:xfrm>
            <a:off x="6159346" y="3278998"/>
            <a:ext cx="2216095" cy="507987"/>
          </a:xfrm>
          <a:prstGeom prst="rect">
            <a:avLst/>
          </a:prstGeom>
          <a:noFill/>
        </p:spPr>
        <p:txBody>
          <a:bodyPr wrap="none" lIns="0" rIns="0" tIns="0" bIns="0" anchor="t">
            <a:noAutofit/>
          </a:bodyPr>
          <a:lstStyle/>
          <a:p>
            <a:pPr algn="l">
              <a:lnSpc>
                <a:spcPts val="4000"/>
              </a:lnSpc>
              <a:spcBef>
                <a:spcPts val="0"/>
              </a:spcBef>
              <a:spcAft>
                <a:spcPts val="0"/>
              </a:spcAft>
            </a:pPr>
            <a:r>
              <a:rPr sz="4000" b="1" i="0" spc="-160">
                <a:solidFill>
                  <a:srgbClr val="0B0B0F"/>
                </a:solidFill>
                <a:latin typeface="Arial"/>
              </a:rPr>
              <a:t>2–3×</a:t>
            </a:r>
          </a:p>
        </p:txBody>
      </p:sp>
      <p:sp>
        <p:nvSpPr>
          <p:cNvPr id="22" name="s22-text-17"/>
          <p:cNvSpPr txBox="1"/>
          <p:nvPr/>
        </p:nvSpPr>
        <p:spPr>
          <a:xfrm>
            <a:off x="6159346" y="3875884"/>
            <a:ext cx="2209745" cy="480008"/>
          </a:xfrm>
          <a:prstGeom prst="rect">
            <a:avLst/>
          </a:prstGeom>
          <a:noFill/>
        </p:spPr>
        <p:txBody>
          <a:bodyPr wrap="square" lIns="0" rIns="0" tIns="0" bIns="0" anchor="t">
            <a:noAutofit/>
          </a:bodyPr>
          <a:lstStyle/>
          <a:p>
            <a:pPr algn="l">
              <a:lnSpc>
                <a:spcPts val="1889"/>
              </a:lnSpc>
              <a:spcBef>
                <a:spcPts val="0"/>
              </a:spcBef>
              <a:spcAft>
                <a:spcPts val="0"/>
              </a:spcAft>
            </a:pPr>
            <a:r>
              <a:rPr sz="1400" b="0" i="0">
                <a:solidFill>
                  <a:srgbClr val="50505B"/>
                </a:solidFill>
                <a:latin typeface="Arial"/>
              </a:rPr>
              <a:t>faster convergence · fewer simulator calls</a:t>
            </a:r>
          </a:p>
        </p:txBody>
      </p:sp>
      <p:sp>
        <p:nvSpPr>
          <p:cNvPr id="23" name="s22-box-04"/>
          <p:cNvSpPr/>
          <p:nvPr/>
        </p:nvSpPr>
        <p:spPr>
          <a:xfrm>
            <a:off x="8724682" y="3139302"/>
            <a:ext cx="2578036" cy="1356286"/>
          </a:xfrm>
          <a:prstGeom prst="roundRect">
            <a:avLst>
              <a:gd name="adj" fmla="val 112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22-text-18"/>
          <p:cNvSpPr txBox="1"/>
          <p:nvPr/>
        </p:nvSpPr>
        <p:spPr>
          <a:xfrm>
            <a:off x="8915177" y="3278998"/>
            <a:ext cx="2216095" cy="507987"/>
          </a:xfrm>
          <a:prstGeom prst="rect">
            <a:avLst/>
          </a:prstGeom>
          <a:noFill/>
        </p:spPr>
        <p:txBody>
          <a:bodyPr wrap="none" lIns="0" rIns="0" tIns="0" bIns="0" anchor="t">
            <a:noAutofit/>
          </a:bodyPr>
          <a:lstStyle/>
          <a:p>
            <a:pPr algn="l">
              <a:lnSpc>
                <a:spcPts val="4000"/>
              </a:lnSpc>
              <a:spcBef>
                <a:spcPts val="0"/>
              </a:spcBef>
              <a:spcAft>
                <a:spcPts val="0"/>
              </a:spcAft>
            </a:pPr>
            <a:r>
              <a:rPr sz="4000" b="1" i="0" spc="-160">
                <a:solidFill>
                  <a:srgbClr val="0B0B0F"/>
                </a:solidFill>
                <a:latin typeface="Arial"/>
              </a:rPr>
              <a:t>85%</a:t>
            </a:r>
          </a:p>
        </p:txBody>
      </p:sp>
      <p:sp>
        <p:nvSpPr>
          <p:cNvPr id="25" name="s22-text-19"/>
          <p:cNvSpPr txBox="1"/>
          <p:nvPr/>
        </p:nvSpPr>
        <p:spPr>
          <a:xfrm>
            <a:off x="8915177" y="3875884"/>
            <a:ext cx="2209745" cy="480008"/>
          </a:xfrm>
          <a:prstGeom prst="rect">
            <a:avLst/>
          </a:prstGeom>
          <a:noFill/>
        </p:spPr>
        <p:txBody>
          <a:bodyPr wrap="square" lIns="0" rIns="0" tIns="0" bIns="0" anchor="t">
            <a:noAutofit/>
          </a:bodyPr>
          <a:lstStyle/>
          <a:p>
            <a:pPr algn="l">
              <a:lnSpc>
                <a:spcPts val="1889"/>
              </a:lnSpc>
              <a:spcBef>
                <a:spcPts val="0"/>
              </a:spcBef>
              <a:spcAft>
                <a:spcPts val="0"/>
              </a:spcAft>
            </a:pPr>
            <a:r>
              <a:rPr sz="1400" b="0" i="0">
                <a:solidFill>
                  <a:srgbClr val="50505B"/>
                </a:solidFill>
                <a:latin typeface="Arial"/>
              </a:rPr>
              <a:t>strong-scaling efficiency, 8 GPUs</a:t>
            </a:r>
          </a:p>
        </p:txBody>
      </p:sp>
      <p:sp>
        <p:nvSpPr>
          <p:cNvPr id="26" name="s22-text-20"/>
          <p:cNvSpPr txBox="1"/>
          <p:nvPr/>
        </p:nvSpPr>
        <p:spPr>
          <a:xfrm>
            <a:off x="888978" y="5900292"/>
            <a:ext cx="8908827" cy="195555"/>
          </a:xfrm>
          <a:prstGeom prst="rect">
            <a:avLst/>
          </a:prstGeom>
          <a:noFill/>
        </p:spPr>
        <p:txBody>
          <a:bodyPr wrap="none" lIns="0" rIns="0" tIns="0" bIns="0" anchor="t">
            <a:noAutofit/>
          </a:bodyPr>
          <a:lstStyle/>
          <a:p>
            <a:pPr algn="l">
              <a:lnSpc>
                <a:spcPts val="1540"/>
              </a:lnSpc>
              <a:spcBef>
                <a:spcPts val="0"/>
              </a:spcBef>
              <a:spcAft>
                <a:spcPts val="0"/>
              </a:spcAft>
            </a:pPr>
            <a:r>
              <a:rPr sz="1100" b="0" i="0">
                <a:solidFill>
                  <a:srgbClr val="7B7B86"/>
                </a:solidFill>
                <a:latin typeface="Arial"/>
              </a:rPr>
              <a:t>1,500 circuits: QFT, QPE, Hamiltonian simulation, data encoding. Validated on IBM Heron-3 and IonQ Forte.</a:t>
            </a:r>
          </a:p>
        </p:txBody>
      </p:sp>
      <p:sp>
        <p:nvSpPr>
          <p:cNvPr id="27" name="!!sec"/>
          <p:cNvSpPr txBox="1"/>
          <p:nvPr/>
        </p:nvSpPr>
        <p:spPr>
          <a:xfrm>
            <a:off x="888978" y="6362541"/>
            <a:ext cx="1645700"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Synthesis &amp; cost</a:t>
            </a:r>
          </a:p>
        </p:txBody>
      </p:sp>
      <p:pic>
        <p:nvPicPr>
          <p:cNvPr id="28" name="s22-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9"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22</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3524856"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Nonlinear waves · Cost model</a:t>
            </a:r>
          </a:p>
        </p:txBody>
      </p:sp>
      <p:sp>
        <p:nvSpPr>
          <p:cNvPr id="3" name="s23-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Where the quantum step loses</a:t>
            </a:r>
          </a:p>
        </p:txBody>
      </p:sp>
      <p:pic>
        <p:nvPicPr>
          <p:cNvPr id="4" name="s23-image-01" descr="diagram"/>
          <p:cNvPicPr>
            <a:picLocks noChangeAspect="1"/>
          </p:cNvPicPr>
          <p:nvPr/>
        </p:nvPicPr>
        <p:blipFill>
          <a:blip r:embed="rId2"/>
          <a:stretch>
            <a:fillRect/>
          </a:stretch>
        </p:blipFill>
        <p:spPr>
          <a:xfrm>
            <a:off x="863578" y="1517612"/>
            <a:ext cx="10470888" cy="3803555"/>
          </a:xfrm>
          <a:prstGeom prst="rect">
            <a:avLst/>
          </a:prstGeom>
        </p:spPr>
      </p:pic>
      <p:sp>
        <p:nvSpPr>
          <p:cNvPr id="5" name="s23-text-03"/>
          <p:cNvSpPr txBox="1"/>
          <p:nvPr/>
        </p:nvSpPr>
        <p:spPr>
          <a:xfrm>
            <a:off x="2518193" y="4822010"/>
            <a:ext cx="1745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32</a:t>
            </a:r>
          </a:p>
        </p:txBody>
      </p:sp>
      <p:sp>
        <p:nvSpPr>
          <p:cNvPr id="6" name="s23-text-04"/>
          <p:cNvSpPr txBox="1"/>
          <p:nvPr/>
        </p:nvSpPr>
        <p:spPr>
          <a:xfrm>
            <a:off x="3571067" y="4822010"/>
            <a:ext cx="1745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64</a:t>
            </a:r>
          </a:p>
        </p:txBody>
      </p:sp>
      <p:sp>
        <p:nvSpPr>
          <p:cNvPr id="7" name="s23-text-05"/>
          <p:cNvSpPr txBox="1"/>
          <p:nvPr/>
        </p:nvSpPr>
        <p:spPr>
          <a:xfrm>
            <a:off x="4585097" y="4822010"/>
            <a:ext cx="25220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128</a:t>
            </a:r>
          </a:p>
        </p:txBody>
      </p:sp>
      <p:sp>
        <p:nvSpPr>
          <p:cNvPr id="8" name="s23-text-06"/>
          <p:cNvSpPr txBox="1"/>
          <p:nvPr/>
        </p:nvSpPr>
        <p:spPr>
          <a:xfrm>
            <a:off x="5637971" y="4822010"/>
            <a:ext cx="25220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256</a:t>
            </a:r>
          </a:p>
        </p:txBody>
      </p:sp>
      <p:sp>
        <p:nvSpPr>
          <p:cNvPr id="9" name="s23-text-07"/>
          <p:cNvSpPr txBox="1"/>
          <p:nvPr/>
        </p:nvSpPr>
        <p:spPr>
          <a:xfrm>
            <a:off x="6690844" y="4822010"/>
            <a:ext cx="25220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512</a:t>
            </a:r>
          </a:p>
        </p:txBody>
      </p:sp>
      <p:sp>
        <p:nvSpPr>
          <p:cNvPr id="10" name="s23-text-08"/>
          <p:cNvSpPr txBox="1"/>
          <p:nvPr/>
        </p:nvSpPr>
        <p:spPr>
          <a:xfrm>
            <a:off x="7704856" y="4822010"/>
            <a:ext cx="32989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1024</a:t>
            </a:r>
          </a:p>
        </p:txBody>
      </p:sp>
      <p:sp>
        <p:nvSpPr>
          <p:cNvPr id="11" name="s23-text-09"/>
          <p:cNvSpPr txBox="1"/>
          <p:nvPr/>
        </p:nvSpPr>
        <p:spPr>
          <a:xfrm>
            <a:off x="8757723" y="4822010"/>
            <a:ext cx="32989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2048</a:t>
            </a:r>
          </a:p>
        </p:txBody>
      </p:sp>
      <p:sp>
        <p:nvSpPr>
          <p:cNvPr id="12" name="s23-text-10"/>
          <p:cNvSpPr txBox="1"/>
          <p:nvPr/>
        </p:nvSpPr>
        <p:spPr>
          <a:xfrm>
            <a:off x="9810590" y="4822010"/>
            <a:ext cx="32989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4096</a:t>
            </a:r>
          </a:p>
        </p:txBody>
      </p:sp>
      <p:sp>
        <p:nvSpPr>
          <p:cNvPr id="13" name="s23-text-11"/>
          <p:cNvSpPr txBox="1"/>
          <p:nvPr/>
        </p:nvSpPr>
        <p:spPr>
          <a:xfrm>
            <a:off x="1979563" y="4644214"/>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a:t>
            </a:r>
          </a:p>
        </p:txBody>
      </p:sp>
      <p:sp>
        <p:nvSpPr>
          <p:cNvPr id="14" name="s23-text-12"/>
          <p:cNvSpPr txBox="1"/>
          <p:nvPr/>
        </p:nvSpPr>
        <p:spPr>
          <a:xfrm>
            <a:off x="1855443" y="3712902"/>
            <a:ext cx="22095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10²</a:t>
            </a:r>
          </a:p>
        </p:txBody>
      </p:sp>
      <p:sp>
        <p:nvSpPr>
          <p:cNvPr id="15" name="s23-text-13"/>
          <p:cNvSpPr txBox="1"/>
          <p:nvPr/>
        </p:nvSpPr>
        <p:spPr>
          <a:xfrm>
            <a:off x="1841851" y="2781596"/>
            <a:ext cx="23454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10⁴</a:t>
            </a:r>
          </a:p>
        </p:txBody>
      </p:sp>
      <p:sp>
        <p:nvSpPr>
          <p:cNvPr id="16" name="s23-text-14"/>
          <p:cNvSpPr txBox="1"/>
          <p:nvPr/>
        </p:nvSpPr>
        <p:spPr>
          <a:xfrm>
            <a:off x="1844430" y="1850284"/>
            <a:ext cx="23196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10⁶</a:t>
            </a:r>
          </a:p>
        </p:txBody>
      </p:sp>
      <p:sp>
        <p:nvSpPr>
          <p:cNvPr id="17" name="s23-text-15"/>
          <p:cNvSpPr txBox="1"/>
          <p:nvPr/>
        </p:nvSpPr>
        <p:spPr>
          <a:xfrm>
            <a:off x="5750277" y="5101403"/>
            <a:ext cx="109118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grid points N = 2ⁿ</a:t>
            </a:r>
          </a:p>
        </p:txBody>
      </p:sp>
      <p:sp>
        <p:nvSpPr>
          <p:cNvPr id="18" name="s23-text-16"/>
          <p:cNvSpPr txBox="1"/>
          <p:nvPr/>
        </p:nvSpPr>
        <p:spPr>
          <a:xfrm>
            <a:off x="2057349" y="1659789"/>
            <a:ext cx="1928963"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relative cost per time step (log)</a:t>
            </a:r>
          </a:p>
        </p:txBody>
      </p:sp>
      <p:sp>
        <p:nvSpPr>
          <p:cNvPr id="19" name="s23-text-17"/>
          <p:cNvSpPr txBox="1"/>
          <p:nvPr/>
        </p:nvSpPr>
        <p:spPr>
          <a:xfrm>
            <a:off x="8013138" y="3878874"/>
            <a:ext cx="1844927"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classical update · O(N·d)</a:t>
            </a:r>
          </a:p>
        </p:txBody>
      </p:sp>
      <p:sp>
        <p:nvSpPr>
          <p:cNvPr id="20" name="s23-text-18"/>
          <p:cNvSpPr txBox="1"/>
          <p:nvPr/>
        </p:nvSpPr>
        <p:spPr>
          <a:xfrm>
            <a:off x="6907274" y="2478557"/>
            <a:ext cx="2950791"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quantum step · depth Θ(N) × shots S(N)</a:t>
            </a:r>
          </a:p>
        </p:txBody>
      </p:sp>
      <p:sp>
        <p:nvSpPr>
          <p:cNvPr id="21" name="s23-text-19"/>
          <p:cNvSpPr txBox="1"/>
          <p:nvPr/>
        </p:nvSpPr>
        <p:spPr>
          <a:xfrm>
            <a:off x="888978" y="5900292"/>
            <a:ext cx="8908827" cy="195555"/>
          </a:xfrm>
          <a:prstGeom prst="rect">
            <a:avLst/>
          </a:prstGeom>
          <a:noFill/>
        </p:spPr>
        <p:txBody>
          <a:bodyPr wrap="none" lIns="0" rIns="0" tIns="0" bIns="0" anchor="t">
            <a:noAutofit/>
          </a:bodyPr>
          <a:lstStyle/>
          <a:p>
            <a:pPr algn="l">
              <a:lnSpc>
                <a:spcPts val="1540"/>
              </a:lnSpc>
              <a:spcBef>
                <a:spcPts val="0"/>
              </a:spcBef>
              <a:spcAft>
                <a:spcPts val="0"/>
              </a:spcAft>
            </a:pPr>
            <a:r>
              <a:rPr sz="1100" b="0" i="0">
                <a:solidFill>
                  <a:srgbClr val="7B7B86"/>
                </a:solidFill>
                <a:latin typeface="Arial"/>
              </a:rPr>
              <a:t>Schematic from the cost model: depth Θ(N) × shots S(N) per step vs O(N·d) classical, normalized at N = 32. Not measured wall time.</a:t>
            </a:r>
          </a:p>
        </p:txBody>
      </p:sp>
      <p:sp>
        <p:nvSpPr>
          <p:cNvPr id="22" name="!!sec"/>
          <p:cNvSpPr txBox="1"/>
          <p:nvPr/>
        </p:nvSpPr>
        <p:spPr>
          <a:xfrm>
            <a:off x="888978" y="6362541"/>
            <a:ext cx="1645700"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Synthesis &amp; cost</a:t>
            </a:r>
          </a:p>
        </p:txBody>
      </p:sp>
      <p:pic>
        <p:nvPicPr>
          <p:cNvPr id="23" name="s23-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23</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1112214"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Takeaway</a:t>
            </a:r>
          </a:p>
        </p:txBody>
      </p:sp>
      <p:sp>
        <p:nvSpPr>
          <p:cNvPr id="3" name="s24-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Honest accounting</a:t>
            </a:r>
          </a:p>
        </p:txBody>
      </p:sp>
      <p:sp>
        <p:nvSpPr>
          <p:cNvPr id="4" name="s24-box-01"/>
          <p:cNvSpPr/>
          <p:nvPr/>
        </p:nvSpPr>
        <p:spPr>
          <a:xfrm>
            <a:off x="888978" y="180151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24-text-03"/>
          <p:cNvSpPr txBox="1"/>
          <p:nvPr/>
        </p:nvSpPr>
        <p:spPr>
          <a:xfrm>
            <a:off x="1219170" y="1659789"/>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1" i="0">
                <a:solidFill>
                  <a:srgbClr val="0B0B0F"/>
                </a:solidFill>
                <a:latin typeface="Arial"/>
              </a:rPr>
              <a:t>Grounded reward works:</a:t>
            </a:r>
            <a:r>
              <a:rPr sz="1800" b="0" i="0">
                <a:solidFill>
                  <a:srgbClr val="50505B"/>
                </a:solidFill>
                <a:latin typeface="Arial"/>
              </a:rPr>
              <a:t> rubric + GPU simulation → 3.31× T-gate compression, &lt;1% violations</a:t>
            </a:r>
          </a:p>
        </p:txBody>
      </p:sp>
      <p:sp>
        <p:nvSpPr>
          <p:cNvPr id="6" name="s24-box-02"/>
          <p:cNvSpPr/>
          <p:nvPr/>
        </p:nvSpPr>
        <p:spPr>
          <a:xfrm>
            <a:off x="888978" y="224977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24-text-04"/>
          <p:cNvSpPr txBox="1"/>
          <p:nvPr/>
        </p:nvSpPr>
        <p:spPr>
          <a:xfrm>
            <a:off x="1219170" y="2108048"/>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1" i="0">
                <a:solidFill>
                  <a:srgbClr val="0B0B0F"/>
                </a:solidFill>
                <a:latin typeface="Arial"/>
              </a:rPr>
              <a:t>HPC inside the loop:</a:t>
            </a:r>
            <a:r>
              <a:rPr sz="1800" b="0" i="0">
                <a:solidFill>
                  <a:srgbClr val="50505B"/>
                </a:solidFill>
                <a:latin typeface="Arial"/>
              </a:rPr>
              <a:t> CUDA-Q evaluation (Q-GEAR path) + DeepSpeed on Perlmutter</a:t>
            </a:r>
          </a:p>
        </p:txBody>
      </p:sp>
      <p:sp>
        <p:nvSpPr>
          <p:cNvPr id="8" name="s24-box-03"/>
          <p:cNvSpPr/>
          <p:nvPr/>
        </p:nvSpPr>
        <p:spPr>
          <a:xfrm>
            <a:off x="888978" y="2698036"/>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24-text-05"/>
          <p:cNvSpPr txBox="1"/>
          <p:nvPr/>
        </p:nvSpPr>
        <p:spPr>
          <a:xfrm>
            <a:off x="1219170" y="2556307"/>
            <a:ext cx="10096248" cy="617125"/>
          </a:xfrm>
          <a:prstGeom prst="rect">
            <a:avLst/>
          </a:prstGeom>
          <a:noFill/>
        </p:spPr>
        <p:txBody>
          <a:bodyPr wrap="square" lIns="0" rIns="0" tIns="0" bIns="0" anchor="t">
            <a:noAutofit/>
          </a:bodyPr>
          <a:lstStyle/>
          <a:p>
            <a:pPr algn="l">
              <a:lnSpc>
                <a:spcPts val="2430"/>
              </a:lnSpc>
              <a:spcBef>
                <a:spcPts val="0"/>
              </a:spcBef>
              <a:spcAft>
                <a:spcPts val="0"/>
              </a:spcAft>
            </a:pPr>
            <a:r>
              <a:rPr sz="1800" b="1" i="0">
                <a:solidFill>
                  <a:srgbClr val="0B0B0F"/>
                </a:solidFill>
                <a:latin typeface="Arial"/>
              </a:rPr>
              <a:t>Count everything:</a:t>
            </a:r>
            <a:r>
              <a:rPr sz="1800" b="0" i="0">
                <a:solidFill>
                  <a:srgbClr val="50505B"/>
                </a:solidFill>
                <a:latin typeface="Arial"/>
              </a:rPr>
              <a:t> measurement + reload every step → no end-to-end advantage for nonlinear waves</a:t>
            </a:r>
          </a:p>
        </p:txBody>
      </p:sp>
      <p:sp>
        <p:nvSpPr>
          <p:cNvPr id="10" name="s24-box-04"/>
          <p:cNvSpPr/>
          <p:nvPr/>
        </p:nvSpPr>
        <p:spPr>
          <a:xfrm>
            <a:off x="888978" y="345485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24-text-06"/>
          <p:cNvSpPr txBox="1"/>
          <p:nvPr/>
        </p:nvSpPr>
        <p:spPr>
          <a:xfrm>
            <a:off x="1219170" y="3313129"/>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0" i="0">
                <a:solidFill>
                  <a:srgbClr val="50505B"/>
                </a:solidFill>
                <a:latin typeface="Arial"/>
              </a:rPr>
              <a:t>Both stated as budgets: T-gates · shots × depth</a:t>
            </a:r>
          </a:p>
        </p:txBody>
      </p:sp>
      <p:sp>
        <p:nvSpPr>
          <p:cNvPr id="12"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24-text-07"/>
          <p:cNvSpPr txBox="1"/>
          <p:nvPr/>
        </p:nvSpPr>
        <p:spPr>
          <a:xfrm>
            <a:off x="5706821"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14" name="!!L1-t"/>
          <p:cNvSpPr txBox="1"/>
          <p:nvPr/>
        </p:nvSpPr>
        <p:spPr>
          <a:xfrm>
            <a:off x="5920235" y="6362541"/>
            <a:ext cx="67129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5"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24-text-09"/>
          <p:cNvSpPr txBox="1"/>
          <p:nvPr/>
        </p:nvSpPr>
        <p:spPr>
          <a:xfrm>
            <a:off x="6889975"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7" name="!!L2-t"/>
          <p:cNvSpPr txBox="1"/>
          <p:nvPr/>
        </p:nvSpPr>
        <p:spPr>
          <a:xfrm>
            <a:off x="7103389" y="6362541"/>
            <a:ext cx="67893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8"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24-text-11"/>
          <p:cNvSpPr txBox="1"/>
          <p:nvPr/>
        </p:nvSpPr>
        <p:spPr>
          <a:xfrm>
            <a:off x="8080768"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20" name="!!L3-t"/>
          <p:cNvSpPr txBox="1"/>
          <p:nvPr/>
        </p:nvSpPr>
        <p:spPr>
          <a:xfrm>
            <a:off x="8294182" y="6362541"/>
            <a:ext cx="920032"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21" name="!!L4-bg"/>
          <p:cNvSpPr/>
          <p:nvPr/>
        </p:nvSpPr>
        <p:spPr>
          <a:xfrm>
            <a:off x="9385661" y="6311742"/>
            <a:ext cx="1073123"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24-text-13"/>
          <p:cNvSpPr txBox="1"/>
          <p:nvPr/>
        </p:nvSpPr>
        <p:spPr>
          <a:xfrm>
            <a:off x="9512657"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B00000"/>
                </a:solidFill>
                <a:latin typeface="Courier New"/>
              </a:rPr>
              <a:t>04</a:t>
            </a:r>
          </a:p>
        </p:txBody>
      </p:sp>
      <p:sp>
        <p:nvSpPr>
          <p:cNvPr id="23" name="!!L4-t"/>
          <p:cNvSpPr txBox="1"/>
          <p:nvPr/>
        </p:nvSpPr>
        <p:spPr>
          <a:xfrm>
            <a:off x="9726072" y="6362541"/>
            <a:ext cx="624765"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0B0B0F"/>
                </a:solidFill>
                <a:latin typeface="Arial"/>
              </a:rPr>
              <a:t>Synthesis</a:t>
            </a:r>
          </a:p>
        </p:txBody>
      </p:sp>
      <p:sp>
        <p:nvSpPr>
          <p:cNvPr id="24"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24-text-15"/>
          <p:cNvSpPr txBox="1"/>
          <p:nvPr/>
        </p:nvSpPr>
        <p:spPr>
          <a:xfrm>
            <a:off x="10649279"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6" name="!!L5-t"/>
          <p:cNvSpPr txBox="1"/>
          <p:nvPr/>
        </p:nvSpPr>
        <p:spPr>
          <a:xfrm>
            <a:off x="10862693" y="6362541"/>
            <a:ext cx="33207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7" name="!!sec"/>
          <p:cNvSpPr txBox="1"/>
          <p:nvPr/>
        </p:nvSpPr>
        <p:spPr>
          <a:xfrm>
            <a:off x="888978" y="6362541"/>
            <a:ext cx="1645700"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Synthesis &amp; cost</a:t>
            </a:r>
          </a:p>
        </p:txBody>
      </p:sp>
      <p:pic>
        <p:nvPicPr>
          <p:cNvPr id="28" name="s24-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9"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24</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s25-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25-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s25-text-01"/>
          <p:cNvSpPr txBox="1"/>
          <p:nvPr/>
        </p:nvSpPr>
        <p:spPr>
          <a:xfrm>
            <a:off x="888978" y="2193275"/>
            <a:ext cx="10432789"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Layer 5 · Trust</a:t>
            </a:r>
          </a:p>
        </p:txBody>
      </p:sp>
      <p:sp>
        <p:nvSpPr>
          <p:cNvPr id="5" name="s25-text-02"/>
          <p:cNvSpPr txBox="1"/>
          <p:nvPr/>
        </p:nvSpPr>
        <p:spPr>
          <a:xfrm>
            <a:off x="888978" y="2504417"/>
            <a:ext cx="3576846" cy="826670"/>
          </a:xfrm>
          <a:prstGeom prst="rect">
            <a:avLst/>
          </a:prstGeom>
          <a:noFill/>
        </p:spPr>
        <p:txBody>
          <a:bodyPr wrap="none" lIns="0" rIns="0" tIns="0" bIns="0" anchor="t">
            <a:noAutofit/>
          </a:bodyPr>
          <a:lstStyle/>
          <a:p>
            <a:pPr algn="l">
              <a:lnSpc>
                <a:spcPts val="6509"/>
              </a:lnSpc>
              <a:spcBef>
                <a:spcPts val="0"/>
              </a:spcBef>
              <a:spcAft>
                <a:spcPts val="0"/>
              </a:spcAft>
            </a:pPr>
            <a:r>
              <a:rPr sz="6200" b="1" i="0" spc="-217">
                <a:solidFill>
                  <a:srgbClr val="CC0000"/>
                </a:solidFill>
                <a:latin typeface="Arial"/>
              </a:rPr>
              <a:t>QEC audit</a:t>
            </a:r>
          </a:p>
        </p:txBody>
      </p:sp>
      <p:sp>
        <p:nvSpPr>
          <p:cNvPr id="6" name="s25-text-03"/>
          <p:cNvSpPr txBox="1"/>
          <p:nvPr/>
        </p:nvSpPr>
        <p:spPr>
          <a:xfrm>
            <a:off x="888978" y="3483483"/>
            <a:ext cx="9537462" cy="1028674"/>
          </a:xfrm>
          <a:prstGeom prst="rect">
            <a:avLst/>
          </a:prstGeom>
          <a:noFill/>
        </p:spPr>
        <p:txBody>
          <a:bodyPr wrap="square" lIns="0" rIns="0" tIns="0" bIns="0" anchor="t">
            <a:noAutofit/>
          </a:bodyPr>
          <a:lstStyle/>
          <a:p>
            <a:pPr algn="l">
              <a:lnSpc>
                <a:spcPts val="2700"/>
              </a:lnSpc>
              <a:spcBef>
                <a:spcPts val="0"/>
              </a:spcBef>
              <a:spcAft>
                <a:spcPts val="0"/>
              </a:spcAft>
            </a:pPr>
            <a:r>
              <a:rPr sz="2000" b="0" i="0">
                <a:solidFill>
                  <a:srgbClr val="50505B"/>
                </a:solidFill>
                <a:latin typeface="Arial"/>
              </a:rPr>
              <a:t>Auditing structured randomness for quantum error correction under a bounded cloud fault model</a:t>
            </a:r>
          </a:p>
          <a:p>
            <a:pPr algn="l">
              <a:lnSpc>
                <a:spcPts val="2700"/>
              </a:lnSpc>
              <a:spcBef>
                <a:spcPts val="0"/>
              </a:spcBef>
              <a:spcAft>
                <a:spcPts val="0"/>
              </a:spcAft>
            </a:pPr>
            <a:r>
              <a:rPr sz="1200" b="0" i="0">
                <a:solidFill>
                  <a:srgbClr val="7B7B86"/>
                </a:solidFill>
                <a:latin typeface="Arial"/>
              </a:rPr>
              <a:t>Guo, Lawrence, Wang, Kuang, Pan · arXiv:2608.26600 · artifact: anonymous.4open.science/r/usenix_qec_hse</a:t>
            </a:r>
          </a:p>
        </p:txBody>
      </p:sp>
      <p:sp>
        <p:nvSpPr>
          <p:cNvPr id="7"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25-text-04"/>
          <p:cNvSpPr txBox="1"/>
          <p:nvPr/>
        </p:nvSpPr>
        <p:spPr>
          <a:xfrm>
            <a:off x="5706821"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9" name="!!L1-t"/>
          <p:cNvSpPr txBox="1"/>
          <p:nvPr/>
        </p:nvSpPr>
        <p:spPr>
          <a:xfrm>
            <a:off x="5920235" y="6362541"/>
            <a:ext cx="67129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0"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25-text-06"/>
          <p:cNvSpPr txBox="1"/>
          <p:nvPr/>
        </p:nvSpPr>
        <p:spPr>
          <a:xfrm>
            <a:off x="6889975"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2" name="!!L2-t"/>
          <p:cNvSpPr txBox="1"/>
          <p:nvPr/>
        </p:nvSpPr>
        <p:spPr>
          <a:xfrm>
            <a:off x="7103389" y="6362541"/>
            <a:ext cx="67893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3"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25-text-08"/>
          <p:cNvSpPr txBox="1"/>
          <p:nvPr/>
        </p:nvSpPr>
        <p:spPr>
          <a:xfrm>
            <a:off x="8080768"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15" name="!!L3-t"/>
          <p:cNvSpPr txBox="1"/>
          <p:nvPr/>
        </p:nvSpPr>
        <p:spPr>
          <a:xfrm>
            <a:off x="8294182" y="6362541"/>
            <a:ext cx="920032"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16"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25-text-10"/>
          <p:cNvSpPr txBox="1"/>
          <p:nvPr/>
        </p:nvSpPr>
        <p:spPr>
          <a:xfrm>
            <a:off x="9512657"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18" name="!!L4-t"/>
          <p:cNvSpPr txBox="1"/>
          <p:nvPr/>
        </p:nvSpPr>
        <p:spPr>
          <a:xfrm>
            <a:off x="9726072" y="6362541"/>
            <a:ext cx="624765"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19" name="!!L5-bg"/>
          <p:cNvSpPr/>
          <p:nvPr/>
        </p:nvSpPr>
        <p:spPr>
          <a:xfrm>
            <a:off x="10522282" y="6311742"/>
            <a:ext cx="780435"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25-text-12"/>
          <p:cNvSpPr txBox="1"/>
          <p:nvPr/>
        </p:nvSpPr>
        <p:spPr>
          <a:xfrm>
            <a:off x="10649279" y="6381590"/>
            <a:ext cx="156266" cy="126997"/>
          </a:xfrm>
          <a:prstGeom prst="rect">
            <a:avLst/>
          </a:prstGeom>
          <a:noFill/>
        </p:spPr>
        <p:txBody>
          <a:bodyPr wrap="none" lIns="0" rIns="0" tIns="0" bIns="0" anchor="t">
            <a:noAutofit/>
          </a:bodyPr>
          <a:lstStyle/>
          <a:p>
            <a:pPr algn="l">
              <a:lnSpc>
                <a:spcPts val="1080"/>
              </a:lnSpc>
              <a:spcBef>
                <a:spcPts val="0"/>
              </a:spcBef>
              <a:spcAft>
                <a:spcPts val="0"/>
              </a:spcAft>
            </a:pPr>
            <a:r>
              <a:rPr sz="900" b="0" i="0">
                <a:solidFill>
                  <a:srgbClr val="B00000"/>
                </a:solidFill>
                <a:latin typeface="Courier New"/>
              </a:rPr>
              <a:t>05</a:t>
            </a:r>
          </a:p>
        </p:txBody>
      </p:sp>
      <p:sp>
        <p:nvSpPr>
          <p:cNvPr id="21" name="!!L5-t"/>
          <p:cNvSpPr txBox="1"/>
          <p:nvPr/>
        </p:nvSpPr>
        <p:spPr>
          <a:xfrm>
            <a:off x="10862693" y="6362541"/>
            <a:ext cx="332077" cy="165096"/>
          </a:xfrm>
          <a:prstGeom prst="rect">
            <a:avLst/>
          </a:prstGeom>
          <a:noFill/>
        </p:spPr>
        <p:txBody>
          <a:bodyPr wrap="none" lIns="0" rIns="0" tIns="0" bIns="0" anchor="t">
            <a:noAutofit/>
          </a:bodyPr>
          <a:lstStyle/>
          <a:p>
            <a:pPr algn="l">
              <a:lnSpc>
                <a:spcPts val="1320"/>
              </a:lnSpc>
              <a:spcBef>
                <a:spcPts val="0"/>
              </a:spcBef>
              <a:spcAft>
                <a:spcPts val="0"/>
              </a:spcAft>
            </a:pPr>
            <a:r>
              <a:rPr sz="1100" b="0" i="0">
                <a:solidFill>
                  <a:srgbClr val="0B0B0F"/>
                </a:solidFill>
                <a:latin typeface="Arial"/>
              </a:rPr>
              <a:t>Trust</a:t>
            </a:r>
          </a:p>
        </p:txBody>
      </p:sp>
      <p:sp>
        <p:nvSpPr>
          <p:cNvPr id="22" name="!!sec"/>
          <p:cNvSpPr txBox="1"/>
          <p:nvPr/>
        </p:nvSpPr>
        <p:spPr>
          <a:xfrm>
            <a:off x="888978" y="6362541"/>
            <a:ext cx="1657011"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Trust · QEC audit</a:t>
            </a:r>
          </a:p>
        </p:txBody>
      </p:sp>
      <p:pic>
        <p:nvPicPr>
          <p:cNvPr id="23" name="s25-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25</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1595695"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Threat model</a:t>
            </a:r>
          </a:p>
        </p:txBody>
      </p:sp>
      <p:sp>
        <p:nvSpPr>
          <p:cNvPr id="3" name="s26-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A public encoder is a reusable target</a:t>
            </a:r>
          </a:p>
        </p:txBody>
      </p:sp>
      <p:pic>
        <p:nvPicPr>
          <p:cNvPr id="4" name="s26-image-01" descr="diagram"/>
          <p:cNvPicPr>
            <a:picLocks noChangeAspect="1"/>
          </p:cNvPicPr>
          <p:nvPr/>
        </p:nvPicPr>
        <p:blipFill>
          <a:blip r:embed="rId2"/>
          <a:stretch>
            <a:fillRect/>
          </a:stretch>
        </p:blipFill>
        <p:spPr>
          <a:xfrm>
            <a:off x="863578" y="1530312"/>
            <a:ext cx="10470888" cy="3359066"/>
          </a:xfrm>
          <a:prstGeom prst="rect">
            <a:avLst/>
          </a:prstGeom>
        </p:spPr>
      </p:pic>
      <p:sp>
        <p:nvSpPr>
          <p:cNvPr id="5" name="s26-text-03"/>
          <p:cNvSpPr txBox="1"/>
          <p:nvPr/>
        </p:nvSpPr>
        <p:spPr>
          <a:xfrm>
            <a:off x="1333467" y="1945532"/>
            <a:ext cx="1780436"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shared cloud QPU</a:t>
            </a:r>
          </a:p>
        </p:txBody>
      </p:sp>
      <p:sp>
        <p:nvSpPr>
          <p:cNvPr id="6" name="s26-text-04"/>
          <p:cNvSpPr txBox="1"/>
          <p:nvPr/>
        </p:nvSpPr>
        <p:spPr>
          <a:xfrm>
            <a:off x="1333467" y="2218575"/>
            <a:ext cx="4927179"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bounded cloud fault model: weight-one Pauli faults, all 3n locations enumerated</a:t>
            </a:r>
          </a:p>
        </p:txBody>
      </p:sp>
      <p:sp>
        <p:nvSpPr>
          <p:cNvPr id="7" name="s26-text-05"/>
          <p:cNvSpPr txBox="1"/>
          <p:nvPr/>
        </p:nvSpPr>
        <p:spPr>
          <a:xfrm>
            <a:off x="2329697" y="2758312"/>
            <a:ext cx="820519"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your job</a:t>
            </a:r>
          </a:p>
        </p:txBody>
      </p:sp>
      <p:sp>
        <p:nvSpPr>
          <p:cNvPr id="8" name="s26-text-06"/>
          <p:cNvSpPr txBox="1"/>
          <p:nvPr/>
        </p:nvSpPr>
        <p:spPr>
          <a:xfrm>
            <a:off x="1861595" y="3272649"/>
            <a:ext cx="1756723"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0B0B0F"/>
                </a:solidFill>
                <a:latin typeface="Courier New"/>
              </a:rPr>
              <a:t>[[n,k,d]] encoder E</a:t>
            </a:r>
          </a:p>
        </p:txBody>
      </p:sp>
      <p:sp>
        <p:nvSpPr>
          <p:cNvPr id="9" name="s26-text-07"/>
          <p:cNvSpPr txBox="1"/>
          <p:nvPr/>
        </p:nvSpPr>
        <p:spPr>
          <a:xfrm>
            <a:off x="2044054" y="3526642"/>
            <a:ext cx="1391806" cy="171446"/>
          </a:xfrm>
          <a:prstGeom prst="rect">
            <a:avLst/>
          </a:prstGeom>
          <a:noFill/>
        </p:spPr>
        <p:txBody>
          <a:bodyPr wrap="none" lIns="0" rIns="0" tIns="0" bIns="0" anchor="t">
            <a:noAutofit/>
          </a:bodyPr>
          <a:lstStyle/>
          <a:p>
            <a:pPr algn="l">
              <a:lnSpc>
                <a:spcPct val="100000"/>
              </a:lnSpc>
              <a:spcBef>
                <a:spcPts val="0"/>
              </a:spcBef>
              <a:spcAft>
                <a:spcPts val="0"/>
              </a:spcAft>
            </a:pPr>
            <a:r>
              <a:rPr sz="1200" b="0" i="0">
                <a:solidFill>
                  <a:srgbClr val="50505B"/>
                </a:solidFill>
                <a:latin typeface="Courier New"/>
              </a:rPr>
              <a:t>|ψ⟩ → E|ψ⟩|0…0⟩</a:t>
            </a:r>
          </a:p>
        </p:txBody>
      </p:sp>
      <p:sp>
        <p:nvSpPr>
          <p:cNvPr id="10" name="s26-text-08"/>
          <p:cNvSpPr txBox="1"/>
          <p:nvPr/>
        </p:nvSpPr>
        <p:spPr>
          <a:xfrm>
            <a:off x="1678392" y="3812385"/>
            <a:ext cx="2123129"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syndrome check → accept / reject</a:t>
            </a:r>
          </a:p>
        </p:txBody>
      </p:sp>
      <p:sp>
        <p:nvSpPr>
          <p:cNvPr id="11" name="s26-text-09"/>
          <p:cNvSpPr txBox="1"/>
          <p:nvPr/>
        </p:nvSpPr>
        <p:spPr>
          <a:xfrm>
            <a:off x="2361546" y="4034630"/>
            <a:ext cx="756822"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logical qubit</a:t>
            </a:r>
          </a:p>
        </p:txBody>
      </p:sp>
      <p:sp>
        <p:nvSpPr>
          <p:cNvPr id="12" name="s26-text-10"/>
          <p:cNvSpPr txBox="1"/>
          <p:nvPr/>
        </p:nvSpPr>
        <p:spPr>
          <a:xfrm>
            <a:off x="5003278" y="2859909"/>
            <a:ext cx="1951485"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co-tenant adversary</a:t>
            </a:r>
          </a:p>
        </p:txBody>
      </p:sp>
      <p:sp>
        <p:nvSpPr>
          <p:cNvPr id="13" name="s26-text-11"/>
          <p:cNvSpPr txBox="1"/>
          <p:nvPr/>
        </p:nvSpPr>
        <p:spPr>
          <a:xfrm>
            <a:off x="5289517" y="3145652"/>
            <a:ext cx="137771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same chip, same time</a:t>
            </a:r>
          </a:p>
        </p:txBody>
      </p:sp>
      <p:sp>
        <p:nvSpPr>
          <p:cNvPr id="14" name="s26-text-12"/>
          <p:cNvSpPr txBox="1"/>
          <p:nvPr/>
        </p:nvSpPr>
        <p:spPr>
          <a:xfrm>
            <a:off x="3784803" y="3564741"/>
            <a:ext cx="13392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injects one Pauli fault</a:t>
            </a:r>
          </a:p>
        </p:txBody>
      </p:sp>
      <p:sp>
        <p:nvSpPr>
          <p:cNvPr id="15" name="s26-text-13"/>
          <p:cNvSpPr txBox="1"/>
          <p:nvPr/>
        </p:nvSpPr>
        <p:spPr>
          <a:xfrm>
            <a:off x="5028082" y="3818735"/>
            <a:ext cx="1900587"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learns the public encoder,</a:t>
            </a:r>
          </a:p>
        </p:txBody>
      </p:sp>
      <p:sp>
        <p:nvSpPr>
          <p:cNvPr id="16" name="s26-text-14"/>
          <p:cNvSpPr txBox="1"/>
          <p:nvPr/>
        </p:nvSpPr>
        <p:spPr>
          <a:xfrm>
            <a:off x="4918051" y="4034630"/>
            <a:ext cx="2120649"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then chooses where to strike</a:t>
            </a:r>
          </a:p>
        </p:txBody>
      </p:sp>
      <p:sp>
        <p:nvSpPr>
          <p:cNvPr id="17" name="s26-text-15"/>
          <p:cNvSpPr txBox="1"/>
          <p:nvPr/>
        </p:nvSpPr>
        <p:spPr>
          <a:xfrm>
            <a:off x="8441568" y="2351922"/>
            <a:ext cx="1994942"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fixed public encoder</a:t>
            </a:r>
          </a:p>
        </p:txBody>
      </p:sp>
      <p:sp>
        <p:nvSpPr>
          <p:cNvPr id="18" name="s26-text-16"/>
          <p:cNvSpPr txBox="1"/>
          <p:nvPr/>
        </p:nvSpPr>
        <p:spPr>
          <a:xfrm>
            <a:off x="8307527" y="2637665"/>
            <a:ext cx="226302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same E every run → reusable target</a:t>
            </a:r>
          </a:p>
        </p:txBody>
      </p:sp>
      <p:sp>
        <p:nvSpPr>
          <p:cNvPr id="19" name="s26-text-17"/>
          <p:cNvSpPr txBox="1"/>
          <p:nvPr/>
        </p:nvSpPr>
        <p:spPr>
          <a:xfrm>
            <a:off x="8559884" y="3875884"/>
            <a:ext cx="175831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reseeded encoder</a:t>
            </a:r>
          </a:p>
        </p:txBody>
      </p:sp>
      <p:sp>
        <p:nvSpPr>
          <p:cNvPr id="20" name="s26-text-18"/>
          <p:cNvSpPr txBox="1"/>
          <p:nvPr/>
        </p:nvSpPr>
        <p:spPr>
          <a:xfrm>
            <a:off x="8183159" y="4161626"/>
            <a:ext cx="2511759"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fresh seed per run → fault map changes</a:t>
            </a:r>
          </a:p>
        </p:txBody>
      </p:sp>
      <p:sp>
        <p:nvSpPr>
          <p:cNvPr id="21" name="s26-text-19"/>
          <p:cNvSpPr txBox="1"/>
          <p:nvPr/>
        </p:nvSpPr>
        <p:spPr>
          <a:xfrm>
            <a:off x="8183259" y="2891658"/>
            <a:ext cx="251156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adversary picks the fault after learning E</a:t>
            </a:r>
          </a:p>
        </p:txBody>
      </p:sp>
      <p:sp>
        <p:nvSpPr>
          <p:cNvPr id="22" name="s26-text-20"/>
          <p:cNvSpPr txBox="1"/>
          <p:nvPr/>
        </p:nvSpPr>
        <p:spPr>
          <a:xfrm>
            <a:off x="8066680" y="4415620"/>
            <a:ext cx="2744719"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fault must be fixed before the seed is known</a:t>
            </a:r>
          </a:p>
        </p:txBody>
      </p:sp>
      <p:sp>
        <p:nvSpPr>
          <p:cNvPr id="23" name="!!sec"/>
          <p:cNvSpPr txBox="1"/>
          <p:nvPr/>
        </p:nvSpPr>
        <p:spPr>
          <a:xfrm>
            <a:off x="888978" y="6362541"/>
            <a:ext cx="1657011"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Trust · QEC audit</a:t>
            </a:r>
          </a:p>
        </p:txBody>
      </p:sp>
      <p:pic>
        <p:nvPicPr>
          <p:cNvPr id="24" name="s26-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5"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26</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939181"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Results</a:t>
            </a:r>
          </a:p>
        </p:txBody>
      </p:sp>
      <p:sp>
        <p:nvSpPr>
          <p:cNvPr id="3" name="s27-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Reseeding removes 86.7% of the harm</a:t>
            </a:r>
          </a:p>
        </p:txBody>
      </p:sp>
      <p:pic>
        <p:nvPicPr>
          <p:cNvPr id="4" name="s27-image-01" descr="diagram"/>
          <p:cNvPicPr>
            <a:picLocks noChangeAspect="1"/>
          </p:cNvPicPr>
          <p:nvPr/>
        </p:nvPicPr>
        <p:blipFill>
          <a:blip r:embed="rId2"/>
          <a:stretch>
            <a:fillRect/>
          </a:stretch>
        </p:blipFill>
        <p:spPr>
          <a:xfrm>
            <a:off x="863578" y="1739857"/>
            <a:ext cx="6660983" cy="3359066"/>
          </a:xfrm>
          <a:prstGeom prst="rect">
            <a:avLst/>
          </a:prstGeom>
        </p:spPr>
      </p:pic>
      <p:sp>
        <p:nvSpPr>
          <p:cNvPr id="5" name="!!qe-t-0"/>
          <p:cNvSpPr txBox="1"/>
          <p:nvPr/>
        </p:nvSpPr>
        <p:spPr>
          <a:xfrm>
            <a:off x="1531403" y="4484079"/>
            <a:ext cx="29100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0.00</a:t>
            </a:r>
          </a:p>
        </p:txBody>
      </p:sp>
      <p:sp>
        <p:nvSpPr>
          <p:cNvPr id="6" name="!!qe-t-5"/>
          <p:cNvSpPr txBox="1"/>
          <p:nvPr/>
        </p:nvSpPr>
        <p:spPr>
          <a:xfrm>
            <a:off x="1531403" y="3813815"/>
            <a:ext cx="29100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0.05</a:t>
            </a:r>
          </a:p>
        </p:txBody>
      </p:sp>
      <p:sp>
        <p:nvSpPr>
          <p:cNvPr id="7" name="!!qe-t-10"/>
          <p:cNvSpPr txBox="1"/>
          <p:nvPr/>
        </p:nvSpPr>
        <p:spPr>
          <a:xfrm>
            <a:off x="1531403" y="3143558"/>
            <a:ext cx="29100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0.10</a:t>
            </a:r>
          </a:p>
        </p:txBody>
      </p:sp>
      <p:sp>
        <p:nvSpPr>
          <p:cNvPr id="8" name="!!qe-t-15"/>
          <p:cNvSpPr txBox="1"/>
          <p:nvPr/>
        </p:nvSpPr>
        <p:spPr>
          <a:xfrm>
            <a:off x="1531403" y="2473294"/>
            <a:ext cx="29100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0.15</a:t>
            </a:r>
          </a:p>
        </p:txBody>
      </p:sp>
      <p:sp>
        <p:nvSpPr>
          <p:cNvPr id="9" name="!!qe-ylab"/>
          <p:cNvSpPr txBox="1"/>
          <p:nvPr/>
        </p:nvSpPr>
        <p:spPr>
          <a:xfrm>
            <a:off x="1142971" y="1791747"/>
            <a:ext cx="4631713"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mean accepted logical disturbance · [[5,1,3]] code · weight-one Pauli faults</a:t>
            </a:r>
          </a:p>
        </p:txBody>
      </p:sp>
      <p:sp>
        <p:nvSpPr>
          <p:cNvPr id="10" name="!!qe-0-v"/>
          <p:cNvSpPr txBox="1"/>
          <p:nvPr/>
        </p:nvSpPr>
        <p:spPr>
          <a:xfrm>
            <a:off x="3206422" y="2263749"/>
            <a:ext cx="527533"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0.150</a:t>
            </a:r>
          </a:p>
        </p:txBody>
      </p:sp>
      <p:sp>
        <p:nvSpPr>
          <p:cNvPr id="11" name="!!qe-0-n"/>
          <p:cNvSpPr txBox="1"/>
          <p:nvPr/>
        </p:nvSpPr>
        <p:spPr>
          <a:xfrm>
            <a:off x="2726413" y="4661875"/>
            <a:ext cx="1489670"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fixed public encoder</a:t>
            </a:r>
          </a:p>
        </p:txBody>
      </p:sp>
      <p:sp>
        <p:nvSpPr>
          <p:cNvPr id="12" name="!!qe-0-s"/>
          <p:cNvSpPr txBox="1"/>
          <p:nvPr/>
        </p:nvSpPr>
        <p:spPr>
          <a:xfrm>
            <a:off x="2590884" y="4890469"/>
            <a:ext cx="175860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fault chosen after learning E</a:t>
            </a:r>
          </a:p>
        </p:txBody>
      </p:sp>
      <p:sp>
        <p:nvSpPr>
          <p:cNvPr id="13" name="!!qe-1-v"/>
          <p:cNvSpPr txBox="1"/>
          <p:nvPr/>
        </p:nvSpPr>
        <p:spPr>
          <a:xfrm>
            <a:off x="5428866" y="4006432"/>
            <a:ext cx="527533"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0.020</a:t>
            </a:r>
          </a:p>
        </p:txBody>
      </p:sp>
      <p:sp>
        <p:nvSpPr>
          <p:cNvPr id="14" name="!!qe-1-n"/>
          <p:cNvSpPr txBox="1"/>
          <p:nvPr/>
        </p:nvSpPr>
        <p:spPr>
          <a:xfrm>
            <a:off x="5017615" y="4661875"/>
            <a:ext cx="1352144"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reseeded encoder</a:t>
            </a:r>
          </a:p>
        </p:txBody>
      </p:sp>
      <p:sp>
        <p:nvSpPr>
          <p:cNvPr id="15" name="!!qe-1-s"/>
          <p:cNvSpPr txBox="1"/>
          <p:nvPr/>
        </p:nvSpPr>
        <p:spPr>
          <a:xfrm>
            <a:off x="4879307" y="4890469"/>
            <a:ext cx="162665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fault fixed before the seed</a:t>
            </a:r>
          </a:p>
        </p:txBody>
      </p:sp>
      <p:sp>
        <p:nvSpPr>
          <p:cNvPr id="16" name="s27-text-14"/>
          <p:cNvSpPr txBox="1"/>
          <p:nvPr/>
        </p:nvSpPr>
        <p:spPr>
          <a:xfrm>
            <a:off x="4110927" y="3099814"/>
            <a:ext cx="940967" cy="311142"/>
          </a:xfrm>
          <a:prstGeom prst="rect">
            <a:avLst/>
          </a:prstGeom>
          <a:noFill/>
        </p:spPr>
        <p:txBody>
          <a:bodyPr wrap="none" lIns="0" rIns="0" tIns="0" bIns="0" anchor="t">
            <a:noAutofit/>
          </a:bodyPr>
          <a:lstStyle/>
          <a:p>
            <a:pPr algn="l">
              <a:lnSpc>
                <a:spcPct val="100000"/>
              </a:lnSpc>
              <a:spcBef>
                <a:spcPts val="0"/>
              </a:spcBef>
              <a:spcAft>
                <a:spcPts val="0"/>
              </a:spcAft>
            </a:pPr>
            <a:r>
              <a:rPr sz="2200" b="1" i="0" spc="-44">
                <a:solidFill>
                  <a:srgbClr val="B00000"/>
                </a:solidFill>
                <a:latin typeface="Arial"/>
              </a:rPr>
              <a:t>−86.7%</a:t>
            </a:r>
          </a:p>
        </p:txBody>
      </p:sp>
      <p:sp>
        <p:nvSpPr>
          <p:cNvPr id="17" name="s27-box-01"/>
          <p:cNvSpPr/>
          <p:nvPr/>
        </p:nvSpPr>
        <p:spPr>
          <a:xfrm>
            <a:off x="7746806" y="1558192"/>
            <a:ext cx="3555911" cy="1163212"/>
          </a:xfrm>
          <a:prstGeom prst="roundRect">
            <a:avLst>
              <a:gd name="adj" fmla="val 1310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27-text-15"/>
          <p:cNvSpPr txBox="1"/>
          <p:nvPr/>
        </p:nvSpPr>
        <p:spPr>
          <a:xfrm>
            <a:off x="7937302" y="1697888"/>
            <a:ext cx="3193970"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RESULT</a:t>
            </a:r>
          </a:p>
        </p:txBody>
      </p:sp>
      <p:sp>
        <p:nvSpPr>
          <p:cNvPr id="19" name="s27-text-16"/>
          <p:cNvSpPr txBox="1"/>
          <p:nvPr/>
        </p:nvSpPr>
        <p:spPr>
          <a:xfrm>
            <a:off x="7937302" y="1901083"/>
            <a:ext cx="3193970" cy="215895"/>
          </a:xfrm>
          <a:prstGeom prst="rect">
            <a:avLst/>
          </a:prstGeom>
          <a:noFill/>
        </p:spPr>
        <p:txBody>
          <a:bodyPr wrap="none" lIns="0" rIns="0" tIns="0" bIns="0" anchor="t">
            <a:noAutofit/>
          </a:bodyPr>
          <a:lstStyle/>
          <a:p>
            <a:pPr algn="l">
              <a:lnSpc>
                <a:spcPts val="1800"/>
              </a:lnSpc>
              <a:spcBef>
                <a:spcPts val="0"/>
              </a:spcBef>
              <a:spcAft>
                <a:spcPts val="0"/>
              </a:spcAft>
            </a:pPr>
            <a:r>
              <a:rPr sz="1500" b="1" i="0" spc="-22">
                <a:solidFill>
                  <a:srgbClr val="0B0B0F"/>
                </a:solidFill>
                <a:latin typeface="Arial"/>
              </a:rPr>
              <a:t>0.150 → 0.020</a:t>
            </a:r>
          </a:p>
        </p:txBody>
      </p:sp>
      <p:sp>
        <p:nvSpPr>
          <p:cNvPr id="20" name="s27-text-17"/>
          <p:cNvSpPr txBox="1"/>
          <p:nvPr/>
        </p:nvSpPr>
        <p:spPr>
          <a:xfrm>
            <a:off x="7937302" y="2155077"/>
            <a:ext cx="3187620" cy="426630"/>
          </a:xfrm>
          <a:prstGeom prst="rect">
            <a:avLst/>
          </a:prstGeom>
          <a:noFill/>
        </p:spPr>
        <p:txBody>
          <a:bodyPr wrap="square" lIns="0" rIns="0" tIns="0" bIns="0" anchor="t">
            <a:noAutofit/>
          </a:bodyPr>
          <a:lstStyle/>
          <a:p>
            <a:pPr algn="l">
              <a:lnSpc>
                <a:spcPts val="1680"/>
              </a:lnSpc>
              <a:spcBef>
                <a:spcPts val="0"/>
              </a:spcBef>
              <a:spcAft>
                <a:spcPts val="0"/>
              </a:spcAft>
            </a:pPr>
            <a:r>
              <a:rPr sz="1200" b="0" i="0">
                <a:solidFill>
                  <a:srgbClr val="50505B"/>
                </a:solidFill>
                <a:latin typeface="Arial"/>
              </a:rPr>
              <a:t>the pre-chosen fault is now caught by syndrome rejection</a:t>
            </a:r>
          </a:p>
        </p:txBody>
      </p:sp>
      <p:sp>
        <p:nvSpPr>
          <p:cNvPr id="21" name="s27-box-02"/>
          <p:cNvSpPr/>
          <p:nvPr/>
        </p:nvSpPr>
        <p:spPr>
          <a:xfrm>
            <a:off x="7746806" y="2835700"/>
            <a:ext cx="3555911" cy="1163212"/>
          </a:xfrm>
          <a:prstGeom prst="roundRect">
            <a:avLst>
              <a:gd name="adj" fmla="val 1310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27-text-18"/>
          <p:cNvSpPr txBox="1"/>
          <p:nvPr/>
        </p:nvSpPr>
        <p:spPr>
          <a:xfrm>
            <a:off x="7937302" y="2975397"/>
            <a:ext cx="3193970"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VALID ENCODERS</a:t>
            </a:r>
          </a:p>
        </p:txBody>
      </p:sp>
      <p:sp>
        <p:nvSpPr>
          <p:cNvPr id="23" name="s27-text-19"/>
          <p:cNvSpPr txBox="1"/>
          <p:nvPr/>
        </p:nvSpPr>
        <p:spPr>
          <a:xfrm>
            <a:off x="7937302" y="3178592"/>
            <a:ext cx="3193970" cy="215895"/>
          </a:xfrm>
          <a:prstGeom prst="rect">
            <a:avLst/>
          </a:prstGeom>
          <a:noFill/>
        </p:spPr>
        <p:txBody>
          <a:bodyPr wrap="none" lIns="0" rIns="0" tIns="0" bIns="0" anchor="t">
            <a:noAutofit/>
          </a:bodyPr>
          <a:lstStyle/>
          <a:p>
            <a:pPr algn="l">
              <a:lnSpc>
                <a:spcPts val="1800"/>
              </a:lnSpc>
              <a:spcBef>
                <a:spcPts val="0"/>
              </a:spcBef>
              <a:spcAft>
                <a:spcPts val="0"/>
              </a:spcAft>
            </a:pPr>
            <a:r>
              <a:rPr sz="1500" b="1" i="0" spc="-22">
                <a:solidFill>
                  <a:srgbClr val="0B0B0F"/>
                </a:solidFill>
                <a:latin typeface="Arial"/>
              </a:rPr>
              <a:t>18.5%</a:t>
            </a:r>
          </a:p>
        </p:txBody>
      </p:sp>
      <p:sp>
        <p:nvSpPr>
          <p:cNvPr id="24" name="s27-text-20"/>
          <p:cNvSpPr txBox="1"/>
          <p:nvPr/>
        </p:nvSpPr>
        <p:spPr>
          <a:xfrm>
            <a:off x="7937302" y="3432585"/>
            <a:ext cx="3187620" cy="426630"/>
          </a:xfrm>
          <a:prstGeom prst="rect">
            <a:avLst/>
          </a:prstGeom>
          <a:noFill/>
        </p:spPr>
        <p:txBody>
          <a:bodyPr wrap="square" lIns="0" rIns="0" tIns="0" bIns="0" anchor="t">
            <a:noAutofit/>
          </a:bodyPr>
          <a:lstStyle/>
          <a:p>
            <a:pPr algn="l">
              <a:lnSpc>
                <a:spcPts val="1680"/>
              </a:lnSpc>
              <a:spcBef>
                <a:spcPts val="0"/>
              </a:spcBef>
              <a:spcAft>
                <a:spcPts val="0"/>
              </a:spcAft>
            </a:pPr>
            <a:r>
              <a:rPr sz="1200" b="0" i="0">
                <a:solidFill>
                  <a:srgbClr val="50505B"/>
                </a:solidFill>
                <a:latin typeface="Arial"/>
              </a:rPr>
              <a:t>of sampled HSE circuits meet the exact QEC conditions</a:t>
            </a:r>
          </a:p>
        </p:txBody>
      </p:sp>
      <p:sp>
        <p:nvSpPr>
          <p:cNvPr id="25" name="s27-box-03"/>
          <p:cNvSpPr/>
          <p:nvPr/>
        </p:nvSpPr>
        <p:spPr>
          <a:xfrm>
            <a:off x="7746806" y="4113209"/>
            <a:ext cx="3555911" cy="1163212"/>
          </a:xfrm>
          <a:prstGeom prst="roundRect">
            <a:avLst>
              <a:gd name="adj" fmla="val 1310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27-text-21"/>
          <p:cNvSpPr txBox="1"/>
          <p:nvPr/>
        </p:nvSpPr>
        <p:spPr>
          <a:xfrm>
            <a:off x="7937302" y="4252905"/>
            <a:ext cx="3193970"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SCALING</a:t>
            </a:r>
          </a:p>
        </p:txBody>
      </p:sp>
      <p:sp>
        <p:nvSpPr>
          <p:cNvPr id="27" name="s27-text-22"/>
          <p:cNvSpPr txBox="1"/>
          <p:nvPr/>
        </p:nvSpPr>
        <p:spPr>
          <a:xfrm>
            <a:off x="7937302" y="4456100"/>
            <a:ext cx="3193970" cy="215895"/>
          </a:xfrm>
          <a:prstGeom prst="rect">
            <a:avLst/>
          </a:prstGeom>
          <a:noFill/>
        </p:spPr>
        <p:txBody>
          <a:bodyPr wrap="none" lIns="0" rIns="0" tIns="0" bIns="0" anchor="t">
            <a:noAutofit/>
          </a:bodyPr>
          <a:lstStyle/>
          <a:p>
            <a:pPr algn="l">
              <a:lnSpc>
                <a:spcPts val="1800"/>
              </a:lnSpc>
              <a:spcBef>
                <a:spcPts val="0"/>
              </a:spcBef>
              <a:spcAft>
                <a:spcPts val="0"/>
              </a:spcAft>
            </a:pPr>
            <a:r>
              <a:rPr sz="1500" b="1" i="0" spc="-22">
                <a:solidFill>
                  <a:srgbClr val="0B0B0F"/>
                </a:solidFill>
                <a:latin typeface="Arial"/>
              </a:rPr>
              <a:t>Stim · n = 17</a:t>
            </a:r>
          </a:p>
        </p:txBody>
      </p:sp>
      <p:sp>
        <p:nvSpPr>
          <p:cNvPr id="28" name="s27-text-23"/>
          <p:cNvSpPr txBox="1"/>
          <p:nvPr/>
        </p:nvSpPr>
        <p:spPr>
          <a:xfrm>
            <a:off x="7937302" y="4710094"/>
            <a:ext cx="3187620" cy="426630"/>
          </a:xfrm>
          <a:prstGeom prst="rect">
            <a:avLst/>
          </a:prstGeom>
          <a:noFill/>
        </p:spPr>
        <p:txBody>
          <a:bodyPr wrap="square" lIns="0" rIns="0" tIns="0" bIns="0" anchor="t">
            <a:noAutofit/>
          </a:bodyPr>
          <a:lstStyle/>
          <a:p>
            <a:pPr algn="l">
              <a:lnSpc>
                <a:spcPts val="1680"/>
              </a:lnSpc>
              <a:spcBef>
                <a:spcPts val="0"/>
              </a:spcBef>
              <a:spcAft>
                <a:spcPts val="0"/>
              </a:spcAft>
            </a:pPr>
            <a:r>
              <a:rPr sz="1200" b="0" i="0">
                <a:solidFill>
                  <a:srgbClr val="50505B"/>
                </a:solidFill>
                <a:latin typeface="Arial"/>
              </a:rPr>
              <a:t>gate-level, p₁ = 10⁻³, p₂ = 10⁻² · trend confirmed</a:t>
            </a:r>
          </a:p>
        </p:txBody>
      </p:sp>
      <p:sp>
        <p:nvSpPr>
          <p:cNvPr id="29" name="!!sec"/>
          <p:cNvSpPr txBox="1"/>
          <p:nvPr/>
        </p:nvSpPr>
        <p:spPr>
          <a:xfrm>
            <a:off x="888978" y="6362541"/>
            <a:ext cx="1657011"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Trust · QEC audit</a:t>
            </a:r>
          </a:p>
        </p:txBody>
      </p:sp>
      <p:pic>
        <p:nvPicPr>
          <p:cNvPr id="30" name="s27-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31"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27</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933030"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Closing</a:t>
            </a:r>
          </a:p>
        </p:txBody>
      </p:sp>
      <p:sp>
        <p:nvSpPr>
          <p:cNvPr id="3" name="s28-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Five questions, five answers</a:t>
            </a:r>
          </a:p>
        </p:txBody>
      </p:sp>
      <p:sp>
        <p:nvSpPr>
          <p:cNvPr id="4" name="!!L1-bg"/>
          <p:cNvSpPr/>
          <p:nvPr/>
        </p:nvSpPr>
        <p:spPr>
          <a:xfrm>
            <a:off x="888978" y="1596291"/>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28-text-03"/>
          <p:cNvSpPr txBox="1"/>
          <p:nvPr/>
        </p:nvSpPr>
        <p:spPr>
          <a:xfrm>
            <a:off x="1104872" y="1812185"/>
            <a:ext cx="154807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01 · Scale</a:t>
            </a:r>
          </a:p>
        </p:txBody>
      </p:sp>
      <p:sp>
        <p:nvSpPr>
          <p:cNvPr id="6" name="!!L1-t"/>
          <p:cNvSpPr txBox="1"/>
          <p:nvPr/>
        </p:nvSpPr>
        <p:spPr>
          <a:xfrm>
            <a:off x="1104872" y="2116978"/>
            <a:ext cx="1279295" cy="285743"/>
          </a:xfrm>
          <a:prstGeom prst="rect">
            <a:avLst/>
          </a:prstGeom>
          <a:noFill/>
        </p:spPr>
        <p:txBody>
          <a:bodyPr wrap="none" lIns="0" rIns="0" tIns="0" bIns="0" anchor="t">
            <a:noAutofit/>
          </a:bodyPr>
          <a:lstStyle/>
          <a:p>
            <a:pPr algn="l">
              <a:lnSpc>
                <a:spcPts val="2400"/>
              </a:lnSpc>
              <a:spcBef>
                <a:spcPts val="0"/>
              </a:spcBef>
              <a:spcAft>
                <a:spcPts val="0"/>
              </a:spcAft>
            </a:pPr>
            <a:r>
              <a:rPr sz="2000" b="1" i="0" spc="-30">
                <a:solidFill>
                  <a:srgbClr val="0B0B0F"/>
                </a:solidFill>
                <a:latin typeface="Arial"/>
              </a:rPr>
              <a:t>Simulation</a:t>
            </a:r>
          </a:p>
        </p:txBody>
      </p:sp>
      <p:sp>
        <p:nvSpPr>
          <p:cNvPr id="7" name="s28-text-05"/>
          <p:cNvSpPr txBox="1"/>
          <p:nvPr/>
        </p:nvSpPr>
        <p:spPr>
          <a:xfrm>
            <a:off x="1104872" y="3963690"/>
            <a:ext cx="1541722" cy="693224"/>
          </a:xfrm>
          <a:prstGeom prst="rect">
            <a:avLst/>
          </a:prstGeom>
          <a:noFill/>
        </p:spPr>
        <p:txBody>
          <a:bodyPr wrap="square" lIns="0" rIns="0" tIns="0" bIns="0" anchor="t">
            <a:noAutofit/>
          </a:bodyPr>
          <a:lstStyle/>
          <a:p>
            <a:pPr algn="l">
              <a:lnSpc>
                <a:spcPts val="1820"/>
              </a:lnSpc>
              <a:spcBef>
                <a:spcPts val="0"/>
              </a:spcBef>
              <a:spcAft>
                <a:spcPts val="0"/>
              </a:spcAft>
            </a:pPr>
            <a:r>
              <a:rPr sz="1300" b="1" i="0">
                <a:solidFill>
                  <a:srgbClr val="50505B"/>
                </a:solidFill>
                <a:latin typeface="Arial"/>
              </a:rPr>
              <a:t>42 qubits</a:t>
            </a:r>
            <a:r>
              <a:rPr sz="1300" b="0" i="0">
                <a:solidFill>
                  <a:srgbClr val="50505B"/>
                </a:solidFill>
                <a:latin typeface="Arial"/>
              </a:rPr>
              <a:t> on 1,024 A100s · ≈400× · Qiskit unchanged</a:t>
            </a:r>
          </a:p>
        </p:txBody>
      </p:sp>
      <p:sp>
        <p:nvSpPr>
          <p:cNvPr id="8" name="!!L2-bg"/>
          <p:cNvSpPr/>
          <p:nvPr/>
        </p:nvSpPr>
        <p:spPr>
          <a:xfrm>
            <a:off x="3002185" y="1596291"/>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28-text-06"/>
          <p:cNvSpPr txBox="1"/>
          <p:nvPr/>
        </p:nvSpPr>
        <p:spPr>
          <a:xfrm>
            <a:off x="3218080" y="1812185"/>
            <a:ext cx="154807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02 · Noise</a:t>
            </a:r>
          </a:p>
        </p:txBody>
      </p:sp>
      <p:sp>
        <p:nvSpPr>
          <p:cNvPr id="10" name="!!L2-t"/>
          <p:cNvSpPr txBox="1"/>
          <p:nvPr/>
        </p:nvSpPr>
        <p:spPr>
          <a:xfrm>
            <a:off x="3218080" y="2116978"/>
            <a:ext cx="1321561" cy="285743"/>
          </a:xfrm>
          <a:prstGeom prst="rect">
            <a:avLst/>
          </a:prstGeom>
          <a:noFill/>
        </p:spPr>
        <p:txBody>
          <a:bodyPr wrap="none" lIns="0" rIns="0" tIns="0" bIns="0" anchor="t">
            <a:noAutofit/>
          </a:bodyPr>
          <a:lstStyle/>
          <a:p>
            <a:pPr algn="l">
              <a:lnSpc>
                <a:spcPts val="2400"/>
              </a:lnSpc>
              <a:spcBef>
                <a:spcPts val="0"/>
              </a:spcBef>
              <a:spcAft>
                <a:spcPts val="0"/>
              </a:spcAft>
            </a:pPr>
            <a:r>
              <a:rPr sz="2000" b="1" i="0" spc="-30">
                <a:solidFill>
                  <a:srgbClr val="0B0B0F"/>
                </a:solidFill>
                <a:latin typeface="Arial"/>
              </a:rPr>
              <a:t>Algorithms</a:t>
            </a:r>
          </a:p>
        </p:txBody>
      </p:sp>
      <p:sp>
        <p:nvSpPr>
          <p:cNvPr id="11" name="s28-text-08"/>
          <p:cNvSpPr txBox="1"/>
          <p:nvPr/>
        </p:nvSpPr>
        <p:spPr>
          <a:xfrm>
            <a:off x="3218080" y="3732615"/>
            <a:ext cx="1541722" cy="924299"/>
          </a:xfrm>
          <a:prstGeom prst="rect">
            <a:avLst/>
          </a:prstGeom>
          <a:noFill/>
        </p:spPr>
        <p:txBody>
          <a:bodyPr wrap="square" lIns="0" rIns="0" tIns="0" bIns="0" anchor="t">
            <a:noAutofit/>
          </a:bodyPr>
          <a:lstStyle/>
          <a:p>
            <a:pPr algn="l">
              <a:lnSpc>
                <a:spcPts val="1820"/>
              </a:lnSpc>
              <a:spcBef>
                <a:spcPts val="0"/>
              </a:spcBef>
              <a:spcAft>
                <a:spcPts val="0"/>
              </a:spcAft>
            </a:pPr>
            <a:r>
              <a:rPr sz="1300" b="1" i="0">
                <a:solidFill>
                  <a:srgbClr val="50505B"/>
                </a:solidFill>
                <a:latin typeface="Arial"/>
              </a:rPr>
              <a:t>Structure beats search</a:t>
            </a:r>
            <a:r>
              <a:rPr sz="1300" b="0" i="0">
                <a:solidFill>
                  <a:srgbClr val="50505B"/>
                </a:solidFill>
                <a:latin typeface="Arial"/>
              </a:rPr>
              <a:t> · +14.81 pts · 7 layers for 9 · O(n) oracle</a:t>
            </a:r>
          </a:p>
        </p:txBody>
      </p:sp>
      <p:sp>
        <p:nvSpPr>
          <p:cNvPr id="12" name="!!L3-bg"/>
          <p:cNvSpPr/>
          <p:nvPr/>
        </p:nvSpPr>
        <p:spPr>
          <a:xfrm>
            <a:off x="5115392" y="1596291"/>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28-text-09"/>
          <p:cNvSpPr txBox="1"/>
          <p:nvPr/>
        </p:nvSpPr>
        <p:spPr>
          <a:xfrm>
            <a:off x="5331287" y="1812185"/>
            <a:ext cx="154807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03 · Data</a:t>
            </a:r>
          </a:p>
        </p:txBody>
      </p:sp>
      <p:sp>
        <p:nvSpPr>
          <p:cNvPr id="14" name="!!L3-t"/>
          <p:cNvSpPr txBox="1"/>
          <p:nvPr/>
        </p:nvSpPr>
        <p:spPr>
          <a:xfrm>
            <a:off x="5331287" y="2116978"/>
            <a:ext cx="1541722" cy="571486"/>
          </a:xfrm>
          <a:prstGeom prst="rect">
            <a:avLst/>
          </a:prstGeom>
          <a:noFill/>
        </p:spPr>
        <p:txBody>
          <a:bodyPr wrap="square" lIns="0" rIns="0" tIns="0" bIns="0" anchor="t">
            <a:noAutofit/>
          </a:bodyPr>
          <a:lstStyle/>
          <a:p>
            <a:pPr algn="l">
              <a:lnSpc>
                <a:spcPts val="2400"/>
              </a:lnSpc>
              <a:spcBef>
                <a:spcPts val="0"/>
              </a:spcBef>
              <a:spcAft>
                <a:spcPts val="0"/>
              </a:spcAft>
            </a:pPr>
            <a:r>
              <a:rPr sz="2000" b="1" i="0" spc="-30">
                <a:solidFill>
                  <a:srgbClr val="0B0B0F"/>
                </a:solidFill>
                <a:latin typeface="Arial"/>
              </a:rPr>
              <a:t>Data encoding</a:t>
            </a:r>
          </a:p>
        </p:txBody>
      </p:sp>
      <p:sp>
        <p:nvSpPr>
          <p:cNvPr id="15" name="s28-text-11"/>
          <p:cNvSpPr txBox="1"/>
          <p:nvPr/>
        </p:nvSpPr>
        <p:spPr>
          <a:xfrm>
            <a:off x="5331287" y="3732615"/>
            <a:ext cx="1541722" cy="924299"/>
          </a:xfrm>
          <a:prstGeom prst="rect">
            <a:avLst/>
          </a:prstGeom>
          <a:noFill/>
        </p:spPr>
        <p:txBody>
          <a:bodyPr wrap="square" lIns="0" rIns="0" tIns="0" bIns="0" anchor="t">
            <a:noAutofit/>
          </a:bodyPr>
          <a:lstStyle/>
          <a:p>
            <a:pPr algn="l">
              <a:lnSpc>
                <a:spcPts val="1820"/>
              </a:lnSpc>
              <a:spcBef>
                <a:spcPts val="0"/>
              </a:spcBef>
              <a:spcAft>
                <a:spcPts val="0"/>
              </a:spcAft>
            </a:pPr>
            <a:r>
              <a:rPr sz="1300" b="1" i="0">
                <a:solidFill>
                  <a:srgbClr val="50505B"/>
                </a:solidFill>
                <a:latin typeface="Arial"/>
              </a:rPr>
              <a:t>One vectorized encoding</a:t>
            </a:r>
            <a:r>
              <a:rPr sz="1300" b="0" i="0">
                <a:solidFill>
                  <a:srgbClr val="50505B"/>
                </a:solidFill>
                <a:latin typeface="Arial"/>
              </a:rPr>
              <a:t> → shot-efficient, hardware-compatible, trainable</a:t>
            </a:r>
          </a:p>
        </p:txBody>
      </p:sp>
      <p:sp>
        <p:nvSpPr>
          <p:cNvPr id="16" name="!!L4-bg"/>
          <p:cNvSpPr/>
          <p:nvPr/>
        </p:nvSpPr>
        <p:spPr>
          <a:xfrm>
            <a:off x="7228600" y="1596291"/>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28-text-12"/>
          <p:cNvSpPr txBox="1"/>
          <p:nvPr/>
        </p:nvSpPr>
        <p:spPr>
          <a:xfrm>
            <a:off x="7444494" y="1812185"/>
            <a:ext cx="154807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04 · Synthesis</a:t>
            </a:r>
          </a:p>
        </p:txBody>
      </p:sp>
      <p:sp>
        <p:nvSpPr>
          <p:cNvPr id="18" name="!!L4-t"/>
          <p:cNvSpPr txBox="1"/>
          <p:nvPr/>
        </p:nvSpPr>
        <p:spPr>
          <a:xfrm>
            <a:off x="7444494" y="2116978"/>
            <a:ext cx="1184741" cy="285743"/>
          </a:xfrm>
          <a:prstGeom prst="rect">
            <a:avLst/>
          </a:prstGeom>
          <a:noFill/>
        </p:spPr>
        <p:txBody>
          <a:bodyPr wrap="none" lIns="0" rIns="0" tIns="0" bIns="0" anchor="t">
            <a:noAutofit/>
          </a:bodyPr>
          <a:lstStyle/>
          <a:p>
            <a:pPr algn="l">
              <a:lnSpc>
                <a:spcPts val="2400"/>
              </a:lnSpc>
              <a:spcBef>
                <a:spcPts val="0"/>
              </a:spcBef>
              <a:spcAft>
                <a:spcPts val="0"/>
              </a:spcAft>
            </a:pPr>
            <a:r>
              <a:rPr sz="2000" b="1" i="0" spc="-30">
                <a:solidFill>
                  <a:srgbClr val="0B0B0F"/>
                </a:solidFill>
                <a:latin typeface="Arial"/>
              </a:rPr>
              <a:t>Synthesis</a:t>
            </a:r>
          </a:p>
        </p:txBody>
      </p:sp>
      <p:sp>
        <p:nvSpPr>
          <p:cNvPr id="19" name="s28-text-14"/>
          <p:cNvSpPr txBox="1"/>
          <p:nvPr/>
        </p:nvSpPr>
        <p:spPr>
          <a:xfrm>
            <a:off x="7444494" y="3732615"/>
            <a:ext cx="1541722" cy="924299"/>
          </a:xfrm>
          <a:prstGeom prst="rect">
            <a:avLst/>
          </a:prstGeom>
          <a:noFill/>
        </p:spPr>
        <p:txBody>
          <a:bodyPr wrap="square" lIns="0" rIns="0" tIns="0" bIns="0" anchor="t">
            <a:noAutofit/>
          </a:bodyPr>
          <a:lstStyle/>
          <a:p>
            <a:pPr algn="l">
              <a:lnSpc>
                <a:spcPts val="1820"/>
              </a:lnSpc>
              <a:spcBef>
                <a:spcPts val="0"/>
              </a:spcBef>
              <a:spcAft>
                <a:spcPts val="0"/>
              </a:spcAft>
            </a:pPr>
            <a:r>
              <a:rPr sz="1300" b="1" i="0">
                <a:solidFill>
                  <a:srgbClr val="50505B"/>
                </a:solidFill>
                <a:latin typeface="Arial"/>
              </a:rPr>
              <a:t>Grounded RL</a:t>
            </a:r>
            <a:r>
              <a:rPr sz="1300" b="0" i="0">
                <a:solidFill>
                  <a:srgbClr val="50505B"/>
                </a:solidFill>
                <a:latin typeface="Arial"/>
              </a:rPr>
              <a:t> · 3.31× T-gate compression · honest budgets</a:t>
            </a:r>
          </a:p>
        </p:txBody>
      </p:sp>
      <p:sp>
        <p:nvSpPr>
          <p:cNvPr id="20" name="!!L5-bg"/>
          <p:cNvSpPr/>
          <p:nvPr/>
        </p:nvSpPr>
        <p:spPr>
          <a:xfrm>
            <a:off x="9341807" y="1596291"/>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28-text-15"/>
          <p:cNvSpPr txBox="1"/>
          <p:nvPr/>
        </p:nvSpPr>
        <p:spPr>
          <a:xfrm>
            <a:off x="9557702" y="1812185"/>
            <a:ext cx="154807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05 · Trust</a:t>
            </a:r>
          </a:p>
        </p:txBody>
      </p:sp>
      <p:sp>
        <p:nvSpPr>
          <p:cNvPr id="22" name="!!L5-t"/>
          <p:cNvSpPr txBox="1"/>
          <p:nvPr/>
        </p:nvSpPr>
        <p:spPr>
          <a:xfrm>
            <a:off x="9557702" y="2116978"/>
            <a:ext cx="620995" cy="285743"/>
          </a:xfrm>
          <a:prstGeom prst="rect">
            <a:avLst/>
          </a:prstGeom>
          <a:noFill/>
        </p:spPr>
        <p:txBody>
          <a:bodyPr wrap="none" lIns="0" rIns="0" tIns="0" bIns="0" anchor="t">
            <a:noAutofit/>
          </a:bodyPr>
          <a:lstStyle/>
          <a:p>
            <a:pPr algn="l">
              <a:lnSpc>
                <a:spcPts val="2400"/>
              </a:lnSpc>
              <a:spcBef>
                <a:spcPts val="0"/>
              </a:spcBef>
              <a:spcAft>
                <a:spcPts val="0"/>
              </a:spcAft>
            </a:pPr>
            <a:r>
              <a:rPr sz="2000" b="1" i="0" spc="-30">
                <a:solidFill>
                  <a:srgbClr val="0B0B0F"/>
                </a:solidFill>
                <a:latin typeface="Arial"/>
              </a:rPr>
              <a:t>Trust</a:t>
            </a:r>
          </a:p>
        </p:txBody>
      </p:sp>
      <p:sp>
        <p:nvSpPr>
          <p:cNvPr id="23" name="s28-text-17"/>
          <p:cNvSpPr txBox="1"/>
          <p:nvPr/>
        </p:nvSpPr>
        <p:spPr>
          <a:xfrm>
            <a:off x="9557702" y="3963690"/>
            <a:ext cx="1541722" cy="693224"/>
          </a:xfrm>
          <a:prstGeom prst="rect">
            <a:avLst/>
          </a:prstGeom>
          <a:noFill/>
        </p:spPr>
        <p:txBody>
          <a:bodyPr wrap="square" lIns="0" rIns="0" tIns="0" bIns="0" anchor="t">
            <a:noAutofit/>
          </a:bodyPr>
          <a:lstStyle/>
          <a:p>
            <a:pPr algn="l">
              <a:lnSpc>
                <a:spcPts val="1820"/>
              </a:lnSpc>
              <a:spcBef>
                <a:spcPts val="0"/>
              </a:spcBef>
              <a:spcAft>
                <a:spcPts val="0"/>
              </a:spcAft>
            </a:pPr>
            <a:r>
              <a:rPr sz="1300" b="1" i="0">
                <a:solidFill>
                  <a:srgbClr val="50505B"/>
                </a:solidFill>
                <a:latin typeface="Arial"/>
              </a:rPr>
              <a:t>Reseeding</a:t>
            </a:r>
            <a:r>
              <a:rPr sz="1300" b="0" i="0">
                <a:solidFill>
                  <a:srgbClr val="50505B"/>
                </a:solidFill>
                <a:latin typeface="Arial"/>
              </a:rPr>
              <a:t> −86.7% disturbance · FIPS 140-3 PQC module</a:t>
            </a:r>
          </a:p>
        </p:txBody>
      </p:sp>
      <p:sp>
        <p:nvSpPr>
          <p:cNvPr id="24" name="!!sec"/>
          <p:cNvSpPr txBox="1"/>
          <p:nvPr/>
        </p:nvSpPr>
        <p:spPr>
          <a:xfrm>
            <a:off x="888978" y="6362541"/>
            <a:ext cx="77289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Closing</a:t>
            </a:r>
          </a:p>
        </p:txBody>
      </p:sp>
      <p:pic>
        <p:nvPicPr>
          <p:cNvPr id="25" name="s28-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6"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28</a:t>
            </a:r>
            <a:r>
              <a:rPr sz="1100" b="0" i="0" spc="66">
                <a:solidFill>
                  <a:srgbClr val="7B7B86"/>
                </a:solidFill>
                <a:latin typeface="Courier New"/>
              </a:rPr>
              <a:t> / 40</a:t>
            </a:r>
          </a:p>
        </p:txBody>
      </p:sp>
    </p:spTree>
  </p:cSld>
  <p:clrMapOvr>
    <a:masterClrMapping/>
  </p:clrMapOvr>
  <p:transition xmlns:p14="http://schemas.microsoft.com/office/powerpoint/2010/main" spd="slow" p14:dur="650">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4305490"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Closing · What I would build at ORNL</a:t>
            </a:r>
          </a:p>
        </p:txBody>
      </p:sp>
      <p:sp>
        <p:nvSpPr>
          <p:cNvPr id="3" name="s29-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Where this stack meets OLCF</a:t>
            </a:r>
          </a:p>
        </p:txBody>
      </p:sp>
      <p:sp>
        <p:nvSpPr>
          <p:cNvPr id="4" name="s29-box-01"/>
          <p:cNvSpPr/>
          <p:nvPr/>
        </p:nvSpPr>
        <p:spPr>
          <a:xfrm>
            <a:off x="888978" y="1634390"/>
            <a:ext cx="2470088" cy="2858222"/>
          </a:xfrm>
          <a:prstGeom prst="roundRect">
            <a:avLst>
              <a:gd name="adj" fmla="val 6169"/>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29-text-03"/>
          <p:cNvSpPr txBox="1"/>
          <p:nvPr/>
        </p:nvSpPr>
        <p:spPr>
          <a:xfrm>
            <a:off x="1142971" y="1862984"/>
            <a:ext cx="1981150" cy="158746"/>
          </a:xfrm>
          <a:prstGeom prst="rect">
            <a:avLst/>
          </a:prstGeom>
          <a:noFill/>
        </p:spPr>
        <p:txBody>
          <a:bodyPr wrap="none" lIns="0" rIns="0" tIns="0" bIns="0" anchor="t">
            <a:noAutofit/>
          </a:bodyPr>
          <a:lstStyle/>
          <a:p>
            <a:pPr algn="l">
              <a:lnSpc>
                <a:spcPts val="1320"/>
              </a:lnSpc>
              <a:spcBef>
                <a:spcPts val="0"/>
              </a:spcBef>
              <a:spcAft>
                <a:spcPts val="0"/>
              </a:spcAft>
            </a:pPr>
            <a:r>
              <a:rPr sz="1100" b="0" i="0" spc="66">
                <a:solidFill>
                  <a:srgbClr val="7B7B86"/>
                </a:solidFill>
                <a:latin typeface="Courier New"/>
              </a:rPr>
              <a:t>FRONTIER-SCALE</a:t>
            </a:r>
          </a:p>
        </p:txBody>
      </p:sp>
      <p:sp>
        <p:nvSpPr>
          <p:cNvPr id="6" name="s29-text-04"/>
          <p:cNvSpPr txBox="1"/>
          <p:nvPr/>
        </p:nvSpPr>
        <p:spPr>
          <a:xfrm>
            <a:off x="1142971" y="2161426"/>
            <a:ext cx="1974801" cy="533387"/>
          </a:xfrm>
          <a:prstGeom prst="rect">
            <a:avLst/>
          </a:prstGeom>
          <a:noFill/>
        </p:spPr>
        <p:txBody>
          <a:bodyPr wrap="square" lIns="0" rIns="0" tIns="0" bIns="0" anchor="t">
            <a:noAutofit/>
          </a:bodyPr>
          <a:lstStyle/>
          <a:p>
            <a:pPr algn="l">
              <a:lnSpc>
                <a:spcPts val="2160"/>
              </a:lnSpc>
              <a:spcBef>
                <a:spcPts val="0"/>
              </a:spcBef>
              <a:spcAft>
                <a:spcPts val="0"/>
              </a:spcAft>
            </a:pPr>
            <a:r>
              <a:rPr sz="1800" b="1" i="0" spc="-27">
                <a:solidFill>
                  <a:srgbClr val="0B0B0F"/>
                </a:solidFill>
                <a:latin typeface="Arial"/>
              </a:rPr>
              <a:t>Same program, leadership scale</a:t>
            </a:r>
          </a:p>
        </p:txBody>
      </p:sp>
      <p:sp>
        <p:nvSpPr>
          <p:cNvPr id="7" name="s29-text-05"/>
          <p:cNvSpPr txBox="1"/>
          <p:nvPr/>
        </p:nvSpPr>
        <p:spPr>
          <a:xfrm>
            <a:off x="1142971" y="2771011"/>
            <a:ext cx="1974801" cy="1493006"/>
          </a:xfrm>
          <a:prstGeom prst="rect">
            <a:avLst/>
          </a:prstGeom>
          <a:noFill/>
        </p:spPr>
        <p:txBody>
          <a:bodyPr wrap="square" lIns="0" rIns="0" tIns="0" bIns="0" anchor="t">
            <a:noAutofit/>
          </a:bodyPr>
          <a:lstStyle/>
          <a:p>
            <a:pPr algn="l">
              <a:lnSpc>
                <a:spcPts val="1960"/>
              </a:lnSpc>
              <a:spcBef>
                <a:spcPts val="0"/>
              </a:spcBef>
              <a:spcAft>
                <a:spcPts val="0"/>
              </a:spcAft>
            </a:pPr>
            <a:r>
              <a:rPr sz="1400" b="0" i="0">
                <a:solidFill>
                  <a:srgbClr val="50505B"/>
                </a:solidFill>
                <a:latin typeface="Arial"/>
              </a:rPr>
              <a:t>Backend-agnostic HDF5 encoding · a HIP/ROCm kernel target beside CUDA-Q · the same Slurm/MPI containers on MI250X nodes</a:t>
            </a:r>
          </a:p>
        </p:txBody>
      </p:sp>
      <p:sp>
        <p:nvSpPr>
          <p:cNvPr id="8" name="s29-box-02"/>
          <p:cNvSpPr/>
          <p:nvPr/>
        </p:nvSpPr>
        <p:spPr>
          <a:xfrm>
            <a:off x="3536862" y="1634390"/>
            <a:ext cx="2470088" cy="2858222"/>
          </a:xfrm>
          <a:prstGeom prst="roundRect">
            <a:avLst>
              <a:gd name="adj" fmla="val 6169"/>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29-text-06"/>
          <p:cNvSpPr txBox="1"/>
          <p:nvPr/>
        </p:nvSpPr>
        <p:spPr>
          <a:xfrm>
            <a:off x="3790855" y="1862984"/>
            <a:ext cx="1981150" cy="158746"/>
          </a:xfrm>
          <a:prstGeom prst="rect">
            <a:avLst/>
          </a:prstGeom>
          <a:noFill/>
        </p:spPr>
        <p:txBody>
          <a:bodyPr wrap="none" lIns="0" rIns="0" tIns="0" bIns="0" anchor="t">
            <a:noAutofit/>
          </a:bodyPr>
          <a:lstStyle/>
          <a:p>
            <a:pPr algn="l">
              <a:lnSpc>
                <a:spcPts val="1320"/>
              </a:lnSpc>
              <a:spcBef>
                <a:spcPts val="0"/>
              </a:spcBef>
              <a:spcAft>
                <a:spcPts val="0"/>
              </a:spcAft>
            </a:pPr>
            <a:r>
              <a:rPr sz="1100" b="0" i="0" spc="66">
                <a:solidFill>
                  <a:srgbClr val="7B7B86"/>
                </a:solidFill>
                <a:latin typeface="Courier New"/>
              </a:rPr>
              <a:t>QCUP CAMPAIGNS</a:t>
            </a:r>
          </a:p>
        </p:txBody>
      </p:sp>
      <p:sp>
        <p:nvSpPr>
          <p:cNvPr id="10" name="s29-text-07"/>
          <p:cNvSpPr txBox="1"/>
          <p:nvPr/>
        </p:nvSpPr>
        <p:spPr>
          <a:xfrm>
            <a:off x="3790855" y="2161426"/>
            <a:ext cx="1974801" cy="533387"/>
          </a:xfrm>
          <a:prstGeom prst="rect">
            <a:avLst/>
          </a:prstGeom>
          <a:noFill/>
        </p:spPr>
        <p:txBody>
          <a:bodyPr wrap="square" lIns="0" rIns="0" tIns="0" bIns="0" anchor="t">
            <a:noAutofit/>
          </a:bodyPr>
          <a:lstStyle/>
          <a:p>
            <a:pPr algn="l">
              <a:lnSpc>
                <a:spcPts val="2160"/>
              </a:lnSpc>
              <a:spcBef>
                <a:spcPts val="0"/>
              </a:spcBef>
              <a:spcAft>
                <a:spcPts val="0"/>
              </a:spcAft>
            </a:pPr>
            <a:r>
              <a:rPr sz="1800" b="1" i="0" spc="-27">
                <a:solidFill>
                  <a:srgbClr val="0B0B0F"/>
                </a:solidFill>
                <a:latin typeface="Arial"/>
              </a:rPr>
              <a:t>Simulate first, then run</a:t>
            </a:r>
          </a:p>
        </p:txBody>
      </p:sp>
      <p:sp>
        <p:nvSpPr>
          <p:cNvPr id="11" name="s29-text-08"/>
          <p:cNvSpPr txBox="1"/>
          <p:nvPr/>
        </p:nvSpPr>
        <p:spPr>
          <a:xfrm>
            <a:off x="3790855" y="2771011"/>
            <a:ext cx="1974801" cy="1493006"/>
          </a:xfrm>
          <a:prstGeom prst="rect">
            <a:avLst/>
          </a:prstGeom>
          <a:noFill/>
        </p:spPr>
        <p:txBody>
          <a:bodyPr wrap="square" lIns="0" rIns="0" tIns="0" bIns="0" anchor="t">
            <a:noAutofit/>
          </a:bodyPr>
          <a:lstStyle/>
          <a:p>
            <a:pPr algn="l">
              <a:lnSpc>
                <a:spcPts val="1960"/>
              </a:lnSpc>
              <a:spcBef>
                <a:spcPts val="0"/>
              </a:spcBef>
              <a:spcAft>
                <a:spcPts val="0"/>
              </a:spcAft>
            </a:pPr>
            <a:r>
              <a:rPr sz="1400" b="0" i="0">
                <a:solidFill>
                  <a:srgbClr val="50505B"/>
                </a:solidFill>
                <a:latin typeface="Arial"/>
              </a:rPr>
              <a:t>DEAL, VQT and NNQA campaigns map onto QCUP access (IBM, IonQ, Quantinuum), with Frontier as the pre-flight simulator</a:t>
            </a:r>
          </a:p>
        </p:txBody>
      </p:sp>
      <p:sp>
        <p:nvSpPr>
          <p:cNvPr id="12" name="s29-box-03"/>
          <p:cNvSpPr/>
          <p:nvPr/>
        </p:nvSpPr>
        <p:spPr>
          <a:xfrm>
            <a:off x="6184745" y="1634390"/>
            <a:ext cx="2470088" cy="2858222"/>
          </a:xfrm>
          <a:prstGeom prst="roundRect">
            <a:avLst>
              <a:gd name="adj" fmla="val 6169"/>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29-text-09"/>
          <p:cNvSpPr txBox="1"/>
          <p:nvPr/>
        </p:nvSpPr>
        <p:spPr>
          <a:xfrm>
            <a:off x="6438739" y="1862984"/>
            <a:ext cx="1981150" cy="158746"/>
          </a:xfrm>
          <a:prstGeom prst="rect">
            <a:avLst/>
          </a:prstGeom>
          <a:noFill/>
        </p:spPr>
        <p:txBody>
          <a:bodyPr wrap="none" lIns="0" rIns="0" tIns="0" bIns="0" anchor="t">
            <a:noAutofit/>
          </a:bodyPr>
          <a:lstStyle/>
          <a:p>
            <a:pPr algn="l">
              <a:lnSpc>
                <a:spcPts val="1320"/>
              </a:lnSpc>
              <a:spcBef>
                <a:spcPts val="0"/>
              </a:spcBef>
              <a:spcAft>
                <a:spcPts val="0"/>
              </a:spcAft>
            </a:pPr>
            <a:r>
              <a:rPr sz="1100" b="0" i="0" spc="66">
                <a:solidFill>
                  <a:srgbClr val="7B7B86"/>
                </a:solidFill>
                <a:latin typeface="Courier New"/>
              </a:rPr>
              <a:t>HYBRID WORKFLOWS</a:t>
            </a:r>
          </a:p>
        </p:txBody>
      </p:sp>
      <p:sp>
        <p:nvSpPr>
          <p:cNvPr id="14" name="s29-text-10"/>
          <p:cNvSpPr txBox="1"/>
          <p:nvPr/>
        </p:nvSpPr>
        <p:spPr>
          <a:xfrm>
            <a:off x="6438739" y="2161426"/>
            <a:ext cx="1981150" cy="266693"/>
          </a:xfrm>
          <a:prstGeom prst="rect">
            <a:avLst/>
          </a:prstGeom>
          <a:noFill/>
        </p:spPr>
        <p:txBody>
          <a:bodyPr wrap="none" lIns="0" rIns="0" tIns="0" bIns="0" anchor="t">
            <a:noAutofit/>
          </a:bodyPr>
          <a:lstStyle/>
          <a:p>
            <a:pPr algn="l">
              <a:lnSpc>
                <a:spcPts val="2160"/>
              </a:lnSpc>
              <a:spcBef>
                <a:spcPts val="0"/>
              </a:spcBef>
              <a:spcAft>
                <a:spcPts val="0"/>
              </a:spcAft>
            </a:pPr>
            <a:r>
              <a:rPr sz="1800" b="1" i="0" spc="-27">
                <a:solidFill>
                  <a:srgbClr val="0B0B0F"/>
                </a:solidFill>
                <a:latin typeface="Arial"/>
              </a:rPr>
              <a:t>HPC in the loop</a:t>
            </a:r>
          </a:p>
        </p:txBody>
      </p:sp>
      <p:sp>
        <p:nvSpPr>
          <p:cNvPr id="15" name="s29-text-11"/>
          <p:cNvSpPr txBox="1"/>
          <p:nvPr/>
        </p:nvSpPr>
        <p:spPr>
          <a:xfrm>
            <a:off x="6438739" y="2504318"/>
            <a:ext cx="1974801" cy="1493006"/>
          </a:xfrm>
          <a:prstGeom prst="rect">
            <a:avLst/>
          </a:prstGeom>
          <a:noFill/>
        </p:spPr>
        <p:txBody>
          <a:bodyPr wrap="square" lIns="0" rIns="0" tIns="0" bIns="0" anchor="t">
            <a:noAutofit/>
          </a:bodyPr>
          <a:lstStyle/>
          <a:p>
            <a:pPr algn="l">
              <a:lnSpc>
                <a:spcPts val="1960"/>
              </a:lnSpc>
              <a:spcBef>
                <a:spcPts val="0"/>
              </a:spcBef>
              <a:spcAft>
                <a:spcPts val="0"/>
              </a:spcAft>
            </a:pPr>
            <a:r>
              <a:rPr sz="1400" b="0" i="0">
                <a:solidFill>
                  <a:srgbClr val="50505B"/>
                </a:solidFill>
                <a:latin typeface="Arial"/>
              </a:rPr>
              <a:t>Simulator-in-the-loop training (RubriQ), measure–update–reload solvers, and cost models that say when the QPU step pays off</a:t>
            </a:r>
          </a:p>
        </p:txBody>
      </p:sp>
      <p:sp>
        <p:nvSpPr>
          <p:cNvPr id="16" name="s29-box-04"/>
          <p:cNvSpPr/>
          <p:nvPr/>
        </p:nvSpPr>
        <p:spPr>
          <a:xfrm>
            <a:off x="8832629" y="1634390"/>
            <a:ext cx="2470088" cy="2858222"/>
          </a:xfrm>
          <a:prstGeom prst="roundRect">
            <a:avLst>
              <a:gd name="adj" fmla="val 6169"/>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29-text-12"/>
          <p:cNvSpPr txBox="1"/>
          <p:nvPr/>
        </p:nvSpPr>
        <p:spPr>
          <a:xfrm>
            <a:off x="9086623" y="1862984"/>
            <a:ext cx="1981150" cy="158746"/>
          </a:xfrm>
          <a:prstGeom prst="rect">
            <a:avLst/>
          </a:prstGeom>
          <a:noFill/>
        </p:spPr>
        <p:txBody>
          <a:bodyPr wrap="none" lIns="0" rIns="0" tIns="0" bIns="0" anchor="t">
            <a:noAutofit/>
          </a:bodyPr>
          <a:lstStyle/>
          <a:p>
            <a:pPr algn="l">
              <a:lnSpc>
                <a:spcPts val="1320"/>
              </a:lnSpc>
              <a:spcBef>
                <a:spcPts val="0"/>
              </a:spcBef>
              <a:spcAft>
                <a:spcPts val="0"/>
              </a:spcAft>
            </a:pPr>
            <a:r>
              <a:rPr sz="1100" b="0" i="0" spc="66">
                <a:solidFill>
                  <a:srgbClr val="7B7B86"/>
                </a:solidFill>
                <a:latin typeface="Courier New"/>
              </a:rPr>
              <a:t>TRUST</a:t>
            </a:r>
          </a:p>
        </p:txBody>
      </p:sp>
      <p:sp>
        <p:nvSpPr>
          <p:cNvPr id="18" name="s29-text-13"/>
          <p:cNvSpPr txBox="1"/>
          <p:nvPr/>
        </p:nvSpPr>
        <p:spPr>
          <a:xfrm>
            <a:off x="9086623" y="2161426"/>
            <a:ext cx="1974801" cy="533387"/>
          </a:xfrm>
          <a:prstGeom prst="rect">
            <a:avLst/>
          </a:prstGeom>
          <a:noFill/>
        </p:spPr>
        <p:txBody>
          <a:bodyPr wrap="square" lIns="0" rIns="0" tIns="0" bIns="0" anchor="t">
            <a:noAutofit/>
          </a:bodyPr>
          <a:lstStyle/>
          <a:p>
            <a:pPr algn="l">
              <a:lnSpc>
                <a:spcPts val="2160"/>
              </a:lnSpc>
              <a:spcBef>
                <a:spcPts val="0"/>
              </a:spcBef>
              <a:spcAft>
                <a:spcPts val="0"/>
              </a:spcAft>
            </a:pPr>
            <a:r>
              <a:rPr sz="1800" b="1" i="0" spc="-27">
                <a:solidFill>
                  <a:srgbClr val="0B0B0F"/>
                </a:solidFill>
                <a:latin typeface="Arial"/>
              </a:rPr>
              <a:t>Across the facility boundary</a:t>
            </a:r>
          </a:p>
        </p:txBody>
      </p:sp>
      <p:sp>
        <p:nvSpPr>
          <p:cNvPr id="19" name="s29-text-14"/>
          <p:cNvSpPr txBox="1"/>
          <p:nvPr/>
        </p:nvSpPr>
        <p:spPr>
          <a:xfrm>
            <a:off x="9086623" y="2771011"/>
            <a:ext cx="1974801" cy="1493006"/>
          </a:xfrm>
          <a:prstGeom prst="rect">
            <a:avLst/>
          </a:prstGeom>
          <a:noFill/>
        </p:spPr>
        <p:txBody>
          <a:bodyPr wrap="square" lIns="0" rIns="0" tIns="0" bIns="0" anchor="t">
            <a:noAutofit/>
          </a:bodyPr>
          <a:lstStyle/>
          <a:p>
            <a:pPr algn="l">
              <a:lnSpc>
                <a:spcPts val="1960"/>
              </a:lnSpc>
              <a:spcBef>
                <a:spcPts val="0"/>
              </a:spcBef>
              <a:spcAft>
                <a:spcPts val="0"/>
              </a:spcAft>
            </a:pPr>
            <a:r>
              <a:rPr sz="1400" b="0" i="0">
                <a:solidFill>
                  <a:srgbClr val="50505B"/>
                </a:solidFill>
                <a:latin typeface="Arial"/>
              </a:rPr>
              <a:t>Reseeded QEC encoders and a FIPS 140-3 PQC module for jobs, seeds and results crossing the facility boundary</a:t>
            </a:r>
          </a:p>
        </p:txBody>
      </p:sp>
      <p:sp>
        <p:nvSpPr>
          <p:cNvPr id="20" name="s29-text-15"/>
          <p:cNvSpPr txBox="1"/>
          <p:nvPr/>
        </p:nvSpPr>
        <p:spPr>
          <a:xfrm>
            <a:off x="888978" y="4657708"/>
            <a:ext cx="8902477" cy="391111"/>
          </a:xfrm>
          <a:prstGeom prst="rect">
            <a:avLst/>
          </a:prstGeom>
          <a:noFill/>
        </p:spPr>
        <p:txBody>
          <a:bodyPr wrap="square" lIns="0" rIns="0" tIns="0" bIns="0" anchor="t">
            <a:noAutofit/>
          </a:bodyPr>
          <a:lstStyle/>
          <a:p>
            <a:pPr algn="l">
              <a:lnSpc>
                <a:spcPts val="1540"/>
              </a:lnSpc>
              <a:spcBef>
                <a:spcPts val="0"/>
              </a:spcBef>
              <a:spcAft>
                <a:spcPts val="0"/>
              </a:spcAft>
            </a:pPr>
            <a:r>
              <a:rPr sz="1100" b="0" i="0">
                <a:solidFill>
                  <a:srgbClr val="7B7B86"/>
                </a:solidFill>
                <a:latin typeface="Arial"/>
              </a:rPr>
              <a:t>Precedent at NERSC: two ERCAP allocations · Podman/Shifter containers on Perlmutter · 1,024-GPU runs · Q-GEAR reused in three of the projects shown today.</a:t>
            </a:r>
          </a:p>
        </p:txBody>
      </p:sp>
      <p:sp>
        <p:nvSpPr>
          <p:cNvPr id="21" name="!!sec"/>
          <p:cNvSpPr txBox="1"/>
          <p:nvPr/>
        </p:nvSpPr>
        <p:spPr>
          <a:xfrm>
            <a:off x="888978" y="6362541"/>
            <a:ext cx="77289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Closing</a:t>
            </a:r>
          </a:p>
        </p:txBody>
      </p:sp>
      <p:pic>
        <p:nvPicPr>
          <p:cNvPr id="22" name="s29-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3"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29</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1303503"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Limitations</a:t>
            </a:r>
          </a:p>
        </p:txBody>
      </p:sp>
      <p:sp>
        <p:nvSpPr>
          <p:cNvPr id="3" name="s30-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What these results do not show</a:t>
            </a:r>
          </a:p>
        </p:txBody>
      </p:sp>
      <p:sp>
        <p:nvSpPr>
          <p:cNvPr id="4" name="s30-box-01"/>
          <p:cNvSpPr/>
          <p:nvPr/>
        </p:nvSpPr>
        <p:spPr>
          <a:xfrm>
            <a:off x="888978" y="180151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30-text-03"/>
          <p:cNvSpPr txBox="1"/>
          <p:nvPr/>
        </p:nvSpPr>
        <p:spPr>
          <a:xfrm>
            <a:off x="1219170" y="1659789"/>
            <a:ext cx="10096248" cy="617125"/>
          </a:xfrm>
          <a:prstGeom prst="rect">
            <a:avLst/>
          </a:prstGeom>
          <a:noFill/>
        </p:spPr>
        <p:txBody>
          <a:bodyPr wrap="square" lIns="0" rIns="0" tIns="0" bIns="0" anchor="t">
            <a:noAutofit/>
          </a:bodyPr>
          <a:lstStyle/>
          <a:p>
            <a:pPr algn="l">
              <a:lnSpc>
                <a:spcPts val="2430"/>
              </a:lnSpc>
              <a:spcBef>
                <a:spcPts val="0"/>
              </a:spcBef>
              <a:spcAft>
                <a:spcPts val="0"/>
              </a:spcAft>
            </a:pPr>
            <a:r>
              <a:rPr sz="1800" b="1" i="0">
                <a:solidFill>
                  <a:srgbClr val="0B0B0F"/>
                </a:solidFill>
                <a:latin typeface="Arial"/>
              </a:rPr>
              <a:t>42 qubits is simulation, not hardware</a:t>
            </a:r>
            <a:r>
              <a:rPr sz="1800" b="0" i="0">
                <a:solidFill>
                  <a:srgbClr val="50505B"/>
                </a:solidFill>
                <a:latin typeface="Arial"/>
              </a:rPr>
              <a:t> — largest hardware runs: 20-qubit optimization, 36-qubit arithmetic</a:t>
            </a:r>
          </a:p>
        </p:txBody>
      </p:sp>
      <p:sp>
        <p:nvSpPr>
          <p:cNvPr id="6" name="s30-box-02"/>
          <p:cNvSpPr/>
          <p:nvPr/>
        </p:nvSpPr>
        <p:spPr>
          <a:xfrm>
            <a:off x="888978" y="2558339"/>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30-text-04"/>
          <p:cNvSpPr txBox="1"/>
          <p:nvPr/>
        </p:nvSpPr>
        <p:spPr>
          <a:xfrm>
            <a:off x="1219170" y="2416611"/>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1" i="0">
                <a:solidFill>
                  <a:srgbClr val="0B0B0F"/>
                </a:solidFill>
                <a:latin typeface="Arial"/>
              </a:rPr>
              <a:t>Hardware gains are device- and calibration-specific</a:t>
            </a:r>
            <a:r>
              <a:rPr sz="1800" b="0" i="0">
                <a:solidFill>
                  <a:srgbClr val="50505B"/>
                </a:solidFill>
                <a:latin typeface="Arial"/>
              </a:rPr>
              <a:t> — +14.81 Torino vs +7.40 Marrakesh</a:t>
            </a:r>
          </a:p>
        </p:txBody>
      </p:sp>
      <p:sp>
        <p:nvSpPr>
          <p:cNvPr id="8" name="s30-box-03"/>
          <p:cNvSpPr/>
          <p:nvPr/>
        </p:nvSpPr>
        <p:spPr>
          <a:xfrm>
            <a:off x="888978" y="3006598"/>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30-text-05"/>
          <p:cNvSpPr txBox="1"/>
          <p:nvPr/>
        </p:nvSpPr>
        <p:spPr>
          <a:xfrm>
            <a:off x="1219170" y="2864870"/>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1" i="0">
                <a:solidFill>
                  <a:srgbClr val="0B0B0F"/>
                </a:solidFill>
                <a:latin typeface="Arial"/>
              </a:rPr>
              <a:t>Learning benchmarks are small</a:t>
            </a:r>
            <a:r>
              <a:rPr sz="1800" b="0" i="0">
                <a:solidFill>
                  <a:srgbClr val="50505B"/>
                </a:solidFill>
                <a:latin typeface="Arial"/>
              </a:rPr>
              <a:t> — VQT 12.9 perplexity behind nanoGPT; no advantage claimed</a:t>
            </a:r>
          </a:p>
        </p:txBody>
      </p:sp>
      <p:sp>
        <p:nvSpPr>
          <p:cNvPr id="10" name="s30-box-04"/>
          <p:cNvSpPr/>
          <p:nvPr/>
        </p:nvSpPr>
        <p:spPr>
          <a:xfrm>
            <a:off x="888978" y="345485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30-text-06"/>
          <p:cNvSpPr txBox="1"/>
          <p:nvPr/>
        </p:nvSpPr>
        <p:spPr>
          <a:xfrm>
            <a:off x="1219170" y="3313129"/>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1" i="0">
                <a:solidFill>
                  <a:srgbClr val="0B0B0F"/>
                </a:solidFill>
                <a:latin typeface="Arial"/>
              </a:rPr>
              <a:t>QEC audit at code-capacity scale</a:t>
            </a:r>
            <a:r>
              <a:rPr sz="1800" b="0" i="0">
                <a:solidFill>
                  <a:srgbClr val="50505B"/>
                </a:solidFill>
                <a:latin typeface="Arial"/>
              </a:rPr>
              <a:t> — [[5,1,3]], weight-one faults, Stim n = 17</a:t>
            </a:r>
          </a:p>
        </p:txBody>
      </p:sp>
      <p:sp>
        <p:nvSpPr>
          <p:cNvPr id="12" name="s30-box-05"/>
          <p:cNvSpPr/>
          <p:nvPr/>
        </p:nvSpPr>
        <p:spPr>
          <a:xfrm>
            <a:off x="888978" y="3903116"/>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30-text-07"/>
          <p:cNvSpPr txBox="1"/>
          <p:nvPr/>
        </p:nvSpPr>
        <p:spPr>
          <a:xfrm>
            <a:off x="1219170" y="3761388"/>
            <a:ext cx="10102597" cy="308563"/>
          </a:xfrm>
          <a:prstGeom prst="rect">
            <a:avLst/>
          </a:prstGeom>
          <a:noFill/>
        </p:spPr>
        <p:txBody>
          <a:bodyPr wrap="none" lIns="0" rIns="0" tIns="0" bIns="0" anchor="t">
            <a:noAutofit/>
          </a:bodyPr>
          <a:lstStyle/>
          <a:p>
            <a:pPr algn="l">
              <a:lnSpc>
                <a:spcPts val="2430"/>
              </a:lnSpc>
              <a:spcBef>
                <a:spcPts val="0"/>
              </a:spcBef>
              <a:spcAft>
                <a:spcPts val="0"/>
              </a:spcAft>
            </a:pPr>
            <a:r>
              <a:rPr sz="1800" b="1" i="0">
                <a:solidFill>
                  <a:srgbClr val="0B0B0F"/>
                </a:solidFill>
                <a:latin typeface="Arial"/>
              </a:rPr>
              <a:t>Six of ten papers are preprints</a:t>
            </a:r>
            <a:r>
              <a:rPr sz="1800" b="0" i="0">
                <a:solidFill>
                  <a:srgbClr val="50505B"/>
                </a:solidFill>
                <a:latin typeface="Arial"/>
              </a:rPr>
              <a:t> — numbers may change in review</a:t>
            </a:r>
          </a:p>
        </p:txBody>
      </p:sp>
      <p:sp>
        <p:nvSpPr>
          <p:cNvPr id="14" name="!!sec"/>
          <p:cNvSpPr txBox="1"/>
          <p:nvPr/>
        </p:nvSpPr>
        <p:spPr>
          <a:xfrm>
            <a:off x="888978" y="6362541"/>
            <a:ext cx="77289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Closing</a:t>
            </a:r>
          </a:p>
        </p:txBody>
      </p:sp>
      <p:pic>
        <p:nvPicPr>
          <p:cNvPr id="15" name="s30-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16"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30</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2163411"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Acknowledgments</a:t>
            </a:r>
          </a:p>
        </p:txBody>
      </p:sp>
      <p:sp>
        <p:nvSpPr>
          <p:cNvPr id="3" name="s31-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This work had many hands</a:t>
            </a:r>
          </a:p>
        </p:txBody>
      </p:sp>
      <p:sp>
        <p:nvSpPr>
          <p:cNvPr id="4" name="s31-box-01"/>
          <p:cNvSpPr/>
          <p:nvPr/>
        </p:nvSpPr>
        <p:spPr>
          <a:xfrm>
            <a:off x="888978" y="1596291"/>
            <a:ext cx="5117972" cy="1527633"/>
          </a:xfrm>
          <a:prstGeom prst="roundRect">
            <a:avLst>
              <a:gd name="adj" fmla="val 9975"/>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31-text-03"/>
          <p:cNvSpPr txBox="1"/>
          <p:nvPr/>
        </p:nvSpPr>
        <p:spPr>
          <a:xfrm>
            <a:off x="1079473" y="1735987"/>
            <a:ext cx="475603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ADVISOR · CHAIR</a:t>
            </a:r>
          </a:p>
        </p:txBody>
      </p:sp>
      <p:sp>
        <p:nvSpPr>
          <p:cNvPr id="6" name="s31-text-04"/>
          <p:cNvSpPr txBox="1"/>
          <p:nvPr/>
        </p:nvSpPr>
        <p:spPr>
          <a:xfrm>
            <a:off x="1079473" y="1939182"/>
            <a:ext cx="4756031" cy="215895"/>
          </a:xfrm>
          <a:prstGeom prst="rect">
            <a:avLst/>
          </a:prstGeom>
          <a:noFill/>
        </p:spPr>
        <p:txBody>
          <a:bodyPr wrap="none" lIns="0" rIns="0" tIns="0" bIns="0" anchor="t">
            <a:noAutofit/>
          </a:bodyPr>
          <a:lstStyle/>
          <a:p>
            <a:pPr algn="l">
              <a:lnSpc>
                <a:spcPts val="1800"/>
              </a:lnSpc>
              <a:spcBef>
                <a:spcPts val="0"/>
              </a:spcBef>
              <a:spcAft>
                <a:spcPts val="0"/>
              </a:spcAft>
            </a:pPr>
            <a:r>
              <a:rPr sz="1500" b="1" i="0" spc="-22">
                <a:solidFill>
                  <a:srgbClr val="0B0B0F"/>
                </a:solidFill>
                <a:latin typeface="Arial"/>
              </a:rPr>
              <a:t>Dr. Ziwen Pan</a:t>
            </a:r>
          </a:p>
        </p:txBody>
      </p:sp>
      <p:sp>
        <p:nvSpPr>
          <p:cNvPr id="7" name="s31-text-05"/>
          <p:cNvSpPr txBox="1"/>
          <p:nvPr/>
        </p:nvSpPr>
        <p:spPr>
          <a:xfrm>
            <a:off x="1079473" y="2193176"/>
            <a:ext cx="4756031" cy="213315"/>
          </a:xfrm>
          <a:prstGeom prst="rect">
            <a:avLst/>
          </a:prstGeom>
          <a:noFill/>
        </p:spPr>
        <p:txBody>
          <a:bodyPr wrap="none" lIns="0" rIns="0" tIns="0" bIns="0" anchor="t">
            <a:noAutofit/>
          </a:bodyPr>
          <a:lstStyle/>
          <a:p>
            <a:pPr algn="l">
              <a:lnSpc>
                <a:spcPts val="1680"/>
              </a:lnSpc>
              <a:spcBef>
                <a:spcPts val="0"/>
              </a:spcBef>
              <a:spcAft>
                <a:spcPts val="0"/>
              </a:spcAft>
            </a:pPr>
            <a:r>
              <a:rPr sz="1200" b="0" i="0">
                <a:solidFill>
                  <a:srgbClr val="50505B"/>
                </a:solidFill>
                <a:latin typeface="Arial"/>
              </a:rPr>
              <a:t>Computer Science, Texas Tech University</a:t>
            </a:r>
          </a:p>
        </p:txBody>
      </p:sp>
      <p:sp>
        <p:nvSpPr>
          <p:cNvPr id="8" name="s31-box-02"/>
          <p:cNvSpPr/>
          <p:nvPr/>
        </p:nvSpPr>
        <p:spPr>
          <a:xfrm>
            <a:off x="888978" y="3238221"/>
            <a:ext cx="5117972" cy="1527633"/>
          </a:xfrm>
          <a:prstGeom prst="roundRect">
            <a:avLst>
              <a:gd name="adj" fmla="val 9975"/>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31-text-06"/>
          <p:cNvSpPr txBox="1"/>
          <p:nvPr/>
        </p:nvSpPr>
        <p:spPr>
          <a:xfrm>
            <a:off x="1079473" y="3377917"/>
            <a:ext cx="475603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NERSC / LBNL</a:t>
            </a:r>
          </a:p>
        </p:txBody>
      </p:sp>
      <p:sp>
        <p:nvSpPr>
          <p:cNvPr id="10" name="s31-text-07"/>
          <p:cNvSpPr txBox="1"/>
          <p:nvPr/>
        </p:nvSpPr>
        <p:spPr>
          <a:xfrm>
            <a:off x="1079473" y="3581112"/>
            <a:ext cx="4756031" cy="215895"/>
          </a:xfrm>
          <a:prstGeom prst="rect">
            <a:avLst/>
          </a:prstGeom>
          <a:noFill/>
        </p:spPr>
        <p:txBody>
          <a:bodyPr wrap="none" lIns="0" rIns="0" tIns="0" bIns="0" anchor="t">
            <a:noAutofit/>
          </a:bodyPr>
          <a:lstStyle/>
          <a:p>
            <a:pPr algn="l">
              <a:lnSpc>
                <a:spcPts val="1800"/>
              </a:lnSpc>
              <a:spcBef>
                <a:spcPts val="0"/>
              </a:spcBef>
              <a:spcAft>
                <a:spcPts val="0"/>
              </a:spcAft>
            </a:pPr>
            <a:r>
              <a:rPr sz="1500" b="1" i="0" spc="-22">
                <a:solidFill>
                  <a:srgbClr val="0B0B0F"/>
                </a:solidFill>
                <a:latin typeface="Arial"/>
              </a:rPr>
              <a:t>Jan Balewski</a:t>
            </a:r>
          </a:p>
        </p:txBody>
      </p:sp>
      <p:sp>
        <p:nvSpPr>
          <p:cNvPr id="11" name="s31-text-08"/>
          <p:cNvSpPr txBox="1"/>
          <p:nvPr/>
        </p:nvSpPr>
        <p:spPr>
          <a:xfrm>
            <a:off x="1079473" y="3835106"/>
            <a:ext cx="4756031" cy="213315"/>
          </a:xfrm>
          <a:prstGeom prst="rect">
            <a:avLst/>
          </a:prstGeom>
          <a:noFill/>
        </p:spPr>
        <p:txBody>
          <a:bodyPr wrap="none" lIns="0" rIns="0" tIns="0" bIns="0" anchor="t">
            <a:noAutofit/>
          </a:bodyPr>
          <a:lstStyle/>
          <a:p>
            <a:pPr algn="l">
              <a:lnSpc>
                <a:spcPts val="1680"/>
              </a:lnSpc>
              <a:spcBef>
                <a:spcPts val="0"/>
              </a:spcBef>
              <a:spcAft>
                <a:spcPts val="0"/>
              </a:spcAft>
            </a:pPr>
            <a:r>
              <a:rPr sz="1200" b="0" i="0">
                <a:solidFill>
                  <a:srgbClr val="50505B"/>
                </a:solidFill>
                <a:latin typeface="Arial"/>
              </a:rPr>
              <a:t>HPC deployment · QCrank · Perlmutter allocations</a:t>
            </a:r>
          </a:p>
        </p:txBody>
      </p:sp>
      <p:sp>
        <p:nvSpPr>
          <p:cNvPr id="12" name="s31-box-03"/>
          <p:cNvSpPr/>
          <p:nvPr/>
        </p:nvSpPr>
        <p:spPr>
          <a:xfrm>
            <a:off x="6184745" y="1596291"/>
            <a:ext cx="5117972" cy="1335848"/>
          </a:xfrm>
          <a:prstGeom prst="roundRect">
            <a:avLst>
              <a:gd name="adj" fmla="val 11408"/>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31-text-09"/>
          <p:cNvSpPr txBox="1"/>
          <p:nvPr/>
        </p:nvSpPr>
        <p:spPr>
          <a:xfrm>
            <a:off x="6375241" y="1735987"/>
            <a:ext cx="475603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COAUTHORS</a:t>
            </a:r>
          </a:p>
        </p:txBody>
      </p:sp>
      <p:sp>
        <p:nvSpPr>
          <p:cNvPr id="14" name="s31-text-10"/>
          <p:cNvSpPr txBox="1"/>
          <p:nvPr/>
        </p:nvSpPr>
        <p:spPr>
          <a:xfrm>
            <a:off x="6375241" y="1939182"/>
            <a:ext cx="4749681" cy="853260"/>
          </a:xfrm>
          <a:prstGeom prst="rect">
            <a:avLst/>
          </a:prstGeom>
          <a:noFill/>
        </p:spPr>
        <p:txBody>
          <a:bodyPr wrap="square" lIns="0" rIns="0" tIns="0" bIns="0" anchor="t">
            <a:noAutofit/>
          </a:bodyPr>
          <a:lstStyle/>
          <a:p>
            <a:pPr algn="l">
              <a:lnSpc>
                <a:spcPts val="1680"/>
              </a:lnSpc>
              <a:spcBef>
                <a:spcPts val="0"/>
              </a:spcBef>
              <a:spcAft>
                <a:spcPts val="0"/>
              </a:spcAft>
            </a:pPr>
            <a:r>
              <a:rPr sz="1200" b="0" i="0">
                <a:solidFill>
                  <a:srgbClr val="50505B"/>
                </a:solidFill>
                <a:latin typeface="Arial"/>
              </a:rPr>
              <a:t>Alex Khan · Wenshuo Hu · Victor S. Sheng · Jie Li · Yong Chen · Steven Rayan · Kewen Xiao · Shabnam Jabeen · Anthony Lawrence · Renyu Wang · Randy Kuang · Viraj Dsouza · Abhishek Chopra · Rut Lineswala</a:t>
            </a:r>
          </a:p>
        </p:txBody>
      </p:sp>
      <p:sp>
        <p:nvSpPr>
          <p:cNvPr id="15" name="s31-box-04"/>
          <p:cNvSpPr/>
          <p:nvPr/>
        </p:nvSpPr>
        <p:spPr>
          <a:xfrm>
            <a:off x="6184745" y="3046436"/>
            <a:ext cx="5117972" cy="909218"/>
          </a:xfrm>
          <a:prstGeom prst="roundRect">
            <a:avLst>
              <a:gd name="adj" fmla="val 1676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31-text-11"/>
          <p:cNvSpPr txBox="1"/>
          <p:nvPr/>
        </p:nvSpPr>
        <p:spPr>
          <a:xfrm>
            <a:off x="6375241" y="3186132"/>
            <a:ext cx="475603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FUNDING &amp; FACILITIES</a:t>
            </a:r>
          </a:p>
        </p:txBody>
      </p:sp>
      <p:sp>
        <p:nvSpPr>
          <p:cNvPr id="17" name="s31-text-12"/>
          <p:cNvSpPr txBox="1"/>
          <p:nvPr/>
        </p:nvSpPr>
        <p:spPr>
          <a:xfrm>
            <a:off x="6375241" y="3389327"/>
            <a:ext cx="4749681" cy="426630"/>
          </a:xfrm>
          <a:prstGeom prst="rect">
            <a:avLst/>
          </a:prstGeom>
          <a:noFill/>
        </p:spPr>
        <p:txBody>
          <a:bodyPr wrap="square" lIns="0" rIns="0" tIns="0" bIns="0" anchor="t">
            <a:noAutofit/>
          </a:bodyPr>
          <a:lstStyle/>
          <a:p>
            <a:pPr algn="l">
              <a:lnSpc>
                <a:spcPts val="1680"/>
              </a:lnSpc>
              <a:spcBef>
                <a:spcPts val="0"/>
              </a:spcBef>
              <a:spcAft>
                <a:spcPts val="0"/>
              </a:spcAft>
            </a:pPr>
            <a:r>
              <a:rPr sz="1200" b="0" i="0">
                <a:solidFill>
                  <a:srgbClr val="50505B"/>
                </a:solidFill>
                <a:latin typeface="Arial"/>
              </a:rPr>
              <a:t>DOE Office of Science · NERSC DDR-ERCAP0034486 / 0034385 · TTU HPCC · UMD QLab · Xanadu</a:t>
            </a:r>
          </a:p>
        </p:txBody>
      </p:sp>
      <p:sp>
        <p:nvSpPr>
          <p:cNvPr id="18" name="s31-box-05"/>
          <p:cNvSpPr/>
          <p:nvPr/>
        </p:nvSpPr>
        <p:spPr>
          <a:xfrm>
            <a:off x="6184745" y="4069951"/>
            <a:ext cx="5117972" cy="695903"/>
          </a:xfrm>
          <a:prstGeom prst="roundRect">
            <a:avLst>
              <a:gd name="adj" fmla="val 21899"/>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31-text-13"/>
          <p:cNvSpPr txBox="1"/>
          <p:nvPr/>
        </p:nvSpPr>
        <p:spPr>
          <a:xfrm>
            <a:off x="6375241" y="4209647"/>
            <a:ext cx="4756031"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HARDWARE ACCESS</a:t>
            </a:r>
          </a:p>
        </p:txBody>
      </p:sp>
      <p:sp>
        <p:nvSpPr>
          <p:cNvPr id="20" name="s31-text-14"/>
          <p:cNvSpPr txBox="1"/>
          <p:nvPr/>
        </p:nvSpPr>
        <p:spPr>
          <a:xfrm>
            <a:off x="6375241" y="4412842"/>
            <a:ext cx="4756031" cy="213315"/>
          </a:xfrm>
          <a:prstGeom prst="rect">
            <a:avLst/>
          </a:prstGeom>
          <a:noFill/>
        </p:spPr>
        <p:txBody>
          <a:bodyPr wrap="none" lIns="0" rIns="0" tIns="0" bIns="0" anchor="t">
            <a:noAutofit/>
          </a:bodyPr>
          <a:lstStyle/>
          <a:p>
            <a:pPr algn="l">
              <a:lnSpc>
                <a:spcPts val="1680"/>
              </a:lnSpc>
              <a:spcBef>
                <a:spcPts val="0"/>
              </a:spcBef>
              <a:spcAft>
                <a:spcPts val="0"/>
              </a:spcAft>
            </a:pPr>
            <a:r>
              <a:rPr sz="1200" b="0" i="0">
                <a:solidFill>
                  <a:srgbClr val="50505B"/>
                </a:solidFill>
                <a:latin typeface="Arial"/>
              </a:rPr>
              <a:t>IBM Quantum · IonQ · Amazon Braket · NVIDIA A100 (NERSC, TTU)</a:t>
            </a:r>
          </a:p>
        </p:txBody>
      </p:sp>
      <p:sp>
        <p:nvSpPr>
          <p:cNvPr id="21" name="!!sec"/>
          <p:cNvSpPr txBox="1"/>
          <p:nvPr/>
        </p:nvSpPr>
        <p:spPr>
          <a:xfrm>
            <a:off x="888978" y="6362541"/>
            <a:ext cx="772895"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Closing</a:t>
            </a:r>
          </a:p>
        </p:txBody>
      </p:sp>
      <p:pic>
        <p:nvPicPr>
          <p:cNvPr id="22" name="s31-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23"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31</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s32-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32-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s32-text-01"/>
          <p:cNvSpPr txBox="1"/>
          <p:nvPr/>
        </p:nvSpPr>
        <p:spPr>
          <a:xfrm>
            <a:off x="4244770" y="2432684"/>
            <a:ext cx="3708407" cy="826670"/>
          </a:xfrm>
          <a:prstGeom prst="rect">
            <a:avLst/>
          </a:prstGeom>
          <a:noFill/>
        </p:spPr>
        <p:txBody>
          <a:bodyPr wrap="none" lIns="0" rIns="0" tIns="0" bIns="0" anchor="t">
            <a:noAutofit/>
          </a:bodyPr>
          <a:lstStyle/>
          <a:p>
            <a:pPr algn="ctr">
              <a:lnSpc>
                <a:spcPts val="6509"/>
              </a:lnSpc>
              <a:spcBef>
                <a:spcPts val="0"/>
              </a:spcBef>
              <a:spcAft>
                <a:spcPts val="0"/>
              </a:spcAft>
            </a:pPr>
            <a:r>
              <a:rPr sz="6200" b="1" i="0" spc="-217">
                <a:solidFill>
                  <a:srgbClr val="CC0000"/>
                </a:solidFill>
                <a:latin typeface="Arial"/>
              </a:rPr>
              <a:t>Thank you</a:t>
            </a:r>
          </a:p>
        </p:txBody>
      </p:sp>
      <p:sp>
        <p:nvSpPr>
          <p:cNvPr id="5" name="s32-text-02"/>
          <p:cNvSpPr txBox="1"/>
          <p:nvPr/>
        </p:nvSpPr>
        <p:spPr>
          <a:xfrm>
            <a:off x="5447072" y="3449849"/>
            <a:ext cx="1303900" cy="342891"/>
          </a:xfrm>
          <a:prstGeom prst="rect">
            <a:avLst/>
          </a:prstGeom>
          <a:noFill/>
        </p:spPr>
        <p:txBody>
          <a:bodyPr wrap="none" lIns="0" rIns="0" tIns="0" bIns="0" anchor="t">
            <a:noAutofit/>
          </a:bodyPr>
          <a:lstStyle/>
          <a:p>
            <a:pPr algn="ctr">
              <a:lnSpc>
                <a:spcPts val="2700"/>
              </a:lnSpc>
              <a:spcBef>
                <a:spcPts val="0"/>
              </a:spcBef>
              <a:spcAft>
                <a:spcPts val="0"/>
              </a:spcAft>
            </a:pPr>
            <a:r>
              <a:rPr sz="2000" b="0" i="0">
                <a:solidFill>
                  <a:srgbClr val="50505B"/>
                </a:solidFill>
                <a:latin typeface="Arial"/>
              </a:rPr>
              <a:t>Questions?</a:t>
            </a:r>
          </a:p>
        </p:txBody>
      </p:sp>
      <p:sp>
        <p:nvSpPr>
          <p:cNvPr id="6" name="s32-text-03"/>
          <p:cNvSpPr txBox="1"/>
          <p:nvPr/>
        </p:nvSpPr>
        <p:spPr>
          <a:xfrm>
            <a:off x="3318189" y="4173731"/>
            <a:ext cx="5561568" cy="213315"/>
          </a:xfrm>
          <a:prstGeom prst="rect">
            <a:avLst/>
          </a:prstGeom>
          <a:noFill/>
        </p:spPr>
        <p:txBody>
          <a:bodyPr wrap="none" lIns="0" rIns="0" tIns="0" bIns="0" anchor="t">
            <a:noAutofit/>
          </a:bodyPr>
          <a:lstStyle/>
          <a:p>
            <a:pPr algn="ctr">
              <a:lnSpc>
                <a:spcPts val="1680"/>
              </a:lnSpc>
              <a:spcBef>
                <a:spcPts val="0"/>
              </a:spcBef>
              <a:spcAft>
                <a:spcPts val="0"/>
              </a:spcAft>
            </a:pPr>
            <a:r>
              <a:rPr sz="1200" b="0" i="0">
                <a:solidFill>
                  <a:srgbClr val="7B7B86"/>
                </a:solidFill>
                <a:latin typeface="Arial"/>
              </a:rPr>
              <a:t>Ziqing Guo · ziqguo@ttu.edu · github.com/gzquse · ORCID 0009-0006-3999-2221</a:t>
            </a:r>
          </a:p>
        </p:txBody>
      </p:sp>
      <p:sp>
        <p:nvSpPr>
          <p:cNvPr id="7" name="!!sec"/>
          <p:cNvSpPr txBox="1"/>
          <p:nvPr/>
        </p:nvSpPr>
        <p:spPr>
          <a:xfrm>
            <a:off x="888978" y="6362541"/>
            <a:ext cx="992758"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Questions</a:t>
            </a:r>
          </a:p>
        </p:txBody>
      </p:sp>
      <p:pic>
        <p:nvPicPr>
          <p:cNvPr id="8" name="s32-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9"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32</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2580417"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Backup · Publications</a:t>
            </a:r>
          </a:p>
        </p:txBody>
      </p:sp>
      <p:sp>
        <p:nvSpPr>
          <p:cNvPr id="3" name="s33-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Ten papers, one software release</a:t>
            </a:r>
          </a:p>
        </p:txBody>
      </p:sp>
      <p:sp>
        <p:nvSpPr>
          <p:cNvPr id="4" name="s33-box-01"/>
          <p:cNvSpPr/>
          <p:nvPr/>
        </p:nvSpPr>
        <p:spPr>
          <a:xfrm>
            <a:off x="888978" y="1739162"/>
            <a:ext cx="317492"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33-text-03"/>
          <p:cNvSpPr txBox="1"/>
          <p:nvPr/>
        </p:nvSpPr>
        <p:spPr>
          <a:xfrm>
            <a:off x="888978" y="1545492"/>
            <a:ext cx="184145" cy="130172"/>
          </a:xfrm>
          <a:prstGeom prst="rect">
            <a:avLst/>
          </a:prstGeom>
          <a:noFill/>
        </p:spPr>
        <p:txBody>
          <a:bodyPr wrap="none" lIns="0" rIns="0" tIns="0" bIns="0" anchor="t">
            <a:noAutofit/>
          </a:bodyPr>
          <a:lstStyle/>
          <a:p>
            <a:pPr algn="l">
              <a:lnSpc>
                <a:spcPts val="1080"/>
              </a:lnSpc>
              <a:spcBef>
                <a:spcPts val="0"/>
              </a:spcBef>
              <a:spcAft>
                <a:spcPts val="0"/>
              </a:spcAft>
            </a:pPr>
            <a:r>
              <a:rPr sz="900" b="1" i="0" spc="90" cap="all">
                <a:solidFill>
                  <a:srgbClr val="7B7B86"/>
                </a:solidFill>
                <a:latin typeface="Arial"/>
              </a:rPr>
              <a:t>#</a:t>
            </a:r>
          </a:p>
        </p:txBody>
      </p:sp>
      <p:sp>
        <p:nvSpPr>
          <p:cNvPr id="6" name="s33-box-02"/>
          <p:cNvSpPr/>
          <p:nvPr/>
        </p:nvSpPr>
        <p:spPr>
          <a:xfrm>
            <a:off x="1206470" y="1739162"/>
            <a:ext cx="5079873"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33-text-04"/>
          <p:cNvSpPr txBox="1"/>
          <p:nvPr/>
        </p:nvSpPr>
        <p:spPr>
          <a:xfrm>
            <a:off x="1206470" y="1545492"/>
            <a:ext cx="4946526" cy="130172"/>
          </a:xfrm>
          <a:prstGeom prst="rect">
            <a:avLst/>
          </a:prstGeom>
          <a:noFill/>
        </p:spPr>
        <p:txBody>
          <a:bodyPr wrap="none" lIns="0" rIns="0" tIns="0" bIns="0" anchor="t">
            <a:noAutofit/>
          </a:bodyPr>
          <a:lstStyle/>
          <a:p>
            <a:pPr algn="l">
              <a:lnSpc>
                <a:spcPts val="1080"/>
              </a:lnSpc>
              <a:spcBef>
                <a:spcPts val="0"/>
              </a:spcBef>
              <a:spcAft>
                <a:spcPts val="0"/>
              </a:spcAft>
            </a:pPr>
            <a:r>
              <a:rPr sz="900" b="1" i="0" spc="90" cap="all">
                <a:solidFill>
                  <a:srgbClr val="7B7B86"/>
                </a:solidFill>
                <a:latin typeface="Arial"/>
              </a:rPr>
              <a:t>Title</a:t>
            </a:r>
          </a:p>
        </p:txBody>
      </p:sp>
      <p:sp>
        <p:nvSpPr>
          <p:cNvPr id="8" name="s33-box-03"/>
          <p:cNvSpPr/>
          <p:nvPr/>
        </p:nvSpPr>
        <p:spPr>
          <a:xfrm>
            <a:off x="6286343" y="1739162"/>
            <a:ext cx="2730432"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33-text-05"/>
          <p:cNvSpPr txBox="1"/>
          <p:nvPr/>
        </p:nvSpPr>
        <p:spPr>
          <a:xfrm>
            <a:off x="6286343" y="1545492"/>
            <a:ext cx="2597085" cy="130172"/>
          </a:xfrm>
          <a:prstGeom prst="rect">
            <a:avLst/>
          </a:prstGeom>
          <a:noFill/>
        </p:spPr>
        <p:txBody>
          <a:bodyPr wrap="none" lIns="0" rIns="0" tIns="0" bIns="0" anchor="t">
            <a:noAutofit/>
          </a:bodyPr>
          <a:lstStyle/>
          <a:p>
            <a:pPr algn="l">
              <a:lnSpc>
                <a:spcPts val="1080"/>
              </a:lnSpc>
              <a:spcBef>
                <a:spcPts val="0"/>
              </a:spcBef>
              <a:spcAft>
                <a:spcPts val="0"/>
              </a:spcAft>
            </a:pPr>
            <a:r>
              <a:rPr sz="900" b="1" i="0" spc="90" cap="all">
                <a:solidFill>
                  <a:srgbClr val="7B7B86"/>
                </a:solidFill>
                <a:latin typeface="Arial"/>
              </a:rPr>
              <a:t>Authors</a:t>
            </a:r>
          </a:p>
        </p:txBody>
      </p:sp>
      <p:sp>
        <p:nvSpPr>
          <p:cNvPr id="10" name="s33-box-04"/>
          <p:cNvSpPr/>
          <p:nvPr/>
        </p:nvSpPr>
        <p:spPr>
          <a:xfrm>
            <a:off x="9016775" y="1739162"/>
            <a:ext cx="2285943"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33-text-06"/>
          <p:cNvSpPr txBox="1"/>
          <p:nvPr/>
        </p:nvSpPr>
        <p:spPr>
          <a:xfrm>
            <a:off x="9016775" y="1545492"/>
            <a:ext cx="2152596" cy="130172"/>
          </a:xfrm>
          <a:prstGeom prst="rect">
            <a:avLst/>
          </a:prstGeom>
          <a:noFill/>
        </p:spPr>
        <p:txBody>
          <a:bodyPr wrap="none" lIns="0" rIns="0" tIns="0" bIns="0" anchor="t">
            <a:noAutofit/>
          </a:bodyPr>
          <a:lstStyle/>
          <a:p>
            <a:pPr algn="l">
              <a:lnSpc>
                <a:spcPts val="1080"/>
              </a:lnSpc>
              <a:spcBef>
                <a:spcPts val="0"/>
              </a:spcBef>
              <a:spcAft>
                <a:spcPts val="0"/>
              </a:spcAft>
            </a:pPr>
            <a:r>
              <a:rPr sz="900" b="1" i="0" spc="90" cap="all">
                <a:solidFill>
                  <a:srgbClr val="7B7B86"/>
                </a:solidFill>
                <a:latin typeface="Arial"/>
              </a:rPr>
              <a:t>Venue</a:t>
            </a:r>
          </a:p>
        </p:txBody>
      </p:sp>
      <p:sp>
        <p:nvSpPr>
          <p:cNvPr id="12" name="s33-box-05"/>
          <p:cNvSpPr/>
          <p:nvPr/>
        </p:nvSpPr>
        <p:spPr>
          <a:xfrm>
            <a:off x="888978" y="2007740"/>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33-text-07"/>
          <p:cNvSpPr txBox="1"/>
          <p:nvPr/>
        </p:nvSpPr>
        <p:spPr>
          <a:xfrm>
            <a:off x="888978" y="1789961"/>
            <a:ext cx="234944"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1</a:t>
            </a:r>
          </a:p>
        </p:txBody>
      </p:sp>
      <p:sp>
        <p:nvSpPr>
          <p:cNvPr id="14" name="s33-box-06"/>
          <p:cNvSpPr/>
          <p:nvPr/>
        </p:nvSpPr>
        <p:spPr>
          <a:xfrm>
            <a:off x="1206470" y="2007740"/>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33-text-08"/>
          <p:cNvSpPr txBox="1"/>
          <p:nvPr/>
        </p:nvSpPr>
        <p:spPr>
          <a:xfrm>
            <a:off x="1206470" y="1789961"/>
            <a:ext cx="499732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Q-GEAR: improving quantum simulation framework</a:t>
            </a:r>
          </a:p>
        </p:txBody>
      </p:sp>
      <p:sp>
        <p:nvSpPr>
          <p:cNvPr id="16" name="s33-box-07"/>
          <p:cNvSpPr/>
          <p:nvPr/>
        </p:nvSpPr>
        <p:spPr>
          <a:xfrm>
            <a:off x="6286343" y="2007740"/>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33-text-09"/>
          <p:cNvSpPr txBox="1"/>
          <p:nvPr/>
        </p:nvSpPr>
        <p:spPr>
          <a:xfrm>
            <a:off x="6286343" y="1789961"/>
            <a:ext cx="2647884"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Guo, Balewski, Pan</a:t>
            </a:r>
          </a:p>
        </p:txBody>
      </p:sp>
      <p:sp>
        <p:nvSpPr>
          <p:cNvPr id="18" name="s33-box-08"/>
          <p:cNvSpPr/>
          <p:nvPr/>
        </p:nvSpPr>
        <p:spPr>
          <a:xfrm>
            <a:off x="9016775" y="2007740"/>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33-text-10"/>
          <p:cNvSpPr txBox="1"/>
          <p:nvPr/>
        </p:nvSpPr>
        <p:spPr>
          <a:xfrm>
            <a:off x="9016775" y="1789961"/>
            <a:ext cx="220339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ACM ICPP 2025 · arXiv:2504.03967</a:t>
            </a:r>
          </a:p>
        </p:txBody>
      </p:sp>
      <p:sp>
        <p:nvSpPr>
          <p:cNvPr id="20" name="s33-box-09"/>
          <p:cNvSpPr/>
          <p:nvPr/>
        </p:nvSpPr>
        <p:spPr>
          <a:xfrm>
            <a:off x="888978" y="2449650"/>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33-text-11"/>
          <p:cNvSpPr txBox="1"/>
          <p:nvPr/>
        </p:nvSpPr>
        <p:spPr>
          <a:xfrm>
            <a:off x="888978" y="2058539"/>
            <a:ext cx="228594" cy="346662"/>
          </a:xfrm>
          <a:prstGeom prst="rect">
            <a:avLst/>
          </a:prstGeom>
          <a:noFill/>
        </p:spPr>
        <p:txBody>
          <a:bodyPr wrap="square" lIns="0" rIns="0" tIns="0" bIns="0" anchor="t">
            <a:noAutofit/>
          </a:bodyPr>
          <a:lstStyle/>
          <a:p>
            <a:pPr algn="l">
              <a:lnSpc>
                <a:spcPts val="1365"/>
              </a:lnSpc>
              <a:spcBef>
                <a:spcPts val="0"/>
              </a:spcBef>
              <a:spcAft>
                <a:spcPts val="0"/>
              </a:spcAft>
            </a:pPr>
            <a:r>
              <a:rPr sz="1050" b="1" i="0">
                <a:solidFill>
                  <a:srgbClr val="0B0B0F"/>
                </a:solidFill>
                <a:latin typeface="Arial"/>
              </a:rPr>
              <a:t>2</a:t>
            </a:r>
          </a:p>
        </p:txBody>
      </p:sp>
      <p:sp>
        <p:nvSpPr>
          <p:cNvPr id="22" name="s33-box-10"/>
          <p:cNvSpPr/>
          <p:nvPr/>
        </p:nvSpPr>
        <p:spPr>
          <a:xfrm>
            <a:off x="1206470" y="2449650"/>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33-text-12"/>
          <p:cNvSpPr txBox="1"/>
          <p:nvPr/>
        </p:nvSpPr>
        <p:spPr>
          <a:xfrm>
            <a:off x="1206470" y="2058539"/>
            <a:ext cx="4990975"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QPIE: quantum parallel information exchange network with transfer learning</a:t>
            </a:r>
          </a:p>
        </p:txBody>
      </p:sp>
      <p:sp>
        <p:nvSpPr>
          <p:cNvPr id="24" name="s33-box-11"/>
          <p:cNvSpPr/>
          <p:nvPr/>
        </p:nvSpPr>
        <p:spPr>
          <a:xfrm>
            <a:off x="6286343" y="2449650"/>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33-text-13"/>
          <p:cNvSpPr txBox="1"/>
          <p:nvPr/>
        </p:nvSpPr>
        <p:spPr>
          <a:xfrm>
            <a:off x="6286343" y="2058539"/>
            <a:ext cx="2641534"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Guo, Khan, Sheng, Jabeen, Pan</a:t>
            </a:r>
          </a:p>
        </p:txBody>
      </p:sp>
      <p:sp>
        <p:nvSpPr>
          <p:cNvPr id="26" name="s33-box-12"/>
          <p:cNvSpPr/>
          <p:nvPr/>
        </p:nvSpPr>
        <p:spPr>
          <a:xfrm>
            <a:off x="9016775" y="2449650"/>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33-text-14"/>
          <p:cNvSpPr txBox="1"/>
          <p:nvPr/>
        </p:nvSpPr>
        <p:spPr>
          <a:xfrm>
            <a:off x="9016775" y="2058539"/>
            <a:ext cx="2197045"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Quantum Sci. Technol. 10 (2025) · arXiv:2504.04235</a:t>
            </a:r>
          </a:p>
        </p:txBody>
      </p:sp>
      <p:sp>
        <p:nvSpPr>
          <p:cNvPr id="28" name="s33-box-13"/>
          <p:cNvSpPr/>
          <p:nvPr/>
        </p:nvSpPr>
        <p:spPr>
          <a:xfrm>
            <a:off x="888978" y="2718228"/>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33-text-15"/>
          <p:cNvSpPr txBox="1"/>
          <p:nvPr/>
        </p:nvSpPr>
        <p:spPr>
          <a:xfrm>
            <a:off x="888978" y="2500448"/>
            <a:ext cx="234944"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3</a:t>
            </a:r>
          </a:p>
        </p:txBody>
      </p:sp>
      <p:sp>
        <p:nvSpPr>
          <p:cNvPr id="30" name="s33-box-14"/>
          <p:cNvSpPr/>
          <p:nvPr/>
        </p:nvSpPr>
        <p:spPr>
          <a:xfrm>
            <a:off x="1206470" y="2718228"/>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33-text-16"/>
          <p:cNvSpPr txBox="1"/>
          <p:nvPr/>
        </p:nvSpPr>
        <p:spPr>
          <a:xfrm>
            <a:off x="1206470" y="2500448"/>
            <a:ext cx="499732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DEAL: direct entanglement ansatz learning with ZNE on superconducting qubits</a:t>
            </a:r>
          </a:p>
        </p:txBody>
      </p:sp>
      <p:sp>
        <p:nvSpPr>
          <p:cNvPr id="32" name="s33-box-15"/>
          <p:cNvSpPr/>
          <p:nvPr/>
        </p:nvSpPr>
        <p:spPr>
          <a:xfrm>
            <a:off x="6286343" y="2718228"/>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33-text-17"/>
          <p:cNvSpPr txBox="1"/>
          <p:nvPr/>
        </p:nvSpPr>
        <p:spPr>
          <a:xfrm>
            <a:off x="6286343" y="2500448"/>
            <a:ext cx="2647884"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Guo, Rayan, Hu, Pan</a:t>
            </a:r>
          </a:p>
        </p:txBody>
      </p:sp>
      <p:sp>
        <p:nvSpPr>
          <p:cNvPr id="34" name="s33-box-16"/>
          <p:cNvSpPr/>
          <p:nvPr/>
        </p:nvSpPr>
        <p:spPr>
          <a:xfrm>
            <a:off x="9016775" y="2718228"/>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33-text-18"/>
          <p:cNvSpPr txBox="1"/>
          <p:nvPr/>
        </p:nvSpPr>
        <p:spPr>
          <a:xfrm>
            <a:off x="9016775" y="2500448"/>
            <a:ext cx="220339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IEEE QCE 2025 · arXiv:2504.04021</a:t>
            </a:r>
          </a:p>
        </p:txBody>
      </p:sp>
      <p:sp>
        <p:nvSpPr>
          <p:cNvPr id="36" name="s33-box-17"/>
          <p:cNvSpPr/>
          <p:nvPr/>
        </p:nvSpPr>
        <p:spPr>
          <a:xfrm>
            <a:off x="888978" y="3160137"/>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33-text-19"/>
          <p:cNvSpPr txBox="1"/>
          <p:nvPr/>
        </p:nvSpPr>
        <p:spPr>
          <a:xfrm>
            <a:off x="888978" y="2769027"/>
            <a:ext cx="228594" cy="346662"/>
          </a:xfrm>
          <a:prstGeom prst="rect">
            <a:avLst/>
          </a:prstGeom>
          <a:noFill/>
        </p:spPr>
        <p:txBody>
          <a:bodyPr wrap="square" lIns="0" rIns="0" tIns="0" bIns="0" anchor="t">
            <a:noAutofit/>
          </a:bodyPr>
          <a:lstStyle/>
          <a:p>
            <a:pPr algn="l">
              <a:lnSpc>
                <a:spcPts val="1365"/>
              </a:lnSpc>
              <a:spcBef>
                <a:spcPts val="0"/>
              </a:spcBef>
              <a:spcAft>
                <a:spcPts val="0"/>
              </a:spcAft>
            </a:pPr>
            <a:r>
              <a:rPr sz="1050" b="1" i="0">
                <a:solidFill>
                  <a:srgbClr val="0B0B0F"/>
                </a:solidFill>
                <a:latin typeface="Arial"/>
              </a:rPr>
              <a:t>4</a:t>
            </a:r>
          </a:p>
        </p:txBody>
      </p:sp>
      <p:sp>
        <p:nvSpPr>
          <p:cNvPr id="38" name="s33-box-18"/>
          <p:cNvSpPr/>
          <p:nvPr/>
        </p:nvSpPr>
        <p:spPr>
          <a:xfrm>
            <a:off x="1206470" y="3160137"/>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33-text-20"/>
          <p:cNvSpPr txBox="1"/>
          <p:nvPr/>
        </p:nvSpPr>
        <p:spPr>
          <a:xfrm>
            <a:off x="1206470" y="2769027"/>
            <a:ext cx="4990975"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VQT: vectorized attention with learnable encoding for quantum transformer</a:t>
            </a:r>
          </a:p>
        </p:txBody>
      </p:sp>
      <p:sp>
        <p:nvSpPr>
          <p:cNvPr id="40" name="s33-box-19"/>
          <p:cNvSpPr/>
          <p:nvPr/>
        </p:nvSpPr>
        <p:spPr>
          <a:xfrm>
            <a:off x="6286343" y="3160137"/>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33-text-21"/>
          <p:cNvSpPr txBox="1"/>
          <p:nvPr/>
        </p:nvSpPr>
        <p:spPr>
          <a:xfrm>
            <a:off x="6286343" y="2769027"/>
            <a:ext cx="2641534"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Guo, Pan, Khan, Balewski</a:t>
            </a:r>
          </a:p>
        </p:txBody>
      </p:sp>
      <p:sp>
        <p:nvSpPr>
          <p:cNvPr id="42" name="s33-box-20"/>
          <p:cNvSpPr/>
          <p:nvPr/>
        </p:nvSpPr>
        <p:spPr>
          <a:xfrm>
            <a:off x="9016775" y="3160137"/>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33-text-22"/>
          <p:cNvSpPr txBox="1"/>
          <p:nvPr/>
        </p:nvSpPr>
        <p:spPr>
          <a:xfrm>
            <a:off x="9016775" y="2769027"/>
            <a:ext cx="2197045"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AAAI Symposium Series 7 (2025) · arXiv:2508.18464</a:t>
            </a:r>
          </a:p>
        </p:txBody>
      </p:sp>
      <p:sp>
        <p:nvSpPr>
          <p:cNvPr id="44" name="s33-box-21"/>
          <p:cNvSpPr/>
          <p:nvPr/>
        </p:nvSpPr>
        <p:spPr>
          <a:xfrm>
            <a:off x="888978" y="3428716"/>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33-text-23"/>
          <p:cNvSpPr txBox="1"/>
          <p:nvPr/>
        </p:nvSpPr>
        <p:spPr>
          <a:xfrm>
            <a:off x="888978" y="3210936"/>
            <a:ext cx="234944"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5</a:t>
            </a:r>
          </a:p>
        </p:txBody>
      </p:sp>
      <p:sp>
        <p:nvSpPr>
          <p:cNvPr id="46" name="s33-box-22"/>
          <p:cNvSpPr/>
          <p:nvPr/>
        </p:nvSpPr>
        <p:spPr>
          <a:xfrm>
            <a:off x="1206470" y="3428716"/>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s33-text-24"/>
          <p:cNvSpPr txBox="1"/>
          <p:nvPr/>
        </p:nvSpPr>
        <p:spPr>
          <a:xfrm>
            <a:off x="1206470" y="3210936"/>
            <a:ext cx="499732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ShardQ: quantum data representation via circuit partitioning and reintegration</a:t>
            </a:r>
          </a:p>
        </p:txBody>
      </p:sp>
      <p:sp>
        <p:nvSpPr>
          <p:cNvPr id="48" name="s33-box-23"/>
          <p:cNvSpPr/>
          <p:nvPr/>
        </p:nvSpPr>
        <p:spPr>
          <a:xfrm>
            <a:off x="6286343" y="3428716"/>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33-text-25"/>
          <p:cNvSpPr txBox="1"/>
          <p:nvPr/>
        </p:nvSpPr>
        <p:spPr>
          <a:xfrm>
            <a:off x="6286343" y="3210936"/>
            <a:ext cx="2647884"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Guo, Balewski, Xiao, Pan</a:t>
            </a:r>
          </a:p>
        </p:txBody>
      </p:sp>
      <p:sp>
        <p:nvSpPr>
          <p:cNvPr id="50" name="s33-box-24"/>
          <p:cNvSpPr/>
          <p:nvPr/>
        </p:nvSpPr>
        <p:spPr>
          <a:xfrm>
            <a:off x="9016775" y="3428716"/>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33-text-26"/>
          <p:cNvSpPr txBox="1"/>
          <p:nvPr/>
        </p:nvSpPr>
        <p:spPr>
          <a:xfrm>
            <a:off x="9016775" y="3210936"/>
            <a:ext cx="220339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arXiv:2511.05492 (2025)</a:t>
            </a:r>
          </a:p>
        </p:txBody>
      </p:sp>
      <p:sp>
        <p:nvSpPr>
          <p:cNvPr id="52" name="s33-box-25"/>
          <p:cNvSpPr/>
          <p:nvPr/>
        </p:nvSpPr>
        <p:spPr>
          <a:xfrm>
            <a:off x="888978" y="3697294"/>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s33-text-27"/>
          <p:cNvSpPr txBox="1"/>
          <p:nvPr/>
        </p:nvSpPr>
        <p:spPr>
          <a:xfrm>
            <a:off x="888978" y="3479515"/>
            <a:ext cx="234944"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6</a:t>
            </a:r>
          </a:p>
        </p:txBody>
      </p:sp>
      <p:sp>
        <p:nvSpPr>
          <p:cNvPr id="54" name="s33-box-26"/>
          <p:cNvSpPr/>
          <p:nvPr/>
        </p:nvSpPr>
        <p:spPr>
          <a:xfrm>
            <a:off x="1206470" y="3697294"/>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s33-text-28"/>
          <p:cNvSpPr txBox="1"/>
          <p:nvPr/>
        </p:nvSpPr>
        <p:spPr>
          <a:xfrm>
            <a:off x="1206470" y="3479515"/>
            <a:ext cx="499732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QAWA: quantum approximate walk algorithm</a:t>
            </a:r>
          </a:p>
        </p:txBody>
      </p:sp>
      <p:sp>
        <p:nvSpPr>
          <p:cNvPr id="56" name="s33-box-27"/>
          <p:cNvSpPr/>
          <p:nvPr/>
        </p:nvSpPr>
        <p:spPr>
          <a:xfrm>
            <a:off x="6286343" y="3697294"/>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s33-text-29"/>
          <p:cNvSpPr txBox="1"/>
          <p:nvPr/>
        </p:nvSpPr>
        <p:spPr>
          <a:xfrm>
            <a:off x="6286343" y="3479515"/>
            <a:ext cx="2647884"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Guo, Balewski, Hu, Khan, Pan</a:t>
            </a:r>
          </a:p>
        </p:txBody>
      </p:sp>
      <p:sp>
        <p:nvSpPr>
          <p:cNvPr id="58" name="s33-box-28"/>
          <p:cNvSpPr/>
          <p:nvPr/>
        </p:nvSpPr>
        <p:spPr>
          <a:xfrm>
            <a:off x="9016775" y="3697294"/>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33-text-30"/>
          <p:cNvSpPr txBox="1"/>
          <p:nvPr/>
        </p:nvSpPr>
        <p:spPr>
          <a:xfrm>
            <a:off x="9016775" y="3479515"/>
            <a:ext cx="220339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arXiv:2511.07676 (2025)</a:t>
            </a:r>
          </a:p>
        </p:txBody>
      </p:sp>
      <p:sp>
        <p:nvSpPr>
          <p:cNvPr id="60" name="s33-box-29"/>
          <p:cNvSpPr/>
          <p:nvPr/>
        </p:nvSpPr>
        <p:spPr>
          <a:xfrm>
            <a:off x="888978" y="3965873"/>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33-text-31"/>
          <p:cNvSpPr txBox="1"/>
          <p:nvPr/>
        </p:nvSpPr>
        <p:spPr>
          <a:xfrm>
            <a:off x="888978" y="3748093"/>
            <a:ext cx="234944"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7</a:t>
            </a:r>
          </a:p>
        </p:txBody>
      </p:sp>
      <p:sp>
        <p:nvSpPr>
          <p:cNvPr id="62" name="s33-box-30"/>
          <p:cNvSpPr/>
          <p:nvPr/>
        </p:nvSpPr>
        <p:spPr>
          <a:xfrm>
            <a:off x="1206470" y="3965873"/>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33-text-32"/>
          <p:cNvSpPr txBox="1"/>
          <p:nvPr/>
        </p:nvSpPr>
        <p:spPr>
          <a:xfrm>
            <a:off x="1206470" y="3748093"/>
            <a:ext cx="499732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NNQA: Neural-native quantum arithmetic for end-to-end polynomial synthesis</a:t>
            </a:r>
          </a:p>
        </p:txBody>
      </p:sp>
      <p:sp>
        <p:nvSpPr>
          <p:cNvPr id="64" name="s33-box-31"/>
          <p:cNvSpPr/>
          <p:nvPr/>
        </p:nvSpPr>
        <p:spPr>
          <a:xfrm>
            <a:off x="6286343" y="3965873"/>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33-text-33"/>
          <p:cNvSpPr txBox="1"/>
          <p:nvPr/>
        </p:nvSpPr>
        <p:spPr>
          <a:xfrm>
            <a:off x="6286343" y="3748093"/>
            <a:ext cx="2647884"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Guo, Li, Chen, Pan</a:t>
            </a:r>
          </a:p>
        </p:txBody>
      </p:sp>
      <p:sp>
        <p:nvSpPr>
          <p:cNvPr id="66" name="s33-box-32"/>
          <p:cNvSpPr/>
          <p:nvPr/>
        </p:nvSpPr>
        <p:spPr>
          <a:xfrm>
            <a:off x="9016775" y="3965873"/>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33-text-34"/>
          <p:cNvSpPr txBox="1"/>
          <p:nvPr/>
        </p:nvSpPr>
        <p:spPr>
          <a:xfrm>
            <a:off x="9016775" y="3748093"/>
            <a:ext cx="220339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arXiv:2603.27297 (2026)</a:t>
            </a:r>
          </a:p>
        </p:txBody>
      </p:sp>
      <p:sp>
        <p:nvSpPr>
          <p:cNvPr id="68" name="s33-box-33"/>
          <p:cNvSpPr/>
          <p:nvPr/>
        </p:nvSpPr>
        <p:spPr>
          <a:xfrm>
            <a:off x="888978" y="4407782"/>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33-text-35"/>
          <p:cNvSpPr txBox="1"/>
          <p:nvPr/>
        </p:nvSpPr>
        <p:spPr>
          <a:xfrm>
            <a:off x="888978" y="4016671"/>
            <a:ext cx="228594" cy="346662"/>
          </a:xfrm>
          <a:prstGeom prst="rect">
            <a:avLst/>
          </a:prstGeom>
          <a:noFill/>
        </p:spPr>
        <p:txBody>
          <a:bodyPr wrap="square" lIns="0" rIns="0" tIns="0" bIns="0" anchor="t">
            <a:noAutofit/>
          </a:bodyPr>
          <a:lstStyle/>
          <a:p>
            <a:pPr algn="l">
              <a:lnSpc>
                <a:spcPts val="1365"/>
              </a:lnSpc>
              <a:spcBef>
                <a:spcPts val="0"/>
              </a:spcBef>
              <a:spcAft>
                <a:spcPts val="0"/>
              </a:spcAft>
            </a:pPr>
            <a:r>
              <a:rPr sz="1050" b="1" i="0">
                <a:solidFill>
                  <a:srgbClr val="0B0B0F"/>
                </a:solidFill>
                <a:latin typeface="Arial"/>
              </a:rPr>
              <a:t>8</a:t>
            </a:r>
          </a:p>
        </p:txBody>
      </p:sp>
      <p:sp>
        <p:nvSpPr>
          <p:cNvPr id="70" name="s33-box-34"/>
          <p:cNvSpPr/>
          <p:nvPr/>
        </p:nvSpPr>
        <p:spPr>
          <a:xfrm>
            <a:off x="1206470" y="4407782"/>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33-text-36"/>
          <p:cNvSpPr txBox="1"/>
          <p:nvPr/>
        </p:nvSpPr>
        <p:spPr>
          <a:xfrm>
            <a:off x="1206470" y="4016671"/>
            <a:ext cx="4990975"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RubriQ: Rubric-guided GRPO for constraint-aware quantum circuit synthesis</a:t>
            </a:r>
          </a:p>
        </p:txBody>
      </p:sp>
      <p:sp>
        <p:nvSpPr>
          <p:cNvPr id="72" name="s33-box-35"/>
          <p:cNvSpPr/>
          <p:nvPr/>
        </p:nvSpPr>
        <p:spPr>
          <a:xfrm>
            <a:off x="6286343" y="4407782"/>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s33-text-37"/>
          <p:cNvSpPr txBox="1"/>
          <p:nvPr/>
        </p:nvSpPr>
        <p:spPr>
          <a:xfrm>
            <a:off x="6286343" y="4016671"/>
            <a:ext cx="2641534"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Guo, Pan</a:t>
            </a:r>
          </a:p>
        </p:txBody>
      </p:sp>
      <p:sp>
        <p:nvSpPr>
          <p:cNvPr id="74" name="s33-box-36"/>
          <p:cNvSpPr/>
          <p:nvPr/>
        </p:nvSpPr>
        <p:spPr>
          <a:xfrm>
            <a:off x="9016775" y="4407782"/>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s33-text-38"/>
          <p:cNvSpPr txBox="1"/>
          <p:nvPr/>
        </p:nvSpPr>
        <p:spPr>
          <a:xfrm>
            <a:off x="9016775" y="4016671"/>
            <a:ext cx="2197045"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arXiv:2607.07554 (2026) · under review, npj Quantum Information</a:t>
            </a:r>
          </a:p>
        </p:txBody>
      </p:sp>
      <p:sp>
        <p:nvSpPr>
          <p:cNvPr id="76" name="s33-box-37"/>
          <p:cNvSpPr/>
          <p:nvPr/>
        </p:nvSpPr>
        <p:spPr>
          <a:xfrm>
            <a:off x="888978" y="4849691"/>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s33-text-39"/>
          <p:cNvSpPr txBox="1"/>
          <p:nvPr/>
        </p:nvSpPr>
        <p:spPr>
          <a:xfrm>
            <a:off x="888978" y="4458581"/>
            <a:ext cx="228594" cy="346662"/>
          </a:xfrm>
          <a:prstGeom prst="rect">
            <a:avLst/>
          </a:prstGeom>
          <a:noFill/>
        </p:spPr>
        <p:txBody>
          <a:bodyPr wrap="square" lIns="0" rIns="0" tIns="0" bIns="0" anchor="t">
            <a:noAutofit/>
          </a:bodyPr>
          <a:lstStyle/>
          <a:p>
            <a:pPr algn="l">
              <a:lnSpc>
                <a:spcPts val="1365"/>
              </a:lnSpc>
              <a:spcBef>
                <a:spcPts val="0"/>
              </a:spcBef>
              <a:spcAft>
                <a:spcPts val="0"/>
              </a:spcAft>
            </a:pPr>
            <a:r>
              <a:rPr sz="1050" b="1" i="0">
                <a:solidFill>
                  <a:srgbClr val="0B0B0F"/>
                </a:solidFill>
                <a:latin typeface="Arial"/>
              </a:rPr>
              <a:t>9</a:t>
            </a:r>
          </a:p>
        </p:txBody>
      </p:sp>
      <p:sp>
        <p:nvSpPr>
          <p:cNvPr id="78" name="s33-box-38"/>
          <p:cNvSpPr/>
          <p:nvPr/>
        </p:nvSpPr>
        <p:spPr>
          <a:xfrm>
            <a:off x="1206470" y="4849691"/>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s33-text-40"/>
          <p:cNvSpPr txBox="1"/>
          <p:nvPr/>
        </p:nvSpPr>
        <p:spPr>
          <a:xfrm>
            <a:off x="1206470" y="4458581"/>
            <a:ext cx="4990975"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Measurement and reload costs in direct quantum simulation of nonlinear waves</a:t>
            </a:r>
          </a:p>
        </p:txBody>
      </p:sp>
      <p:sp>
        <p:nvSpPr>
          <p:cNvPr id="80" name="s33-box-39"/>
          <p:cNvSpPr/>
          <p:nvPr/>
        </p:nvSpPr>
        <p:spPr>
          <a:xfrm>
            <a:off x="6286343" y="4849691"/>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33-text-41"/>
          <p:cNvSpPr txBox="1"/>
          <p:nvPr/>
        </p:nvSpPr>
        <p:spPr>
          <a:xfrm>
            <a:off x="6286343" y="4458581"/>
            <a:ext cx="2641534"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Guo, Dsouza, Khan, Chopra, Lineswala, Pan</a:t>
            </a:r>
          </a:p>
        </p:txBody>
      </p:sp>
      <p:sp>
        <p:nvSpPr>
          <p:cNvPr id="82" name="s33-box-40"/>
          <p:cNvSpPr/>
          <p:nvPr/>
        </p:nvSpPr>
        <p:spPr>
          <a:xfrm>
            <a:off x="9016775" y="4849691"/>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s33-text-42"/>
          <p:cNvSpPr txBox="1"/>
          <p:nvPr/>
        </p:nvSpPr>
        <p:spPr>
          <a:xfrm>
            <a:off x="9016775" y="4458581"/>
            <a:ext cx="2197045"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arXiv:2608.21647 (2026)</a:t>
            </a:r>
          </a:p>
        </p:txBody>
      </p:sp>
      <p:sp>
        <p:nvSpPr>
          <p:cNvPr id="84" name="s33-box-41"/>
          <p:cNvSpPr/>
          <p:nvPr/>
        </p:nvSpPr>
        <p:spPr>
          <a:xfrm>
            <a:off x="888978" y="5118270"/>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s33-text-43"/>
          <p:cNvSpPr txBox="1"/>
          <p:nvPr/>
        </p:nvSpPr>
        <p:spPr>
          <a:xfrm>
            <a:off x="888978" y="4900490"/>
            <a:ext cx="234944"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10</a:t>
            </a:r>
          </a:p>
        </p:txBody>
      </p:sp>
      <p:sp>
        <p:nvSpPr>
          <p:cNvPr id="86" name="s33-box-42"/>
          <p:cNvSpPr/>
          <p:nvPr/>
        </p:nvSpPr>
        <p:spPr>
          <a:xfrm>
            <a:off x="1206470" y="5118270"/>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s33-text-44"/>
          <p:cNvSpPr txBox="1"/>
          <p:nvPr/>
        </p:nvSpPr>
        <p:spPr>
          <a:xfrm>
            <a:off x="1206470" y="4900490"/>
            <a:ext cx="499732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Auditing structured randomness for QEC under a bounded cloud fault model</a:t>
            </a:r>
          </a:p>
        </p:txBody>
      </p:sp>
      <p:sp>
        <p:nvSpPr>
          <p:cNvPr id="88" name="s33-box-43"/>
          <p:cNvSpPr/>
          <p:nvPr/>
        </p:nvSpPr>
        <p:spPr>
          <a:xfrm>
            <a:off x="6286343" y="5118270"/>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s33-text-45"/>
          <p:cNvSpPr txBox="1"/>
          <p:nvPr/>
        </p:nvSpPr>
        <p:spPr>
          <a:xfrm>
            <a:off x="6286343" y="4900490"/>
            <a:ext cx="2647884"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Guo, Lawrence, Wang, Kuang, Pan</a:t>
            </a:r>
          </a:p>
        </p:txBody>
      </p:sp>
      <p:sp>
        <p:nvSpPr>
          <p:cNvPr id="90" name="s33-box-44"/>
          <p:cNvSpPr/>
          <p:nvPr/>
        </p:nvSpPr>
        <p:spPr>
          <a:xfrm>
            <a:off x="9016775" y="5118270"/>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s33-text-46"/>
          <p:cNvSpPr txBox="1"/>
          <p:nvPr/>
        </p:nvSpPr>
        <p:spPr>
          <a:xfrm>
            <a:off x="9016775" y="4900490"/>
            <a:ext cx="2203395"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arXiv:2608.26600 (2026)</a:t>
            </a:r>
          </a:p>
        </p:txBody>
      </p:sp>
      <p:sp>
        <p:nvSpPr>
          <p:cNvPr id="92" name="s33-box-45"/>
          <p:cNvSpPr/>
          <p:nvPr/>
        </p:nvSpPr>
        <p:spPr>
          <a:xfrm>
            <a:off x="888978" y="5560179"/>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s33-text-47"/>
          <p:cNvSpPr txBox="1"/>
          <p:nvPr/>
        </p:nvSpPr>
        <p:spPr>
          <a:xfrm>
            <a:off x="888978" y="5169068"/>
            <a:ext cx="228594" cy="346662"/>
          </a:xfrm>
          <a:prstGeom prst="rect">
            <a:avLst/>
          </a:prstGeom>
          <a:noFill/>
        </p:spPr>
        <p:txBody>
          <a:bodyPr wrap="square" lIns="0" rIns="0" tIns="0" bIns="0" anchor="t">
            <a:noAutofit/>
          </a:bodyPr>
          <a:lstStyle/>
          <a:p>
            <a:pPr algn="l">
              <a:lnSpc>
                <a:spcPts val="1365"/>
              </a:lnSpc>
              <a:spcBef>
                <a:spcPts val="0"/>
              </a:spcBef>
              <a:spcAft>
                <a:spcPts val="0"/>
              </a:spcAft>
            </a:pPr>
            <a:r>
              <a:rPr sz="1050" b="1" i="0">
                <a:solidFill>
                  <a:srgbClr val="0B0B0F"/>
                </a:solidFill>
                <a:latin typeface="Arial"/>
              </a:rPr>
              <a:t>11</a:t>
            </a:r>
          </a:p>
        </p:txBody>
      </p:sp>
      <p:sp>
        <p:nvSpPr>
          <p:cNvPr id="94" name="s33-box-46"/>
          <p:cNvSpPr/>
          <p:nvPr/>
        </p:nvSpPr>
        <p:spPr>
          <a:xfrm>
            <a:off x="1206470" y="5560179"/>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33-text-48"/>
          <p:cNvSpPr txBox="1"/>
          <p:nvPr/>
        </p:nvSpPr>
        <p:spPr>
          <a:xfrm>
            <a:off x="1206470" y="5169068"/>
            <a:ext cx="4990975"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Light Rider Inc. QPC SDK v1.0.0 (software)</a:t>
            </a:r>
          </a:p>
        </p:txBody>
      </p:sp>
      <p:sp>
        <p:nvSpPr>
          <p:cNvPr id="96" name="s33-box-47"/>
          <p:cNvSpPr/>
          <p:nvPr/>
        </p:nvSpPr>
        <p:spPr>
          <a:xfrm>
            <a:off x="6286343" y="5560179"/>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s33-text-49"/>
          <p:cNvSpPr txBox="1"/>
          <p:nvPr/>
        </p:nvSpPr>
        <p:spPr>
          <a:xfrm>
            <a:off x="6286343" y="5169068"/>
            <a:ext cx="2641534"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Guo</a:t>
            </a:r>
          </a:p>
        </p:txBody>
      </p:sp>
      <p:sp>
        <p:nvSpPr>
          <p:cNvPr id="98" name="s33-box-48"/>
          <p:cNvSpPr/>
          <p:nvPr/>
        </p:nvSpPr>
        <p:spPr>
          <a:xfrm>
            <a:off x="9016775" y="5560179"/>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s33-text-50"/>
          <p:cNvSpPr txBox="1"/>
          <p:nvPr/>
        </p:nvSpPr>
        <p:spPr>
          <a:xfrm>
            <a:off x="9016775" y="5169068"/>
            <a:ext cx="2197045" cy="346662"/>
          </a:xfrm>
          <a:prstGeom prst="rect">
            <a:avLst/>
          </a:prstGeom>
          <a:noFill/>
        </p:spPr>
        <p:txBody>
          <a:bodyPr wrap="square" lIns="0" rIns="0" tIns="0" bIns="0" anchor="t">
            <a:noAutofit/>
          </a:bodyPr>
          <a:lstStyle/>
          <a:p>
            <a:pPr algn="l">
              <a:lnSpc>
                <a:spcPts val="1365"/>
              </a:lnSpc>
              <a:spcBef>
                <a:spcPts val="0"/>
              </a:spcBef>
              <a:spcAft>
                <a:spcPts val="0"/>
              </a:spcAft>
            </a:pPr>
            <a:r>
              <a:rPr sz="1050" b="0" i="0">
                <a:solidFill>
                  <a:srgbClr val="50505B"/>
                </a:solidFill>
                <a:latin typeface="Arial"/>
              </a:rPr>
              <a:t>Zenodo 10.5281/zenodo.21895102 (2026)</a:t>
            </a:r>
          </a:p>
        </p:txBody>
      </p:sp>
      <p:sp>
        <p:nvSpPr>
          <p:cNvPr id="100" name="!!sec"/>
          <p:cNvSpPr txBox="1"/>
          <p:nvPr/>
        </p:nvSpPr>
        <p:spPr>
          <a:xfrm>
            <a:off x="888978" y="6362541"/>
            <a:ext cx="717234"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Backup</a:t>
            </a:r>
          </a:p>
        </p:txBody>
      </p:sp>
      <p:pic>
        <p:nvPicPr>
          <p:cNvPr id="101" name="s33-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102"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33</a:t>
            </a:r>
            <a:r>
              <a:rPr sz="1100" b="0" i="0" spc="66">
                <a:solidFill>
                  <a:srgbClr val="7B7B86"/>
                </a:solidFill>
                <a:latin typeface="Courier New"/>
              </a:rPr>
              <a:t> / 40</a:t>
            </a:r>
          </a:p>
        </p:txBody>
      </p:sp>
    </p:spTree>
  </p:cSld>
  <p:clrMapOvr>
    <a:masterClrMapping/>
  </p:clrMapOvr>
  <p:transition xmlns:p14="http://schemas.microsoft.com/office/powerpoint/2010/main" spd="slow" p14:dur="650">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3107354"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Backup · Q-GEAR speed-ups</a:t>
            </a:r>
          </a:p>
        </p:txBody>
      </p:sp>
      <p:sp>
        <p:nvSpPr>
          <p:cNvPr id="3" name="s34-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Two orders of magnitude faster</a:t>
            </a:r>
          </a:p>
        </p:txBody>
      </p:sp>
      <p:pic>
        <p:nvPicPr>
          <p:cNvPr id="4" name="s34-image-01" descr="diagram"/>
          <p:cNvPicPr>
            <a:picLocks noChangeAspect="1"/>
          </p:cNvPicPr>
          <p:nvPr/>
        </p:nvPicPr>
        <p:blipFill>
          <a:blip r:embed="rId2"/>
          <a:stretch>
            <a:fillRect/>
          </a:stretch>
        </p:blipFill>
        <p:spPr>
          <a:xfrm>
            <a:off x="863578" y="1606510"/>
            <a:ext cx="10470888" cy="3105072"/>
          </a:xfrm>
          <a:prstGeom prst="rect">
            <a:avLst/>
          </a:prstGeom>
        </p:spPr>
      </p:pic>
      <p:sp>
        <p:nvSpPr>
          <p:cNvPr id="5" name="s34-text-03"/>
          <p:cNvSpPr txBox="1"/>
          <p:nvPr/>
        </p:nvSpPr>
        <p:spPr>
          <a:xfrm>
            <a:off x="4111225" y="4301323"/>
            <a:ext cx="17839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a:t>
            </a:r>
          </a:p>
        </p:txBody>
      </p:sp>
      <p:sp>
        <p:nvSpPr>
          <p:cNvPr id="6" name="s34-text-04"/>
          <p:cNvSpPr txBox="1"/>
          <p:nvPr/>
        </p:nvSpPr>
        <p:spPr>
          <a:xfrm>
            <a:off x="6146665" y="4301323"/>
            <a:ext cx="25607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7" name="s34-text-05"/>
          <p:cNvSpPr txBox="1"/>
          <p:nvPr/>
        </p:nvSpPr>
        <p:spPr>
          <a:xfrm>
            <a:off x="8182080" y="4301323"/>
            <a:ext cx="33376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100×</a:t>
            </a:r>
          </a:p>
        </p:txBody>
      </p:sp>
      <p:sp>
        <p:nvSpPr>
          <p:cNvPr id="8" name="s34-text-06"/>
          <p:cNvSpPr txBox="1"/>
          <p:nvPr/>
        </p:nvSpPr>
        <p:spPr>
          <a:xfrm>
            <a:off x="10217539" y="4301323"/>
            <a:ext cx="411450"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1000×</a:t>
            </a:r>
          </a:p>
        </p:txBody>
      </p:sp>
      <p:sp>
        <p:nvSpPr>
          <p:cNvPr id="9" name="s34-text-07"/>
          <p:cNvSpPr txBox="1"/>
          <p:nvPr/>
        </p:nvSpPr>
        <p:spPr>
          <a:xfrm>
            <a:off x="965077" y="2193176"/>
            <a:ext cx="3079772"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vs CPU node (2 × EPYC 7763), one A100</a:t>
            </a:r>
          </a:p>
        </p:txBody>
      </p:sp>
      <p:sp>
        <p:nvSpPr>
          <p:cNvPr id="10" name="s34-text-08"/>
          <p:cNvSpPr txBox="1"/>
          <p:nvPr/>
        </p:nvSpPr>
        <p:spPr>
          <a:xfrm>
            <a:off x="9702621" y="2174126"/>
            <a:ext cx="588253"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≈400×</a:t>
            </a:r>
          </a:p>
        </p:txBody>
      </p:sp>
      <p:sp>
        <p:nvSpPr>
          <p:cNvPr id="11" name="s34-text-09"/>
          <p:cNvSpPr txBox="1"/>
          <p:nvPr/>
        </p:nvSpPr>
        <p:spPr>
          <a:xfrm>
            <a:off x="1015776" y="2929757"/>
            <a:ext cx="3029073"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vs Qiskit Aer GPU / PennyLane Lightning</a:t>
            </a:r>
          </a:p>
        </p:txBody>
      </p:sp>
      <p:sp>
        <p:nvSpPr>
          <p:cNvPr id="12" name="s34-text-10"/>
          <p:cNvSpPr txBox="1"/>
          <p:nvPr/>
        </p:nvSpPr>
        <p:spPr>
          <a:xfrm>
            <a:off x="6379476" y="2910708"/>
            <a:ext cx="475246"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≈10×</a:t>
            </a:r>
          </a:p>
        </p:txBody>
      </p:sp>
      <p:sp>
        <p:nvSpPr>
          <p:cNvPr id="13" name="s34-text-11"/>
          <p:cNvSpPr txBox="1"/>
          <p:nvPr/>
        </p:nvSpPr>
        <p:spPr>
          <a:xfrm>
            <a:off x="1190298" y="3666339"/>
            <a:ext cx="2854551"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QCrank image encoding, small images</a:t>
            </a:r>
          </a:p>
        </p:txBody>
      </p:sp>
      <p:sp>
        <p:nvSpPr>
          <p:cNvPr id="14" name="s34-text-12"/>
          <p:cNvSpPr txBox="1"/>
          <p:nvPr/>
        </p:nvSpPr>
        <p:spPr>
          <a:xfrm>
            <a:off x="8453734" y="3647289"/>
            <a:ext cx="679929"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→100×</a:t>
            </a:r>
          </a:p>
        </p:txBody>
      </p:sp>
      <p:sp>
        <p:nvSpPr>
          <p:cNvPr id="15" name="s34-text-13"/>
          <p:cNvSpPr txBox="1"/>
          <p:nvPr/>
        </p:nvSpPr>
        <p:spPr>
          <a:xfrm>
            <a:off x="1142971" y="1659789"/>
            <a:ext cx="128485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speed-up (log scale)</a:t>
            </a:r>
          </a:p>
        </p:txBody>
      </p:sp>
      <p:sp>
        <p:nvSpPr>
          <p:cNvPr id="16" name="s34-text-14"/>
          <p:cNvSpPr txBox="1"/>
          <p:nvPr/>
        </p:nvSpPr>
        <p:spPr>
          <a:xfrm>
            <a:off x="888978" y="5900292"/>
            <a:ext cx="8908827" cy="195555"/>
          </a:xfrm>
          <a:prstGeom prst="rect">
            <a:avLst/>
          </a:prstGeom>
          <a:noFill/>
        </p:spPr>
        <p:txBody>
          <a:bodyPr wrap="none" lIns="0" rIns="0" tIns="0" bIns="0" anchor="t">
            <a:noAutofit/>
          </a:bodyPr>
          <a:lstStyle/>
          <a:p>
            <a:pPr algn="l">
              <a:lnSpc>
                <a:spcPts val="1540"/>
              </a:lnSpc>
              <a:spcBef>
                <a:spcPts val="0"/>
              </a:spcBef>
              <a:spcAft>
                <a:spcPts val="0"/>
              </a:spcAft>
            </a:pPr>
            <a:r>
              <a:rPr sz="1100" b="0" i="0">
                <a:solidFill>
                  <a:srgbClr val="7B7B86"/>
                </a:solidFill>
                <a:latin typeface="Arial"/>
              </a:rPr>
              <a:t>Random CX-block circuits (28–34 q, 100–10,000 gates) · QFT ≤ 22 q · QCrank image encoding.</a:t>
            </a:r>
          </a:p>
        </p:txBody>
      </p:sp>
      <p:sp>
        <p:nvSpPr>
          <p:cNvPr id="17" name="!!sec"/>
          <p:cNvSpPr txBox="1"/>
          <p:nvPr/>
        </p:nvSpPr>
        <p:spPr>
          <a:xfrm>
            <a:off x="888978" y="6362541"/>
            <a:ext cx="717234"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Backup</a:t>
            </a:r>
          </a:p>
        </p:txBody>
      </p:sp>
      <p:pic>
        <p:nvPicPr>
          <p:cNvPr id="18" name="s34-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19"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34</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2952676"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Backup · DEAL on Heron-2</a:t>
            </a:r>
          </a:p>
        </p:txBody>
      </p:sp>
      <p:sp>
        <p:nvSpPr>
          <p:cNvPr id="3" name="s35-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…and on Heron-2</a:t>
            </a:r>
          </a:p>
        </p:txBody>
      </p:sp>
      <p:pic>
        <p:nvPicPr>
          <p:cNvPr id="4" name="s35-image-01" descr="diagram"/>
          <p:cNvPicPr>
            <a:picLocks noChangeAspect="1"/>
          </p:cNvPicPr>
          <p:nvPr/>
        </p:nvPicPr>
        <p:blipFill>
          <a:blip r:embed="rId2"/>
          <a:stretch>
            <a:fillRect/>
          </a:stretch>
        </p:blipFill>
        <p:spPr>
          <a:xfrm>
            <a:off x="863578" y="1543011"/>
            <a:ext cx="10470888" cy="3359066"/>
          </a:xfrm>
          <a:prstGeom prst="rect">
            <a:avLst/>
          </a:prstGeom>
        </p:spPr>
      </p:pic>
      <p:sp>
        <p:nvSpPr>
          <p:cNvPr id="5" name="!!dl-t-0"/>
          <p:cNvSpPr txBox="1"/>
          <p:nvPr/>
        </p:nvSpPr>
        <p:spPr>
          <a:xfrm>
            <a:off x="1390020" y="4542617"/>
            <a:ext cx="17839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6" name="!!dl-t-4"/>
          <p:cNvSpPr txBox="1"/>
          <p:nvPr/>
        </p:nvSpPr>
        <p:spPr>
          <a:xfrm>
            <a:off x="1390020" y="3875884"/>
            <a:ext cx="17839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+4</a:t>
            </a:r>
          </a:p>
        </p:txBody>
      </p:sp>
      <p:sp>
        <p:nvSpPr>
          <p:cNvPr id="7" name="!!dl-t-8"/>
          <p:cNvSpPr txBox="1"/>
          <p:nvPr/>
        </p:nvSpPr>
        <p:spPr>
          <a:xfrm>
            <a:off x="1390020" y="3209150"/>
            <a:ext cx="17839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+8</a:t>
            </a:r>
          </a:p>
        </p:txBody>
      </p:sp>
      <p:sp>
        <p:nvSpPr>
          <p:cNvPr id="8" name="!!dl-t-12"/>
          <p:cNvSpPr txBox="1"/>
          <p:nvPr/>
        </p:nvSpPr>
        <p:spPr>
          <a:xfrm>
            <a:off x="1312334" y="2542417"/>
            <a:ext cx="25607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+12</a:t>
            </a:r>
          </a:p>
        </p:txBody>
      </p:sp>
      <p:sp>
        <p:nvSpPr>
          <p:cNvPr id="9" name="!!dl-t-16"/>
          <p:cNvSpPr txBox="1"/>
          <p:nvPr/>
        </p:nvSpPr>
        <p:spPr>
          <a:xfrm>
            <a:off x="1312334" y="1875684"/>
            <a:ext cx="25607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+16</a:t>
            </a:r>
          </a:p>
        </p:txBody>
      </p:sp>
      <p:sp>
        <p:nvSpPr>
          <p:cNvPr id="10" name="!!dl-ylab"/>
          <p:cNvSpPr txBox="1"/>
          <p:nvPr/>
        </p:nvSpPr>
        <p:spPr>
          <a:xfrm>
            <a:off x="1142971" y="1596291"/>
            <a:ext cx="434666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success-rate gain of DEAL over QAOA at layer 10 (percentage points)</a:t>
            </a:r>
          </a:p>
        </p:txBody>
      </p:sp>
      <p:sp>
        <p:nvSpPr>
          <p:cNvPr id="11" name="!!dl-torino-v"/>
          <p:cNvSpPr txBox="1"/>
          <p:nvPr/>
        </p:nvSpPr>
        <p:spPr>
          <a:xfrm>
            <a:off x="2299734" y="1851792"/>
            <a:ext cx="1007442"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+14.81 pts</a:t>
            </a:r>
          </a:p>
        </p:txBody>
      </p:sp>
      <p:sp>
        <p:nvSpPr>
          <p:cNvPr id="12" name="!!dl-torino-n"/>
          <p:cNvSpPr txBox="1"/>
          <p:nvPr/>
        </p:nvSpPr>
        <p:spPr>
          <a:xfrm>
            <a:off x="1917553" y="4720412"/>
            <a:ext cx="1771804"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Torino · Heron-1 · 133 q</a:t>
            </a:r>
          </a:p>
        </p:txBody>
      </p:sp>
      <p:sp>
        <p:nvSpPr>
          <p:cNvPr id="13" name="!!dl-marrakesh-v"/>
          <p:cNvSpPr txBox="1"/>
          <p:nvPr/>
        </p:nvSpPr>
        <p:spPr>
          <a:xfrm>
            <a:off x="4515184" y="3086916"/>
            <a:ext cx="894435"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+7.40 pts</a:t>
            </a:r>
          </a:p>
        </p:txBody>
      </p:sp>
      <p:sp>
        <p:nvSpPr>
          <p:cNvPr id="14" name="!!dl-marrakesh-n"/>
          <p:cNvSpPr txBox="1"/>
          <p:nvPr/>
        </p:nvSpPr>
        <p:spPr>
          <a:xfrm>
            <a:off x="3911403" y="4720412"/>
            <a:ext cx="2101996"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Marrakesh · Heron-2 · 156 q</a:t>
            </a:r>
          </a:p>
        </p:txBody>
      </p:sp>
      <p:sp>
        <p:nvSpPr>
          <p:cNvPr id="15" name="!!dl-rt"/>
          <p:cNvSpPr txBox="1"/>
          <p:nvPr/>
        </p:nvSpPr>
        <p:spPr>
          <a:xfrm>
            <a:off x="7619809" y="1926482"/>
            <a:ext cx="2992363"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layers needed for the same success rate</a:t>
            </a:r>
          </a:p>
        </p:txBody>
      </p:sp>
      <p:sp>
        <p:nvSpPr>
          <p:cNvPr id="16" name="!!dl-ln-DEAL"/>
          <p:cNvSpPr txBox="1"/>
          <p:nvPr/>
        </p:nvSpPr>
        <p:spPr>
          <a:xfrm>
            <a:off x="7619809" y="2123327"/>
            <a:ext cx="572180"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DEAL</a:t>
            </a:r>
          </a:p>
        </p:txBody>
      </p:sp>
      <p:sp>
        <p:nvSpPr>
          <p:cNvPr id="17" name="!!dl-lv-DEAL"/>
          <p:cNvSpPr txBox="1"/>
          <p:nvPr/>
        </p:nvSpPr>
        <p:spPr>
          <a:xfrm>
            <a:off x="9943851" y="2478918"/>
            <a:ext cx="776070"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7 layers</a:t>
            </a:r>
          </a:p>
        </p:txBody>
      </p:sp>
      <p:sp>
        <p:nvSpPr>
          <p:cNvPr id="18" name="!!dl-ln-QAOA"/>
          <p:cNvSpPr txBox="1"/>
          <p:nvPr/>
        </p:nvSpPr>
        <p:spPr>
          <a:xfrm>
            <a:off x="7619809" y="2885308"/>
            <a:ext cx="628634"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QAOA</a:t>
            </a:r>
          </a:p>
        </p:txBody>
      </p:sp>
      <p:sp>
        <p:nvSpPr>
          <p:cNvPr id="19" name="!!dl-lv-QAOA"/>
          <p:cNvSpPr txBox="1"/>
          <p:nvPr/>
        </p:nvSpPr>
        <p:spPr>
          <a:xfrm>
            <a:off x="10578836" y="3240899"/>
            <a:ext cx="776070"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9 layers</a:t>
            </a:r>
          </a:p>
        </p:txBody>
      </p:sp>
      <p:sp>
        <p:nvSpPr>
          <p:cNvPr id="20" name="!!dl-lt-0"/>
          <p:cNvSpPr txBox="1"/>
          <p:nvPr/>
        </p:nvSpPr>
        <p:spPr>
          <a:xfrm>
            <a:off x="7580917" y="4047329"/>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21" name="!!dl-lt-2"/>
          <p:cNvSpPr txBox="1"/>
          <p:nvPr/>
        </p:nvSpPr>
        <p:spPr>
          <a:xfrm>
            <a:off x="8215901" y="4047329"/>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2</a:t>
            </a:r>
          </a:p>
        </p:txBody>
      </p:sp>
      <p:sp>
        <p:nvSpPr>
          <p:cNvPr id="22" name="!!dl-lt-4"/>
          <p:cNvSpPr txBox="1"/>
          <p:nvPr/>
        </p:nvSpPr>
        <p:spPr>
          <a:xfrm>
            <a:off x="8850885" y="4047329"/>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4</a:t>
            </a:r>
          </a:p>
        </p:txBody>
      </p:sp>
      <p:sp>
        <p:nvSpPr>
          <p:cNvPr id="23" name="!!dl-lt-6"/>
          <p:cNvSpPr txBox="1"/>
          <p:nvPr/>
        </p:nvSpPr>
        <p:spPr>
          <a:xfrm>
            <a:off x="9485869" y="4047329"/>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6</a:t>
            </a:r>
          </a:p>
        </p:txBody>
      </p:sp>
      <p:sp>
        <p:nvSpPr>
          <p:cNvPr id="24" name="!!dl-lt-8"/>
          <p:cNvSpPr txBox="1"/>
          <p:nvPr/>
        </p:nvSpPr>
        <p:spPr>
          <a:xfrm>
            <a:off x="10120853" y="4047329"/>
            <a:ext cx="96835"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8</a:t>
            </a:r>
          </a:p>
        </p:txBody>
      </p:sp>
      <p:sp>
        <p:nvSpPr>
          <p:cNvPr id="25" name="!!dl-lt-10"/>
          <p:cNvSpPr txBox="1"/>
          <p:nvPr/>
        </p:nvSpPr>
        <p:spPr>
          <a:xfrm>
            <a:off x="10716994" y="4047329"/>
            <a:ext cx="17452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26" name="!!dl-rxlab"/>
          <p:cNvSpPr txBox="1"/>
          <p:nvPr/>
        </p:nvSpPr>
        <p:spPr>
          <a:xfrm>
            <a:off x="8760896" y="4301323"/>
            <a:ext cx="91179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circuit layers p</a:t>
            </a:r>
          </a:p>
        </p:txBody>
      </p:sp>
      <p:sp>
        <p:nvSpPr>
          <p:cNvPr id="27" name="s35-text-25"/>
          <p:cNvSpPr txBox="1"/>
          <p:nvPr/>
        </p:nvSpPr>
        <p:spPr>
          <a:xfrm>
            <a:off x="888978" y="5900292"/>
            <a:ext cx="8908827" cy="195555"/>
          </a:xfrm>
          <a:prstGeom prst="rect">
            <a:avLst/>
          </a:prstGeom>
          <a:noFill/>
        </p:spPr>
        <p:txBody>
          <a:bodyPr wrap="none" lIns="0" rIns="0" tIns="0" bIns="0" anchor="t">
            <a:noAutofit/>
          </a:bodyPr>
          <a:lstStyle/>
          <a:p>
            <a:pPr algn="l">
              <a:lnSpc>
                <a:spcPts val="1540"/>
              </a:lnSpc>
              <a:spcBef>
                <a:spcPts val="0"/>
              </a:spcBef>
              <a:spcAft>
                <a:spcPts val="0"/>
              </a:spcAft>
            </a:pPr>
            <a:r>
              <a:rPr sz="1100" b="0" i="0">
                <a:solidFill>
                  <a:srgbClr val="7B7B86"/>
                </a:solidFill>
                <a:latin typeface="Arial"/>
              </a:rPr>
              <a:t>IBM Marrakesh (156-qubit Heron-2): +7.40 pts at layer 10. Both devices degrade beyond ≈41–43 CZ gates.</a:t>
            </a:r>
          </a:p>
        </p:txBody>
      </p:sp>
      <p:sp>
        <p:nvSpPr>
          <p:cNvPr id="28" name="!!sec"/>
          <p:cNvSpPr txBox="1"/>
          <p:nvPr/>
        </p:nvSpPr>
        <p:spPr>
          <a:xfrm>
            <a:off x="888978" y="6362541"/>
            <a:ext cx="717234"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Backup</a:t>
            </a:r>
          </a:p>
        </p:txBody>
      </p:sp>
      <p:pic>
        <p:nvPicPr>
          <p:cNvPr id="29" name="s35-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30"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35</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3074811"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Backup · VQT on hardware</a:t>
            </a:r>
          </a:p>
        </p:txBody>
      </p:sp>
      <p:sp>
        <p:nvSpPr>
          <p:cNvPr id="3" name="s36-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Attention estimated on real QPUs</a:t>
            </a:r>
          </a:p>
        </p:txBody>
      </p:sp>
      <p:pic>
        <p:nvPicPr>
          <p:cNvPr id="4" name="s36-image-01" descr="diagram"/>
          <p:cNvPicPr>
            <a:picLocks noChangeAspect="1"/>
          </p:cNvPicPr>
          <p:nvPr/>
        </p:nvPicPr>
        <p:blipFill>
          <a:blip r:embed="rId2"/>
          <a:stretch>
            <a:fillRect/>
          </a:stretch>
        </p:blipFill>
        <p:spPr>
          <a:xfrm>
            <a:off x="863578" y="1530312"/>
            <a:ext cx="6660983" cy="3613060"/>
          </a:xfrm>
          <a:prstGeom prst="rect">
            <a:avLst/>
          </a:prstGeom>
        </p:spPr>
      </p:pic>
      <p:sp>
        <p:nvSpPr>
          <p:cNvPr id="5" name="s36-text-03"/>
          <p:cNvSpPr txBox="1"/>
          <p:nvPr/>
        </p:nvSpPr>
        <p:spPr>
          <a:xfrm>
            <a:off x="1531403" y="4529917"/>
            <a:ext cx="29100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0.00</a:t>
            </a:r>
          </a:p>
        </p:txBody>
      </p:sp>
      <p:sp>
        <p:nvSpPr>
          <p:cNvPr id="6" name="s36-text-04"/>
          <p:cNvSpPr txBox="1"/>
          <p:nvPr/>
        </p:nvSpPr>
        <p:spPr>
          <a:xfrm>
            <a:off x="1531403" y="3789100"/>
            <a:ext cx="29100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0.05</a:t>
            </a:r>
          </a:p>
        </p:txBody>
      </p:sp>
      <p:sp>
        <p:nvSpPr>
          <p:cNvPr id="7" name="s36-text-05"/>
          <p:cNvSpPr txBox="1"/>
          <p:nvPr/>
        </p:nvSpPr>
        <p:spPr>
          <a:xfrm>
            <a:off x="1531403" y="3048290"/>
            <a:ext cx="29100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0.10</a:t>
            </a:r>
          </a:p>
        </p:txBody>
      </p:sp>
      <p:sp>
        <p:nvSpPr>
          <p:cNvPr id="8" name="s36-text-06"/>
          <p:cNvSpPr txBox="1"/>
          <p:nvPr/>
        </p:nvSpPr>
        <p:spPr>
          <a:xfrm>
            <a:off x="1531403" y="2307473"/>
            <a:ext cx="291001"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0.15</a:t>
            </a:r>
          </a:p>
        </p:txBody>
      </p:sp>
      <p:sp>
        <p:nvSpPr>
          <p:cNvPr id="9" name="s36-text-07"/>
          <p:cNvSpPr txBox="1"/>
          <p:nvPr/>
        </p:nvSpPr>
        <p:spPr>
          <a:xfrm>
            <a:off x="1803355" y="1672489"/>
            <a:ext cx="2953966"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RMSE of the attention estimate (lower is better)</a:t>
            </a:r>
          </a:p>
        </p:txBody>
      </p:sp>
      <p:sp>
        <p:nvSpPr>
          <p:cNvPr id="10" name="s36-text-08"/>
          <p:cNvSpPr txBox="1"/>
          <p:nvPr/>
        </p:nvSpPr>
        <p:spPr>
          <a:xfrm>
            <a:off x="2748859" y="4068493"/>
            <a:ext cx="527533"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0.017</a:t>
            </a:r>
          </a:p>
        </p:txBody>
      </p:sp>
      <p:sp>
        <p:nvSpPr>
          <p:cNvPr id="11" name="s36-text-09"/>
          <p:cNvSpPr txBox="1"/>
          <p:nvPr/>
        </p:nvSpPr>
        <p:spPr>
          <a:xfrm>
            <a:off x="2470855" y="4707713"/>
            <a:ext cx="1085637"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ideal simulator</a:t>
            </a:r>
          </a:p>
        </p:txBody>
      </p:sp>
      <p:sp>
        <p:nvSpPr>
          <p:cNvPr id="12" name="s36-text-10"/>
          <p:cNvSpPr txBox="1"/>
          <p:nvPr/>
        </p:nvSpPr>
        <p:spPr>
          <a:xfrm>
            <a:off x="2735117" y="4936307"/>
            <a:ext cx="555016"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batch 32</a:t>
            </a:r>
          </a:p>
        </p:txBody>
      </p:sp>
      <p:sp>
        <p:nvSpPr>
          <p:cNvPr id="13" name="s36-text-11"/>
          <p:cNvSpPr txBox="1"/>
          <p:nvPr/>
        </p:nvSpPr>
        <p:spPr>
          <a:xfrm>
            <a:off x="4317644" y="3446209"/>
            <a:ext cx="527533"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0.059</a:t>
            </a:r>
          </a:p>
        </p:txBody>
      </p:sp>
      <p:sp>
        <p:nvSpPr>
          <p:cNvPr id="14" name="s36-text-12"/>
          <p:cNvSpPr txBox="1"/>
          <p:nvPr/>
        </p:nvSpPr>
        <p:spPr>
          <a:xfrm>
            <a:off x="4080914" y="4707713"/>
            <a:ext cx="1000993"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IBM Kingston</a:t>
            </a:r>
          </a:p>
        </p:txBody>
      </p:sp>
      <p:sp>
        <p:nvSpPr>
          <p:cNvPr id="15" name="s36-text-13"/>
          <p:cNvSpPr txBox="1"/>
          <p:nvPr/>
        </p:nvSpPr>
        <p:spPr>
          <a:xfrm>
            <a:off x="4303903" y="4936307"/>
            <a:ext cx="555016"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batch 32</a:t>
            </a:r>
          </a:p>
        </p:txBody>
      </p:sp>
      <p:sp>
        <p:nvSpPr>
          <p:cNvPr id="16" name="s36-text-14"/>
          <p:cNvSpPr txBox="1"/>
          <p:nvPr/>
        </p:nvSpPr>
        <p:spPr>
          <a:xfrm>
            <a:off x="5886430" y="2023844"/>
            <a:ext cx="527533"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0.155</a:t>
            </a:r>
          </a:p>
        </p:txBody>
      </p:sp>
      <p:sp>
        <p:nvSpPr>
          <p:cNvPr id="17" name="s36-text-15"/>
          <p:cNvSpPr txBox="1"/>
          <p:nvPr/>
        </p:nvSpPr>
        <p:spPr>
          <a:xfrm>
            <a:off x="5723120" y="4707713"/>
            <a:ext cx="854153" cy="190495"/>
          </a:xfrm>
          <a:prstGeom prst="rect">
            <a:avLst/>
          </a:prstGeom>
          <a:noFill/>
        </p:spPr>
        <p:txBody>
          <a:bodyPr wrap="none" lIns="0" rIns="0" tIns="0" bIns="0" anchor="t">
            <a:noAutofit/>
          </a:bodyPr>
          <a:lstStyle/>
          <a:p>
            <a:pPr algn="l">
              <a:lnSpc>
                <a:spcPct val="100000"/>
              </a:lnSpc>
              <a:spcBef>
                <a:spcPts val="0"/>
              </a:spcBef>
              <a:spcAft>
                <a:spcPts val="0"/>
              </a:spcAft>
            </a:pPr>
            <a:r>
              <a:rPr sz="1300" b="0" i="0">
                <a:solidFill>
                  <a:srgbClr val="50505B"/>
                </a:solidFill>
                <a:latin typeface="Arial"/>
              </a:rPr>
              <a:t>IonQ Aria-1</a:t>
            </a:r>
          </a:p>
        </p:txBody>
      </p:sp>
      <p:sp>
        <p:nvSpPr>
          <p:cNvPr id="18" name="s36-text-16"/>
          <p:cNvSpPr txBox="1"/>
          <p:nvPr/>
        </p:nvSpPr>
        <p:spPr>
          <a:xfrm>
            <a:off x="5911531" y="4936307"/>
            <a:ext cx="477329"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batch 8</a:t>
            </a:r>
          </a:p>
        </p:txBody>
      </p:sp>
      <p:sp>
        <p:nvSpPr>
          <p:cNvPr id="19" name="s36-box-01"/>
          <p:cNvSpPr/>
          <p:nvPr/>
        </p:nvSpPr>
        <p:spPr>
          <a:xfrm>
            <a:off x="7746806" y="2222444"/>
            <a:ext cx="3555911" cy="1163212"/>
          </a:xfrm>
          <a:prstGeom prst="roundRect">
            <a:avLst>
              <a:gd name="adj" fmla="val 1310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36-text-17"/>
          <p:cNvSpPr txBox="1"/>
          <p:nvPr/>
        </p:nvSpPr>
        <p:spPr>
          <a:xfrm>
            <a:off x="7937302" y="2362141"/>
            <a:ext cx="3193970"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HARDWARE RUNS</a:t>
            </a:r>
          </a:p>
        </p:txBody>
      </p:sp>
      <p:sp>
        <p:nvSpPr>
          <p:cNvPr id="21" name="s36-text-18"/>
          <p:cNvSpPr txBox="1"/>
          <p:nvPr/>
        </p:nvSpPr>
        <p:spPr>
          <a:xfrm>
            <a:off x="7937302" y="2565336"/>
            <a:ext cx="3193970" cy="215895"/>
          </a:xfrm>
          <a:prstGeom prst="rect">
            <a:avLst/>
          </a:prstGeom>
          <a:noFill/>
        </p:spPr>
        <p:txBody>
          <a:bodyPr wrap="none" lIns="0" rIns="0" tIns="0" bIns="0" anchor="t">
            <a:noAutofit/>
          </a:bodyPr>
          <a:lstStyle/>
          <a:p>
            <a:pPr algn="l">
              <a:lnSpc>
                <a:spcPts val="1800"/>
              </a:lnSpc>
              <a:spcBef>
                <a:spcPts val="0"/>
              </a:spcBef>
              <a:spcAft>
                <a:spcPts val="0"/>
              </a:spcAft>
            </a:pPr>
            <a:r>
              <a:rPr sz="1500" b="1" i="0" spc="-22">
                <a:solidFill>
                  <a:srgbClr val="0B0B0F"/>
                </a:solidFill>
                <a:latin typeface="Arial"/>
              </a:rPr>
              <a:t>4–9 qubits</a:t>
            </a:r>
          </a:p>
        </p:txBody>
      </p:sp>
      <p:sp>
        <p:nvSpPr>
          <p:cNvPr id="22" name="s36-text-19"/>
          <p:cNvSpPr txBox="1"/>
          <p:nvPr/>
        </p:nvSpPr>
        <p:spPr>
          <a:xfrm>
            <a:off x="7937302" y="2819330"/>
            <a:ext cx="3187620" cy="426630"/>
          </a:xfrm>
          <a:prstGeom prst="rect">
            <a:avLst/>
          </a:prstGeom>
          <a:noFill/>
        </p:spPr>
        <p:txBody>
          <a:bodyPr wrap="square" lIns="0" rIns="0" tIns="0" bIns="0" anchor="t">
            <a:noAutofit/>
          </a:bodyPr>
          <a:lstStyle/>
          <a:p>
            <a:pPr algn="l">
              <a:lnSpc>
                <a:spcPts val="1680"/>
              </a:lnSpc>
              <a:spcBef>
                <a:spcPts val="0"/>
              </a:spcBef>
              <a:spcAft>
                <a:spcPts val="0"/>
              </a:spcAft>
            </a:pPr>
            <a:r>
              <a:rPr sz="1200" b="0" i="0">
                <a:solidFill>
                  <a:srgbClr val="50505B"/>
                </a:solidFill>
                <a:latin typeface="Arial"/>
              </a:rPr>
              <a:t>batches 4–128 · 10K–320K shots · CNOT depth 5–129</a:t>
            </a:r>
          </a:p>
        </p:txBody>
      </p:sp>
      <p:sp>
        <p:nvSpPr>
          <p:cNvPr id="23" name="s36-box-02"/>
          <p:cNvSpPr/>
          <p:nvPr/>
        </p:nvSpPr>
        <p:spPr>
          <a:xfrm>
            <a:off x="7746806" y="3499953"/>
            <a:ext cx="3555911" cy="949897"/>
          </a:xfrm>
          <a:prstGeom prst="roundRect">
            <a:avLst>
              <a:gd name="adj" fmla="val 1604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36-text-20"/>
          <p:cNvSpPr txBox="1"/>
          <p:nvPr/>
        </p:nvSpPr>
        <p:spPr>
          <a:xfrm>
            <a:off x="7937302" y="3639650"/>
            <a:ext cx="3193970" cy="139697"/>
          </a:xfrm>
          <a:prstGeom prst="rect">
            <a:avLst/>
          </a:prstGeom>
          <a:noFill/>
        </p:spPr>
        <p:txBody>
          <a:bodyPr wrap="none" lIns="0" rIns="0" tIns="0" bIns="0" anchor="t">
            <a:noAutofit/>
          </a:bodyPr>
          <a:lstStyle/>
          <a:p>
            <a:pPr algn="l">
              <a:lnSpc>
                <a:spcPts val="1140"/>
              </a:lnSpc>
              <a:spcBef>
                <a:spcPts val="0"/>
              </a:spcBef>
              <a:spcAft>
                <a:spcPts val="0"/>
              </a:spcAft>
            </a:pPr>
            <a:r>
              <a:rPr sz="950" b="0" i="0" spc="57">
                <a:solidFill>
                  <a:srgbClr val="7B7B86"/>
                </a:solidFill>
                <a:latin typeface="Courier New"/>
              </a:rPr>
              <a:t>GAP TO IDEAL</a:t>
            </a:r>
          </a:p>
        </p:txBody>
      </p:sp>
      <p:sp>
        <p:nvSpPr>
          <p:cNvPr id="25" name="s36-text-21"/>
          <p:cNvSpPr txBox="1"/>
          <p:nvPr/>
        </p:nvSpPr>
        <p:spPr>
          <a:xfrm>
            <a:off x="7937302" y="3842845"/>
            <a:ext cx="3193970" cy="215895"/>
          </a:xfrm>
          <a:prstGeom prst="rect">
            <a:avLst/>
          </a:prstGeom>
          <a:noFill/>
        </p:spPr>
        <p:txBody>
          <a:bodyPr wrap="none" lIns="0" rIns="0" tIns="0" bIns="0" anchor="t">
            <a:noAutofit/>
          </a:bodyPr>
          <a:lstStyle/>
          <a:p>
            <a:pPr algn="l">
              <a:lnSpc>
                <a:spcPts val="1800"/>
              </a:lnSpc>
              <a:spcBef>
                <a:spcPts val="0"/>
              </a:spcBef>
              <a:spcAft>
                <a:spcPts val="0"/>
              </a:spcAft>
            </a:pPr>
            <a:r>
              <a:rPr sz="1500" b="1" i="0" spc="-22">
                <a:solidFill>
                  <a:srgbClr val="0B0B0F"/>
                </a:solidFill>
                <a:latin typeface="Arial"/>
              </a:rPr>
              <a:t>0.017 → 0.059 → 0.155</a:t>
            </a:r>
          </a:p>
        </p:txBody>
      </p:sp>
      <p:sp>
        <p:nvSpPr>
          <p:cNvPr id="26" name="s36-text-22"/>
          <p:cNvSpPr txBox="1"/>
          <p:nvPr/>
        </p:nvSpPr>
        <p:spPr>
          <a:xfrm>
            <a:off x="7937302" y="4096838"/>
            <a:ext cx="3193970" cy="213315"/>
          </a:xfrm>
          <a:prstGeom prst="rect">
            <a:avLst/>
          </a:prstGeom>
          <a:noFill/>
        </p:spPr>
        <p:txBody>
          <a:bodyPr wrap="none" lIns="0" rIns="0" tIns="0" bIns="0" anchor="t">
            <a:noAutofit/>
          </a:bodyPr>
          <a:lstStyle/>
          <a:p>
            <a:pPr algn="l">
              <a:lnSpc>
                <a:spcPts val="1680"/>
              </a:lnSpc>
              <a:spcBef>
                <a:spcPts val="0"/>
              </a:spcBef>
              <a:spcAft>
                <a:spcPts val="0"/>
              </a:spcAft>
            </a:pPr>
            <a:r>
              <a:rPr sz="1200" b="0" i="0">
                <a:solidFill>
                  <a:srgbClr val="50505B"/>
                </a:solidFill>
                <a:latin typeface="Arial"/>
              </a:rPr>
              <a:t>ideal simulator, IBM Kingston, IonQ Aria-1</a:t>
            </a:r>
          </a:p>
        </p:txBody>
      </p:sp>
      <p:sp>
        <p:nvSpPr>
          <p:cNvPr id="27" name="!!sec"/>
          <p:cNvSpPr txBox="1"/>
          <p:nvPr/>
        </p:nvSpPr>
        <p:spPr>
          <a:xfrm>
            <a:off x="888978" y="6362541"/>
            <a:ext cx="717234"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Backup</a:t>
            </a:r>
          </a:p>
        </p:txBody>
      </p:sp>
      <p:pic>
        <p:nvPicPr>
          <p:cNvPr id="28" name="s36-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9"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36</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3310549"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Backup · Standards mapping</a:t>
            </a:r>
          </a:p>
        </p:txBody>
      </p:sp>
      <p:sp>
        <p:nvSpPr>
          <p:cNvPr id="3" name="s37-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Where the audit meets the standards</a:t>
            </a:r>
          </a:p>
        </p:txBody>
      </p:sp>
      <p:sp>
        <p:nvSpPr>
          <p:cNvPr id="4" name="s37-box-01"/>
          <p:cNvSpPr/>
          <p:nvPr/>
        </p:nvSpPr>
        <p:spPr>
          <a:xfrm>
            <a:off x="888978" y="1847109"/>
            <a:ext cx="1930451"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37-text-03"/>
          <p:cNvSpPr txBox="1"/>
          <p:nvPr/>
        </p:nvSpPr>
        <p:spPr>
          <a:xfrm>
            <a:off x="888978" y="1570891"/>
            <a:ext cx="1797104" cy="161921"/>
          </a:xfrm>
          <a:prstGeom prst="rect">
            <a:avLst/>
          </a:prstGeom>
          <a:noFill/>
        </p:spPr>
        <p:txBody>
          <a:bodyPr wrap="none" lIns="0" rIns="0" tIns="0" bIns="0" anchor="t">
            <a:noAutofit/>
          </a:bodyPr>
          <a:lstStyle/>
          <a:p>
            <a:pPr algn="l">
              <a:lnSpc>
                <a:spcPts val="1320"/>
              </a:lnSpc>
              <a:spcBef>
                <a:spcPts val="0"/>
              </a:spcBef>
              <a:spcAft>
                <a:spcPts val="0"/>
              </a:spcAft>
            </a:pPr>
            <a:r>
              <a:rPr sz="1100" b="1" i="0" spc="110" cap="all">
                <a:solidFill>
                  <a:srgbClr val="7B7B86"/>
                </a:solidFill>
                <a:latin typeface="Arial"/>
              </a:rPr>
              <a:t>Standard</a:t>
            </a:r>
          </a:p>
        </p:txBody>
      </p:sp>
      <p:sp>
        <p:nvSpPr>
          <p:cNvPr id="6" name="s37-box-02"/>
          <p:cNvSpPr/>
          <p:nvPr/>
        </p:nvSpPr>
        <p:spPr>
          <a:xfrm>
            <a:off x="2819429" y="1847109"/>
            <a:ext cx="2842844"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37-text-04"/>
          <p:cNvSpPr txBox="1"/>
          <p:nvPr/>
        </p:nvSpPr>
        <p:spPr>
          <a:xfrm>
            <a:off x="2819429" y="1570891"/>
            <a:ext cx="2709497" cy="161921"/>
          </a:xfrm>
          <a:prstGeom prst="rect">
            <a:avLst/>
          </a:prstGeom>
          <a:noFill/>
        </p:spPr>
        <p:txBody>
          <a:bodyPr wrap="none" lIns="0" rIns="0" tIns="0" bIns="0" anchor="t">
            <a:noAutofit/>
          </a:bodyPr>
          <a:lstStyle/>
          <a:p>
            <a:pPr algn="l">
              <a:lnSpc>
                <a:spcPts val="1320"/>
              </a:lnSpc>
              <a:spcBef>
                <a:spcPts val="0"/>
              </a:spcBef>
              <a:spcAft>
                <a:spcPts val="0"/>
              </a:spcAft>
            </a:pPr>
            <a:r>
              <a:rPr sz="1100" b="1" i="0" spc="110" cap="all">
                <a:solidFill>
                  <a:srgbClr val="7B7B86"/>
                </a:solidFill>
                <a:latin typeface="Arial"/>
              </a:rPr>
              <a:t>Governs today</a:t>
            </a:r>
          </a:p>
        </p:txBody>
      </p:sp>
      <p:sp>
        <p:nvSpPr>
          <p:cNvPr id="8" name="s37-box-03"/>
          <p:cNvSpPr/>
          <p:nvPr/>
        </p:nvSpPr>
        <p:spPr>
          <a:xfrm>
            <a:off x="5662273" y="1847109"/>
            <a:ext cx="564044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37-text-05"/>
          <p:cNvSpPr txBox="1"/>
          <p:nvPr/>
        </p:nvSpPr>
        <p:spPr>
          <a:xfrm>
            <a:off x="5662273" y="1570891"/>
            <a:ext cx="5507098" cy="161921"/>
          </a:xfrm>
          <a:prstGeom prst="rect">
            <a:avLst/>
          </a:prstGeom>
          <a:noFill/>
        </p:spPr>
        <p:txBody>
          <a:bodyPr wrap="none" lIns="0" rIns="0" tIns="0" bIns="0" anchor="t">
            <a:noAutofit/>
          </a:bodyPr>
          <a:lstStyle/>
          <a:p>
            <a:pPr algn="l">
              <a:lnSpc>
                <a:spcPts val="1320"/>
              </a:lnSpc>
              <a:spcBef>
                <a:spcPts val="0"/>
              </a:spcBef>
              <a:spcAft>
                <a:spcPts val="0"/>
              </a:spcAft>
            </a:pPr>
            <a:r>
              <a:rPr sz="1100" b="1" i="0" spc="110" cap="all">
                <a:solidFill>
                  <a:srgbClr val="7B7B86"/>
                </a:solidFill>
                <a:latin typeface="Arial"/>
              </a:rPr>
              <a:t>What the QEC audit needs</a:t>
            </a:r>
          </a:p>
        </p:txBody>
      </p:sp>
      <p:sp>
        <p:nvSpPr>
          <p:cNvPr id="10" name="s37-box-04"/>
          <p:cNvSpPr/>
          <p:nvPr/>
        </p:nvSpPr>
        <p:spPr>
          <a:xfrm>
            <a:off x="888978" y="2310648"/>
            <a:ext cx="193045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37-text-06"/>
          <p:cNvSpPr txBox="1"/>
          <p:nvPr/>
        </p:nvSpPr>
        <p:spPr>
          <a:xfrm>
            <a:off x="888978" y="1980456"/>
            <a:ext cx="1797104" cy="203195"/>
          </a:xfrm>
          <a:prstGeom prst="rect">
            <a:avLst/>
          </a:prstGeom>
          <a:noFill/>
        </p:spPr>
        <p:txBody>
          <a:bodyPr wrap="none" lIns="0" rIns="0" tIns="0" bIns="0" anchor="t">
            <a:noAutofit/>
          </a:bodyPr>
          <a:lstStyle/>
          <a:p>
            <a:pPr algn="l">
              <a:lnSpc>
                <a:spcPts val="1680"/>
              </a:lnSpc>
              <a:spcBef>
                <a:spcPts val="0"/>
              </a:spcBef>
              <a:spcAft>
                <a:spcPts val="0"/>
              </a:spcAft>
            </a:pPr>
            <a:r>
              <a:rPr sz="1400" b="1" i="0">
                <a:solidFill>
                  <a:srgbClr val="0B0B0F"/>
                </a:solidFill>
                <a:latin typeface="Arial"/>
              </a:rPr>
              <a:t>FIPS 140-3</a:t>
            </a:r>
          </a:p>
        </p:txBody>
      </p:sp>
      <p:sp>
        <p:nvSpPr>
          <p:cNvPr id="12" name="s37-box-05"/>
          <p:cNvSpPr/>
          <p:nvPr/>
        </p:nvSpPr>
        <p:spPr>
          <a:xfrm>
            <a:off x="2819429" y="2310648"/>
            <a:ext cx="284284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37-text-07"/>
          <p:cNvSpPr txBox="1"/>
          <p:nvPr/>
        </p:nvSpPr>
        <p:spPr>
          <a:xfrm>
            <a:off x="2819429" y="1980456"/>
            <a:ext cx="2709497"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module boundary · self-tests</a:t>
            </a:r>
          </a:p>
        </p:txBody>
      </p:sp>
      <p:sp>
        <p:nvSpPr>
          <p:cNvPr id="14" name="s37-box-06"/>
          <p:cNvSpPr/>
          <p:nvPr/>
        </p:nvSpPr>
        <p:spPr>
          <a:xfrm>
            <a:off x="5662273" y="2310648"/>
            <a:ext cx="56404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37-text-08"/>
          <p:cNvSpPr txBox="1"/>
          <p:nvPr/>
        </p:nvSpPr>
        <p:spPr>
          <a:xfrm>
            <a:off x="5662273" y="1980456"/>
            <a:ext cx="550709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validated boundary around seed generation and encoder sampling</a:t>
            </a:r>
          </a:p>
        </p:txBody>
      </p:sp>
      <p:sp>
        <p:nvSpPr>
          <p:cNvPr id="16" name="s37-box-07"/>
          <p:cNvSpPr/>
          <p:nvPr/>
        </p:nvSpPr>
        <p:spPr>
          <a:xfrm>
            <a:off x="888978" y="2774186"/>
            <a:ext cx="193045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37-text-09"/>
          <p:cNvSpPr txBox="1"/>
          <p:nvPr/>
        </p:nvSpPr>
        <p:spPr>
          <a:xfrm>
            <a:off x="888978" y="2443994"/>
            <a:ext cx="1797104" cy="203195"/>
          </a:xfrm>
          <a:prstGeom prst="rect">
            <a:avLst/>
          </a:prstGeom>
          <a:noFill/>
        </p:spPr>
        <p:txBody>
          <a:bodyPr wrap="none" lIns="0" rIns="0" tIns="0" bIns="0" anchor="t">
            <a:noAutofit/>
          </a:bodyPr>
          <a:lstStyle/>
          <a:p>
            <a:pPr algn="l">
              <a:lnSpc>
                <a:spcPts val="1680"/>
              </a:lnSpc>
              <a:spcBef>
                <a:spcPts val="0"/>
              </a:spcBef>
              <a:spcAft>
                <a:spcPts val="0"/>
              </a:spcAft>
            </a:pPr>
            <a:r>
              <a:rPr sz="1400" b="1" i="0">
                <a:solidFill>
                  <a:srgbClr val="0B0B0F"/>
                </a:solidFill>
                <a:latin typeface="Arial"/>
              </a:rPr>
              <a:t>SP 800-90A</a:t>
            </a:r>
          </a:p>
        </p:txBody>
      </p:sp>
      <p:sp>
        <p:nvSpPr>
          <p:cNvPr id="18" name="s37-box-08"/>
          <p:cNvSpPr/>
          <p:nvPr/>
        </p:nvSpPr>
        <p:spPr>
          <a:xfrm>
            <a:off x="2819429" y="2774186"/>
            <a:ext cx="284284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37-text-10"/>
          <p:cNvSpPr txBox="1"/>
          <p:nvPr/>
        </p:nvSpPr>
        <p:spPr>
          <a:xfrm>
            <a:off x="2819429" y="2443994"/>
            <a:ext cx="2709497"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approved DRBGs</a:t>
            </a:r>
          </a:p>
        </p:txBody>
      </p:sp>
      <p:sp>
        <p:nvSpPr>
          <p:cNvPr id="20" name="s37-box-09"/>
          <p:cNvSpPr/>
          <p:nvPr/>
        </p:nvSpPr>
        <p:spPr>
          <a:xfrm>
            <a:off x="5662273" y="2774186"/>
            <a:ext cx="56404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37-text-11"/>
          <p:cNvSpPr txBox="1"/>
          <p:nvPr/>
        </p:nvSpPr>
        <p:spPr>
          <a:xfrm>
            <a:off x="5662273" y="2443994"/>
            <a:ext cx="550709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per-run HSE seed from an approved DRBG</a:t>
            </a:r>
          </a:p>
        </p:txBody>
      </p:sp>
      <p:sp>
        <p:nvSpPr>
          <p:cNvPr id="22" name="s37-box-10"/>
          <p:cNvSpPr/>
          <p:nvPr/>
        </p:nvSpPr>
        <p:spPr>
          <a:xfrm>
            <a:off x="888978" y="3237725"/>
            <a:ext cx="193045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37-text-12"/>
          <p:cNvSpPr txBox="1"/>
          <p:nvPr/>
        </p:nvSpPr>
        <p:spPr>
          <a:xfrm>
            <a:off x="888978" y="2907533"/>
            <a:ext cx="1797104" cy="203195"/>
          </a:xfrm>
          <a:prstGeom prst="rect">
            <a:avLst/>
          </a:prstGeom>
          <a:noFill/>
        </p:spPr>
        <p:txBody>
          <a:bodyPr wrap="none" lIns="0" rIns="0" tIns="0" bIns="0" anchor="t">
            <a:noAutofit/>
          </a:bodyPr>
          <a:lstStyle/>
          <a:p>
            <a:pPr algn="l">
              <a:lnSpc>
                <a:spcPts val="1680"/>
              </a:lnSpc>
              <a:spcBef>
                <a:spcPts val="0"/>
              </a:spcBef>
              <a:spcAft>
                <a:spcPts val="0"/>
              </a:spcAft>
            </a:pPr>
            <a:r>
              <a:rPr sz="1400" b="1" i="0">
                <a:solidFill>
                  <a:srgbClr val="0B0B0F"/>
                </a:solidFill>
                <a:latin typeface="Arial"/>
              </a:rPr>
              <a:t>FIPS 203 · ML-KEM</a:t>
            </a:r>
          </a:p>
        </p:txBody>
      </p:sp>
      <p:sp>
        <p:nvSpPr>
          <p:cNvPr id="24" name="s37-box-11"/>
          <p:cNvSpPr/>
          <p:nvPr/>
        </p:nvSpPr>
        <p:spPr>
          <a:xfrm>
            <a:off x="2819429" y="3237725"/>
            <a:ext cx="284284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37-text-13"/>
          <p:cNvSpPr txBox="1"/>
          <p:nvPr/>
        </p:nvSpPr>
        <p:spPr>
          <a:xfrm>
            <a:off x="2819429" y="2907533"/>
            <a:ext cx="2709497"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post-quantum key encapsulation</a:t>
            </a:r>
          </a:p>
        </p:txBody>
      </p:sp>
      <p:sp>
        <p:nvSpPr>
          <p:cNvPr id="26" name="s37-box-12"/>
          <p:cNvSpPr/>
          <p:nvPr/>
        </p:nvSpPr>
        <p:spPr>
          <a:xfrm>
            <a:off x="5662273" y="3237725"/>
            <a:ext cx="56404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37-text-14"/>
          <p:cNvSpPr txBox="1"/>
          <p:nvPr/>
        </p:nvSpPr>
        <p:spPr>
          <a:xfrm>
            <a:off x="5662273" y="2907533"/>
            <a:ext cx="5507098" cy="203195"/>
          </a:xfrm>
          <a:prstGeom prst="rect">
            <a:avLst/>
          </a:prstGeom>
          <a:noFill/>
        </p:spPr>
        <p:txBody>
          <a:bodyPr wrap="none" lIns="0" rIns="0" tIns="0" bIns="0" anchor="t">
            <a:noAutofit/>
          </a:bodyPr>
          <a:lstStyle/>
          <a:p>
            <a:pPr algn="l">
              <a:lnSpc>
                <a:spcPts val="1680"/>
              </a:lnSpc>
              <a:spcBef>
                <a:spcPts val="0"/>
              </a:spcBef>
              <a:spcAft>
                <a:spcPts val="0"/>
              </a:spcAft>
            </a:pPr>
            <a:r>
              <a:rPr sz="1400" b="0" i="0">
                <a:solidFill>
                  <a:srgbClr val="50505B"/>
                </a:solidFill>
                <a:latin typeface="Arial"/>
              </a:rPr>
              <a:t>seeds and jobs protected in transit</a:t>
            </a:r>
          </a:p>
        </p:txBody>
      </p:sp>
      <p:sp>
        <p:nvSpPr>
          <p:cNvPr id="28" name="s37-box-13"/>
          <p:cNvSpPr/>
          <p:nvPr/>
        </p:nvSpPr>
        <p:spPr>
          <a:xfrm>
            <a:off x="888978" y="3904458"/>
            <a:ext cx="193045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37-text-15"/>
          <p:cNvSpPr txBox="1"/>
          <p:nvPr/>
        </p:nvSpPr>
        <p:spPr>
          <a:xfrm>
            <a:off x="888978" y="3371071"/>
            <a:ext cx="1790754" cy="406390"/>
          </a:xfrm>
          <a:prstGeom prst="rect">
            <a:avLst/>
          </a:prstGeom>
          <a:noFill/>
        </p:spPr>
        <p:txBody>
          <a:bodyPr wrap="square" lIns="0" rIns="0" tIns="0" bIns="0" anchor="t">
            <a:noAutofit/>
          </a:bodyPr>
          <a:lstStyle/>
          <a:p>
            <a:pPr algn="l">
              <a:lnSpc>
                <a:spcPts val="1680"/>
              </a:lnSpc>
              <a:spcBef>
                <a:spcPts val="0"/>
              </a:spcBef>
              <a:spcAft>
                <a:spcPts val="0"/>
              </a:spcAft>
            </a:pPr>
            <a:r>
              <a:rPr sz="1400" b="1" i="0">
                <a:solidFill>
                  <a:srgbClr val="0B0B0F"/>
                </a:solidFill>
                <a:latin typeface="Arial"/>
              </a:rPr>
              <a:t>FIPS 204 · ML-DSA</a:t>
            </a:r>
          </a:p>
          <a:p>
            <a:pPr algn="l">
              <a:lnSpc>
                <a:spcPts val="1680"/>
              </a:lnSpc>
              <a:spcBef>
                <a:spcPts val="0"/>
              </a:spcBef>
              <a:spcAft>
                <a:spcPts val="0"/>
              </a:spcAft>
            </a:pPr>
            <a:r>
              <a:rPr sz="1400" b="1" i="0">
                <a:solidFill>
                  <a:srgbClr val="0B0B0F"/>
                </a:solidFill>
                <a:latin typeface="Arial"/>
              </a:rPr>
              <a:t>FIPS 205 · SLH-DSA</a:t>
            </a:r>
          </a:p>
        </p:txBody>
      </p:sp>
      <p:sp>
        <p:nvSpPr>
          <p:cNvPr id="30" name="s37-box-14"/>
          <p:cNvSpPr/>
          <p:nvPr/>
        </p:nvSpPr>
        <p:spPr>
          <a:xfrm>
            <a:off x="2819429" y="3904458"/>
            <a:ext cx="284284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37-text-16"/>
          <p:cNvSpPr txBox="1"/>
          <p:nvPr/>
        </p:nvSpPr>
        <p:spPr>
          <a:xfrm>
            <a:off x="2819429" y="3371071"/>
            <a:ext cx="2703147" cy="406390"/>
          </a:xfrm>
          <a:prstGeom prst="rect">
            <a:avLst/>
          </a:prstGeom>
          <a:noFill/>
        </p:spPr>
        <p:txBody>
          <a:bodyPr wrap="square" lIns="0" rIns="0" tIns="0" bIns="0" anchor="t">
            <a:noAutofit/>
          </a:bodyPr>
          <a:lstStyle/>
          <a:p>
            <a:pPr algn="l">
              <a:lnSpc>
                <a:spcPts val="1680"/>
              </a:lnSpc>
              <a:spcBef>
                <a:spcPts val="0"/>
              </a:spcBef>
              <a:spcAft>
                <a:spcPts val="0"/>
              </a:spcAft>
            </a:pPr>
            <a:r>
              <a:rPr sz="1400" b="0" i="0">
                <a:solidFill>
                  <a:srgbClr val="50505B"/>
                </a:solidFill>
                <a:latin typeface="Arial"/>
              </a:rPr>
              <a:t>post-quantum signatures</a:t>
            </a:r>
          </a:p>
        </p:txBody>
      </p:sp>
      <p:sp>
        <p:nvSpPr>
          <p:cNvPr id="32" name="s37-box-15"/>
          <p:cNvSpPr/>
          <p:nvPr/>
        </p:nvSpPr>
        <p:spPr>
          <a:xfrm>
            <a:off x="5662273" y="3904458"/>
            <a:ext cx="56404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37-text-17"/>
          <p:cNvSpPr txBox="1"/>
          <p:nvPr/>
        </p:nvSpPr>
        <p:spPr>
          <a:xfrm>
            <a:off x="5662273" y="3371071"/>
            <a:ext cx="5500748" cy="406390"/>
          </a:xfrm>
          <a:prstGeom prst="rect">
            <a:avLst/>
          </a:prstGeom>
          <a:noFill/>
        </p:spPr>
        <p:txBody>
          <a:bodyPr wrap="square" lIns="0" rIns="0" tIns="0" bIns="0" anchor="t">
            <a:noAutofit/>
          </a:bodyPr>
          <a:lstStyle/>
          <a:p>
            <a:pPr algn="l">
              <a:lnSpc>
                <a:spcPts val="1680"/>
              </a:lnSpc>
              <a:spcBef>
                <a:spcPts val="0"/>
              </a:spcBef>
              <a:spcAft>
                <a:spcPts val="0"/>
              </a:spcAft>
            </a:pPr>
            <a:r>
              <a:rPr sz="1400" b="0" i="0">
                <a:solidFill>
                  <a:srgbClr val="50505B"/>
                </a:solidFill>
                <a:latin typeface="Arial"/>
              </a:rPr>
              <a:t>attest which encoder ran</a:t>
            </a:r>
          </a:p>
        </p:txBody>
      </p:sp>
      <p:sp>
        <p:nvSpPr>
          <p:cNvPr id="34" name="!!sec"/>
          <p:cNvSpPr txBox="1"/>
          <p:nvPr/>
        </p:nvSpPr>
        <p:spPr>
          <a:xfrm>
            <a:off x="888978" y="6362541"/>
            <a:ext cx="717234"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Backup</a:t>
            </a:r>
          </a:p>
        </p:txBody>
      </p:sp>
      <p:pic>
        <p:nvPicPr>
          <p:cNvPr id="35" name="s37-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36"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37</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1991072"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Backup · QPC SDK</a:t>
            </a:r>
          </a:p>
        </p:txBody>
      </p:sp>
      <p:sp>
        <p:nvSpPr>
          <p:cNvPr id="3" name="s38-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One boundary for keys and seeds</a:t>
            </a:r>
          </a:p>
        </p:txBody>
      </p:sp>
      <p:pic>
        <p:nvPicPr>
          <p:cNvPr id="4" name="s38-image-01" descr="diagram"/>
          <p:cNvPicPr>
            <a:picLocks noChangeAspect="1"/>
          </p:cNvPicPr>
          <p:nvPr/>
        </p:nvPicPr>
        <p:blipFill>
          <a:blip r:embed="rId2"/>
          <a:stretch>
            <a:fillRect/>
          </a:stretch>
        </p:blipFill>
        <p:spPr>
          <a:xfrm>
            <a:off x="863578" y="1530312"/>
            <a:ext cx="10470888" cy="3486063"/>
          </a:xfrm>
          <a:prstGeom prst="rect">
            <a:avLst/>
          </a:prstGeom>
        </p:spPr>
      </p:pic>
      <p:sp>
        <p:nvSpPr>
          <p:cNvPr id="5" name="s38-text-03"/>
          <p:cNvSpPr txBox="1"/>
          <p:nvPr/>
        </p:nvSpPr>
        <p:spPr>
          <a:xfrm>
            <a:off x="1333467" y="1945532"/>
            <a:ext cx="5664455"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FIPS 140-3 module boundary · Light Rider QPC SDK v1.0.0</a:t>
            </a:r>
          </a:p>
        </p:txBody>
      </p:sp>
      <p:sp>
        <p:nvSpPr>
          <p:cNvPr id="6" name="s38-text-04"/>
          <p:cNvSpPr txBox="1"/>
          <p:nvPr/>
        </p:nvSpPr>
        <p:spPr>
          <a:xfrm>
            <a:off x="1333467" y="2218575"/>
            <a:ext cx="3469593"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Linux x86_64 · 1.1 MB · CC-BY-4.0 · Zenodo, Aug 2026</a:t>
            </a:r>
          </a:p>
        </p:txBody>
      </p:sp>
      <p:sp>
        <p:nvSpPr>
          <p:cNvPr id="7" name="s38-text-05"/>
          <p:cNvSpPr txBox="1"/>
          <p:nvPr/>
        </p:nvSpPr>
        <p:spPr>
          <a:xfrm>
            <a:off x="1911401" y="2764661"/>
            <a:ext cx="83163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ML-KEM</a:t>
            </a:r>
          </a:p>
        </p:txBody>
      </p:sp>
      <p:sp>
        <p:nvSpPr>
          <p:cNvPr id="8" name="s38-text-06"/>
          <p:cNvSpPr txBox="1"/>
          <p:nvPr/>
        </p:nvSpPr>
        <p:spPr>
          <a:xfrm>
            <a:off x="1405250" y="3050404"/>
            <a:ext cx="184393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FIPS 203 · key encapsulation</a:t>
            </a:r>
          </a:p>
        </p:txBody>
      </p:sp>
      <p:sp>
        <p:nvSpPr>
          <p:cNvPr id="9" name="s38-text-07"/>
          <p:cNvSpPr txBox="1"/>
          <p:nvPr/>
        </p:nvSpPr>
        <p:spPr>
          <a:xfrm>
            <a:off x="4145107" y="2764661"/>
            <a:ext cx="809109"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ML-DSA</a:t>
            </a:r>
          </a:p>
        </p:txBody>
      </p:sp>
      <p:sp>
        <p:nvSpPr>
          <p:cNvPr id="10" name="s38-text-08"/>
          <p:cNvSpPr txBox="1"/>
          <p:nvPr/>
        </p:nvSpPr>
        <p:spPr>
          <a:xfrm>
            <a:off x="3662717" y="3050404"/>
            <a:ext cx="177388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FIPS 204 · lattice signatures</a:t>
            </a:r>
          </a:p>
        </p:txBody>
      </p:sp>
      <p:sp>
        <p:nvSpPr>
          <p:cNvPr id="11" name="s38-text-09"/>
          <p:cNvSpPr txBox="1"/>
          <p:nvPr/>
        </p:nvSpPr>
        <p:spPr>
          <a:xfrm>
            <a:off x="6311048" y="2764661"/>
            <a:ext cx="922116"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SLH-DSA</a:t>
            </a:r>
          </a:p>
        </p:txBody>
      </p:sp>
      <p:sp>
        <p:nvSpPr>
          <p:cNvPr id="12" name="s38-text-10"/>
          <p:cNvSpPr txBox="1"/>
          <p:nvPr/>
        </p:nvSpPr>
        <p:spPr>
          <a:xfrm>
            <a:off x="5916167" y="3050404"/>
            <a:ext cx="1711878"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FIPS 205 · hash signatures</a:t>
            </a:r>
          </a:p>
        </p:txBody>
      </p:sp>
      <p:sp>
        <p:nvSpPr>
          <p:cNvPr id="13" name="s38-text-11"/>
          <p:cNvSpPr txBox="1"/>
          <p:nvPr/>
        </p:nvSpPr>
        <p:spPr>
          <a:xfrm>
            <a:off x="2018555" y="3907633"/>
            <a:ext cx="617324"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DRBG</a:t>
            </a:r>
          </a:p>
        </p:txBody>
      </p:sp>
      <p:sp>
        <p:nvSpPr>
          <p:cNvPr id="14" name="s38-text-12"/>
          <p:cNvSpPr txBox="1"/>
          <p:nvPr/>
        </p:nvSpPr>
        <p:spPr>
          <a:xfrm>
            <a:off x="1697640" y="4193376"/>
            <a:ext cx="125915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SP 800-90A · seeds</a:t>
            </a:r>
          </a:p>
        </p:txBody>
      </p:sp>
      <p:sp>
        <p:nvSpPr>
          <p:cNvPr id="15" name="s38-text-13"/>
          <p:cNvSpPr txBox="1"/>
          <p:nvPr/>
        </p:nvSpPr>
        <p:spPr>
          <a:xfrm>
            <a:off x="4094060" y="3907633"/>
            <a:ext cx="911202"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self-tests</a:t>
            </a:r>
          </a:p>
        </p:txBody>
      </p:sp>
      <p:sp>
        <p:nvSpPr>
          <p:cNvPr id="16" name="s38-text-14"/>
          <p:cNvSpPr txBox="1"/>
          <p:nvPr/>
        </p:nvSpPr>
        <p:spPr>
          <a:xfrm>
            <a:off x="3829550" y="4193376"/>
            <a:ext cx="1440223"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power-up &amp; conditional</a:t>
            </a:r>
          </a:p>
        </p:txBody>
      </p:sp>
      <p:sp>
        <p:nvSpPr>
          <p:cNvPr id="17" name="s38-text-15"/>
          <p:cNvSpPr txBox="1"/>
          <p:nvPr/>
        </p:nvSpPr>
        <p:spPr>
          <a:xfrm>
            <a:off x="6045495" y="3907633"/>
            <a:ext cx="145322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module search</a:t>
            </a:r>
          </a:p>
        </p:txBody>
      </p:sp>
      <p:sp>
        <p:nvSpPr>
          <p:cNvPr id="18" name="s38-text-16"/>
          <p:cNvSpPr txBox="1"/>
          <p:nvPr/>
        </p:nvSpPr>
        <p:spPr>
          <a:xfrm>
            <a:off x="5893000" y="4193376"/>
            <a:ext cx="1758212"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discover &amp; select algorithms</a:t>
            </a:r>
          </a:p>
        </p:txBody>
      </p:sp>
      <p:sp>
        <p:nvSpPr>
          <p:cNvPr id="19" name="s38-text-17"/>
          <p:cNvSpPr txBox="1"/>
          <p:nvPr/>
        </p:nvSpPr>
        <p:spPr>
          <a:xfrm>
            <a:off x="8763773" y="3907633"/>
            <a:ext cx="217601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seeds → HSE encoder</a:t>
            </a:r>
          </a:p>
        </p:txBody>
      </p:sp>
      <p:sp>
        <p:nvSpPr>
          <p:cNvPr id="20" name="s38-text-18"/>
          <p:cNvSpPr txBox="1"/>
          <p:nvPr/>
        </p:nvSpPr>
        <p:spPr>
          <a:xfrm>
            <a:off x="8960965" y="4193376"/>
            <a:ext cx="1781627"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reseeded QEC (Chapter VII)</a:t>
            </a:r>
          </a:p>
        </p:txBody>
      </p:sp>
      <p:sp>
        <p:nvSpPr>
          <p:cNvPr id="21" name="s38-text-19"/>
          <p:cNvSpPr txBox="1"/>
          <p:nvPr/>
        </p:nvSpPr>
        <p:spPr>
          <a:xfrm>
            <a:off x="9277763" y="2764661"/>
            <a:ext cx="1148031" cy="228594"/>
          </a:xfrm>
          <a:prstGeom prst="rect">
            <a:avLst/>
          </a:prstGeom>
          <a:noFill/>
        </p:spPr>
        <p:txBody>
          <a:bodyPr wrap="none" lIns="0" rIns="0" tIns="0" bIns="0" anchor="t">
            <a:noAutofit/>
          </a:bodyPr>
          <a:lstStyle/>
          <a:p>
            <a:pPr algn="l">
              <a:lnSpc>
                <a:spcPct val="100000"/>
              </a:lnSpc>
              <a:spcBef>
                <a:spcPts val="0"/>
              </a:spcBef>
              <a:spcAft>
                <a:spcPts val="0"/>
              </a:spcAft>
            </a:pPr>
            <a:r>
              <a:rPr sz="1600" b="1" i="0">
                <a:solidFill>
                  <a:srgbClr val="0B0B0F"/>
                </a:solidFill>
                <a:latin typeface="Arial"/>
              </a:rPr>
              <a:t>signed jobs</a:t>
            </a:r>
          </a:p>
        </p:txBody>
      </p:sp>
      <p:sp>
        <p:nvSpPr>
          <p:cNvPr id="22" name="s38-text-20"/>
          <p:cNvSpPr txBox="1"/>
          <p:nvPr/>
        </p:nvSpPr>
        <p:spPr>
          <a:xfrm>
            <a:off x="8603787" y="3050404"/>
            <a:ext cx="2495984"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encapsulated · cloud QPU · HPC center</a:t>
            </a:r>
          </a:p>
        </p:txBody>
      </p:sp>
      <p:sp>
        <p:nvSpPr>
          <p:cNvPr id="23" name="s38-text-21"/>
          <p:cNvSpPr txBox="1"/>
          <p:nvPr/>
        </p:nvSpPr>
        <p:spPr>
          <a:xfrm>
            <a:off x="9500652" y="1939182"/>
            <a:ext cx="702253" cy="158746"/>
          </a:xfrm>
          <a:prstGeom prst="rect">
            <a:avLst/>
          </a:prstGeom>
          <a:noFill/>
        </p:spPr>
        <p:txBody>
          <a:bodyPr wrap="none" lIns="0" rIns="0" tIns="0" bIns="0" anchor="t">
            <a:noAutofit/>
          </a:bodyPr>
          <a:lstStyle/>
          <a:p>
            <a:pPr algn="l">
              <a:lnSpc>
                <a:spcPct val="100000"/>
              </a:lnSpc>
              <a:spcBef>
                <a:spcPts val="0"/>
              </a:spcBef>
              <a:spcAft>
                <a:spcPts val="0"/>
              </a:spcAft>
            </a:pPr>
            <a:r>
              <a:rPr sz="1100" b="0" i="0">
                <a:solidFill>
                  <a:srgbClr val="7B7B86"/>
                </a:solidFill>
                <a:latin typeface="Arial"/>
              </a:rPr>
              <a:t>consumers</a:t>
            </a:r>
          </a:p>
        </p:txBody>
      </p:sp>
      <p:sp>
        <p:nvSpPr>
          <p:cNvPr id="24" name="!!sec"/>
          <p:cNvSpPr txBox="1"/>
          <p:nvPr/>
        </p:nvSpPr>
        <p:spPr>
          <a:xfrm>
            <a:off x="888978" y="6362541"/>
            <a:ext cx="717234"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Backup</a:t>
            </a:r>
          </a:p>
        </p:txBody>
      </p:sp>
      <p:pic>
        <p:nvPicPr>
          <p:cNvPr id="25" name="s38-image-02"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6"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38</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1334360"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Backup · B1</a:t>
            </a:r>
          </a:p>
        </p:txBody>
      </p:sp>
      <p:sp>
        <p:nvSpPr>
          <p:cNvPr id="3" name="s39-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Hardware used in this dissertation</a:t>
            </a:r>
          </a:p>
        </p:txBody>
      </p:sp>
      <p:sp>
        <p:nvSpPr>
          <p:cNvPr id="4" name="s39-box-01"/>
          <p:cNvSpPr/>
          <p:nvPr/>
        </p:nvSpPr>
        <p:spPr>
          <a:xfrm>
            <a:off x="888978" y="1739162"/>
            <a:ext cx="1453221"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39-text-03"/>
          <p:cNvSpPr txBox="1"/>
          <p:nvPr/>
        </p:nvSpPr>
        <p:spPr>
          <a:xfrm>
            <a:off x="888978" y="1545492"/>
            <a:ext cx="1319874" cy="130172"/>
          </a:xfrm>
          <a:prstGeom prst="rect">
            <a:avLst/>
          </a:prstGeom>
          <a:noFill/>
        </p:spPr>
        <p:txBody>
          <a:bodyPr wrap="none" lIns="0" rIns="0" tIns="0" bIns="0" anchor="t">
            <a:noAutofit/>
          </a:bodyPr>
          <a:lstStyle/>
          <a:p>
            <a:pPr algn="l">
              <a:lnSpc>
                <a:spcPts val="1080"/>
              </a:lnSpc>
              <a:spcBef>
                <a:spcPts val="0"/>
              </a:spcBef>
              <a:spcAft>
                <a:spcPts val="0"/>
              </a:spcAft>
            </a:pPr>
            <a:r>
              <a:rPr sz="900" b="1" i="0" spc="90" cap="all">
                <a:solidFill>
                  <a:srgbClr val="7B7B86"/>
                </a:solidFill>
                <a:latin typeface="Arial"/>
              </a:rPr>
              <a:t>Device</a:t>
            </a:r>
          </a:p>
        </p:txBody>
      </p:sp>
      <p:sp>
        <p:nvSpPr>
          <p:cNvPr id="6" name="s39-box-02"/>
          <p:cNvSpPr/>
          <p:nvPr/>
        </p:nvSpPr>
        <p:spPr>
          <a:xfrm>
            <a:off x="2342198" y="1739162"/>
            <a:ext cx="1896618"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39-text-04"/>
          <p:cNvSpPr txBox="1"/>
          <p:nvPr/>
        </p:nvSpPr>
        <p:spPr>
          <a:xfrm>
            <a:off x="2342198" y="1545492"/>
            <a:ext cx="1763272" cy="130172"/>
          </a:xfrm>
          <a:prstGeom prst="rect">
            <a:avLst/>
          </a:prstGeom>
          <a:noFill/>
        </p:spPr>
        <p:txBody>
          <a:bodyPr wrap="none" lIns="0" rIns="0" tIns="0" bIns="0" anchor="t">
            <a:noAutofit/>
          </a:bodyPr>
          <a:lstStyle/>
          <a:p>
            <a:pPr algn="l">
              <a:lnSpc>
                <a:spcPts val="1080"/>
              </a:lnSpc>
              <a:spcBef>
                <a:spcPts val="0"/>
              </a:spcBef>
              <a:spcAft>
                <a:spcPts val="0"/>
              </a:spcAft>
            </a:pPr>
            <a:r>
              <a:rPr sz="900" b="1" i="0" spc="90" cap="all">
                <a:solidFill>
                  <a:srgbClr val="7B7B86"/>
                </a:solidFill>
                <a:latin typeface="Arial"/>
              </a:rPr>
              <a:t>Type</a:t>
            </a:r>
          </a:p>
        </p:txBody>
      </p:sp>
      <p:sp>
        <p:nvSpPr>
          <p:cNvPr id="8" name="s39-box-03"/>
          <p:cNvSpPr/>
          <p:nvPr/>
        </p:nvSpPr>
        <p:spPr>
          <a:xfrm>
            <a:off x="4238817" y="1739162"/>
            <a:ext cx="886597"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39-text-05"/>
          <p:cNvSpPr txBox="1"/>
          <p:nvPr/>
        </p:nvSpPr>
        <p:spPr>
          <a:xfrm>
            <a:off x="4391213" y="1545492"/>
            <a:ext cx="575454" cy="130172"/>
          </a:xfrm>
          <a:prstGeom prst="rect">
            <a:avLst/>
          </a:prstGeom>
          <a:noFill/>
        </p:spPr>
        <p:txBody>
          <a:bodyPr wrap="none" lIns="0" rIns="0" tIns="0" bIns="0" anchor="t">
            <a:noAutofit/>
          </a:bodyPr>
          <a:lstStyle/>
          <a:p>
            <a:pPr algn="r">
              <a:lnSpc>
                <a:spcPts val="1080"/>
              </a:lnSpc>
              <a:spcBef>
                <a:spcPts val="0"/>
              </a:spcBef>
              <a:spcAft>
                <a:spcPts val="0"/>
              </a:spcAft>
            </a:pPr>
            <a:r>
              <a:rPr sz="900" b="1" i="0" spc="90" cap="all">
                <a:solidFill>
                  <a:srgbClr val="7B7B86"/>
                </a:solidFill>
                <a:latin typeface="Arial"/>
              </a:rPr>
              <a:t>Qubits</a:t>
            </a:r>
          </a:p>
        </p:txBody>
      </p:sp>
      <p:sp>
        <p:nvSpPr>
          <p:cNvPr id="10" name="s39-box-04"/>
          <p:cNvSpPr/>
          <p:nvPr/>
        </p:nvSpPr>
        <p:spPr>
          <a:xfrm>
            <a:off x="5125413" y="1739162"/>
            <a:ext cx="253001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39-text-06"/>
          <p:cNvSpPr txBox="1"/>
          <p:nvPr/>
        </p:nvSpPr>
        <p:spPr>
          <a:xfrm>
            <a:off x="5125413" y="1545492"/>
            <a:ext cx="2396668" cy="130172"/>
          </a:xfrm>
          <a:prstGeom prst="rect">
            <a:avLst/>
          </a:prstGeom>
          <a:noFill/>
        </p:spPr>
        <p:txBody>
          <a:bodyPr wrap="none" lIns="0" rIns="0" tIns="0" bIns="0" anchor="t">
            <a:noAutofit/>
          </a:bodyPr>
          <a:lstStyle/>
          <a:p>
            <a:pPr algn="l">
              <a:lnSpc>
                <a:spcPts val="1080"/>
              </a:lnSpc>
              <a:spcBef>
                <a:spcPts val="0"/>
              </a:spcBef>
              <a:spcAft>
                <a:spcPts val="0"/>
              </a:spcAft>
            </a:pPr>
            <a:r>
              <a:rPr sz="900" b="1" i="0" spc="90" cap="all">
                <a:solidFill>
                  <a:srgbClr val="7B7B86"/>
                </a:solidFill>
                <a:latin typeface="Arial"/>
              </a:rPr>
              <a:t>Calibration figure reported</a:t>
            </a:r>
          </a:p>
        </p:txBody>
      </p:sp>
      <p:sp>
        <p:nvSpPr>
          <p:cNvPr id="12" name="s39-box-05"/>
          <p:cNvSpPr/>
          <p:nvPr/>
        </p:nvSpPr>
        <p:spPr>
          <a:xfrm>
            <a:off x="7655428" y="1739162"/>
            <a:ext cx="3647289"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39-text-07"/>
          <p:cNvSpPr txBox="1"/>
          <p:nvPr/>
        </p:nvSpPr>
        <p:spPr>
          <a:xfrm>
            <a:off x="7655428" y="1545492"/>
            <a:ext cx="3513943" cy="130172"/>
          </a:xfrm>
          <a:prstGeom prst="rect">
            <a:avLst/>
          </a:prstGeom>
          <a:noFill/>
        </p:spPr>
        <p:txBody>
          <a:bodyPr wrap="none" lIns="0" rIns="0" tIns="0" bIns="0" anchor="t">
            <a:noAutofit/>
          </a:bodyPr>
          <a:lstStyle/>
          <a:p>
            <a:pPr algn="l">
              <a:lnSpc>
                <a:spcPts val="1080"/>
              </a:lnSpc>
              <a:spcBef>
                <a:spcPts val="0"/>
              </a:spcBef>
              <a:spcAft>
                <a:spcPts val="0"/>
              </a:spcAft>
            </a:pPr>
            <a:r>
              <a:rPr sz="900" b="1" i="0" spc="90" cap="all">
                <a:solidFill>
                  <a:srgbClr val="7B7B86"/>
                </a:solidFill>
                <a:latin typeface="Arial"/>
              </a:rPr>
              <a:t>Used in</a:t>
            </a:r>
          </a:p>
        </p:txBody>
      </p:sp>
      <p:sp>
        <p:nvSpPr>
          <p:cNvPr id="14" name="s39-box-06"/>
          <p:cNvSpPr/>
          <p:nvPr/>
        </p:nvSpPr>
        <p:spPr>
          <a:xfrm>
            <a:off x="888978" y="2007740"/>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39-text-08"/>
          <p:cNvSpPr txBox="1"/>
          <p:nvPr/>
        </p:nvSpPr>
        <p:spPr>
          <a:xfrm>
            <a:off x="888978" y="1789961"/>
            <a:ext cx="1370673"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IBM Torino</a:t>
            </a:r>
          </a:p>
        </p:txBody>
      </p:sp>
      <p:sp>
        <p:nvSpPr>
          <p:cNvPr id="16" name="s39-box-07"/>
          <p:cNvSpPr/>
          <p:nvPr/>
        </p:nvSpPr>
        <p:spPr>
          <a:xfrm>
            <a:off x="2342198" y="2007740"/>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39-text-09"/>
          <p:cNvSpPr txBox="1"/>
          <p:nvPr/>
        </p:nvSpPr>
        <p:spPr>
          <a:xfrm>
            <a:off x="2342198" y="1789961"/>
            <a:ext cx="1814070"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Heron-1, superconducting</a:t>
            </a:r>
          </a:p>
        </p:txBody>
      </p:sp>
      <p:sp>
        <p:nvSpPr>
          <p:cNvPr id="18" name="s39-box-08"/>
          <p:cNvSpPr/>
          <p:nvPr/>
        </p:nvSpPr>
        <p:spPr>
          <a:xfrm>
            <a:off x="4238817" y="2007740"/>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39-text-10"/>
          <p:cNvSpPr txBox="1"/>
          <p:nvPr/>
        </p:nvSpPr>
        <p:spPr>
          <a:xfrm>
            <a:off x="4238817" y="1789961"/>
            <a:ext cx="804049" cy="173331"/>
          </a:xfrm>
          <a:prstGeom prst="rect">
            <a:avLst/>
          </a:prstGeom>
          <a:noFill/>
        </p:spPr>
        <p:txBody>
          <a:bodyPr wrap="none" lIns="0" rIns="0" tIns="0" bIns="0" anchor="t">
            <a:noAutofit/>
          </a:bodyPr>
          <a:lstStyle/>
          <a:p>
            <a:pPr algn="r">
              <a:lnSpc>
                <a:spcPts val="1365"/>
              </a:lnSpc>
              <a:spcBef>
                <a:spcPts val="0"/>
              </a:spcBef>
              <a:spcAft>
                <a:spcPts val="0"/>
              </a:spcAft>
            </a:pPr>
            <a:r>
              <a:rPr sz="1050" b="0" i="0">
                <a:solidFill>
                  <a:srgbClr val="50505B"/>
                </a:solidFill>
                <a:latin typeface="Arial"/>
              </a:rPr>
              <a:t>133</a:t>
            </a:r>
          </a:p>
        </p:txBody>
      </p:sp>
      <p:sp>
        <p:nvSpPr>
          <p:cNvPr id="20" name="s39-box-09"/>
          <p:cNvSpPr/>
          <p:nvPr/>
        </p:nvSpPr>
        <p:spPr>
          <a:xfrm>
            <a:off x="5125413" y="2007740"/>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39-text-11"/>
          <p:cNvSpPr txBox="1"/>
          <p:nvPr/>
        </p:nvSpPr>
        <p:spPr>
          <a:xfrm>
            <a:off x="5125413" y="1789961"/>
            <a:ext cx="2447467"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22" name="s39-box-10"/>
          <p:cNvSpPr/>
          <p:nvPr/>
        </p:nvSpPr>
        <p:spPr>
          <a:xfrm>
            <a:off x="7655428" y="2007740"/>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39-text-12"/>
          <p:cNvSpPr txBox="1"/>
          <p:nvPr/>
        </p:nvSpPr>
        <p:spPr>
          <a:xfrm>
            <a:off x="7655428" y="1789961"/>
            <a:ext cx="3564741"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DEAL (Ch. IV)</a:t>
            </a:r>
          </a:p>
        </p:txBody>
      </p:sp>
      <p:sp>
        <p:nvSpPr>
          <p:cNvPr id="24" name="s39-box-11"/>
          <p:cNvSpPr/>
          <p:nvPr/>
        </p:nvSpPr>
        <p:spPr>
          <a:xfrm>
            <a:off x="888978" y="2276319"/>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39-text-13"/>
          <p:cNvSpPr txBox="1"/>
          <p:nvPr/>
        </p:nvSpPr>
        <p:spPr>
          <a:xfrm>
            <a:off x="888978" y="2058539"/>
            <a:ext cx="1370673"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IBM Marrakesh</a:t>
            </a:r>
          </a:p>
        </p:txBody>
      </p:sp>
      <p:sp>
        <p:nvSpPr>
          <p:cNvPr id="26" name="s39-box-12"/>
          <p:cNvSpPr/>
          <p:nvPr/>
        </p:nvSpPr>
        <p:spPr>
          <a:xfrm>
            <a:off x="2342198" y="2276319"/>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39-text-14"/>
          <p:cNvSpPr txBox="1"/>
          <p:nvPr/>
        </p:nvSpPr>
        <p:spPr>
          <a:xfrm>
            <a:off x="2342198" y="2058539"/>
            <a:ext cx="1814070"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Heron-2, superconducting</a:t>
            </a:r>
          </a:p>
        </p:txBody>
      </p:sp>
      <p:sp>
        <p:nvSpPr>
          <p:cNvPr id="28" name="s39-box-13"/>
          <p:cNvSpPr/>
          <p:nvPr/>
        </p:nvSpPr>
        <p:spPr>
          <a:xfrm>
            <a:off x="4238817" y="2276319"/>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39-text-15"/>
          <p:cNvSpPr txBox="1"/>
          <p:nvPr/>
        </p:nvSpPr>
        <p:spPr>
          <a:xfrm>
            <a:off x="4238817" y="2058539"/>
            <a:ext cx="804049" cy="173331"/>
          </a:xfrm>
          <a:prstGeom prst="rect">
            <a:avLst/>
          </a:prstGeom>
          <a:noFill/>
        </p:spPr>
        <p:txBody>
          <a:bodyPr wrap="none" lIns="0" rIns="0" tIns="0" bIns="0" anchor="t">
            <a:noAutofit/>
          </a:bodyPr>
          <a:lstStyle/>
          <a:p>
            <a:pPr algn="r">
              <a:lnSpc>
                <a:spcPts val="1365"/>
              </a:lnSpc>
              <a:spcBef>
                <a:spcPts val="0"/>
              </a:spcBef>
              <a:spcAft>
                <a:spcPts val="0"/>
              </a:spcAft>
            </a:pPr>
            <a:r>
              <a:rPr sz="1050" b="0" i="0">
                <a:solidFill>
                  <a:srgbClr val="50505B"/>
                </a:solidFill>
                <a:latin typeface="Arial"/>
              </a:rPr>
              <a:t>156</a:t>
            </a:r>
          </a:p>
        </p:txBody>
      </p:sp>
      <p:sp>
        <p:nvSpPr>
          <p:cNvPr id="30" name="s39-box-14"/>
          <p:cNvSpPr/>
          <p:nvPr/>
        </p:nvSpPr>
        <p:spPr>
          <a:xfrm>
            <a:off x="5125413" y="2276319"/>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39-text-16"/>
          <p:cNvSpPr txBox="1"/>
          <p:nvPr/>
        </p:nvSpPr>
        <p:spPr>
          <a:xfrm>
            <a:off x="5125413" y="2058539"/>
            <a:ext cx="2447467"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32" name="s39-box-15"/>
          <p:cNvSpPr/>
          <p:nvPr/>
        </p:nvSpPr>
        <p:spPr>
          <a:xfrm>
            <a:off x="7655428" y="2276319"/>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39-text-17"/>
          <p:cNvSpPr txBox="1"/>
          <p:nvPr/>
        </p:nvSpPr>
        <p:spPr>
          <a:xfrm>
            <a:off x="7655428" y="2058539"/>
            <a:ext cx="3564741"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DEAL (Ch. IV), ShardQ (Ch. V)</a:t>
            </a:r>
          </a:p>
        </p:txBody>
      </p:sp>
      <p:sp>
        <p:nvSpPr>
          <p:cNvPr id="34" name="s39-box-16"/>
          <p:cNvSpPr/>
          <p:nvPr/>
        </p:nvSpPr>
        <p:spPr>
          <a:xfrm>
            <a:off x="888978" y="2544897"/>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39-text-18"/>
          <p:cNvSpPr txBox="1"/>
          <p:nvPr/>
        </p:nvSpPr>
        <p:spPr>
          <a:xfrm>
            <a:off x="888978" y="2327118"/>
            <a:ext cx="1370673"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IBM Pittsburgh</a:t>
            </a:r>
          </a:p>
        </p:txBody>
      </p:sp>
      <p:sp>
        <p:nvSpPr>
          <p:cNvPr id="36" name="s39-box-17"/>
          <p:cNvSpPr/>
          <p:nvPr/>
        </p:nvSpPr>
        <p:spPr>
          <a:xfrm>
            <a:off x="2342198" y="2544897"/>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39-text-19"/>
          <p:cNvSpPr txBox="1"/>
          <p:nvPr/>
        </p:nvSpPr>
        <p:spPr>
          <a:xfrm>
            <a:off x="2342198" y="2327118"/>
            <a:ext cx="1814070"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Heron-3, superconducting</a:t>
            </a:r>
          </a:p>
        </p:txBody>
      </p:sp>
      <p:sp>
        <p:nvSpPr>
          <p:cNvPr id="38" name="s39-box-18"/>
          <p:cNvSpPr/>
          <p:nvPr/>
        </p:nvSpPr>
        <p:spPr>
          <a:xfrm>
            <a:off x="4238817" y="2544897"/>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39-text-20"/>
          <p:cNvSpPr txBox="1"/>
          <p:nvPr/>
        </p:nvSpPr>
        <p:spPr>
          <a:xfrm>
            <a:off x="4238817" y="2327118"/>
            <a:ext cx="804049" cy="173331"/>
          </a:xfrm>
          <a:prstGeom prst="rect">
            <a:avLst/>
          </a:prstGeom>
          <a:noFill/>
        </p:spPr>
        <p:txBody>
          <a:bodyPr wrap="none" lIns="0" rIns="0" tIns="0" bIns="0" anchor="t">
            <a:noAutofit/>
          </a:bodyPr>
          <a:lstStyle/>
          <a:p>
            <a:pPr algn="r">
              <a:lnSpc>
                <a:spcPts val="1365"/>
              </a:lnSpc>
              <a:spcBef>
                <a:spcPts val="0"/>
              </a:spcBef>
              <a:spcAft>
                <a:spcPts val="0"/>
              </a:spcAft>
            </a:pPr>
            <a:r>
              <a:rPr sz="1050" b="0" i="0">
                <a:solidFill>
                  <a:srgbClr val="50505B"/>
                </a:solidFill>
                <a:latin typeface="Arial"/>
              </a:rPr>
              <a:t>156</a:t>
            </a:r>
          </a:p>
        </p:txBody>
      </p:sp>
      <p:sp>
        <p:nvSpPr>
          <p:cNvPr id="40" name="s39-box-19"/>
          <p:cNvSpPr/>
          <p:nvPr/>
        </p:nvSpPr>
        <p:spPr>
          <a:xfrm>
            <a:off x="5125413" y="2544897"/>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39-text-21"/>
          <p:cNvSpPr txBox="1"/>
          <p:nvPr/>
        </p:nvSpPr>
        <p:spPr>
          <a:xfrm>
            <a:off x="5125413" y="2327118"/>
            <a:ext cx="2447467"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1.46 × 10⁻³ median CZ error</a:t>
            </a:r>
          </a:p>
        </p:txBody>
      </p:sp>
      <p:sp>
        <p:nvSpPr>
          <p:cNvPr id="42" name="s39-box-20"/>
          <p:cNvSpPr/>
          <p:nvPr/>
        </p:nvSpPr>
        <p:spPr>
          <a:xfrm>
            <a:off x="7655428" y="2544897"/>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39-text-22"/>
          <p:cNvSpPr txBox="1"/>
          <p:nvPr/>
        </p:nvSpPr>
        <p:spPr>
          <a:xfrm>
            <a:off x="7655428" y="2327118"/>
            <a:ext cx="3564741"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QAWA (Ch. IV), ShardQ (Ch. V)</a:t>
            </a:r>
          </a:p>
        </p:txBody>
      </p:sp>
      <p:sp>
        <p:nvSpPr>
          <p:cNvPr id="44" name="s39-box-21"/>
          <p:cNvSpPr/>
          <p:nvPr/>
        </p:nvSpPr>
        <p:spPr>
          <a:xfrm>
            <a:off x="888978" y="2813476"/>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39-text-23"/>
          <p:cNvSpPr txBox="1"/>
          <p:nvPr/>
        </p:nvSpPr>
        <p:spPr>
          <a:xfrm>
            <a:off x="888978" y="2595696"/>
            <a:ext cx="1370673"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IBM Boston</a:t>
            </a:r>
          </a:p>
        </p:txBody>
      </p:sp>
      <p:sp>
        <p:nvSpPr>
          <p:cNvPr id="46" name="s39-box-22"/>
          <p:cNvSpPr/>
          <p:nvPr/>
        </p:nvSpPr>
        <p:spPr>
          <a:xfrm>
            <a:off x="2342198" y="2813476"/>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s39-text-24"/>
          <p:cNvSpPr txBox="1"/>
          <p:nvPr/>
        </p:nvSpPr>
        <p:spPr>
          <a:xfrm>
            <a:off x="2342198" y="2595696"/>
            <a:ext cx="1814070"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Heron-3, superconducting</a:t>
            </a:r>
          </a:p>
        </p:txBody>
      </p:sp>
      <p:sp>
        <p:nvSpPr>
          <p:cNvPr id="48" name="s39-box-23"/>
          <p:cNvSpPr/>
          <p:nvPr/>
        </p:nvSpPr>
        <p:spPr>
          <a:xfrm>
            <a:off x="4238817" y="2813476"/>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39-text-25"/>
          <p:cNvSpPr txBox="1"/>
          <p:nvPr/>
        </p:nvSpPr>
        <p:spPr>
          <a:xfrm>
            <a:off x="4238817" y="2595696"/>
            <a:ext cx="804049" cy="173331"/>
          </a:xfrm>
          <a:prstGeom prst="rect">
            <a:avLst/>
          </a:prstGeom>
          <a:noFill/>
        </p:spPr>
        <p:txBody>
          <a:bodyPr wrap="none" lIns="0" rIns="0" tIns="0" bIns="0" anchor="t">
            <a:noAutofit/>
          </a:bodyPr>
          <a:lstStyle/>
          <a:p>
            <a:pPr algn="r">
              <a:lnSpc>
                <a:spcPts val="1365"/>
              </a:lnSpc>
              <a:spcBef>
                <a:spcPts val="0"/>
              </a:spcBef>
              <a:spcAft>
                <a:spcPts val="0"/>
              </a:spcAft>
            </a:pPr>
            <a:r>
              <a:rPr sz="1050" b="0" i="0">
                <a:solidFill>
                  <a:srgbClr val="50505B"/>
                </a:solidFill>
                <a:latin typeface="Arial"/>
              </a:rPr>
              <a:t>156</a:t>
            </a:r>
          </a:p>
        </p:txBody>
      </p:sp>
      <p:sp>
        <p:nvSpPr>
          <p:cNvPr id="50" name="s39-box-24"/>
          <p:cNvSpPr/>
          <p:nvPr/>
        </p:nvSpPr>
        <p:spPr>
          <a:xfrm>
            <a:off x="5125413" y="2813476"/>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39-text-26"/>
          <p:cNvSpPr txBox="1"/>
          <p:nvPr/>
        </p:nvSpPr>
        <p:spPr>
          <a:xfrm>
            <a:off x="5125413" y="2595696"/>
            <a:ext cx="2447467"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52" name="s39-box-25"/>
          <p:cNvSpPr/>
          <p:nvPr/>
        </p:nvSpPr>
        <p:spPr>
          <a:xfrm>
            <a:off x="7655428" y="2813476"/>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s39-text-27"/>
          <p:cNvSpPr txBox="1"/>
          <p:nvPr/>
        </p:nvSpPr>
        <p:spPr>
          <a:xfrm>
            <a:off x="7655428" y="2595696"/>
            <a:ext cx="3564741"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NNQA (Ch. V)</a:t>
            </a:r>
          </a:p>
        </p:txBody>
      </p:sp>
      <p:sp>
        <p:nvSpPr>
          <p:cNvPr id="54" name="s39-box-26"/>
          <p:cNvSpPr/>
          <p:nvPr/>
        </p:nvSpPr>
        <p:spPr>
          <a:xfrm>
            <a:off x="888978" y="3082054"/>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s39-text-28"/>
          <p:cNvSpPr txBox="1"/>
          <p:nvPr/>
        </p:nvSpPr>
        <p:spPr>
          <a:xfrm>
            <a:off x="888978" y="2864274"/>
            <a:ext cx="1370673"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IBM Kingston</a:t>
            </a:r>
          </a:p>
        </p:txBody>
      </p:sp>
      <p:sp>
        <p:nvSpPr>
          <p:cNvPr id="56" name="s39-box-27"/>
          <p:cNvSpPr/>
          <p:nvPr/>
        </p:nvSpPr>
        <p:spPr>
          <a:xfrm>
            <a:off x="2342198" y="3082054"/>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s39-text-29"/>
          <p:cNvSpPr txBox="1"/>
          <p:nvPr/>
        </p:nvSpPr>
        <p:spPr>
          <a:xfrm>
            <a:off x="2342198" y="2864274"/>
            <a:ext cx="1814070"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Heron, superconducting</a:t>
            </a:r>
          </a:p>
        </p:txBody>
      </p:sp>
      <p:sp>
        <p:nvSpPr>
          <p:cNvPr id="58" name="s39-box-28"/>
          <p:cNvSpPr/>
          <p:nvPr/>
        </p:nvSpPr>
        <p:spPr>
          <a:xfrm>
            <a:off x="4238817" y="3082054"/>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39-text-30"/>
          <p:cNvSpPr txBox="1"/>
          <p:nvPr/>
        </p:nvSpPr>
        <p:spPr>
          <a:xfrm>
            <a:off x="4238817" y="2864274"/>
            <a:ext cx="804049" cy="173331"/>
          </a:xfrm>
          <a:prstGeom prst="rect">
            <a:avLst/>
          </a:prstGeom>
          <a:noFill/>
        </p:spPr>
        <p:txBody>
          <a:bodyPr wrap="none" lIns="0" rIns="0" tIns="0" bIns="0" anchor="t">
            <a:noAutofit/>
          </a:bodyPr>
          <a:lstStyle/>
          <a:p>
            <a:pPr algn="r">
              <a:lnSpc>
                <a:spcPts val="1365"/>
              </a:lnSpc>
              <a:spcBef>
                <a:spcPts val="0"/>
              </a:spcBef>
              <a:spcAft>
                <a:spcPts val="0"/>
              </a:spcAft>
            </a:pPr>
            <a:r>
              <a:rPr sz="1050" b="0" i="0">
                <a:solidFill>
                  <a:srgbClr val="50505B"/>
                </a:solidFill>
                <a:latin typeface="Arial"/>
              </a:rPr>
              <a:t>—</a:t>
            </a:r>
          </a:p>
        </p:txBody>
      </p:sp>
      <p:sp>
        <p:nvSpPr>
          <p:cNvPr id="60" name="s39-box-29"/>
          <p:cNvSpPr/>
          <p:nvPr/>
        </p:nvSpPr>
        <p:spPr>
          <a:xfrm>
            <a:off x="5125413" y="3082054"/>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39-text-31"/>
          <p:cNvSpPr txBox="1"/>
          <p:nvPr/>
        </p:nvSpPr>
        <p:spPr>
          <a:xfrm>
            <a:off x="5125413" y="2864274"/>
            <a:ext cx="2447467"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62" name="s39-box-30"/>
          <p:cNvSpPr/>
          <p:nvPr/>
        </p:nvSpPr>
        <p:spPr>
          <a:xfrm>
            <a:off x="7655428" y="3082054"/>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39-text-32"/>
          <p:cNvSpPr txBox="1"/>
          <p:nvPr/>
        </p:nvSpPr>
        <p:spPr>
          <a:xfrm>
            <a:off x="7655428" y="2864274"/>
            <a:ext cx="3564741"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VQT (Ch. V), NNQA</a:t>
            </a:r>
          </a:p>
        </p:txBody>
      </p:sp>
      <p:sp>
        <p:nvSpPr>
          <p:cNvPr id="64" name="s39-box-31"/>
          <p:cNvSpPr/>
          <p:nvPr/>
        </p:nvSpPr>
        <p:spPr>
          <a:xfrm>
            <a:off x="888978" y="3350633"/>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39-text-33"/>
          <p:cNvSpPr txBox="1"/>
          <p:nvPr/>
        </p:nvSpPr>
        <p:spPr>
          <a:xfrm>
            <a:off x="888978" y="3132853"/>
            <a:ext cx="1370673"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IBM Miami</a:t>
            </a:r>
          </a:p>
        </p:txBody>
      </p:sp>
      <p:sp>
        <p:nvSpPr>
          <p:cNvPr id="66" name="s39-box-32"/>
          <p:cNvSpPr/>
          <p:nvPr/>
        </p:nvSpPr>
        <p:spPr>
          <a:xfrm>
            <a:off x="2342198" y="3350633"/>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39-text-34"/>
          <p:cNvSpPr txBox="1"/>
          <p:nvPr/>
        </p:nvSpPr>
        <p:spPr>
          <a:xfrm>
            <a:off x="2342198" y="3132853"/>
            <a:ext cx="1814070"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Nighthawk, superconducting</a:t>
            </a:r>
          </a:p>
        </p:txBody>
      </p:sp>
      <p:sp>
        <p:nvSpPr>
          <p:cNvPr id="68" name="s39-box-33"/>
          <p:cNvSpPr/>
          <p:nvPr/>
        </p:nvSpPr>
        <p:spPr>
          <a:xfrm>
            <a:off x="4238817" y="3350633"/>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39-text-35"/>
          <p:cNvSpPr txBox="1"/>
          <p:nvPr/>
        </p:nvSpPr>
        <p:spPr>
          <a:xfrm>
            <a:off x="4238817" y="3132853"/>
            <a:ext cx="804049" cy="173331"/>
          </a:xfrm>
          <a:prstGeom prst="rect">
            <a:avLst/>
          </a:prstGeom>
          <a:noFill/>
        </p:spPr>
        <p:txBody>
          <a:bodyPr wrap="none" lIns="0" rIns="0" tIns="0" bIns="0" anchor="t">
            <a:noAutofit/>
          </a:bodyPr>
          <a:lstStyle/>
          <a:p>
            <a:pPr algn="r">
              <a:lnSpc>
                <a:spcPts val="1365"/>
              </a:lnSpc>
              <a:spcBef>
                <a:spcPts val="0"/>
              </a:spcBef>
              <a:spcAft>
                <a:spcPts val="0"/>
              </a:spcAft>
            </a:pPr>
            <a:r>
              <a:rPr sz="1050" b="0" i="0">
                <a:solidFill>
                  <a:srgbClr val="50505B"/>
                </a:solidFill>
                <a:latin typeface="Arial"/>
              </a:rPr>
              <a:t>—</a:t>
            </a:r>
          </a:p>
        </p:txBody>
      </p:sp>
      <p:sp>
        <p:nvSpPr>
          <p:cNvPr id="70" name="s39-box-34"/>
          <p:cNvSpPr/>
          <p:nvPr/>
        </p:nvSpPr>
        <p:spPr>
          <a:xfrm>
            <a:off x="5125413" y="3350633"/>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39-text-36"/>
          <p:cNvSpPr txBox="1"/>
          <p:nvPr/>
        </p:nvSpPr>
        <p:spPr>
          <a:xfrm>
            <a:off x="5125413" y="3132853"/>
            <a:ext cx="2447467"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72" name="s39-box-35"/>
          <p:cNvSpPr/>
          <p:nvPr/>
        </p:nvSpPr>
        <p:spPr>
          <a:xfrm>
            <a:off x="7655428" y="3350633"/>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s39-text-37"/>
          <p:cNvSpPr txBox="1"/>
          <p:nvPr/>
        </p:nvSpPr>
        <p:spPr>
          <a:xfrm>
            <a:off x="7655428" y="3132853"/>
            <a:ext cx="3564741"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NNQA (Ch. V)</a:t>
            </a:r>
          </a:p>
        </p:txBody>
      </p:sp>
      <p:sp>
        <p:nvSpPr>
          <p:cNvPr id="74" name="s39-box-36"/>
          <p:cNvSpPr/>
          <p:nvPr/>
        </p:nvSpPr>
        <p:spPr>
          <a:xfrm>
            <a:off x="888978" y="3619211"/>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s39-text-38"/>
          <p:cNvSpPr txBox="1"/>
          <p:nvPr/>
        </p:nvSpPr>
        <p:spPr>
          <a:xfrm>
            <a:off x="888978" y="3401431"/>
            <a:ext cx="1370673"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IonQ Aria-1</a:t>
            </a:r>
          </a:p>
        </p:txBody>
      </p:sp>
      <p:sp>
        <p:nvSpPr>
          <p:cNvPr id="76" name="s39-box-37"/>
          <p:cNvSpPr/>
          <p:nvPr/>
        </p:nvSpPr>
        <p:spPr>
          <a:xfrm>
            <a:off x="2342198" y="3619211"/>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s39-text-39"/>
          <p:cNvSpPr txBox="1"/>
          <p:nvPr/>
        </p:nvSpPr>
        <p:spPr>
          <a:xfrm>
            <a:off x="2342198" y="3401431"/>
            <a:ext cx="1814070"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trapped ion</a:t>
            </a:r>
          </a:p>
        </p:txBody>
      </p:sp>
      <p:sp>
        <p:nvSpPr>
          <p:cNvPr id="78" name="s39-box-38"/>
          <p:cNvSpPr/>
          <p:nvPr/>
        </p:nvSpPr>
        <p:spPr>
          <a:xfrm>
            <a:off x="4238817" y="3619211"/>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s39-text-40"/>
          <p:cNvSpPr txBox="1"/>
          <p:nvPr/>
        </p:nvSpPr>
        <p:spPr>
          <a:xfrm>
            <a:off x="4238817" y="3401431"/>
            <a:ext cx="804049" cy="173331"/>
          </a:xfrm>
          <a:prstGeom prst="rect">
            <a:avLst/>
          </a:prstGeom>
          <a:noFill/>
        </p:spPr>
        <p:txBody>
          <a:bodyPr wrap="none" lIns="0" rIns="0" tIns="0" bIns="0" anchor="t">
            <a:noAutofit/>
          </a:bodyPr>
          <a:lstStyle/>
          <a:p>
            <a:pPr algn="r">
              <a:lnSpc>
                <a:spcPts val="1365"/>
              </a:lnSpc>
              <a:spcBef>
                <a:spcPts val="0"/>
              </a:spcBef>
              <a:spcAft>
                <a:spcPts val="0"/>
              </a:spcAft>
            </a:pPr>
            <a:r>
              <a:rPr sz="1050" b="0" i="0">
                <a:solidFill>
                  <a:srgbClr val="50505B"/>
                </a:solidFill>
                <a:latin typeface="Arial"/>
              </a:rPr>
              <a:t>—</a:t>
            </a:r>
          </a:p>
        </p:txBody>
      </p:sp>
      <p:sp>
        <p:nvSpPr>
          <p:cNvPr id="80" name="s39-box-39"/>
          <p:cNvSpPr/>
          <p:nvPr/>
        </p:nvSpPr>
        <p:spPr>
          <a:xfrm>
            <a:off x="5125413" y="3619211"/>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39-text-41"/>
          <p:cNvSpPr txBox="1"/>
          <p:nvPr/>
        </p:nvSpPr>
        <p:spPr>
          <a:xfrm>
            <a:off x="5125413" y="3401431"/>
            <a:ext cx="2447467"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82" name="s39-box-40"/>
          <p:cNvSpPr/>
          <p:nvPr/>
        </p:nvSpPr>
        <p:spPr>
          <a:xfrm>
            <a:off x="7655428" y="3619211"/>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s39-text-42"/>
          <p:cNvSpPr txBox="1"/>
          <p:nvPr/>
        </p:nvSpPr>
        <p:spPr>
          <a:xfrm>
            <a:off x="7655428" y="3401431"/>
            <a:ext cx="3564741"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QPIE, VQT (Ch. V)</a:t>
            </a:r>
          </a:p>
        </p:txBody>
      </p:sp>
      <p:sp>
        <p:nvSpPr>
          <p:cNvPr id="84" name="s39-box-41"/>
          <p:cNvSpPr/>
          <p:nvPr/>
        </p:nvSpPr>
        <p:spPr>
          <a:xfrm>
            <a:off x="888978" y="3887790"/>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s39-text-43"/>
          <p:cNvSpPr txBox="1"/>
          <p:nvPr/>
        </p:nvSpPr>
        <p:spPr>
          <a:xfrm>
            <a:off x="888978" y="3670010"/>
            <a:ext cx="1370673"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IonQ Forte / Forte-1</a:t>
            </a:r>
          </a:p>
        </p:txBody>
      </p:sp>
      <p:sp>
        <p:nvSpPr>
          <p:cNvPr id="86" name="s39-box-42"/>
          <p:cNvSpPr/>
          <p:nvPr/>
        </p:nvSpPr>
        <p:spPr>
          <a:xfrm>
            <a:off x="2342198" y="3887790"/>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s39-text-44"/>
          <p:cNvSpPr txBox="1"/>
          <p:nvPr/>
        </p:nvSpPr>
        <p:spPr>
          <a:xfrm>
            <a:off x="2342198" y="3670010"/>
            <a:ext cx="1814070"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trapped ion</a:t>
            </a:r>
          </a:p>
        </p:txBody>
      </p:sp>
      <p:sp>
        <p:nvSpPr>
          <p:cNvPr id="88" name="s39-box-43"/>
          <p:cNvSpPr/>
          <p:nvPr/>
        </p:nvSpPr>
        <p:spPr>
          <a:xfrm>
            <a:off x="4238817" y="3887790"/>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s39-text-45"/>
          <p:cNvSpPr txBox="1"/>
          <p:nvPr/>
        </p:nvSpPr>
        <p:spPr>
          <a:xfrm>
            <a:off x="4238817" y="3670010"/>
            <a:ext cx="804049" cy="173331"/>
          </a:xfrm>
          <a:prstGeom prst="rect">
            <a:avLst/>
          </a:prstGeom>
          <a:noFill/>
        </p:spPr>
        <p:txBody>
          <a:bodyPr wrap="none" lIns="0" rIns="0" tIns="0" bIns="0" anchor="t">
            <a:noAutofit/>
          </a:bodyPr>
          <a:lstStyle/>
          <a:p>
            <a:pPr algn="r">
              <a:lnSpc>
                <a:spcPts val="1365"/>
              </a:lnSpc>
              <a:spcBef>
                <a:spcPts val="0"/>
              </a:spcBef>
              <a:spcAft>
                <a:spcPts val="0"/>
              </a:spcAft>
            </a:pPr>
            <a:r>
              <a:rPr sz="1050" b="0" i="0">
                <a:solidFill>
                  <a:srgbClr val="50505B"/>
                </a:solidFill>
                <a:latin typeface="Arial"/>
              </a:rPr>
              <a:t>36</a:t>
            </a:r>
          </a:p>
        </p:txBody>
      </p:sp>
      <p:sp>
        <p:nvSpPr>
          <p:cNvPr id="90" name="s39-box-44"/>
          <p:cNvSpPr/>
          <p:nvPr/>
        </p:nvSpPr>
        <p:spPr>
          <a:xfrm>
            <a:off x="5125413" y="3887790"/>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s39-text-46"/>
          <p:cNvSpPr txBox="1"/>
          <p:nvPr/>
        </p:nvSpPr>
        <p:spPr>
          <a:xfrm>
            <a:off x="5125413" y="3670010"/>
            <a:ext cx="2447467"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92" name="s39-box-45"/>
          <p:cNvSpPr/>
          <p:nvPr/>
        </p:nvSpPr>
        <p:spPr>
          <a:xfrm>
            <a:off x="7655428" y="3887790"/>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s39-text-47"/>
          <p:cNvSpPr txBox="1"/>
          <p:nvPr/>
        </p:nvSpPr>
        <p:spPr>
          <a:xfrm>
            <a:off x="7655428" y="3670010"/>
            <a:ext cx="3564741"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NNQA, RubriQ validation (Ch. V, VI)</a:t>
            </a:r>
          </a:p>
        </p:txBody>
      </p:sp>
      <p:sp>
        <p:nvSpPr>
          <p:cNvPr id="94" name="s39-box-46"/>
          <p:cNvSpPr/>
          <p:nvPr/>
        </p:nvSpPr>
        <p:spPr>
          <a:xfrm>
            <a:off x="888978" y="4156368"/>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39-text-48"/>
          <p:cNvSpPr txBox="1"/>
          <p:nvPr/>
        </p:nvSpPr>
        <p:spPr>
          <a:xfrm>
            <a:off x="888978" y="3938588"/>
            <a:ext cx="1370673"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Amazon Braket SV1</a:t>
            </a:r>
          </a:p>
        </p:txBody>
      </p:sp>
      <p:sp>
        <p:nvSpPr>
          <p:cNvPr id="96" name="s39-box-47"/>
          <p:cNvSpPr/>
          <p:nvPr/>
        </p:nvSpPr>
        <p:spPr>
          <a:xfrm>
            <a:off x="2342198" y="4156368"/>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s39-text-49"/>
          <p:cNvSpPr txBox="1"/>
          <p:nvPr/>
        </p:nvSpPr>
        <p:spPr>
          <a:xfrm>
            <a:off x="2342198" y="3938588"/>
            <a:ext cx="1814070"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state-vector simulator</a:t>
            </a:r>
          </a:p>
        </p:txBody>
      </p:sp>
      <p:sp>
        <p:nvSpPr>
          <p:cNvPr id="98" name="s39-box-48"/>
          <p:cNvSpPr/>
          <p:nvPr/>
        </p:nvSpPr>
        <p:spPr>
          <a:xfrm>
            <a:off x="4238817" y="4156368"/>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s39-text-50"/>
          <p:cNvSpPr txBox="1"/>
          <p:nvPr/>
        </p:nvSpPr>
        <p:spPr>
          <a:xfrm>
            <a:off x="4238817" y="3938588"/>
            <a:ext cx="804049" cy="173331"/>
          </a:xfrm>
          <a:prstGeom prst="rect">
            <a:avLst/>
          </a:prstGeom>
          <a:noFill/>
        </p:spPr>
        <p:txBody>
          <a:bodyPr wrap="none" lIns="0" rIns="0" tIns="0" bIns="0" anchor="t">
            <a:noAutofit/>
          </a:bodyPr>
          <a:lstStyle/>
          <a:p>
            <a:pPr algn="r">
              <a:lnSpc>
                <a:spcPts val="1365"/>
              </a:lnSpc>
              <a:spcBef>
                <a:spcPts val="0"/>
              </a:spcBef>
              <a:spcAft>
                <a:spcPts val="0"/>
              </a:spcAft>
            </a:pPr>
            <a:r>
              <a:rPr sz="1050" b="0" i="0">
                <a:solidFill>
                  <a:srgbClr val="50505B"/>
                </a:solidFill>
                <a:latin typeface="Arial"/>
              </a:rPr>
              <a:t>—</a:t>
            </a:r>
          </a:p>
        </p:txBody>
      </p:sp>
      <p:sp>
        <p:nvSpPr>
          <p:cNvPr id="100" name="s39-box-49"/>
          <p:cNvSpPr/>
          <p:nvPr/>
        </p:nvSpPr>
        <p:spPr>
          <a:xfrm>
            <a:off x="5125413" y="4156368"/>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s39-text-51"/>
          <p:cNvSpPr txBox="1"/>
          <p:nvPr/>
        </p:nvSpPr>
        <p:spPr>
          <a:xfrm>
            <a:off x="5125413" y="3938588"/>
            <a:ext cx="2447467"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102" name="s39-box-50"/>
          <p:cNvSpPr/>
          <p:nvPr/>
        </p:nvSpPr>
        <p:spPr>
          <a:xfrm>
            <a:off x="7655428" y="4156368"/>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s39-text-52"/>
          <p:cNvSpPr txBox="1"/>
          <p:nvPr/>
        </p:nvSpPr>
        <p:spPr>
          <a:xfrm>
            <a:off x="7655428" y="3938588"/>
            <a:ext cx="3564741"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QPIE (Ch. V)</a:t>
            </a:r>
          </a:p>
        </p:txBody>
      </p:sp>
      <p:sp>
        <p:nvSpPr>
          <p:cNvPr id="104" name="s39-box-51"/>
          <p:cNvSpPr/>
          <p:nvPr/>
        </p:nvSpPr>
        <p:spPr>
          <a:xfrm>
            <a:off x="888978" y="4424946"/>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s39-text-53"/>
          <p:cNvSpPr txBox="1"/>
          <p:nvPr/>
        </p:nvSpPr>
        <p:spPr>
          <a:xfrm>
            <a:off x="888978" y="4207167"/>
            <a:ext cx="1370673" cy="173331"/>
          </a:xfrm>
          <a:prstGeom prst="rect">
            <a:avLst/>
          </a:prstGeom>
          <a:noFill/>
        </p:spPr>
        <p:txBody>
          <a:bodyPr wrap="none" lIns="0" rIns="0" tIns="0" bIns="0" anchor="t">
            <a:noAutofit/>
          </a:bodyPr>
          <a:lstStyle/>
          <a:p>
            <a:pPr algn="l">
              <a:lnSpc>
                <a:spcPts val="1365"/>
              </a:lnSpc>
              <a:spcBef>
                <a:spcPts val="0"/>
              </a:spcBef>
              <a:spcAft>
                <a:spcPts val="0"/>
              </a:spcAft>
            </a:pPr>
            <a:r>
              <a:rPr sz="1050" b="1" i="0">
                <a:solidFill>
                  <a:srgbClr val="0B0B0F"/>
                </a:solidFill>
                <a:latin typeface="Arial"/>
              </a:rPr>
              <a:t>NERSC Perlmutter</a:t>
            </a:r>
          </a:p>
        </p:txBody>
      </p:sp>
      <p:sp>
        <p:nvSpPr>
          <p:cNvPr id="106" name="s39-box-52"/>
          <p:cNvSpPr/>
          <p:nvPr/>
        </p:nvSpPr>
        <p:spPr>
          <a:xfrm>
            <a:off x="2342198" y="4424946"/>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s39-text-54"/>
          <p:cNvSpPr txBox="1"/>
          <p:nvPr/>
        </p:nvSpPr>
        <p:spPr>
          <a:xfrm>
            <a:off x="2342198" y="4207167"/>
            <a:ext cx="1814070"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A100 40 GB / 80 GB nodes</a:t>
            </a:r>
          </a:p>
        </p:txBody>
      </p:sp>
      <p:sp>
        <p:nvSpPr>
          <p:cNvPr id="108" name="s39-box-53"/>
          <p:cNvSpPr/>
          <p:nvPr/>
        </p:nvSpPr>
        <p:spPr>
          <a:xfrm>
            <a:off x="4238817" y="4424946"/>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s39-text-55"/>
          <p:cNvSpPr txBox="1"/>
          <p:nvPr/>
        </p:nvSpPr>
        <p:spPr>
          <a:xfrm>
            <a:off x="4238817" y="4207167"/>
            <a:ext cx="804049" cy="173331"/>
          </a:xfrm>
          <a:prstGeom prst="rect">
            <a:avLst/>
          </a:prstGeom>
          <a:noFill/>
        </p:spPr>
        <p:txBody>
          <a:bodyPr wrap="none" lIns="0" rIns="0" tIns="0" bIns="0" anchor="t">
            <a:noAutofit/>
          </a:bodyPr>
          <a:lstStyle/>
          <a:p>
            <a:pPr algn="r">
              <a:lnSpc>
                <a:spcPts val="1365"/>
              </a:lnSpc>
              <a:spcBef>
                <a:spcPts val="0"/>
              </a:spcBef>
              <a:spcAft>
                <a:spcPts val="0"/>
              </a:spcAft>
            </a:pPr>
            <a:r>
              <a:rPr sz="1050" b="0" i="0">
                <a:solidFill>
                  <a:srgbClr val="50505B"/>
                </a:solidFill>
                <a:latin typeface="Arial"/>
              </a:rPr>
              <a:t>—</a:t>
            </a:r>
          </a:p>
        </p:txBody>
      </p:sp>
      <p:sp>
        <p:nvSpPr>
          <p:cNvPr id="110" name="s39-box-54"/>
          <p:cNvSpPr/>
          <p:nvPr/>
        </p:nvSpPr>
        <p:spPr>
          <a:xfrm>
            <a:off x="5125413" y="4424946"/>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s39-text-56"/>
          <p:cNvSpPr txBox="1"/>
          <p:nvPr/>
        </p:nvSpPr>
        <p:spPr>
          <a:xfrm>
            <a:off x="5125413" y="4207167"/>
            <a:ext cx="2447467"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112" name="s39-box-55"/>
          <p:cNvSpPr/>
          <p:nvPr/>
        </p:nvSpPr>
        <p:spPr>
          <a:xfrm>
            <a:off x="7655428" y="4424946"/>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s39-text-57"/>
          <p:cNvSpPr txBox="1"/>
          <p:nvPr/>
        </p:nvSpPr>
        <p:spPr>
          <a:xfrm>
            <a:off x="7655428" y="4207167"/>
            <a:ext cx="3564741" cy="173331"/>
          </a:xfrm>
          <a:prstGeom prst="rect">
            <a:avLst/>
          </a:prstGeom>
          <a:noFill/>
        </p:spPr>
        <p:txBody>
          <a:bodyPr wrap="none" lIns="0" rIns="0" tIns="0" bIns="0" anchor="t">
            <a:noAutofit/>
          </a:bodyPr>
          <a:lstStyle/>
          <a:p>
            <a:pPr algn="l">
              <a:lnSpc>
                <a:spcPts val="1365"/>
              </a:lnSpc>
              <a:spcBef>
                <a:spcPts val="0"/>
              </a:spcBef>
              <a:spcAft>
                <a:spcPts val="0"/>
              </a:spcAft>
            </a:pPr>
            <a:r>
              <a:rPr sz="1050" b="0" i="0">
                <a:solidFill>
                  <a:srgbClr val="50505B"/>
                </a:solidFill>
                <a:latin typeface="Arial"/>
              </a:rPr>
              <a:t>Q-GEAR, ShardQ, NNQA training, RubriQ (Ch. III, V, VI)</a:t>
            </a:r>
          </a:p>
        </p:txBody>
      </p:sp>
      <p:sp>
        <p:nvSpPr>
          <p:cNvPr id="114" name="s39-text-58"/>
          <p:cNvSpPr txBox="1"/>
          <p:nvPr/>
        </p:nvSpPr>
        <p:spPr>
          <a:xfrm>
            <a:off x="888978" y="4510669"/>
            <a:ext cx="10432789" cy="186626"/>
          </a:xfrm>
          <a:prstGeom prst="rect">
            <a:avLst/>
          </a:prstGeom>
          <a:noFill/>
        </p:spPr>
        <p:txBody>
          <a:bodyPr wrap="none" lIns="0" rIns="0" tIns="0" bIns="0" anchor="t">
            <a:noAutofit/>
          </a:bodyPr>
          <a:lstStyle/>
          <a:p>
            <a:pPr algn="l">
              <a:lnSpc>
                <a:spcPts val="1470"/>
              </a:lnSpc>
              <a:spcBef>
                <a:spcPts val="0"/>
              </a:spcBef>
              <a:spcAft>
                <a:spcPts val="0"/>
              </a:spcAft>
            </a:pPr>
            <a:r>
              <a:rPr sz="1050" b="0" i="0">
                <a:solidFill>
                  <a:srgbClr val="7B7B86"/>
                </a:solidFill>
                <a:latin typeface="Arial"/>
              </a:rPr>
              <a:t>Per-device T1/T2 and error tables are in the individual papers; dashes mark values not reproduced here.</a:t>
            </a:r>
          </a:p>
        </p:txBody>
      </p:sp>
      <p:sp>
        <p:nvSpPr>
          <p:cNvPr id="115" name="!!sec"/>
          <p:cNvSpPr txBox="1"/>
          <p:nvPr/>
        </p:nvSpPr>
        <p:spPr>
          <a:xfrm>
            <a:off x="888978" y="6362541"/>
            <a:ext cx="717234"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Backup</a:t>
            </a:r>
          </a:p>
        </p:txBody>
      </p:sp>
      <p:pic>
        <p:nvPicPr>
          <p:cNvPr id="116" name="s39-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117"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39</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kicker"/>
          <p:cNvSpPr txBox="1"/>
          <p:nvPr/>
        </p:nvSpPr>
        <p:spPr>
          <a:xfrm>
            <a:off x="888978" y="609585"/>
            <a:ext cx="1334360" cy="196845"/>
          </a:xfrm>
          <a:prstGeom prst="rect">
            <a:avLst/>
          </a:prstGeom>
          <a:noFill/>
        </p:spPr>
        <p:txBody>
          <a:bodyPr wrap="none" lIns="0" rIns="0" tIns="0" bIns="0" anchor="t">
            <a:noAutofit/>
          </a:bodyPr>
          <a:lstStyle/>
          <a:p>
            <a:pPr algn="l">
              <a:lnSpc>
                <a:spcPts val="1560"/>
              </a:lnSpc>
              <a:spcBef>
                <a:spcPts val="0"/>
              </a:spcBef>
              <a:spcAft>
                <a:spcPts val="0"/>
              </a:spcAft>
            </a:pPr>
            <a:r>
              <a:rPr sz="1300" b="1" i="0" spc="182" cap="all">
                <a:solidFill>
                  <a:srgbClr val="B00000"/>
                </a:solidFill>
                <a:latin typeface="Arial"/>
              </a:rPr>
              <a:t>Backup · B5</a:t>
            </a:r>
          </a:p>
        </p:txBody>
      </p:sp>
      <p:sp>
        <p:nvSpPr>
          <p:cNvPr id="3" name="s40-text-02"/>
          <p:cNvSpPr txBox="1"/>
          <p:nvPr/>
        </p:nvSpPr>
        <p:spPr>
          <a:xfrm>
            <a:off x="888978" y="920727"/>
            <a:ext cx="10432789" cy="586666"/>
          </a:xfrm>
          <a:prstGeom prst="rect">
            <a:avLst/>
          </a:prstGeom>
          <a:noFill/>
        </p:spPr>
        <p:txBody>
          <a:bodyPr wrap="none" lIns="0" rIns="0" tIns="0" bIns="0" anchor="t">
            <a:noAutofit/>
          </a:bodyPr>
          <a:lstStyle/>
          <a:p>
            <a:pPr algn="l">
              <a:lnSpc>
                <a:spcPts val="4620"/>
              </a:lnSpc>
              <a:spcBef>
                <a:spcPts val="0"/>
              </a:spcBef>
              <a:spcAft>
                <a:spcPts val="0"/>
              </a:spcAft>
            </a:pPr>
            <a:r>
              <a:rPr sz="4400" b="1" i="0" spc="-123">
                <a:solidFill>
                  <a:srgbClr val="0B0B0F"/>
                </a:solidFill>
                <a:latin typeface="Arial"/>
              </a:rPr>
              <a:t>Reproducibility and artifacts</a:t>
            </a:r>
          </a:p>
        </p:txBody>
      </p:sp>
      <p:sp>
        <p:nvSpPr>
          <p:cNvPr id="4" name="s40-box-01"/>
          <p:cNvSpPr/>
          <p:nvPr/>
        </p:nvSpPr>
        <p:spPr>
          <a:xfrm>
            <a:off x="888978" y="1821710"/>
            <a:ext cx="1284454"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40-text-03"/>
          <p:cNvSpPr txBox="1"/>
          <p:nvPr/>
        </p:nvSpPr>
        <p:spPr>
          <a:xfrm>
            <a:off x="888978" y="1545492"/>
            <a:ext cx="1151107" cy="161921"/>
          </a:xfrm>
          <a:prstGeom prst="rect">
            <a:avLst/>
          </a:prstGeom>
          <a:noFill/>
        </p:spPr>
        <p:txBody>
          <a:bodyPr wrap="none" lIns="0" rIns="0" tIns="0" bIns="0" anchor="t">
            <a:noAutofit/>
          </a:bodyPr>
          <a:lstStyle/>
          <a:p>
            <a:pPr algn="l">
              <a:lnSpc>
                <a:spcPts val="1320"/>
              </a:lnSpc>
              <a:spcBef>
                <a:spcPts val="0"/>
              </a:spcBef>
              <a:spcAft>
                <a:spcPts val="0"/>
              </a:spcAft>
            </a:pPr>
            <a:r>
              <a:rPr sz="1100" b="1" i="0" spc="110" cap="all">
                <a:solidFill>
                  <a:srgbClr val="7B7B86"/>
                </a:solidFill>
                <a:latin typeface="Arial"/>
              </a:rPr>
              <a:t>Work</a:t>
            </a:r>
          </a:p>
        </p:txBody>
      </p:sp>
      <p:sp>
        <p:nvSpPr>
          <p:cNvPr id="6" name="s40-box-02"/>
          <p:cNvSpPr/>
          <p:nvPr/>
        </p:nvSpPr>
        <p:spPr>
          <a:xfrm>
            <a:off x="2173432" y="1821710"/>
            <a:ext cx="5745317"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40-text-04"/>
          <p:cNvSpPr txBox="1"/>
          <p:nvPr/>
        </p:nvSpPr>
        <p:spPr>
          <a:xfrm>
            <a:off x="2173432" y="1545492"/>
            <a:ext cx="5611970" cy="161921"/>
          </a:xfrm>
          <a:prstGeom prst="rect">
            <a:avLst/>
          </a:prstGeom>
          <a:noFill/>
        </p:spPr>
        <p:txBody>
          <a:bodyPr wrap="none" lIns="0" rIns="0" tIns="0" bIns="0" anchor="t">
            <a:noAutofit/>
          </a:bodyPr>
          <a:lstStyle/>
          <a:p>
            <a:pPr algn="l">
              <a:lnSpc>
                <a:spcPts val="1320"/>
              </a:lnSpc>
              <a:spcBef>
                <a:spcPts val="0"/>
              </a:spcBef>
              <a:spcAft>
                <a:spcPts val="0"/>
              </a:spcAft>
            </a:pPr>
            <a:r>
              <a:rPr sz="1100" b="1" i="0" spc="110" cap="all">
                <a:solidFill>
                  <a:srgbClr val="7B7B86"/>
                </a:solidFill>
                <a:latin typeface="Arial"/>
              </a:rPr>
              <a:t>Repository / archive</a:t>
            </a:r>
          </a:p>
        </p:txBody>
      </p:sp>
      <p:sp>
        <p:nvSpPr>
          <p:cNvPr id="8" name="s40-box-03"/>
          <p:cNvSpPr/>
          <p:nvPr/>
        </p:nvSpPr>
        <p:spPr>
          <a:xfrm>
            <a:off x="7918748" y="1821710"/>
            <a:ext cx="3383969"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40-text-05"/>
          <p:cNvSpPr txBox="1"/>
          <p:nvPr/>
        </p:nvSpPr>
        <p:spPr>
          <a:xfrm>
            <a:off x="7918748" y="1545492"/>
            <a:ext cx="3250623" cy="161921"/>
          </a:xfrm>
          <a:prstGeom prst="rect">
            <a:avLst/>
          </a:prstGeom>
          <a:noFill/>
        </p:spPr>
        <p:txBody>
          <a:bodyPr wrap="none" lIns="0" rIns="0" tIns="0" bIns="0" anchor="t">
            <a:noAutofit/>
          </a:bodyPr>
          <a:lstStyle/>
          <a:p>
            <a:pPr algn="l">
              <a:lnSpc>
                <a:spcPts val="1320"/>
              </a:lnSpc>
              <a:spcBef>
                <a:spcPts val="0"/>
              </a:spcBef>
              <a:spcAft>
                <a:spcPts val="0"/>
              </a:spcAft>
            </a:pPr>
            <a:r>
              <a:rPr sz="1100" b="1" i="0" spc="110" cap="all">
                <a:solidFill>
                  <a:srgbClr val="7B7B86"/>
                </a:solidFill>
                <a:latin typeface="Arial"/>
              </a:rPr>
              <a:t>Contents</a:t>
            </a:r>
          </a:p>
        </p:txBody>
      </p:sp>
      <p:sp>
        <p:nvSpPr>
          <p:cNvPr id="10" name="s40-box-04"/>
          <p:cNvSpPr/>
          <p:nvPr/>
        </p:nvSpPr>
        <p:spPr>
          <a:xfrm>
            <a:off x="888978" y="2336047"/>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40-text-06"/>
          <p:cNvSpPr txBox="1"/>
          <p:nvPr/>
        </p:nvSpPr>
        <p:spPr>
          <a:xfrm>
            <a:off x="888978" y="1904258"/>
            <a:ext cx="1182856" cy="355591"/>
          </a:xfrm>
          <a:prstGeom prst="rect">
            <a:avLst/>
          </a:prstGeom>
          <a:noFill/>
        </p:spPr>
        <p:txBody>
          <a:bodyPr wrap="square" lIns="0" rIns="0" tIns="0" bIns="0" anchor="t">
            <a:noAutofit/>
          </a:bodyPr>
          <a:lstStyle/>
          <a:p>
            <a:pPr algn="l">
              <a:lnSpc>
                <a:spcPts val="1439"/>
              </a:lnSpc>
              <a:spcBef>
                <a:spcPts val="0"/>
              </a:spcBef>
              <a:spcAft>
                <a:spcPts val="0"/>
              </a:spcAft>
            </a:pPr>
            <a:r>
              <a:rPr sz="1200" b="1" i="0">
                <a:solidFill>
                  <a:srgbClr val="0B0B0F"/>
                </a:solidFill>
                <a:latin typeface="Arial"/>
              </a:rPr>
              <a:t>Q-GEAR</a:t>
            </a:r>
          </a:p>
        </p:txBody>
      </p:sp>
      <p:sp>
        <p:nvSpPr>
          <p:cNvPr id="12" name="s40-box-05"/>
          <p:cNvSpPr/>
          <p:nvPr/>
        </p:nvSpPr>
        <p:spPr>
          <a:xfrm>
            <a:off x="2173432" y="2336047"/>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40-text-07"/>
          <p:cNvSpPr txBox="1"/>
          <p:nvPr/>
        </p:nvSpPr>
        <p:spPr>
          <a:xfrm>
            <a:off x="2173432" y="1904258"/>
            <a:ext cx="5643719" cy="355591"/>
          </a:xfrm>
          <a:prstGeom prst="rect">
            <a:avLst/>
          </a:prstGeom>
          <a:noFill/>
        </p:spPr>
        <p:txBody>
          <a:bodyPr wrap="square" lIns="0" rIns="0" tIns="0" bIns="0" anchor="t">
            <a:noAutofit/>
          </a:bodyPr>
          <a:lstStyle/>
          <a:p>
            <a:pPr algn="l">
              <a:lnSpc>
                <a:spcPts val="1324"/>
              </a:lnSpc>
              <a:spcBef>
                <a:spcPts val="0"/>
              </a:spcBef>
              <a:spcAft>
                <a:spcPts val="0"/>
              </a:spcAft>
            </a:pPr>
            <a:r>
              <a:rPr sz="1104" b="0" i="0">
                <a:solidFill>
                  <a:srgbClr val="50505B"/>
                </a:solidFill>
                <a:latin typeface="Courier New"/>
              </a:rPr>
              <a:t>github.com/gzquse/qgear · gzquse/cudaq-perlmutter</a:t>
            </a:r>
          </a:p>
        </p:txBody>
      </p:sp>
      <p:sp>
        <p:nvSpPr>
          <p:cNvPr id="14" name="s40-box-06"/>
          <p:cNvSpPr/>
          <p:nvPr/>
        </p:nvSpPr>
        <p:spPr>
          <a:xfrm>
            <a:off x="7918748" y="2336047"/>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40-text-08"/>
          <p:cNvSpPr txBox="1"/>
          <p:nvPr/>
        </p:nvSpPr>
        <p:spPr>
          <a:xfrm>
            <a:off x="7918748" y="1904258"/>
            <a:ext cx="3282372" cy="355591"/>
          </a:xfrm>
          <a:prstGeom prst="rect">
            <a:avLst/>
          </a:prstGeom>
          <a:noFill/>
        </p:spPr>
        <p:txBody>
          <a:bodyPr wrap="square" lIns="0" rIns="0" tIns="0" bIns="0" anchor="t">
            <a:noAutofit/>
          </a:bodyPr>
          <a:lstStyle/>
          <a:p>
            <a:pPr algn="l">
              <a:lnSpc>
                <a:spcPts val="1439"/>
              </a:lnSpc>
              <a:spcBef>
                <a:spcPts val="0"/>
              </a:spcBef>
              <a:spcAft>
                <a:spcPts val="0"/>
              </a:spcAft>
            </a:pPr>
            <a:r>
              <a:rPr sz="1200" b="0" i="0">
                <a:solidFill>
                  <a:srgbClr val="50505B"/>
                </a:solidFill>
                <a:latin typeface="Arial"/>
              </a:rPr>
              <a:t>nbdev package, Apache-2.0, 241 commits; multi-node CUDA-Q scripts for Perlmutter</a:t>
            </a:r>
          </a:p>
        </p:txBody>
      </p:sp>
      <p:sp>
        <p:nvSpPr>
          <p:cNvPr id="16" name="s40-box-07"/>
          <p:cNvSpPr/>
          <p:nvPr/>
        </p:nvSpPr>
        <p:spPr>
          <a:xfrm>
            <a:off x="888978" y="2850384"/>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40-text-09"/>
          <p:cNvSpPr txBox="1"/>
          <p:nvPr/>
        </p:nvSpPr>
        <p:spPr>
          <a:xfrm>
            <a:off x="888978" y="2418595"/>
            <a:ext cx="1182856" cy="355591"/>
          </a:xfrm>
          <a:prstGeom prst="rect">
            <a:avLst/>
          </a:prstGeom>
          <a:noFill/>
        </p:spPr>
        <p:txBody>
          <a:bodyPr wrap="square" lIns="0" rIns="0" tIns="0" bIns="0" anchor="t">
            <a:noAutofit/>
          </a:bodyPr>
          <a:lstStyle/>
          <a:p>
            <a:pPr algn="l">
              <a:lnSpc>
                <a:spcPts val="1439"/>
              </a:lnSpc>
              <a:spcBef>
                <a:spcPts val="0"/>
              </a:spcBef>
              <a:spcAft>
                <a:spcPts val="0"/>
              </a:spcAft>
            </a:pPr>
            <a:r>
              <a:rPr sz="1200" b="1" i="0">
                <a:solidFill>
                  <a:srgbClr val="0B0B0F"/>
                </a:solidFill>
                <a:latin typeface="Arial"/>
              </a:rPr>
              <a:t>QPIE</a:t>
            </a:r>
          </a:p>
        </p:txBody>
      </p:sp>
      <p:sp>
        <p:nvSpPr>
          <p:cNvPr id="18" name="s40-box-08"/>
          <p:cNvSpPr/>
          <p:nvPr/>
        </p:nvSpPr>
        <p:spPr>
          <a:xfrm>
            <a:off x="2173432" y="2850384"/>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40-text-10"/>
          <p:cNvSpPr txBox="1"/>
          <p:nvPr/>
        </p:nvSpPr>
        <p:spPr>
          <a:xfrm>
            <a:off x="2173432" y="2418595"/>
            <a:ext cx="5643719" cy="355591"/>
          </a:xfrm>
          <a:prstGeom prst="rect">
            <a:avLst/>
          </a:prstGeom>
          <a:noFill/>
        </p:spPr>
        <p:txBody>
          <a:bodyPr wrap="square" lIns="0" rIns="0" tIns="0" bIns="0" anchor="t">
            <a:noAutofit/>
          </a:bodyPr>
          <a:lstStyle/>
          <a:p>
            <a:pPr algn="l">
              <a:lnSpc>
                <a:spcPts val="1324"/>
              </a:lnSpc>
              <a:spcBef>
                <a:spcPts val="0"/>
              </a:spcBef>
              <a:spcAft>
                <a:spcPts val="0"/>
              </a:spcAft>
            </a:pPr>
            <a:r>
              <a:rPr sz="1104" b="0" i="0">
                <a:solidFill>
                  <a:srgbClr val="50505B"/>
                </a:solidFill>
                <a:latin typeface="Courier New"/>
              </a:rPr>
              <a:t>github.com/gzquse/QPIE_datacircuit</a:t>
            </a:r>
          </a:p>
        </p:txBody>
      </p:sp>
      <p:sp>
        <p:nvSpPr>
          <p:cNvPr id="20" name="s40-box-09"/>
          <p:cNvSpPr/>
          <p:nvPr/>
        </p:nvSpPr>
        <p:spPr>
          <a:xfrm>
            <a:off x="7918748" y="2850384"/>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40-text-11"/>
          <p:cNvSpPr txBox="1"/>
          <p:nvPr/>
        </p:nvSpPr>
        <p:spPr>
          <a:xfrm>
            <a:off x="7918748" y="2418595"/>
            <a:ext cx="3282372" cy="355591"/>
          </a:xfrm>
          <a:prstGeom prst="rect">
            <a:avLst/>
          </a:prstGeom>
          <a:noFill/>
        </p:spPr>
        <p:txBody>
          <a:bodyPr wrap="square" lIns="0" rIns="0" tIns="0" bIns="0" anchor="t">
            <a:noAutofit/>
          </a:bodyPr>
          <a:lstStyle/>
          <a:p>
            <a:pPr algn="l">
              <a:lnSpc>
                <a:spcPts val="1439"/>
              </a:lnSpc>
              <a:spcBef>
                <a:spcPts val="0"/>
              </a:spcBef>
              <a:spcAft>
                <a:spcPts val="0"/>
              </a:spcAft>
            </a:pPr>
            <a:r>
              <a:rPr sz="1200" b="0" i="0">
                <a:solidFill>
                  <a:srgbClr val="50505B"/>
                </a:solidFill>
                <a:latin typeface="Arial"/>
              </a:rPr>
              <a:t>PennyLane Dockerfile, PyTorch 24.06 Shifter container, inference scripts</a:t>
            </a:r>
          </a:p>
        </p:txBody>
      </p:sp>
      <p:sp>
        <p:nvSpPr>
          <p:cNvPr id="22" name="s40-box-10"/>
          <p:cNvSpPr/>
          <p:nvPr/>
        </p:nvSpPr>
        <p:spPr>
          <a:xfrm>
            <a:off x="888978" y="3364721"/>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40-text-12"/>
          <p:cNvSpPr txBox="1"/>
          <p:nvPr/>
        </p:nvSpPr>
        <p:spPr>
          <a:xfrm>
            <a:off x="888978" y="2932932"/>
            <a:ext cx="1182856" cy="355591"/>
          </a:xfrm>
          <a:prstGeom prst="rect">
            <a:avLst/>
          </a:prstGeom>
          <a:noFill/>
        </p:spPr>
        <p:txBody>
          <a:bodyPr wrap="square" lIns="0" rIns="0" tIns="0" bIns="0" anchor="t">
            <a:noAutofit/>
          </a:bodyPr>
          <a:lstStyle/>
          <a:p>
            <a:pPr algn="l">
              <a:lnSpc>
                <a:spcPts val="1439"/>
              </a:lnSpc>
              <a:spcBef>
                <a:spcPts val="0"/>
              </a:spcBef>
              <a:spcAft>
                <a:spcPts val="0"/>
              </a:spcAft>
            </a:pPr>
            <a:r>
              <a:rPr sz="1200" b="1" i="0">
                <a:solidFill>
                  <a:srgbClr val="0B0B0F"/>
                </a:solidFill>
                <a:latin typeface="Arial"/>
              </a:rPr>
              <a:t>DEAL</a:t>
            </a:r>
          </a:p>
        </p:txBody>
      </p:sp>
      <p:sp>
        <p:nvSpPr>
          <p:cNvPr id="24" name="s40-box-11"/>
          <p:cNvSpPr/>
          <p:nvPr/>
        </p:nvSpPr>
        <p:spPr>
          <a:xfrm>
            <a:off x="2173432" y="3364721"/>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40-text-13"/>
          <p:cNvSpPr txBox="1"/>
          <p:nvPr/>
        </p:nvSpPr>
        <p:spPr>
          <a:xfrm>
            <a:off x="2173432" y="2932932"/>
            <a:ext cx="5643719" cy="355591"/>
          </a:xfrm>
          <a:prstGeom prst="rect">
            <a:avLst/>
          </a:prstGeom>
          <a:noFill/>
        </p:spPr>
        <p:txBody>
          <a:bodyPr wrap="square" lIns="0" rIns="0" tIns="0" bIns="0" anchor="t">
            <a:noAutofit/>
          </a:bodyPr>
          <a:lstStyle/>
          <a:p>
            <a:pPr algn="l">
              <a:lnSpc>
                <a:spcPts val="1324"/>
              </a:lnSpc>
              <a:spcBef>
                <a:spcPts val="0"/>
              </a:spcBef>
              <a:spcAft>
                <a:spcPts val="0"/>
              </a:spcAft>
            </a:pPr>
            <a:r>
              <a:rPr sz="1104" b="0" i="0">
                <a:solidFill>
                  <a:srgbClr val="50505B"/>
                </a:solidFill>
                <a:latin typeface="Courier New"/>
              </a:rPr>
              <a:t>github.com/gzquse/DEAL_QUBO</a:t>
            </a:r>
          </a:p>
        </p:txBody>
      </p:sp>
      <p:sp>
        <p:nvSpPr>
          <p:cNvPr id="26" name="s40-box-12"/>
          <p:cNvSpPr/>
          <p:nvPr/>
        </p:nvSpPr>
        <p:spPr>
          <a:xfrm>
            <a:off x="7918748" y="3364721"/>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40-text-14"/>
          <p:cNvSpPr txBox="1"/>
          <p:nvPr/>
        </p:nvSpPr>
        <p:spPr>
          <a:xfrm>
            <a:off x="7918748" y="2932932"/>
            <a:ext cx="3282372" cy="355591"/>
          </a:xfrm>
          <a:prstGeom prst="rect">
            <a:avLst/>
          </a:prstGeom>
          <a:noFill/>
        </p:spPr>
        <p:txBody>
          <a:bodyPr wrap="square" lIns="0" rIns="0" tIns="0" bIns="0" anchor="t">
            <a:noAutofit/>
          </a:bodyPr>
          <a:lstStyle/>
          <a:p>
            <a:pPr algn="l">
              <a:lnSpc>
                <a:spcPts val="1439"/>
              </a:lnSpc>
              <a:spcBef>
                <a:spcPts val="0"/>
              </a:spcBef>
              <a:spcAft>
                <a:spcPts val="0"/>
              </a:spcAft>
            </a:pPr>
            <a:r>
              <a:rPr sz="1200" b="0" i="0">
                <a:solidFill>
                  <a:srgbClr val="50505B"/>
                </a:solidFill>
                <a:latin typeface="Arial"/>
              </a:rPr>
              <a:t>distributed training, D-Wave Leap baseline, Qiskit GPU kernel, IBM job tracking</a:t>
            </a:r>
          </a:p>
        </p:txBody>
      </p:sp>
      <p:sp>
        <p:nvSpPr>
          <p:cNvPr id="28" name="s40-box-13"/>
          <p:cNvSpPr/>
          <p:nvPr/>
        </p:nvSpPr>
        <p:spPr>
          <a:xfrm>
            <a:off x="888978" y="3879058"/>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40-text-15"/>
          <p:cNvSpPr txBox="1"/>
          <p:nvPr/>
        </p:nvSpPr>
        <p:spPr>
          <a:xfrm>
            <a:off x="888978" y="3447269"/>
            <a:ext cx="1182856" cy="355591"/>
          </a:xfrm>
          <a:prstGeom prst="rect">
            <a:avLst/>
          </a:prstGeom>
          <a:noFill/>
        </p:spPr>
        <p:txBody>
          <a:bodyPr wrap="square" lIns="0" rIns="0" tIns="0" bIns="0" anchor="t">
            <a:noAutofit/>
          </a:bodyPr>
          <a:lstStyle/>
          <a:p>
            <a:pPr algn="l">
              <a:lnSpc>
                <a:spcPts val="1439"/>
              </a:lnSpc>
              <a:spcBef>
                <a:spcPts val="0"/>
              </a:spcBef>
              <a:spcAft>
                <a:spcPts val="0"/>
              </a:spcAft>
            </a:pPr>
            <a:r>
              <a:rPr sz="1200" b="1" i="0">
                <a:solidFill>
                  <a:srgbClr val="0B0B0F"/>
                </a:solidFill>
                <a:latin typeface="Arial"/>
              </a:rPr>
              <a:t>VQT</a:t>
            </a:r>
          </a:p>
        </p:txBody>
      </p:sp>
      <p:sp>
        <p:nvSpPr>
          <p:cNvPr id="30" name="s40-box-14"/>
          <p:cNvSpPr/>
          <p:nvPr/>
        </p:nvSpPr>
        <p:spPr>
          <a:xfrm>
            <a:off x="2173432" y="3879058"/>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40-text-16"/>
          <p:cNvSpPr txBox="1"/>
          <p:nvPr/>
        </p:nvSpPr>
        <p:spPr>
          <a:xfrm>
            <a:off x="2173432" y="3447269"/>
            <a:ext cx="5643719" cy="355591"/>
          </a:xfrm>
          <a:prstGeom prst="rect">
            <a:avLst/>
          </a:prstGeom>
          <a:noFill/>
        </p:spPr>
        <p:txBody>
          <a:bodyPr wrap="square" lIns="0" rIns="0" tIns="0" bIns="0" anchor="t">
            <a:noAutofit/>
          </a:bodyPr>
          <a:lstStyle/>
          <a:p>
            <a:pPr algn="l">
              <a:lnSpc>
                <a:spcPts val="1324"/>
              </a:lnSpc>
              <a:spcBef>
                <a:spcPts val="0"/>
              </a:spcBef>
              <a:spcAft>
                <a:spcPts val="0"/>
              </a:spcAft>
            </a:pPr>
            <a:r>
              <a:rPr sz="1104" b="0" i="0">
                <a:solidFill>
                  <a:srgbClr val="50505B"/>
                </a:solidFill>
                <a:latin typeface="Courier New"/>
              </a:rPr>
              <a:t>github.com/gzquse/quantum-transformer · gzquse/paper_AAAI2025-quantum · gzquse/vectorized_encoding</a:t>
            </a:r>
          </a:p>
        </p:txBody>
      </p:sp>
      <p:sp>
        <p:nvSpPr>
          <p:cNvPr id="32" name="s40-box-15"/>
          <p:cNvSpPr/>
          <p:nvPr/>
        </p:nvSpPr>
        <p:spPr>
          <a:xfrm>
            <a:off x="7918748" y="3879058"/>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40-text-17"/>
          <p:cNvSpPr txBox="1"/>
          <p:nvPr/>
        </p:nvSpPr>
        <p:spPr>
          <a:xfrm>
            <a:off x="7918748" y="3447269"/>
            <a:ext cx="3282372" cy="355591"/>
          </a:xfrm>
          <a:prstGeom prst="rect">
            <a:avLst/>
          </a:prstGeom>
          <a:noFill/>
        </p:spPr>
        <p:txBody>
          <a:bodyPr wrap="square" lIns="0" rIns="0" tIns="0" bIns="0" anchor="t">
            <a:noAutofit/>
          </a:bodyPr>
          <a:lstStyle/>
          <a:p>
            <a:pPr algn="l">
              <a:lnSpc>
                <a:spcPts val="1439"/>
              </a:lnSpc>
              <a:spcBef>
                <a:spcPts val="0"/>
              </a:spcBef>
              <a:spcAft>
                <a:spcPts val="0"/>
              </a:spcAft>
            </a:pPr>
            <a:r>
              <a:rPr sz="1200" b="0" i="0">
                <a:solidFill>
                  <a:srgbClr val="50505B"/>
                </a:solidFill>
                <a:latin typeface="Arial"/>
              </a:rPr>
              <a:t>model code, figure reproduction, Mathematica derivations</a:t>
            </a:r>
          </a:p>
        </p:txBody>
      </p:sp>
      <p:sp>
        <p:nvSpPr>
          <p:cNvPr id="34" name="s40-box-16"/>
          <p:cNvSpPr/>
          <p:nvPr/>
        </p:nvSpPr>
        <p:spPr>
          <a:xfrm>
            <a:off x="888978" y="4393396"/>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40-text-18"/>
          <p:cNvSpPr txBox="1"/>
          <p:nvPr/>
        </p:nvSpPr>
        <p:spPr>
          <a:xfrm>
            <a:off x="888978" y="3961606"/>
            <a:ext cx="1182856" cy="355591"/>
          </a:xfrm>
          <a:prstGeom prst="rect">
            <a:avLst/>
          </a:prstGeom>
          <a:noFill/>
        </p:spPr>
        <p:txBody>
          <a:bodyPr wrap="square" lIns="0" rIns="0" tIns="0" bIns="0" anchor="t">
            <a:noAutofit/>
          </a:bodyPr>
          <a:lstStyle/>
          <a:p>
            <a:pPr algn="l">
              <a:lnSpc>
                <a:spcPts val="1439"/>
              </a:lnSpc>
              <a:spcBef>
                <a:spcPts val="0"/>
              </a:spcBef>
              <a:spcAft>
                <a:spcPts val="0"/>
              </a:spcAft>
            </a:pPr>
            <a:r>
              <a:rPr sz="1200" b="1" i="0">
                <a:solidFill>
                  <a:srgbClr val="0B0B0F"/>
                </a:solidFill>
                <a:latin typeface="Arial"/>
              </a:rPr>
              <a:t>ShardQ · QAWA · NNQA</a:t>
            </a:r>
          </a:p>
        </p:txBody>
      </p:sp>
      <p:sp>
        <p:nvSpPr>
          <p:cNvPr id="36" name="s40-box-17"/>
          <p:cNvSpPr/>
          <p:nvPr/>
        </p:nvSpPr>
        <p:spPr>
          <a:xfrm>
            <a:off x="2173432" y="4393396"/>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40-text-19"/>
          <p:cNvSpPr txBox="1"/>
          <p:nvPr/>
        </p:nvSpPr>
        <p:spPr>
          <a:xfrm>
            <a:off x="2173432" y="3961606"/>
            <a:ext cx="5643719" cy="355591"/>
          </a:xfrm>
          <a:prstGeom prst="rect">
            <a:avLst/>
          </a:prstGeom>
          <a:noFill/>
        </p:spPr>
        <p:txBody>
          <a:bodyPr wrap="square" lIns="0" rIns="0" tIns="0" bIns="0" anchor="t">
            <a:noAutofit/>
          </a:bodyPr>
          <a:lstStyle/>
          <a:p>
            <a:pPr algn="l">
              <a:lnSpc>
                <a:spcPts val="1324"/>
              </a:lnSpc>
              <a:spcBef>
                <a:spcPts val="0"/>
              </a:spcBef>
              <a:spcAft>
                <a:spcPts val="0"/>
              </a:spcAft>
            </a:pPr>
            <a:r>
              <a:rPr sz="1104" b="0" i="0">
                <a:solidFill>
                  <a:srgbClr val="50505B"/>
                </a:solidFill>
                <a:latin typeface="Courier New"/>
              </a:rPr>
              <a:t>github.com/gzquse/ShardQ_v2 · gzquse/qawa_data_circ · gzquse/nnqa</a:t>
            </a:r>
          </a:p>
        </p:txBody>
      </p:sp>
      <p:sp>
        <p:nvSpPr>
          <p:cNvPr id="38" name="s40-box-18"/>
          <p:cNvSpPr/>
          <p:nvPr/>
        </p:nvSpPr>
        <p:spPr>
          <a:xfrm>
            <a:off x="7918748" y="4393396"/>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40-text-20"/>
          <p:cNvSpPr txBox="1"/>
          <p:nvPr/>
        </p:nvSpPr>
        <p:spPr>
          <a:xfrm>
            <a:off x="7918748" y="3961606"/>
            <a:ext cx="3282372" cy="355591"/>
          </a:xfrm>
          <a:prstGeom prst="rect">
            <a:avLst/>
          </a:prstGeom>
          <a:noFill/>
        </p:spPr>
        <p:txBody>
          <a:bodyPr wrap="square" lIns="0" rIns="0" tIns="0" bIns="0" anchor="t">
            <a:noAutofit/>
          </a:bodyPr>
          <a:lstStyle/>
          <a:p>
            <a:pPr algn="l">
              <a:lnSpc>
                <a:spcPts val="1439"/>
              </a:lnSpc>
              <a:spcBef>
                <a:spcPts val="0"/>
              </a:spcBef>
              <a:spcAft>
                <a:spcPts val="0"/>
              </a:spcAft>
            </a:pPr>
            <a:r>
              <a:rPr sz="1200" b="0" i="0">
                <a:solidFill>
                  <a:srgbClr val="50505B"/>
                </a:solidFill>
                <a:latin typeface="Arial"/>
              </a:rPr>
              <a:t>SparseCut and MPS knitting (MIT); QAWA_v2.py; NNQA toolkit and cloud jobs</a:t>
            </a:r>
          </a:p>
        </p:txBody>
      </p:sp>
      <p:sp>
        <p:nvSpPr>
          <p:cNvPr id="40" name="s40-box-19"/>
          <p:cNvSpPr/>
          <p:nvPr/>
        </p:nvSpPr>
        <p:spPr>
          <a:xfrm>
            <a:off x="888978" y="4907733"/>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40-text-21"/>
          <p:cNvSpPr txBox="1"/>
          <p:nvPr/>
        </p:nvSpPr>
        <p:spPr>
          <a:xfrm>
            <a:off x="888978" y="4475944"/>
            <a:ext cx="1182856" cy="355591"/>
          </a:xfrm>
          <a:prstGeom prst="rect">
            <a:avLst/>
          </a:prstGeom>
          <a:noFill/>
        </p:spPr>
        <p:txBody>
          <a:bodyPr wrap="square" lIns="0" rIns="0" tIns="0" bIns="0" anchor="t">
            <a:noAutofit/>
          </a:bodyPr>
          <a:lstStyle/>
          <a:p>
            <a:pPr algn="l">
              <a:lnSpc>
                <a:spcPts val="1439"/>
              </a:lnSpc>
              <a:spcBef>
                <a:spcPts val="0"/>
              </a:spcBef>
              <a:spcAft>
                <a:spcPts val="0"/>
              </a:spcAft>
            </a:pPr>
            <a:r>
              <a:rPr sz="1200" b="1" i="0">
                <a:solidFill>
                  <a:srgbClr val="0B0B0F"/>
                </a:solidFill>
                <a:latin typeface="Arial"/>
              </a:rPr>
              <a:t>RubriQ</a:t>
            </a:r>
          </a:p>
        </p:txBody>
      </p:sp>
      <p:sp>
        <p:nvSpPr>
          <p:cNvPr id="42" name="s40-box-20"/>
          <p:cNvSpPr/>
          <p:nvPr/>
        </p:nvSpPr>
        <p:spPr>
          <a:xfrm>
            <a:off x="2173432" y="4907733"/>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40-text-22"/>
          <p:cNvSpPr txBox="1"/>
          <p:nvPr/>
        </p:nvSpPr>
        <p:spPr>
          <a:xfrm>
            <a:off x="2173432" y="4475944"/>
            <a:ext cx="5643719" cy="355591"/>
          </a:xfrm>
          <a:prstGeom prst="rect">
            <a:avLst/>
          </a:prstGeom>
          <a:noFill/>
        </p:spPr>
        <p:txBody>
          <a:bodyPr wrap="square" lIns="0" rIns="0" tIns="0" bIns="0" anchor="t">
            <a:noAutofit/>
          </a:bodyPr>
          <a:lstStyle/>
          <a:p>
            <a:pPr algn="l">
              <a:lnSpc>
                <a:spcPts val="1324"/>
              </a:lnSpc>
              <a:spcBef>
                <a:spcPts val="0"/>
              </a:spcBef>
              <a:spcAft>
                <a:spcPts val="0"/>
              </a:spcAft>
            </a:pPr>
            <a:r>
              <a:rPr sz="1104" b="0" i="0">
                <a:solidFill>
                  <a:srgbClr val="50505B"/>
                </a:solidFill>
                <a:latin typeface="Courier New"/>
              </a:rPr>
              <a:t>github.com/gzquse/rubriq-artifact · Zenodo 10.5281/zenodo.21284556</a:t>
            </a:r>
          </a:p>
        </p:txBody>
      </p:sp>
      <p:sp>
        <p:nvSpPr>
          <p:cNvPr id="44" name="s40-box-21"/>
          <p:cNvSpPr/>
          <p:nvPr/>
        </p:nvSpPr>
        <p:spPr>
          <a:xfrm>
            <a:off x="7918748" y="4907733"/>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40-text-23"/>
          <p:cNvSpPr txBox="1"/>
          <p:nvPr/>
        </p:nvSpPr>
        <p:spPr>
          <a:xfrm>
            <a:off x="7918748" y="4475944"/>
            <a:ext cx="3282372" cy="355591"/>
          </a:xfrm>
          <a:prstGeom prst="rect">
            <a:avLst/>
          </a:prstGeom>
          <a:noFill/>
        </p:spPr>
        <p:txBody>
          <a:bodyPr wrap="square" lIns="0" rIns="0" tIns="0" bIns="0" anchor="t">
            <a:noAutofit/>
          </a:bodyPr>
          <a:lstStyle/>
          <a:p>
            <a:pPr algn="l">
              <a:lnSpc>
                <a:spcPts val="1439"/>
              </a:lnSpc>
              <a:spcBef>
                <a:spcPts val="0"/>
              </a:spcBef>
              <a:spcAft>
                <a:spcPts val="0"/>
              </a:spcAft>
            </a:pPr>
            <a:r>
              <a:rPr sz="1200" b="0" i="0">
                <a:solidFill>
                  <a:srgbClr val="50505B"/>
                </a:solidFill>
                <a:latin typeface="Arial"/>
              </a:rPr>
              <a:t>GRPO fine-tuning, 21 evaluator tests; archived artifact, CC-BY-4.0</a:t>
            </a:r>
          </a:p>
        </p:txBody>
      </p:sp>
      <p:sp>
        <p:nvSpPr>
          <p:cNvPr id="46" name="s40-box-22"/>
          <p:cNvSpPr/>
          <p:nvPr/>
        </p:nvSpPr>
        <p:spPr>
          <a:xfrm>
            <a:off x="888978" y="5422070"/>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s40-text-24"/>
          <p:cNvSpPr txBox="1"/>
          <p:nvPr/>
        </p:nvSpPr>
        <p:spPr>
          <a:xfrm>
            <a:off x="888978" y="4990281"/>
            <a:ext cx="1182856" cy="355591"/>
          </a:xfrm>
          <a:prstGeom prst="rect">
            <a:avLst/>
          </a:prstGeom>
          <a:noFill/>
        </p:spPr>
        <p:txBody>
          <a:bodyPr wrap="square" lIns="0" rIns="0" tIns="0" bIns="0" anchor="t">
            <a:noAutofit/>
          </a:bodyPr>
          <a:lstStyle/>
          <a:p>
            <a:pPr algn="l">
              <a:lnSpc>
                <a:spcPts val="1439"/>
              </a:lnSpc>
              <a:spcBef>
                <a:spcPts val="0"/>
              </a:spcBef>
              <a:spcAft>
                <a:spcPts val="0"/>
              </a:spcAft>
            </a:pPr>
            <a:r>
              <a:rPr sz="1200" b="1" i="0">
                <a:solidFill>
                  <a:srgbClr val="0B0B0F"/>
                </a:solidFill>
                <a:latin typeface="Arial"/>
              </a:rPr>
              <a:t>Nonlinear waves</a:t>
            </a:r>
          </a:p>
        </p:txBody>
      </p:sp>
      <p:sp>
        <p:nvSpPr>
          <p:cNvPr id="48" name="s40-box-23"/>
          <p:cNvSpPr/>
          <p:nvPr/>
        </p:nvSpPr>
        <p:spPr>
          <a:xfrm>
            <a:off x="2173432" y="5422070"/>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40-text-25"/>
          <p:cNvSpPr txBox="1"/>
          <p:nvPr/>
        </p:nvSpPr>
        <p:spPr>
          <a:xfrm>
            <a:off x="2173432" y="4990281"/>
            <a:ext cx="5643719" cy="355591"/>
          </a:xfrm>
          <a:prstGeom prst="rect">
            <a:avLst/>
          </a:prstGeom>
          <a:noFill/>
        </p:spPr>
        <p:txBody>
          <a:bodyPr wrap="square" lIns="0" rIns="0" tIns="0" bIns="0" anchor="t">
            <a:noAutofit/>
          </a:bodyPr>
          <a:lstStyle/>
          <a:p>
            <a:pPr algn="l">
              <a:lnSpc>
                <a:spcPts val="1324"/>
              </a:lnSpc>
              <a:spcBef>
                <a:spcPts val="0"/>
              </a:spcBef>
              <a:spcAft>
                <a:spcPts val="0"/>
              </a:spcAft>
            </a:pPr>
            <a:r>
              <a:rPr sz="1104" b="0" i="0">
                <a:solidFill>
                  <a:srgbClr val="50505B"/>
                </a:solidFill>
                <a:latin typeface="Courier New"/>
              </a:rPr>
              <a:t>Zenodo 10.5281/zenodo.21245905 (SplitStepQUDE)</a:t>
            </a:r>
          </a:p>
        </p:txBody>
      </p:sp>
      <p:sp>
        <p:nvSpPr>
          <p:cNvPr id="50" name="s40-box-24"/>
          <p:cNvSpPr/>
          <p:nvPr/>
        </p:nvSpPr>
        <p:spPr>
          <a:xfrm>
            <a:off x="7918748" y="5422070"/>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40-text-26"/>
          <p:cNvSpPr txBox="1"/>
          <p:nvPr/>
        </p:nvSpPr>
        <p:spPr>
          <a:xfrm>
            <a:off x="7918748" y="4990281"/>
            <a:ext cx="3282372" cy="355591"/>
          </a:xfrm>
          <a:prstGeom prst="rect">
            <a:avLst/>
          </a:prstGeom>
          <a:noFill/>
        </p:spPr>
        <p:txBody>
          <a:bodyPr wrap="square" lIns="0" rIns="0" tIns="0" bIns="0" anchor="t">
            <a:noAutofit/>
          </a:bodyPr>
          <a:lstStyle/>
          <a:p>
            <a:pPr algn="l">
              <a:lnSpc>
                <a:spcPts val="1439"/>
              </a:lnSpc>
              <a:spcBef>
                <a:spcPts val="0"/>
              </a:spcBef>
              <a:spcAft>
                <a:spcPts val="0"/>
              </a:spcAft>
            </a:pPr>
            <a:r>
              <a:rPr sz="1200" b="0" i="0">
                <a:solidFill>
                  <a:srgbClr val="50505B"/>
                </a:solidFill>
                <a:latin typeface="Arial"/>
              </a:rPr>
              <a:t>code and data for the split-step solver, CC-BY-4.0 / Apache-2.0</a:t>
            </a:r>
          </a:p>
        </p:txBody>
      </p:sp>
      <p:sp>
        <p:nvSpPr>
          <p:cNvPr id="52" name="s40-box-25"/>
          <p:cNvSpPr/>
          <p:nvPr/>
        </p:nvSpPr>
        <p:spPr>
          <a:xfrm>
            <a:off x="888978" y="5936407"/>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s40-text-27"/>
          <p:cNvSpPr txBox="1"/>
          <p:nvPr/>
        </p:nvSpPr>
        <p:spPr>
          <a:xfrm>
            <a:off x="888978" y="5504618"/>
            <a:ext cx="1182856" cy="355591"/>
          </a:xfrm>
          <a:prstGeom prst="rect">
            <a:avLst/>
          </a:prstGeom>
          <a:noFill/>
        </p:spPr>
        <p:txBody>
          <a:bodyPr wrap="square" lIns="0" rIns="0" tIns="0" bIns="0" anchor="t">
            <a:noAutofit/>
          </a:bodyPr>
          <a:lstStyle/>
          <a:p>
            <a:pPr algn="l">
              <a:lnSpc>
                <a:spcPts val="1439"/>
              </a:lnSpc>
              <a:spcBef>
                <a:spcPts val="0"/>
              </a:spcBef>
              <a:spcAft>
                <a:spcPts val="0"/>
              </a:spcAft>
            </a:pPr>
            <a:r>
              <a:rPr sz="1200" b="1" i="0">
                <a:solidFill>
                  <a:srgbClr val="0B0B0F"/>
                </a:solidFill>
                <a:latin typeface="Arial"/>
              </a:rPr>
              <a:t>QEC audit</a:t>
            </a:r>
          </a:p>
        </p:txBody>
      </p:sp>
      <p:sp>
        <p:nvSpPr>
          <p:cNvPr id="54" name="s40-box-26"/>
          <p:cNvSpPr/>
          <p:nvPr/>
        </p:nvSpPr>
        <p:spPr>
          <a:xfrm>
            <a:off x="2173432" y="5936407"/>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s40-text-28"/>
          <p:cNvSpPr txBox="1"/>
          <p:nvPr/>
        </p:nvSpPr>
        <p:spPr>
          <a:xfrm>
            <a:off x="2173432" y="5504618"/>
            <a:ext cx="5643719" cy="355591"/>
          </a:xfrm>
          <a:prstGeom prst="rect">
            <a:avLst/>
          </a:prstGeom>
          <a:noFill/>
        </p:spPr>
        <p:txBody>
          <a:bodyPr wrap="square" lIns="0" rIns="0" tIns="0" bIns="0" anchor="t">
            <a:noAutofit/>
          </a:bodyPr>
          <a:lstStyle/>
          <a:p>
            <a:pPr algn="l">
              <a:lnSpc>
                <a:spcPts val="1324"/>
              </a:lnSpc>
              <a:spcBef>
                <a:spcPts val="0"/>
              </a:spcBef>
              <a:spcAft>
                <a:spcPts val="0"/>
              </a:spcAft>
            </a:pPr>
            <a:r>
              <a:rPr sz="1104" b="0" i="0">
                <a:solidFill>
                  <a:srgbClr val="50505B"/>
                </a:solidFill>
                <a:latin typeface="Courier New"/>
              </a:rPr>
              <a:t>anonymous.4open.science/r/usenix_qec_hse-32FE · gzquse/ExploreQEC_mar</a:t>
            </a:r>
          </a:p>
        </p:txBody>
      </p:sp>
      <p:sp>
        <p:nvSpPr>
          <p:cNvPr id="56" name="s40-box-27"/>
          <p:cNvSpPr/>
          <p:nvPr/>
        </p:nvSpPr>
        <p:spPr>
          <a:xfrm>
            <a:off x="7918748" y="5936407"/>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s40-text-29"/>
          <p:cNvSpPr txBox="1"/>
          <p:nvPr/>
        </p:nvSpPr>
        <p:spPr>
          <a:xfrm>
            <a:off x="7918748" y="5504618"/>
            <a:ext cx="3282372" cy="355591"/>
          </a:xfrm>
          <a:prstGeom prst="rect">
            <a:avLst/>
          </a:prstGeom>
          <a:noFill/>
        </p:spPr>
        <p:txBody>
          <a:bodyPr wrap="square" lIns="0" rIns="0" tIns="0" bIns="0" anchor="t">
            <a:noAutofit/>
          </a:bodyPr>
          <a:lstStyle/>
          <a:p>
            <a:pPr algn="l">
              <a:lnSpc>
                <a:spcPts val="1439"/>
              </a:lnSpc>
              <a:spcBef>
                <a:spcPts val="0"/>
              </a:spcBef>
              <a:spcAft>
                <a:spcPts val="0"/>
              </a:spcAft>
            </a:pPr>
            <a:r>
              <a:rPr sz="1200" b="0" i="0">
                <a:solidFill>
                  <a:srgbClr val="50505B"/>
                </a:solidFill>
                <a:latin typeface="Arial"/>
              </a:rPr>
              <a:t>containerized, seeded, deterministic audit; Stim/Qiskit/Guppy toolboxes</a:t>
            </a:r>
          </a:p>
        </p:txBody>
      </p:sp>
      <p:sp>
        <p:nvSpPr>
          <p:cNvPr id="58" name="s40-box-28"/>
          <p:cNvSpPr/>
          <p:nvPr/>
        </p:nvSpPr>
        <p:spPr>
          <a:xfrm>
            <a:off x="888978" y="6272949"/>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40-text-30"/>
          <p:cNvSpPr txBox="1"/>
          <p:nvPr/>
        </p:nvSpPr>
        <p:spPr>
          <a:xfrm>
            <a:off x="888978" y="6018955"/>
            <a:ext cx="1189206" cy="177796"/>
          </a:xfrm>
          <a:prstGeom prst="rect">
            <a:avLst/>
          </a:prstGeom>
          <a:noFill/>
        </p:spPr>
        <p:txBody>
          <a:bodyPr wrap="none" lIns="0" rIns="0" tIns="0" bIns="0" anchor="t">
            <a:noAutofit/>
          </a:bodyPr>
          <a:lstStyle/>
          <a:p>
            <a:pPr algn="l">
              <a:lnSpc>
                <a:spcPts val="1439"/>
              </a:lnSpc>
              <a:spcBef>
                <a:spcPts val="0"/>
              </a:spcBef>
              <a:spcAft>
                <a:spcPts val="0"/>
              </a:spcAft>
            </a:pPr>
            <a:r>
              <a:rPr sz="1200" b="1" i="0">
                <a:solidFill>
                  <a:srgbClr val="0B0B0F"/>
                </a:solidFill>
                <a:latin typeface="Arial"/>
              </a:rPr>
              <a:t>QPC SDK</a:t>
            </a:r>
          </a:p>
        </p:txBody>
      </p:sp>
      <p:sp>
        <p:nvSpPr>
          <p:cNvPr id="60" name="s40-box-29"/>
          <p:cNvSpPr/>
          <p:nvPr/>
        </p:nvSpPr>
        <p:spPr>
          <a:xfrm>
            <a:off x="2173432" y="6272949"/>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40-text-31"/>
          <p:cNvSpPr txBox="1"/>
          <p:nvPr/>
        </p:nvSpPr>
        <p:spPr>
          <a:xfrm>
            <a:off x="2173432" y="6018955"/>
            <a:ext cx="5650069" cy="177796"/>
          </a:xfrm>
          <a:prstGeom prst="rect">
            <a:avLst/>
          </a:prstGeom>
          <a:noFill/>
        </p:spPr>
        <p:txBody>
          <a:bodyPr wrap="none" lIns="0" rIns="0" tIns="0" bIns="0" anchor="t">
            <a:noAutofit/>
          </a:bodyPr>
          <a:lstStyle/>
          <a:p>
            <a:pPr algn="l">
              <a:lnSpc>
                <a:spcPts val="1324"/>
              </a:lnSpc>
              <a:spcBef>
                <a:spcPts val="0"/>
              </a:spcBef>
              <a:spcAft>
                <a:spcPts val="0"/>
              </a:spcAft>
            </a:pPr>
            <a:r>
              <a:rPr sz="1104" b="0" i="0">
                <a:solidFill>
                  <a:srgbClr val="50505B"/>
                </a:solidFill>
                <a:latin typeface="Courier New"/>
              </a:rPr>
              <a:t>Zenodo 10.5281/zenodo.21895102</a:t>
            </a:r>
          </a:p>
        </p:txBody>
      </p:sp>
      <p:sp>
        <p:nvSpPr>
          <p:cNvPr id="62" name="s40-box-30"/>
          <p:cNvSpPr/>
          <p:nvPr/>
        </p:nvSpPr>
        <p:spPr>
          <a:xfrm>
            <a:off x="7918748" y="6272949"/>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40-text-32"/>
          <p:cNvSpPr txBox="1"/>
          <p:nvPr/>
        </p:nvSpPr>
        <p:spPr>
          <a:xfrm>
            <a:off x="7918748" y="6018955"/>
            <a:ext cx="3288722" cy="177796"/>
          </a:xfrm>
          <a:prstGeom prst="rect">
            <a:avLst/>
          </a:prstGeom>
          <a:noFill/>
        </p:spPr>
        <p:txBody>
          <a:bodyPr wrap="none" lIns="0" rIns="0" tIns="0" bIns="0" anchor="t">
            <a:noAutofit/>
          </a:bodyPr>
          <a:lstStyle/>
          <a:p>
            <a:pPr algn="l">
              <a:lnSpc>
                <a:spcPts val="1439"/>
              </a:lnSpc>
              <a:spcBef>
                <a:spcPts val="0"/>
              </a:spcBef>
              <a:spcAft>
                <a:spcPts val="0"/>
              </a:spcAft>
            </a:pPr>
            <a:r>
              <a:rPr sz="1200" b="0" i="0">
                <a:solidFill>
                  <a:srgbClr val="50505B"/>
                </a:solidFill>
                <a:latin typeface="Arial"/>
              </a:rPr>
              <a:t>v1.0.0, Linux x86_64, 1.1 MB, CC-BY-4.0</a:t>
            </a:r>
          </a:p>
        </p:txBody>
      </p:sp>
      <p:sp>
        <p:nvSpPr>
          <p:cNvPr id="64" name="!!sec"/>
          <p:cNvSpPr txBox="1"/>
          <p:nvPr/>
        </p:nvSpPr>
        <p:spPr>
          <a:xfrm>
            <a:off x="888978" y="6362541"/>
            <a:ext cx="717234" cy="165096"/>
          </a:xfrm>
          <a:prstGeom prst="rect">
            <a:avLst/>
          </a:prstGeom>
          <a:noFill/>
        </p:spPr>
        <p:txBody>
          <a:bodyPr wrap="none" lIns="0" rIns="0" tIns="0" bIns="0" anchor="t">
            <a:noAutofit/>
          </a:bodyPr>
          <a:lstStyle/>
          <a:p>
            <a:pPr algn="l">
              <a:lnSpc>
                <a:spcPts val="1320"/>
              </a:lnSpc>
              <a:spcBef>
                <a:spcPts val="0"/>
              </a:spcBef>
              <a:spcAft>
                <a:spcPts val="0"/>
              </a:spcAft>
            </a:pPr>
            <a:r>
              <a:rPr sz="1100" b="1" i="0" spc="132" cap="all">
                <a:solidFill>
                  <a:srgbClr val="7B7B86"/>
                </a:solidFill>
                <a:latin typeface="Arial"/>
              </a:rPr>
              <a:t>Backup</a:t>
            </a:r>
          </a:p>
        </p:txBody>
      </p:sp>
      <p:pic>
        <p:nvPicPr>
          <p:cNvPr id="65" name="s40-image-01" descr="Texas Tech University Double T"/>
          <p:cNvPicPr>
            <a:picLocks noChangeAspect="1"/>
          </p:cNvPicPr>
          <p:nvPr/>
        </p:nvPicPr>
        <p:blipFill>
          <a:blip r:embed="rId2"/>
          <a:stretch>
            <a:fillRect/>
          </a:stretch>
        </p:blipFill>
        <p:spPr>
          <a:xfrm>
            <a:off x="11055074" y="600060"/>
            <a:ext cx="190495" cy="222244"/>
          </a:xfrm>
          <a:prstGeom prst="rect">
            <a:avLst/>
          </a:prstGeom>
        </p:spPr>
      </p:pic>
      <p:sp>
        <p:nvSpPr>
          <p:cNvPr id="66" name="!!pg"/>
          <p:cNvSpPr txBox="1"/>
          <p:nvPr/>
        </p:nvSpPr>
        <p:spPr>
          <a:xfrm>
            <a:off x="10212628" y="634984"/>
            <a:ext cx="664650" cy="158746"/>
          </a:xfrm>
          <a:prstGeom prst="rect">
            <a:avLst/>
          </a:prstGeom>
          <a:noFill/>
        </p:spPr>
        <p:txBody>
          <a:bodyPr wrap="none" lIns="0" rIns="0" tIns="0" bIns="0" anchor="t">
            <a:noAutofit/>
          </a:bodyPr>
          <a:lstStyle/>
          <a:p>
            <a:pPr algn="l">
              <a:lnSpc>
                <a:spcPts val="1320"/>
              </a:lnSpc>
              <a:spcBef>
                <a:spcPts val="0"/>
              </a:spcBef>
              <a:spcAft>
                <a:spcPts val="0"/>
              </a:spcAft>
            </a:pPr>
            <a:r>
              <a:rPr sz="1100" b="1" i="0" spc="66">
                <a:solidFill>
                  <a:srgbClr val="50505B"/>
                </a:solidFill>
                <a:latin typeface="Courier New"/>
              </a:rPr>
              <a:t>40</a:t>
            </a:r>
            <a:r>
              <a:rPr sz="1100" b="0" i="0" spc="66">
                <a:solidFill>
                  <a:srgbClr val="7B7B86"/>
                </a:solidFill>
                <a:latin typeface="Courier New"/>
              </a:rPr>
              <a:t> / 40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650">
        <p159:morph option="byObject"/>
      </p:transition>
    </mc:Choice>
    <mc:Fallback>
      <p:transition xmlns:p14="http://schemas.microsoft.com/office/powerpoint/2010/main" spd="slow" p14:dur="65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ORNL seminar — Quantum Computing and Circuit Simulation</dc:title>
  <dc:subject>Ph.D. defense, Texas Tech University, October 9, 2026</dc:subject>
  <dc:creator>Ziqing Guo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